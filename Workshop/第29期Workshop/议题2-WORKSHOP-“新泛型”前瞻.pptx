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2" r:id="rId2"/>
    <p:sldId id="281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81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F3"/>
    <a:srgbClr val="FFFFFF"/>
    <a:srgbClr val="CC99FF"/>
    <a:srgbClr val="E5F5FF"/>
    <a:srgbClr val="A2E0EE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1" autoAdjust="0"/>
    <p:restoredTop sz="84539" autoAdjust="0"/>
  </p:normalViewPr>
  <p:slideViewPr>
    <p:cSldViewPr snapToGrid="0" snapToObjects="1">
      <p:cViewPr varScale="1">
        <p:scale>
          <a:sx n="136" d="100"/>
          <a:sy n="136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新，是相对过去版本泛型的新，主要包括实现方式的一个大的变化，以及基于这个变化产生的语言行为的改变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5088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普通函数参数传入的是类型的具体实例，而泛型函数还把参数也作为类型传入进来，把类型从算法中抽象出来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150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4229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0806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8357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326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391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9317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2509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953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732449" y="2604771"/>
            <a:ext cx="7319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“</a:t>
            </a:r>
            <a:r>
              <a:rPr kumimoji="1" lang="zh-CN" altLang="en-US" sz="4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新泛型</a:t>
            </a:r>
            <a:r>
              <a:rPr kumimoji="1" lang="en-US" altLang="zh-CN" sz="4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” </a:t>
            </a:r>
            <a:r>
              <a:rPr kumimoji="1" lang="zh-CN" altLang="en-US" sz="48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前瞻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56420" y="3743670"/>
            <a:ext cx="48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主讲人：轩加振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4636347"/>
            <a:ext cx="3739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泛型实现及仓颉“新泛型”变化</a:t>
            </a: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7276F09-4CEB-42AF-A504-3FFC74C07F57}"/>
              </a:ext>
            </a:extLst>
          </p:cNvPr>
          <p:cNvGrpSpPr/>
          <p:nvPr/>
        </p:nvGrpSpPr>
        <p:grpSpPr>
          <a:xfrm>
            <a:off x="868224" y="2517224"/>
            <a:ext cx="9218312" cy="1200329"/>
            <a:chOff x="816710" y="2940593"/>
            <a:chExt cx="6176467" cy="120032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76123D8-3012-4574-B997-68841EB15CFF}"/>
                </a:ext>
              </a:extLst>
            </p:cNvPr>
            <p:cNvSpPr txBox="1"/>
            <p:nvPr/>
          </p:nvSpPr>
          <p:spPr>
            <a:xfrm>
              <a:off x="816710" y="2940593"/>
              <a:ext cx="22787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7200" b="1" dirty="0"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目录</a:t>
              </a:r>
            </a:p>
          </p:txBody>
        </p:sp>
        <p:grpSp>
          <p:nvGrpSpPr>
            <p:cNvPr id="21" name="组 35">
              <a:extLst>
                <a:ext uri="{FF2B5EF4-FFF2-40B4-BE49-F238E27FC236}">
                  <a16:creationId xmlns:a16="http://schemas.microsoft.com/office/drawing/2014/main" id="{E04C2FB3-56A1-4186-B9D0-5255DBF0548D}"/>
                </a:ext>
              </a:extLst>
            </p:cNvPr>
            <p:cNvGrpSpPr/>
            <p:nvPr/>
          </p:nvGrpSpPr>
          <p:grpSpPr>
            <a:xfrm>
              <a:off x="4517184" y="3421482"/>
              <a:ext cx="2475993" cy="430887"/>
              <a:chOff x="627110" y="4548346"/>
              <a:chExt cx="2475993" cy="430887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2F6A4B3-A08E-47BF-B746-9E29C79CCFF3}"/>
                  </a:ext>
                </a:extLst>
              </p:cNvPr>
              <p:cNvSpPr txBox="1"/>
              <p:nvPr/>
            </p:nvSpPr>
            <p:spPr>
              <a:xfrm>
                <a:off x="722718" y="4548346"/>
                <a:ext cx="238038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200" b="1" dirty="0">
                    <a:latin typeface="Microsoft YaHei Light" panose="020B0502040204020203" pitchFamily="34" charset="-122"/>
                    <a:ea typeface="Microsoft YaHei Light" panose="020B0502040204020203" pitchFamily="34" charset="-122"/>
                  </a:rPr>
                  <a:t>“新泛型”前瞻 </a:t>
                </a:r>
                <a:r>
                  <a:rPr kumimoji="1" lang="en-US" altLang="zh-CN" sz="2200" b="1" dirty="0">
                    <a:latin typeface="Microsoft YaHei Light" panose="020B0502040204020203" pitchFamily="34" charset="-122"/>
                    <a:ea typeface="Microsoft YaHei Light" panose="020B0502040204020203" pitchFamily="34" charset="-122"/>
                  </a:rPr>
                  <a:t>-–</a:t>
                </a:r>
                <a:r>
                  <a:rPr kumimoji="1" lang="zh-CN" altLang="en-US" sz="2200" b="1" dirty="0">
                    <a:latin typeface="Microsoft YaHei Light" panose="020B0502040204020203" pitchFamily="34" charset="-122"/>
                    <a:ea typeface="Microsoft YaHei Light" panose="020B0502040204020203" pitchFamily="34" charset="-122"/>
                  </a:rPr>
                  <a:t>混合态泛型</a:t>
                </a:r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CFBBC878-BB7E-4A1A-936E-9084F4C8F0CB}"/>
                  </a:ext>
                </a:extLst>
              </p:cNvPr>
              <p:cNvSpPr/>
              <p:nvPr/>
            </p:nvSpPr>
            <p:spPr>
              <a:xfrm>
                <a:off x="627110" y="4715985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78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D274AB2-C082-45D4-8B2F-88B2D146D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93" y="1410237"/>
            <a:ext cx="4872152" cy="303863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BC531E4-6AA0-41C8-BE5F-51B51EDE24A8}"/>
              </a:ext>
            </a:extLst>
          </p:cNvPr>
          <p:cNvSpPr/>
          <p:nvPr/>
        </p:nvSpPr>
        <p:spPr>
          <a:xfrm>
            <a:off x="6297769" y="1455313"/>
            <a:ext cx="4404575" cy="183523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3398807" y="511798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泛型编程的特点在于把</a:t>
            </a:r>
            <a:r>
              <a:rPr lang="zh-CN" altLang="en-US" b="1" dirty="0"/>
              <a:t>类型</a:t>
            </a:r>
            <a:r>
              <a:rPr lang="zh-CN" altLang="en-US" dirty="0"/>
              <a:t>作为参数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342802-906F-4B4C-847B-1AABC5343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12" y="1036718"/>
            <a:ext cx="4982386" cy="3785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824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DB21022-B85B-491C-B5D0-632C38520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935" y="3392270"/>
            <a:ext cx="3608871" cy="1619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D33B985-E83F-4FA8-8907-4D7D50447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934" y="1522978"/>
            <a:ext cx="3608871" cy="1747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274AB2-C082-45D4-8B2F-88B2D146D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76" y="2018022"/>
            <a:ext cx="4172932" cy="2602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289847" y="967083"/>
            <a:ext cx="370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单态化泛型（</a:t>
            </a:r>
            <a:r>
              <a:rPr lang="en-US" altLang="zh-CN" i="1" dirty="0" err="1"/>
              <a:t>monomorphization</a:t>
            </a:r>
            <a:r>
              <a:rPr lang="zh-CN" altLang="en-US" dirty="0"/>
              <a:t>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F66F950-1E85-4EC7-94FA-40F5EA7AC02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996418" y="2396619"/>
            <a:ext cx="2255516" cy="1574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0ACB088-8A7C-41B6-B8F5-838DD41A529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446583" y="4201906"/>
            <a:ext cx="180535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C37BD62-0DA0-4F3D-B180-0EC8758644FA}"/>
              </a:ext>
            </a:extLst>
          </p:cNvPr>
          <p:cNvSpPr txBox="1"/>
          <p:nvPr/>
        </p:nvSpPr>
        <p:spPr>
          <a:xfrm>
            <a:off x="810630" y="5352788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编译时，对于每一个唯一的实例化，替换为具体的单个函数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F7AD80-12B3-498E-B7F3-E0BDE2BAB819}"/>
              </a:ext>
            </a:extLst>
          </p:cNvPr>
          <p:cNvSpPr txBox="1"/>
          <p:nvPr/>
        </p:nvSpPr>
        <p:spPr>
          <a:xfrm>
            <a:off x="9258880" y="1657955"/>
            <a:ext cx="2663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编译时，单态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不损失性能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编译时间损失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大小无收益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>
                <a:solidFill>
                  <a:srgbClr val="FF0000"/>
                </a:solidFill>
              </a:rPr>
              <a:t>兼容性影响？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202916-5D63-4B07-8457-E8F2FEB81E95}"/>
              </a:ext>
            </a:extLst>
          </p:cNvPr>
          <p:cNvSpPr txBox="1"/>
          <p:nvPr/>
        </p:nvSpPr>
        <p:spPr>
          <a:xfrm>
            <a:off x="9258880" y="3593036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锚点：相比“手写”而言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8FC768-3C13-4635-9B16-38E10174BC8A}"/>
              </a:ext>
            </a:extLst>
          </p:cNvPr>
          <p:cNvSpPr txBox="1"/>
          <p:nvPr/>
        </p:nvSpPr>
        <p:spPr>
          <a:xfrm>
            <a:off x="9109800" y="535278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跨包的时候会发生什么？</a:t>
            </a:r>
          </a:p>
        </p:txBody>
      </p:sp>
    </p:spTree>
    <p:extLst>
      <p:ext uri="{BB962C8B-B14F-4D97-AF65-F5344CB8AC3E}">
        <p14:creationId xmlns:p14="http://schemas.microsoft.com/office/powerpoint/2010/main" val="382883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289847" y="96708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跨包场景（非泛型）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82CFF1-DDAA-415B-8274-7F7AF51B0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4" y="1610751"/>
            <a:ext cx="4230606" cy="316684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F3CB77F-3844-45D1-89B9-D875EBA4B4A7}"/>
              </a:ext>
            </a:extLst>
          </p:cNvPr>
          <p:cNvSpPr txBox="1"/>
          <p:nvPr/>
        </p:nvSpPr>
        <p:spPr>
          <a:xfrm>
            <a:off x="3419622" y="1071090"/>
            <a:ext cx="583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非泛型函数定义在包 </a:t>
            </a:r>
            <a:r>
              <a:rPr lang="en-US" altLang="zh-CN" dirty="0" err="1"/>
              <a:t>hello.pkg</a:t>
            </a:r>
            <a:r>
              <a:rPr lang="en-US" altLang="zh-CN" dirty="0"/>
              <a:t> </a:t>
            </a:r>
            <a:r>
              <a:rPr lang="zh-CN" altLang="en-US" dirty="0"/>
              <a:t>中，提供给下游组件使用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463914-457D-4ACA-A0A7-192244E99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48" y="2219730"/>
            <a:ext cx="4518074" cy="216776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FA4411A-34FE-4F06-AC62-087EE084EFBB}"/>
              </a:ext>
            </a:extLst>
          </p:cNvPr>
          <p:cNvSpPr/>
          <p:nvPr/>
        </p:nvSpPr>
        <p:spPr>
          <a:xfrm>
            <a:off x="6788218" y="2760891"/>
            <a:ext cx="1842867" cy="17584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AB29C3-34BC-4B4E-8BA9-E2880B18E4B9}"/>
              </a:ext>
            </a:extLst>
          </p:cNvPr>
          <p:cNvSpPr txBox="1"/>
          <p:nvPr/>
        </p:nvSpPr>
        <p:spPr>
          <a:xfrm>
            <a:off x="8878258" y="45183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仅</a:t>
            </a:r>
            <a:r>
              <a:rPr lang="zh-CN" altLang="en-US" dirty="0">
                <a:solidFill>
                  <a:srgbClr val="FF0000"/>
                </a:solidFill>
              </a:rPr>
              <a:t>函数体</a:t>
            </a:r>
            <a:r>
              <a:rPr lang="zh-CN" altLang="en-US" dirty="0"/>
              <a:t>内部发生变化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CE3F23-12DE-4674-866A-EBC42CCC1F5E}"/>
              </a:ext>
            </a:extLst>
          </p:cNvPr>
          <p:cNvSpPr/>
          <p:nvPr/>
        </p:nvSpPr>
        <p:spPr>
          <a:xfrm>
            <a:off x="594361" y="5351855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50C043-147D-4145-8C4E-9FB020FC23C3}"/>
              </a:ext>
            </a:extLst>
          </p:cNvPr>
          <p:cNvSpPr/>
          <p:nvPr/>
        </p:nvSpPr>
        <p:spPr>
          <a:xfrm>
            <a:off x="594361" y="5780920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v1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E50D13D-D399-4D52-80A3-C749253FAD86}"/>
              </a:ext>
            </a:extLst>
          </p:cNvPr>
          <p:cNvSpPr/>
          <p:nvPr/>
        </p:nvSpPr>
        <p:spPr>
          <a:xfrm>
            <a:off x="1498210" y="4882127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6837CC-3589-424E-A6D4-351141C8BF15}"/>
              </a:ext>
            </a:extLst>
          </p:cNvPr>
          <p:cNvSpPr/>
          <p:nvPr/>
        </p:nvSpPr>
        <p:spPr>
          <a:xfrm>
            <a:off x="3419622" y="5569975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CE370CE9-8FC6-4063-88F8-30412B08869E}"/>
              </a:ext>
            </a:extLst>
          </p:cNvPr>
          <p:cNvSpPr/>
          <p:nvPr/>
        </p:nvSpPr>
        <p:spPr>
          <a:xfrm rot="16200000">
            <a:off x="2822917" y="5520588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5DB93C-463E-4B34-A2D4-E48AD6F18CBF}"/>
              </a:ext>
            </a:extLst>
          </p:cNvPr>
          <p:cNvSpPr/>
          <p:nvPr/>
        </p:nvSpPr>
        <p:spPr>
          <a:xfrm>
            <a:off x="6512542" y="5203243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8FFCC8-4D6B-4B65-AB35-FF1ED8836FFF}"/>
              </a:ext>
            </a:extLst>
          </p:cNvPr>
          <p:cNvSpPr/>
          <p:nvPr/>
        </p:nvSpPr>
        <p:spPr>
          <a:xfrm>
            <a:off x="6512542" y="5632308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v2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2F10AE7A-4CDF-4DA3-858D-A0411A16D820}"/>
              </a:ext>
            </a:extLst>
          </p:cNvPr>
          <p:cNvSpPr/>
          <p:nvPr/>
        </p:nvSpPr>
        <p:spPr>
          <a:xfrm>
            <a:off x="7416391" y="4638295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22DADC-267C-4107-948D-89554F1AF55C}"/>
              </a:ext>
            </a:extLst>
          </p:cNvPr>
          <p:cNvSpPr/>
          <p:nvPr/>
        </p:nvSpPr>
        <p:spPr>
          <a:xfrm>
            <a:off x="9337803" y="5421363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45A099EC-798E-441E-BFD6-9E0D3BD9D88F}"/>
              </a:ext>
            </a:extLst>
          </p:cNvPr>
          <p:cNvSpPr/>
          <p:nvPr/>
        </p:nvSpPr>
        <p:spPr>
          <a:xfrm rot="16200000">
            <a:off x="8741098" y="5371976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1379377-C19F-4B16-BA8A-1E7F09D2EBE6}"/>
              </a:ext>
            </a:extLst>
          </p:cNvPr>
          <p:cNvCxnSpPr/>
          <p:nvPr/>
        </p:nvCxnSpPr>
        <p:spPr>
          <a:xfrm>
            <a:off x="5113606" y="2848814"/>
            <a:ext cx="844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BFF8E8D-8645-4917-A3C6-E412BF21D5A9}"/>
              </a:ext>
            </a:extLst>
          </p:cNvPr>
          <p:cNvSpPr txBox="1"/>
          <p:nvPr/>
        </p:nvSpPr>
        <p:spPr>
          <a:xfrm>
            <a:off x="4981639" y="30022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代码升级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EF9F98-7766-4706-A8AB-6F6BD5C85EC8}"/>
              </a:ext>
            </a:extLst>
          </p:cNvPr>
          <p:cNvSpPr txBox="1"/>
          <p:nvPr/>
        </p:nvSpPr>
        <p:spPr>
          <a:xfrm>
            <a:off x="9337803" y="581258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不需要重新编译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2A4E4BF-73D7-4DC0-A296-6E123B5D3DD5}"/>
              </a:ext>
            </a:extLst>
          </p:cNvPr>
          <p:cNvSpPr txBox="1"/>
          <p:nvPr/>
        </p:nvSpPr>
        <p:spPr>
          <a:xfrm>
            <a:off x="3267106" y="6307906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Compare</a:t>
            </a:r>
            <a:r>
              <a:rPr lang="zh-CN" altLang="en-US" dirty="0"/>
              <a:t>的内容在哪里？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E7F531-B1ED-41C7-977B-40419C06536D}"/>
              </a:ext>
            </a:extLst>
          </p:cNvPr>
          <p:cNvSpPr/>
          <p:nvPr/>
        </p:nvSpPr>
        <p:spPr>
          <a:xfrm>
            <a:off x="2629989" y="5054769"/>
            <a:ext cx="47032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200" dirty="0" err="1">
                <a:solidFill>
                  <a:srgbClr val="E6EDF3"/>
                </a:solidFill>
                <a:latin typeface="Consolas" panose="020B0609020204030204" pitchFamily="49" charset="0"/>
              </a:rPr>
              <a:t>_</a:t>
            </a:r>
            <a:r>
              <a:rPr lang="en-US" altLang="zh-CN" sz="1200" dirty="0" err="1">
                <a:solidFill>
                  <a:srgbClr val="FF7B72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rgbClr val="FF7B72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79C0FF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79C0FF"/>
                </a:solidFill>
                <a:latin typeface="Consolas" panose="020B0609020204030204" pitchFamily="49" charset="0"/>
              </a:rPr>
              <a:t>11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_</a:t>
            </a:r>
            <a:r>
              <a:rPr lang="en-US" altLang="zh-CN" sz="1200" dirty="0">
                <a:solidFill>
                  <a:srgbClr val="FF7B72"/>
                </a:solidFill>
                <a:latin typeface="Consolas" panose="020B0609020204030204" pitchFamily="49" charset="0"/>
              </a:rPr>
              <a:t>Float64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200" dirty="0">
                <a:solidFill>
                  <a:srgbClr val="79C0FF"/>
                </a:solidFill>
                <a:latin typeface="Consolas" panose="020B0609020204030204" pitchFamily="49" charset="0"/>
              </a:rPr>
              <a:t>10.0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79C0FF"/>
                </a:solidFill>
                <a:latin typeface="Consolas" panose="020B0609020204030204" pitchFamily="49" charset="0"/>
              </a:rPr>
              <a:t>11.0</a:t>
            </a:r>
            <a:r>
              <a:rPr lang="en-US" altLang="zh-CN" sz="12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  <a:endParaRPr lang="en-US" altLang="zh-CN" sz="1200" b="0" dirty="0">
              <a:solidFill>
                <a:srgbClr val="E6EDF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1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CB7D7D-83FF-4E8D-A4AF-D94A6349C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91" y="1991957"/>
            <a:ext cx="4347263" cy="20206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289847" y="96708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跨包场景（单态化泛型）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3CB77F-3844-45D1-89B9-D875EBA4B4A7}"/>
              </a:ext>
            </a:extLst>
          </p:cNvPr>
          <p:cNvSpPr txBox="1"/>
          <p:nvPr/>
        </p:nvSpPr>
        <p:spPr>
          <a:xfrm>
            <a:off x="3419622" y="1071090"/>
            <a:ext cx="5602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泛型函数定义在包 </a:t>
            </a:r>
            <a:r>
              <a:rPr lang="en-US" altLang="zh-CN" dirty="0" err="1"/>
              <a:t>hello.pkg</a:t>
            </a:r>
            <a:r>
              <a:rPr lang="en-US" altLang="zh-CN" dirty="0"/>
              <a:t> </a:t>
            </a:r>
            <a:r>
              <a:rPr lang="zh-CN" altLang="en-US" dirty="0"/>
              <a:t>中，提供给下游组件使用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A4411A-34FE-4F06-AC62-087EE084EFBB}"/>
              </a:ext>
            </a:extLst>
          </p:cNvPr>
          <p:cNvSpPr/>
          <p:nvPr/>
        </p:nvSpPr>
        <p:spPr>
          <a:xfrm>
            <a:off x="6459787" y="2490373"/>
            <a:ext cx="1842867" cy="17584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AB29C3-34BC-4B4E-8BA9-E2880B18E4B9}"/>
              </a:ext>
            </a:extLst>
          </p:cNvPr>
          <p:cNvSpPr txBox="1"/>
          <p:nvPr/>
        </p:nvSpPr>
        <p:spPr>
          <a:xfrm>
            <a:off x="8279345" y="408356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仅</a:t>
            </a:r>
            <a:r>
              <a:rPr lang="zh-CN" altLang="en-US" dirty="0">
                <a:solidFill>
                  <a:srgbClr val="FF0000"/>
                </a:solidFill>
              </a:rPr>
              <a:t>函数体</a:t>
            </a:r>
            <a:r>
              <a:rPr lang="zh-CN" altLang="en-US" dirty="0"/>
              <a:t>内部发生变化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CE3F23-12DE-4674-866A-EBC42CCC1F5E}"/>
              </a:ext>
            </a:extLst>
          </p:cNvPr>
          <p:cNvSpPr/>
          <p:nvPr/>
        </p:nvSpPr>
        <p:spPr>
          <a:xfrm>
            <a:off x="515816" y="4579671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50C043-147D-4145-8C4E-9FB020FC23C3}"/>
              </a:ext>
            </a:extLst>
          </p:cNvPr>
          <p:cNvSpPr/>
          <p:nvPr/>
        </p:nvSpPr>
        <p:spPr>
          <a:xfrm>
            <a:off x="515816" y="5008736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v1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E50D13D-D399-4D52-80A3-C749253FAD86}"/>
              </a:ext>
            </a:extLst>
          </p:cNvPr>
          <p:cNvSpPr/>
          <p:nvPr/>
        </p:nvSpPr>
        <p:spPr>
          <a:xfrm>
            <a:off x="1419665" y="4109943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6837CC-3589-424E-A6D4-351141C8BF15}"/>
              </a:ext>
            </a:extLst>
          </p:cNvPr>
          <p:cNvSpPr/>
          <p:nvPr/>
        </p:nvSpPr>
        <p:spPr>
          <a:xfrm>
            <a:off x="3341077" y="4797791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CE370CE9-8FC6-4063-88F8-30412B08869E}"/>
              </a:ext>
            </a:extLst>
          </p:cNvPr>
          <p:cNvSpPr/>
          <p:nvPr/>
        </p:nvSpPr>
        <p:spPr>
          <a:xfrm rot="16200000">
            <a:off x="2744372" y="4748404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5DB93C-463E-4B34-A2D4-E48AD6F18CBF}"/>
              </a:ext>
            </a:extLst>
          </p:cNvPr>
          <p:cNvSpPr/>
          <p:nvPr/>
        </p:nvSpPr>
        <p:spPr>
          <a:xfrm>
            <a:off x="6512542" y="4663366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8FFCC8-4D6B-4B65-AB35-FF1ED8836FFF}"/>
              </a:ext>
            </a:extLst>
          </p:cNvPr>
          <p:cNvSpPr/>
          <p:nvPr/>
        </p:nvSpPr>
        <p:spPr>
          <a:xfrm>
            <a:off x="6512542" y="5092431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v2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2F10AE7A-4CDF-4DA3-858D-A0411A16D820}"/>
              </a:ext>
            </a:extLst>
          </p:cNvPr>
          <p:cNvSpPr/>
          <p:nvPr/>
        </p:nvSpPr>
        <p:spPr>
          <a:xfrm>
            <a:off x="7416391" y="4098418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22DADC-267C-4107-948D-89554F1AF55C}"/>
              </a:ext>
            </a:extLst>
          </p:cNvPr>
          <p:cNvSpPr/>
          <p:nvPr/>
        </p:nvSpPr>
        <p:spPr>
          <a:xfrm>
            <a:off x="9337803" y="4881486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45A099EC-798E-441E-BFD6-9E0D3BD9D88F}"/>
              </a:ext>
            </a:extLst>
          </p:cNvPr>
          <p:cNvSpPr/>
          <p:nvPr/>
        </p:nvSpPr>
        <p:spPr>
          <a:xfrm rot="16200000">
            <a:off x="8741098" y="4832099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1379377-C19F-4B16-BA8A-1E7F09D2EBE6}"/>
              </a:ext>
            </a:extLst>
          </p:cNvPr>
          <p:cNvCxnSpPr/>
          <p:nvPr/>
        </p:nvCxnSpPr>
        <p:spPr>
          <a:xfrm>
            <a:off x="5113606" y="2848814"/>
            <a:ext cx="844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BFF8E8D-8645-4917-A3C6-E412BF21D5A9}"/>
              </a:ext>
            </a:extLst>
          </p:cNvPr>
          <p:cNvSpPr txBox="1"/>
          <p:nvPr/>
        </p:nvSpPr>
        <p:spPr>
          <a:xfrm>
            <a:off x="4981639" y="30022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代码升级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EF9F98-7766-4706-A8AB-6F6BD5C85EC8}"/>
              </a:ext>
            </a:extLst>
          </p:cNvPr>
          <p:cNvSpPr txBox="1"/>
          <p:nvPr/>
        </p:nvSpPr>
        <p:spPr>
          <a:xfrm>
            <a:off x="9337803" y="52727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需要重新编译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1633A0-1114-4C98-9114-FB2CF9DA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67" y="1975873"/>
            <a:ext cx="4442835" cy="19040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1D8C32-E59C-4FF6-93C3-DEB6E119CDAC}"/>
              </a:ext>
            </a:extLst>
          </p:cNvPr>
          <p:cNvSpPr/>
          <p:nvPr/>
        </p:nvSpPr>
        <p:spPr>
          <a:xfrm>
            <a:off x="1966333" y="5288803"/>
            <a:ext cx="47032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FF7B72"/>
                </a:solidFill>
                <a:latin typeface="Consolas" panose="020B0609020204030204" pitchFamily="49" charset="0"/>
              </a:rPr>
              <a:t>Int64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&gt;(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11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FF7B72"/>
                </a:solidFill>
                <a:latin typeface="Consolas" panose="020B0609020204030204" pitchFamily="49" charset="0"/>
              </a:rPr>
              <a:t>Float64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&gt;(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10.0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11.0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  <a:endParaRPr lang="en-US" altLang="zh-CN" sz="1400" b="0" dirty="0">
              <a:solidFill>
                <a:srgbClr val="E6EDF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0EB95D-4791-4B72-A72C-5F6897B0F060}"/>
              </a:ext>
            </a:extLst>
          </p:cNvPr>
          <p:cNvSpPr txBox="1"/>
          <p:nvPr/>
        </p:nvSpPr>
        <p:spPr>
          <a:xfrm>
            <a:off x="4433695" y="6033720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Compare</a:t>
            </a:r>
            <a:r>
              <a:rPr lang="zh-CN" altLang="en-US" dirty="0"/>
              <a:t>的内容在哪里？</a:t>
            </a:r>
          </a:p>
        </p:txBody>
      </p:sp>
    </p:spTree>
    <p:extLst>
      <p:ext uri="{BB962C8B-B14F-4D97-AF65-F5344CB8AC3E}">
        <p14:creationId xmlns:p14="http://schemas.microsoft.com/office/powerpoint/2010/main" val="359659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515816" y="1058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运行期泛型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970E8FFA-6F0E-4A75-BB9A-447091B2C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81" y="1782211"/>
            <a:ext cx="4172932" cy="2602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4C8C7BB4-AA47-49CB-A7C5-8108A7373453}"/>
              </a:ext>
            </a:extLst>
          </p:cNvPr>
          <p:cNvSpPr txBox="1"/>
          <p:nvPr/>
        </p:nvSpPr>
        <p:spPr>
          <a:xfrm>
            <a:off x="836679" y="4891123"/>
            <a:ext cx="798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编译时生成类型信息，并在运行期根据具体是什么类型来进行对应的处理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032DC4B-B085-4B75-A5CF-0120C8690A44}"/>
              </a:ext>
            </a:extLst>
          </p:cNvPr>
          <p:cNvSpPr txBox="1"/>
          <p:nvPr/>
        </p:nvSpPr>
        <p:spPr>
          <a:xfrm>
            <a:off x="7577790" y="1550808"/>
            <a:ext cx="43797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特点：</a:t>
            </a:r>
            <a:endParaRPr lang="en-US" altLang="zh-CN" dirty="0"/>
          </a:p>
          <a:p>
            <a:pPr marL="285750" indent="-285750">
              <a:buFontTx/>
              <a:buChar char="-"/>
            </a:pPr>
            <a:r>
              <a:rPr lang="zh-CN" altLang="en-US" dirty="0"/>
              <a:t>运行时，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运行性能有损失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编译时间有明显收益，取决于使用量（标准库泛型比较多）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二进制大小收益，取决于使用量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>
                <a:solidFill>
                  <a:srgbClr val="FF0000"/>
                </a:solidFill>
              </a:rPr>
              <a:t>兼容性影响？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81DE157-6EB8-4944-A750-7B222EC17DE3}"/>
              </a:ext>
            </a:extLst>
          </p:cNvPr>
          <p:cNvSpPr txBox="1"/>
          <p:nvPr/>
        </p:nvSpPr>
        <p:spPr>
          <a:xfrm>
            <a:off x="8554832" y="3987866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锚点：相比“手写”而言</a:t>
            </a:r>
          </a:p>
        </p:txBody>
      </p:sp>
    </p:spTree>
    <p:extLst>
      <p:ext uri="{BB962C8B-B14F-4D97-AF65-F5344CB8AC3E}">
        <p14:creationId xmlns:p14="http://schemas.microsoft.com/office/powerpoint/2010/main" val="325369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ECB7D7D-83FF-4E8D-A4AF-D94A6349C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91" y="1991957"/>
            <a:ext cx="4347263" cy="20206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289847" y="96708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跨包场景（运行期泛型）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A4411A-34FE-4F06-AC62-087EE084EFBB}"/>
              </a:ext>
            </a:extLst>
          </p:cNvPr>
          <p:cNvSpPr/>
          <p:nvPr/>
        </p:nvSpPr>
        <p:spPr>
          <a:xfrm>
            <a:off x="6459787" y="2490373"/>
            <a:ext cx="1842867" cy="17584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AB29C3-34BC-4B4E-8BA9-E2880B18E4B9}"/>
              </a:ext>
            </a:extLst>
          </p:cNvPr>
          <p:cNvSpPr txBox="1"/>
          <p:nvPr/>
        </p:nvSpPr>
        <p:spPr>
          <a:xfrm>
            <a:off x="8279345" y="408356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仅</a:t>
            </a:r>
            <a:r>
              <a:rPr lang="zh-CN" altLang="en-US" dirty="0">
                <a:solidFill>
                  <a:srgbClr val="FF0000"/>
                </a:solidFill>
              </a:rPr>
              <a:t>函数体</a:t>
            </a:r>
            <a:r>
              <a:rPr lang="zh-CN" altLang="en-US" dirty="0"/>
              <a:t>内部发生变化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CE3F23-12DE-4674-866A-EBC42CCC1F5E}"/>
              </a:ext>
            </a:extLst>
          </p:cNvPr>
          <p:cNvSpPr/>
          <p:nvPr/>
        </p:nvSpPr>
        <p:spPr>
          <a:xfrm>
            <a:off x="515816" y="4579671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50C043-147D-4145-8C4E-9FB020FC23C3}"/>
              </a:ext>
            </a:extLst>
          </p:cNvPr>
          <p:cNvSpPr/>
          <p:nvPr/>
        </p:nvSpPr>
        <p:spPr>
          <a:xfrm>
            <a:off x="515816" y="5008736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v1</a:t>
            </a: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7E50D13D-D399-4D52-80A3-C749253FAD86}"/>
              </a:ext>
            </a:extLst>
          </p:cNvPr>
          <p:cNvSpPr/>
          <p:nvPr/>
        </p:nvSpPr>
        <p:spPr>
          <a:xfrm>
            <a:off x="1419665" y="4109943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6837CC-3589-424E-A6D4-351141C8BF15}"/>
              </a:ext>
            </a:extLst>
          </p:cNvPr>
          <p:cNvSpPr/>
          <p:nvPr/>
        </p:nvSpPr>
        <p:spPr>
          <a:xfrm>
            <a:off x="3341077" y="4797791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CE370CE9-8FC6-4063-88F8-30412B08869E}"/>
              </a:ext>
            </a:extLst>
          </p:cNvPr>
          <p:cNvSpPr/>
          <p:nvPr/>
        </p:nvSpPr>
        <p:spPr>
          <a:xfrm rot="16200000">
            <a:off x="2744372" y="4748404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5DB93C-463E-4B34-A2D4-E48AD6F18CBF}"/>
              </a:ext>
            </a:extLst>
          </p:cNvPr>
          <p:cNvSpPr/>
          <p:nvPr/>
        </p:nvSpPr>
        <p:spPr>
          <a:xfrm>
            <a:off x="6512542" y="4663366"/>
            <a:ext cx="1906172" cy="3024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hello.pkg.cjo</a:t>
            </a:r>
            <a:r>
              <a:rPr lang="en-US" altLang="zh-CN" dirty="0"/>
              <a:t> v2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8FFCC8-4D6B-4B65-AB35-FF1ED8836FFF}"/>
              </a:ext>
            </a:extLst>
          </p:cNvPr>
          <p:cNvSpPr/>
          <p:nvPr/>
        </p:nvSpPr>
        <p:spPr>
          <a:xfrm>
            <a:off x="6512542" y="5092431"/>
            <a:ext cx="1906172" cy="3024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hello.pkg.so v2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2F10AE7A-4CDF-4DA3-858D-A0411A16D820}"/>
              </a:ext>
            </a:extLst>
          </p:cNvPr>
          <p:cNvSpPr/>
          <p:nvPr/>
        </p:nvSpPr>
        <p:spPr>
          <a:xfrm>
            <a:off x="7416391" y="4098418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22DADC-267C-4107-948D-89554F1AF55C}"/>
              </a:ext>
            </a:extLst>
          </p:cNvPr>
          <p:cNvSpPr/>
          <p:nvPr/>
        </p:nvSpPr>
        <p:spPr>
          <a:xfrm>
            <a:off x="9337803" y="4881486"/>
            <a:ext cx="1772529" cy="3621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</a:t>
            </a:r>
            <a:endParaRPr lang="zh-CN" altLang="en-US" dirty="0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45A099EC-798E-441E-BFD6-9E0D3BD9D88F}"/>
              </a:ext>
            </a:extLst>
          </p:cNvPr>
          <p:cNvSpPr/>
          <p:nvPr/>
        </p:nvSpPr>
        <p:spPr>
          <a:xfrm rot="16200000">
            <a:off x="8741098" y="4832099"/>
            <a:ext cx="274320" cy="3396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1379377-C19F-4B16-BA8A-1E7F09D2EBE6}"/>
              </a:ext>
            </a:extLst>
          </p:cNvPr>
          <p:cNvCxnSpPr/>
          <p:nvPr/>
        </p:nvCxnSpPr>
        <p:spPr>
          <a:xfrm>
            <a:off x="5113606" y="2848814"/>
            <a:ext cx="844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CBFF8E8D-8645-4917-A3C6-E412BF21D5A9}"/>
              </a:ext>
            </a:extLst>
          </p:cNvPr>
          <p:cNvSpPr txBox="1"/>
          <p:nvPr/>
        </p:nvSpPr>
        <p:spPr>
          <a:xfrm>
            <a:off x="4981639" y="30022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代码升级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EF9F98-7766-4706-A8AB-6F6BD5C85EC8}"/>
              </a:ext>
            </a:extLst>
          </p:cNvPr>
          <p:cNvSpPr txBox="1"/>
          <p:nvPr/>
        </p:nvSpPr>
        <p:spPr>
          <a:xfrm>
            <a:off x="9337803" y="527270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不需要重新编译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1633A0-1114-4C98-9114-FB2CF9DA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67" y="1975873"/>
            <a:ext cx="4442835" cy="19040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1D8C32-E59C-4FF6-93C3-DEB6E119CDAC}"/>
              </a:ext>
            </a:extLst>
          </p:cNvPr>
          <p:cNvSpPr/>
          <p:nvPr/>
        </p:nvSpPr>
        <p:spPr>
          <a:xfrm>
            <a:off x="1966333" y="5288803"/>
            <a:ext cx="47032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FF7B72"/>
                </a:solidFill>
                <a:latin typeface="Consolas" panose="020B0609020204030204" pitchFamily="49" charset="0"/>
              </a:rPr>
              <a:t>Int64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&gt;(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11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println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D2A8FF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FF7B72"/>
                </a:solidFill>
                <a:latin typeface="Consolas" panose="020B0609020204030204" pitchFamily="49" charset="0"/>
              </a:rPr>
              <a:t>Float64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&gt;(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10.0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79C0FF"/>
                </a:solidFill>
                <a:latin typeface="Consolas" panose="020B0609020204030204" pitchFamily="49" charset="0"/>
              </a:rPr>
              <a:t>11.0</a:t>
            </a:r>
            <a:r>
              <a:rPr lang="en-US" altLang="zh-CN" sz="1400" dirty="0">
                <a:solidFill>
                  <a:srgbClr val="E6EDF3"/>
                </a:solidFill>
                <a:latin typeface="Consolas" panose="020B0609020204030204" pitchFamily="49" charset="0"/>
              </a:rPr>
              <a:t>))</a:t>
            </a:r>
            <a:endParaRPr lang="en-US" altLang="zh-CN" sz="1400" b="0" dirty="0">
              <a:solidFill>
                <a:srgbClr val="E6EDF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0EB95D-4791-4B72-A72C-5F6897B0F060}"/>
              </a:ext>
            </a:extLst>
          </p:cNvPr>
          <p:cNvSpPr txBox="1"/>
          <p:nvPr/>
        </p:nvSpPr>
        <p:spPr>
          <a:xfrm>
            <a:off x="4433695" y="6033720"/>
            <a:ext cx="271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Compare</a:t>
            </a:r>
            <a:r>
              <a:rPr lang="zh-CN" altLang="en-US" dirty="0"/>
              <a:t>的内容在哪里？</a:t>
            </a:r>
          </a:p>
        </p:txBody>
      </p:sp>
    </p:spTree>
    <p:extLst>
      <p:ext uri="{BB962C8B-B14F-4D97-AF65-F5344CB8AC3E}">
        <p14:creationId xmlns:p14="http://schemas.microsoft.com/office/powerpoint/2010/main" val="291635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3B6C9D2-9608-4953-A68D-49710252B907}"/>
              </a:ext>
            </a:extLst>
          </p:cNvPr>
          <p:cNvSpPr txBox="1"/>
          <p:nvPr/>
        </p:nvSpPr>
        <p:spPr>
          <a:xfrm>
            <a:off x="289847" y="96708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混合态泛型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B8DB4C-4C3C-4F6E-B4D5-A84DBF1EC767}"/>
              </a:ext>
            </a:extLst>
          </p:cNvPr>
          <p:cNvSpPr/>
          <p:nvPr/>
        </p:nvSpPr>
        <p:spPr>
          <a:xfrm>
            <a:off x="889756" y="152104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完全单态化泛型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06157E6-9769-4CF6-BCFE-4C21FCF403BF}"/>
              </a:ext>
            </a:extLst>
          </p:cNvPr>
          <p:cNvCxnSpPr/>
          <p:nvPr/>
        </p:nvCxnSpPr>
        <p:spPr>
          <a:xfrm>
            <a:off x="2862775" y="1681196"/>
            <a:ext cx="844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C995FF17-CB7E-4A96-BB5F-A126BE542C07}"/>
              </a:ext>
            </a:extLst>
          </p:cNvPr>
          <p:cNvSpPr/>
          <p:nvPr/>
        </p:nvSpPr>
        <p:spPr>
          <a:xfrm>
            <a:off x="4083122" y="123265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部分单态化泛型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B97BD1-A258-4EBB-A077-3EC0C0266057}"/>
              </a:ext>
            </a:extLst>
          </p:cNvPr>
          <p:cNvSpPr/>
          <p:nvPr/>
        </p:nvSpPr>
        <p:spPr>
          <a:xfrm>
            <a:off x="4083122" y="171804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部分运行期泛型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94DCE8-A936-4DE4-8CC6-B98B95A29B2F}"/>
              </a:ext>
            </a:extLst>
          </p:cNvPr>
          <p:cNvSpPr/>
          <p:nvPr/>
        </p:nvSpPr>
        <p:spPr>
          <a:xfrm>
            <a:off x="6083299" y="1718046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影响兼容性的部分会采用运行期泛型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E9D13C5-F35B-4739-B82C-A13A88E8BBBB}"/>
              </a:ext>
            </a:extLst>
          </p:cNvPr>
          <p:cNvSpPr/>
          <p:nvPr/>
        </p:nvSpPr>
        <p:spPr>
          <a:xfrm>
            <a:off x="6083299" y="1234443"/>
            <a:ext cx="60564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在包内以及一些特定承诺</a:t>
            </a:r>
            <a:r>
              <a:rPr lang="en-US" altLang="zh-CN" dirty="0"/>
              <a:t>API</a:t>
            </a:r>
            <a:r>
              <a:rPr lang="zh-CN" altLang="en-US" dirty="0"/>
              <a:t>稳定的地方会采用单态化泛型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606C3DE-A6AE-47AE-8552-4EAAA171062C}"/>
              </a:ext>
            </a:extLst>
          </p:cNvPr>
          <p:cNvSpPr txBox="1"/>
          <p:nvPr/>
        </p:nvSpPr>
        <p:spPr>
          <a:xfrm>
            <a:off x="4259029" y="221813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编译器实现层面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F275D3E-99C6-4A24-BD61-25A6113FD3CC}"/>
              </a:ext>
            </a:extLst>
          </p:cNvPr>
          <p:cNvSpPr/>
          <p:nvPr/>
        </p:nvSpPr>
        <p:spPr>
          <a:xfrm>
            <a:off x="2280335" y="2946284"/>
            <a:ext cx="30302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94949"/>
                </a:solidFill>
                <a:latin typeface="Huawei Sans"/>
              </a:rPr>
              <a:t>泛型变元约束可以为 </a:t>
            </a:r>
            <a:r>
              <a:rPr lang="en-US" altLang="zh-CN" dirty="0">
                <a:solidFill>
                  <a:srgbClr val="494949"/>
                </a:solidFill>
                <a:latin typeface="Huawei Sans"/>
              </a:rPr>
              <a:t>class/struct/</a:t>
            </a:r>
            <a:r>
              <a:rPr lang="zh-CN" altLang="en-US" dirty="0">
                <a:solidFill>
                  <a:srgbClr val="494949"/>
                </a:solidFill>
                <a:latin typeface="Huawei Sans"/>
              </a:rPr>
              <a:t>基础数据类型</a:t>
            </a:r>
            <a:r>
              <a:rPr lang="en-US" altLang="zh-CN" dirty="0">
                <a:solidFill>
                  <a:srgbClr val="494949"/>
                </a:solidFill>
                <a:latin typeface="Huawei Sans"/>
              </a:rPr>
              <a:t>/interface</a:t>
            </a:r>
            <a:endParaRPr lang="zh-CN" altLang="en-US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AC639DA-485D-4384-B267-21647160F6BC}"/>
              </a:ext>
            </a:extLst>
          </p:cNvPr>
          <p:cNvCxnSpPr>
            <a:cxnSpLocks/>
          </p:cNvCxnSpPr>
          <p:nvPr/>
        </p:nvCxnSpPr>
        <p:spPr>
          <a:xfrm>
            <a:off x="3429684" y="4143435"/>
            <a:ext cx="0" cy="572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24DD827-3914-48B0-A481-2E9D09C9E490}"/>
              </a:ext>
            </a:extLst>
          </p:cNvPr>
          <p:cNvSpPr/>
          <p:nvPr/>
        </p:nvSpPr>
        <p:spPr>
          <a:xfrm>
            <a:off x="2191182" y="5207610"/>
            <a:ext cx="2724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94949"/>
                </a:solidFill>
                <a:latin typeface="Huawei Sans"/>
              </a:rPr>
              <a:t>泛型变元约束仅可以为 </a:t>
            </a:r>
            <a:r>
              <a:rPr lang="en-US" altLang="zh-CN" dirty="0">
                <a:solidFill>
                  <a:srgbClr val="494949"/>
                </a:solidFill>
                <a:latin typeface="Huawei Sans"/>
              </a:rPr>
              <a:t>class </a:t>
            </a:r>
            <a:r>
              <a:rPr lang="zh-CN" altLang="en-US" dirty="0">
                <a:solidFill>
                  <a:srgbClr val="494949"/>
                </a:solidFill>
                <a:latin typeface="Huawei Sans"/>
              </a:rPr>
              <a:t>或 </a:t>
            </a:r>
            <a:r>
              <a:rPr lang="en-US" altLang="zh-CN" dirty="0">
                <a:solidFill>
                  <a:srgbClr val="494949"/>
                </a:solidFill>
                <a:latin typeface="Huawei Sans"/>
              </a:rPr>
              <a:t>interface </a:t>
            </a:r>
            <a:r>
              <a:rPr lang="zh-CN" altLang="en-US" dirty="0">
                <a:solidFill>
                  <a:srgbClr val="494949"/>
                </a:solidFill>
                <a:latin typeface="Huawei Sans"/>
              </a:rPr>
              <a:t>类型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18E93F-2FDB-4F06-B6A3-AD417D957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48" y="2946284"/>
            <a:ext cx="3451739" cy="3154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A3978C97-2E5E-4A82-95B1-90B309B85A6C}"/>
              </a:ext>
            </a:extLst>
          </p:cNvPr>
          <p:cNvSpPr txBox="1"/>
          <p:nvPr/>
        </p:nvSpPr>
        <p:spPr>
          <a:xfrm>
            <a:off x="289847" y="256461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泛型变元约束变化</a:t>
            </a:r>
          </a:p>
        </p:txBody>
      </p:sp>
    </p:spTree>
    <p:extLst>
      <p:ext uri="{BB962C8B-B14F-4D97-AF65-F5344CB8AC3E}">
        <p14:creationId xmlns:p14="http://schemas.microsoft.com/office/powerpoint/2010/main" val="1848761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4F275D3E-99C6-4A24-BD61-25A6113FD3CC}"/>
              </a:ext>
            </a:extLst>
          </p:cNvPr>
          <p:cNvSpPr/>
          <p:nvPr/>
        </p:nvSpPr>
        <p:spPr>
          <a:xfrm>
            <a:off x="676072" y="2000955"/>
            <a:ext cx="43995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泛型类型的静态成员变量每个实例化类型存在单独一份，并且可以依赖类型变元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4DD827-3914-48B0-A481-2E9D09C9E490}"/>
              </a:ext>
            </a:extLst>
          </p:cNvPr>
          <p:cNvSpPr/>
          <p:nvPr/>
        </p:nvSpPr>
        <p:spPr>
          <a:xfrm>
            <a:off x="7586143" y="2000955"/>
            <a:ext cx="43995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泛型类型的静态成员变量共享一份（仅</a:t>
            </a:r>
            <a:r>
              <a:rPr lang="en-US" altLang="zh-CN" dirty="0" err="1"/>
              <a:t>cjnative</a:t>
            </a:r>
            <a:r>
              <a:rPr lang="zh-CN" altLang="en-US" dirty="0"/>
              <a:t>后端），并且不能依赖类型变元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3978C97-2E5E-4A82-95B1-90B309B85A6C}"/>
              </a:ext>
            </a:extLst>
          </p:cNvPr>
          <p:cNvSpPr txBox="1"/>
          <p:nvPr/>
        </p:nvSpPr>
        <p:spPr>
          <a:xfrm>
            <a:off x="191374" y="124381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泛型静态成员变量的变化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356A735-CBC4-48A6-8567-9AB127F6B1EB}"/>
              </a:ext>
            </a:extLst>
          </p:cNvPr>
          <p:cNvCxnSpPr/>
          <p:nvPr/>
        </p:nvCxnSpPr>
        <p:spPr>
          <a:xfrm>
            <a:off x="5824024" y="2257972"/>
            <a:ext cx="8440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EB0EE87-8B3D-4C14-81CD-578B1BE0A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087" y="2847394"/>
            <a:ext cx="6219825" cy="22764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BE9AFD0-9F0D-48C8-88FB-F83BE55A5E5A}"/>
              </a:ext>
            </a:extLst>
          </p:cNvPr>
          <p:cNvSpPr/>
          <p:nvPr/>
        </p:nvSpPr>
        <p:spPr>
          <a:xfrm>
            <a:off x="3171746" y="5323977"/>
            <a:ext cx="56979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当前这种行为在“新泛型”下比较直观，原本的行为实现起来复杂性高，性能也不高</a:t>
            </a:r>
          </a:p>
        </p:txBody>
      </p:sp>
    </p:spTree>
    <p:extLst>
      <p:ext uri="{BB962C8B-B14F-4D97-AF65-F5344CB8AC3E}">
        <p14:creationId xmlns:p14="http://schemas.microsoft.com/office/powerpoint/2010/main" val="3309050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3978C97-2E5E-4A82-95B1-90B309B85A6C}"/>
              </a:ext>
            </a:extLst>
          </p:cNvPr>
          <p:cNvSpPr txBox="1"/>
          <p:nvPr/>
        </p:nvSpPr>
        <p:spPr>
          <a:xfrm>
            <a:off x="191374" y="12438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其他变化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83F696-576B-486F-826D-104624290938}"/>
              </a:ext>
            </a:extLst>
          </p:cNvPr>
          <p:cNvSpPr txBox="1"/>
          <p:nvPr/>
        </p:nvSpPr>
        <p:spPr>
          <a:xfrm>
            <a:off x="526865" y="1881398"/>
            <a:ext cx="8835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zh-CN" altLang="en-US" dirty="0"/>
              <a:t>运行性能有损失，叠加的场景可能会有明显劣化，加紧优化中</a:t>
            </a:r>
            <a:r>
              <a:rPr lang="en-US" altLang="zh-CN" dirty="0"/>
              <a:t>~</a:t>
            </a:r>
          </a:p>
          <a:p>
            <a:pPr marL="742950" lvl="1" indent="-285750">
              <a:buFontTx/>
              <a:buChar char="-"/>
            </a:pPr>
            <a:r>
              <a:rPr lang="zh-CN" altLang="en-US" dirty="0"/>
              <a:t>编译时间改善，标准库大量使用泛型，实测重度场景会有</a:t>
            </a:r>
            <a:r>
              <a:rPr lang="en-US" altLang="zh-CN" dirty="0"/>
              <a:t>70%</a:t>
            </a:r>
            <a:r>
              <a:rPr lang="zh-CN" altLang="en-US" dirty="0"/>
              <a:t>改善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二进制大小收益，取决于使用量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兼容性改善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en-US" altLang="zh-CN" dirty="0"/>
              <a:t>cjo</a:t>
            </a:r>
            <a:r>
              <a:rPr lang="zh-CN" altLang="en-US" dirty="0"/>
              <a:t>大小改善</a:t>
            </a:r>
            <a:endParaRPr lang="en-US" altLang="zh-CN" dirty="0"/>
          </a:p>
          <a:p>
            <a:pPr marL="742950" lvl="1" indent="-285750">
              <a:buFontTx/>
              <a:buChar char="-"/>
            </a:pPr>
            <a:r>
              <a:rPr lang="zh-CN" altLang="en-US" dirty="0"/>
              <a:t>反射能力还在适配当中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6134FD-A3C2-405F-9984-7F0E4CDE6237}"/>
              </a:ext>
            </a:extLst>
          </p:cNvPr>
          <p:cNvSpPr txBox="1"/>
          <p:nvPr/>
        </p:nvSpPr>
        <p:spPr>
          <a:xfrm>
            <a:off x="625339" y="3624491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锚点：相比“单态化”泛型而言</a:t>
            </a:r>
          </a:p>
        </p:txBody>
      </p:sp>
    </p:spTree>
    <p:extLst>
      <p:ext uri="{BB962C8B-B14F-4D97-AF65-F5344CB8AC3E}">
        <p14:creationId xmlns:p14="http://schemas.microsoft.com/office/powerpoint/2010/main" val="179206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您也可以替换为自己的二维码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联系方式，邀请社区开发者共建项目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7640</TotalTime>
  <Words>781</Words>
  <Application>Microsoft Office PowerPoint</Application>
  <PresentationFormat>宽屏</PresentationFormat>
  <Paragraphs>109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Huawei Sans</vt:lpstr>
      <vt:lpstr>Microsoft YaHei Light</vt:lpstr>
      <vt:lpstr>DengXian</vt:lpstr>
      <vt:lpstr>微软雅黑</vt:lpstr>
      <vt:lpstr>微软雅黑 Light</vt:lpstr>
      <vt:lpstr>Arial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xuanjiazhen</cp:lastModifiedBy>
  <cp:revision>157</cp:revision>
  <dcterms:created xsi:type="dcterms:W3CDTF">2022-07-15T02:23:02Z</dcterms:created>
  <dcterms:modified xsi:type="dcterms:W3CDTF">2025-01-24T08:28:37Z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