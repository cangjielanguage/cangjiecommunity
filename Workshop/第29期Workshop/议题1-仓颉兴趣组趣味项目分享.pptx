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8" r:id="rId3"/>
  </p:sldMasterIdLst>
  <p:notesMasterIdLst>
    <p:notesMasterId r:id="rId7"/>
  </p:notesMasterIdLst>
  <p:handoutMasterIdLst>
    <p:handoutMasterId r:id="rId59"/>
  </p:handoutMasterIdLst>
  <p:sldIdLst>
    <p:sldId id="282" r:id="rId4"/>
    <p:sldId id="281" r:id="rId5"/>
    <p:sldId id="280" r:id="rId6"/>
    <p:sldId id="293" r:id="rId8"/>
    <p:sldId id="295" r:id="rId9"/>
    <p:sldId id="297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307" r:id="rId19"/>
    <p:sldId id="308" r:id="rId20"/>
    <p:sldId id="309" r:id="rId21"/>
    <p:sldId id="310" r:id="rId22"/>
    <p:sldId id="311" r:id="rId23"/>
    <p:sldId id="312" r:id="rId24"/>
    <p:sldId id="313" r:id="rId25"/>
    <p:sldId id="314" r:id="rId26"/>
    <p:sldId id="316" r:id="rId27"/>
    <p:sldId id="317" r:id="rId28"/>
    <p:sldId id="318" r:id="rId29"/>
    <p:sldId id="319" r:id="rId30"/>
    <p:sldId id="320" r:id="rId31"/>
    <p:sldId id="321" r:id="rId32"/>
    <p:sldId id="323" r:id="rId33"/>
    <p:sldId id="322" r:id="rId34"/>
    <p:sldId id="324" r:id="rId35"/>
    <p:sldId id="325" r:id="rId36"/>
    <p:sldId id="326" r:id="rId37"/>
    <p:sldId id="327" r:id="rId38"/>
    <p:sldId id="328" r:id="rId39"/>
    <p:sldId id="329" r:id="rId40"/>
    <p:sldId id="330" r:id="rId41"/>
    <p:sldId id="331" r:id="rId42"/>
    <p:sldId id="332" r:id="rId43"/>
    <p:sldId id="333" r:id="rId44"/>
    <p:sldId id="334" r:id="rId45"/>
    <p:sldId id="335" r:id="rId46"/>
    <p:sldId id="338" r:id="rId47"/>
    <p:sldId id="340" r:id="rId48"/>
    <p:sldId id="341" r:id="rId49"/>
    <p:sldId id="342" r:id="rId50"/>
    <p:sldId id="344" r:id="rId51"/>
    <p:sldId id="345" r:id="rId52"/>
    <p:sldId id="346" r:id="rId53"/>
    <p:sldId id="347" r:id="rId54"/>
    <p:sldId id="348" r:id="rId55"/>
    <p:sldId id="349" r:id="rId56"/>
    <p:sldId id="351" r:id="rId57"/>
    <p:sldId id="289" r:id="rId5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FC2DFAE-FB83-48CB-9811-7C4E6F4F3F73}">
          <p14:sldIdLst>
            <p14:sldId id="282"/>
            <p14:sldId id="281"/>
            <p14:sldId id="280"/>
            <p14:sldId id="293"/>
            <p14:sldId id="295"/>
            <p14:sldId id="297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6"/>
            <p14:sldId id="317"/>
            <p14:sldId id="318"/>
            <p14:sldId id="319"/>
            <p14:sldId id="320"/>
            <p14:sldId id="321"/>
            <p14:sldId id="323"/>
            <p14:sldId id="322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8"/>
            <p14:sldId id="340"/>
            <p14:sldId id="341"/>
            <p14:sldId id="342"/>
            <p14:sldId id="344"/>
            <p14:sldId id="345"/>
            <p14:sldId id="346"/>
            <p14:sldId id="347"/>
            <p14:sldId id="348"/>
            <p14:sldId id="349"/>
            <p14:sldId id="351"/>
            <p14:sldId id="28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5F3"/>
    <a:srgbClr val="FFFFFF"/>
    <a:srgbClr val="CC99FF"/>
    <a:srgbClr val="E5F5FF"/>
    <a:srgbClr val="A2E0EE"/>
    <a:srgbClr val="2D77EE"/>
    <a:srgbClr val="01DFC0"/>
    <a:srgbClr val="91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651" autoAdjust="0"/>
    <p:restoredTop sz="95988"/>
  </p:normalViewPr>
  <p:slideViewPr>
    <p:cSldViewPr snapToGrid="0" snapToObjects="1">
      <p:cViewPr varScale="1">
        <p:scale>
          <a:sx n="78" d="100"/>
          <a:sy n="78" d="100"/>
        </p:scale>
        <p:origin x="31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notesMaster" Target="notesMasters/notesMaster1.xml"/><Relationship Id="rId64" Type="http://schemas.openxmlformats.org/officeDocument/2006/relationships/customXml" Target="../customXml/item1.xml"/><Relationship Id="rId63" Type="http://schemas.openxmlformats.org/officeDocument/2006/relationships/customXmlProps" Target="../customXml/itemProps1.xml"/><Relationship Id="rId62" Type="http://schemas.openxmlformats.org/officeDocument/2006/relationships/tableStyles" Target="tableStyles.xml"/><Relationship Id="rId61" Type="http://schemas.openxmlformats.org/officeDocument/2006/relationships/viewProps" Target="viewProps.xml"/><Relationship Id="rId60" Type="http://schemas.openxmlformats.org/officeDocument/2006/relationships/presProps" Target="presProps.xml"/><Relationship Id="rId6" Type="http://schemas.openxmlformats.org/officeDocument/2006/relationships/slide" Target="slides/slide3.xml"/><Relationship Id="rId59" Type="http://schemas.openxmlformats.org/officeDocument/2006/relationships/handoutMaster" Target="handoutMasters/handoutMaster1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slide" Target="slides/slide2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275235-9A1A-D74C-B5F3-1C693EF9A0D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59C8D6-C46B-CF46-BEF0-81268CF6F78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我们期待通过编写开源软件来推动更深入的学习，让学生开发者获得成长，也为仓颉社区贡献有趣的项目。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将字符串按照 TOMLv1.0.0 规范解析成自定义对象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将项目的 cjpm.toml 文件按照 TOMLv1.0.0 规范解析成 DataModel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Cangjie TOML 整体分为两部分，分别是词法分析器和语法分析器。词法分析器接收 toml 字符串作为输入，输出 token 序列。语法分析器接收 token 序列作为输入，输出最终的 DataModel。</a:t>
            </a:r>
            <a:endParaRPr lang="zh-CN" altLang="en-US"/>
          </a:p>
          <a:p>
            <a:r>
              <a:rPr lang="zh-CN" altLang="en-US"/>
              <a:t>其中，词法解析器使用下推自动机的思想，将各个状态以函数的方式定义，减少了理解成本。同时，使用栈存储额外信息，状态的转移不仅取决于当前输入字符，还取决于栈顶元素。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状态枚举类型State有两种可能：一种是Func，接收一个函数参数，函数的参数为Lexer（词法解析器上下文），返回值为下一个状态State；另一种是End，表示状态结束。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词法解析器状态图如下，为了简化表示，此处隐去了状态转移条件以及部分状态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Top状态函数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精简：减少对开发者的侵入，尽量以简洁的方式实现常用的功能。</a:t>
            </a:r>
            <a:endParaRPr lang="zh-CN" altLang="en-US"/>
          </a:p>
          <a:p>
            <a:r>
              <a:rPr lang="zh-CN" altLang="en-US"/>
              <a:t>函数式：强调函数式风格，采用中间件函数链 (HandlersChain) 的形式来组织业务逻辑。</a:t>
            </a:r>
            <a:endParaRPr lang="zh-CN" altLang="en-US"/>
          </a:p>
          <a:p>
            <a:r>
              <a:rPr lang="zh-CN" altLang="en-US"/>
              <a:t>灵活：通过可配置的压缩前缀树路由、可组合的路由组、中间件机制等，让开发者可随心定制自己的服务。</a:t>
            </a:r>
            <a:endParaRPr lang="zh-CN" altLang="en-US"/>
          </a:p>
          <a:p>
            <a:r>
              <a:rPr lang="zh-CN" altLang="en-US"/>
              <a:t>高效：尽可能采用对象池、零拷贝（画饼）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启动一个项目仅需要三句话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待办事项清单系统 (ToDoList) 演示：</a:t>
            </a:r>
            <a:endParaRPr lang="zh-CN" altLang="en-US"/>
          </a:p>
          <a:p>
            <a:r>
              <a:rPr lang="zh-CN" altLang="en-US"/>
              <a:t>使用路由组管理区分需要登录和不需要登录的接口。</a:t>
            </a:r>
            <a:endParaRPr lang="zh-CN" altLang="en-US"/>
          </a:p>
          <a:p>
            <a:r>
              <a:rPr lang="zh-CN" altLang="en-US"/>
              <a:t>通过token 校验中间件确保只有携带正确 token 的用户才能执行增删改操作。</a:t>
            </a:r>
            <a:endParaRPr lang="zh-CN" altLang="en-US"/>
          </a:p>
          <a:p>
            <a:r>
              <a:rPr lang="zh-CN" altLang="en-US"/>
              <a:t>跨域中间件(CORS) 使得我们可以前端页面直接调用后端接口。</a:t>
            </a:r>
            <a:endParaRPr lang="zh-CN" altLang="en-US"/>
          </a:p>
          <a:p>
            <a:r>
              <a:rPr lang="zh-CN" altLang="en-US"/>
              <a:t>自定义异常处理中间件让异常（业务异常 &amp; 系统异常）都能被统一处理，返回标准化的 JSON 报文。</a:t>
            </a:r>
            <a:endParaRPr lang="zh-CN" altLang="en-US"/>
          </a:p>
          <a:p>
            <a:r>
              <a:rPr lang="zh-CN" altLang="en-US"/>
              <a:t>统一返回结果对象（BaseResponse），让所有接口输出的格式一致（如 {"code":20000,"message":"ok","data":...}）。</a:t>
            </a:r>
            <a:endParaRPr lang="zh-CN" altLang="en-US"/>
          </a:p>
          <a:p>
            <a:r>
              <a:rPr lang="zh-CN" altLang="en-US"/>
              <a:t>URL 参数获取（如 GET /todo/:id）和 Query 参数（如 GET /todo?id=123）等常见业务场景都一应俱全。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这样，“authGroup”里的所有接口都必须先经过 authMiddleware 校验才能执行。</a:t>
            </a:r>
            <a:endParaRPr lang="zh-CN" altLang="en-US"/>
          </a:p>
          <a:p>
            <a:r>
              <a:rPr lang="zh-CN" altLang="en-US">
                <a:sym typeface="+mn-ea"/>
              </a:rPr>
              <a:t>中间件采用函数链的方式：每个中间件接收一个 TeaContext，可以执行自身逻辑并调用 c.next() 进入下一个中间件。若中途调用 c.abort()，则停止后续中间件的执行。</a:t>
            </a:r>
            <a:endParaRPr lang="zh-CN" altLang="en-US"/>
          </a:p>
          <a:p>
            <a:r>
              <a:rPr lang="zh-CN" altLang="en-US">
                <a:sym typeface="+mn-ea"/>
              </a:rPr>
              <a:t>在示例中，我们把异常处理、跨域处理、token验证等拆分成独立中间件，灵活组合。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通过这种结构化的上下文，我们可以在多层中间件和路由处理器之间有序地传递和操作请求、响应、以及自定义的业务数据。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node.js</a:t>
            </a:r>
            <a:r>
              <a:rPr lang="zh-CN" altLang="en-US"/>
              <a:t>加法服务</a:t>
            </a:r>
            <a:endParaRPr lang="zh-CN" altLang="en-US"/>
          </a:p>
          <a:p>
            <a:r>
              <a:rPr lang="zh-CN" altLang="en-US"/>
              <a:t>使用仓颉调用</a:t>
            </a:r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发布事件</a:t>
            </a: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发布事件</a:t>
            </a:r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获取配置信息。通过store名称和键从数据库（如redis）中获取配置信息，支持同时获取多个值</a:t>
            </a:r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获取密钥</a:t>
            </a:r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三种生命周期，自动</a:t>
            </a:r>
            <a:r>
              <a:rPr lang="en-US" altLang="zh-CN"/>
              <a:t>close</a:t>
            </a:r>
            <a:endParaRPr lang="en-US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工厂函数注册</a:t>
            </a:r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泛型支持</a:t>
            </a:r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复杂泛型验证</a:t>
            </a:r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中介者模式带拦截器</a:t>
            </a:r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数据验证</a:t>
            </a:r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sql</a:t>
            </a:r>
            <a:r>
              <a:rPr lang="zh-CN" altLang="en-US"/>
              <a:t>生成</a:t>
            </a:r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ioc + </a:t>
            </a:r>
            <a:r>
              <a:rPr lang="zh-CN" altLang="en-US"/>
              <a:t>中介者模式</a:t>
            </a:r>
            <a:r>
              <a:rPr lang="en-US" altLang="zh-CN"/>
              <a:t> + </a:t>
            </a:r>
            <a:r>
              <a:rPr lang="zh-CN" altLang="en-US"/>
              <a:t>中介者拦截器调用数据验证</a:t>
            </a:r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tea</a:t>
            </a:r>
            <a:r>
              <a:rPr lang="zh-CN" altLang="en-US"/>
              <a:t>集成</a:t>
            </a:r>
            <a:r>
              <a:rPr lang="en-US" altLang="zh-CN"/>
              <a:t>naivetoolkit</a:t>
            </a:r>
            <a:endParaRPr lang="en-US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该示例展示了如何获取数据库中的键，并根据不同排序条件（升序、降序等）进行筛选</a:t>
            </a:r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该示例展示了如何获取数据库中的键，并根据不同排序条件（升序、降序等）进行筛选</a:t>
            </a:r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服务器端和客户端启动</a:t>
            </a:r>
            <a:endParaRPr lang="zh-CN" altLang="en-US"/>
          </a:p>
          <a:p>
            <a:r>
              <a:rPr lang="zh-CN" altLang="en-US"/>
              <a:t>创建并写入文件</a:t>
            </a:r>
            <a:endParaRPr lang="zh-CN" altLang="en-US"/>
          </a:p>
          <a:p>
            <a:r>
              <a:rPr lang="zh-CN" altLang="en-US"/>
              <a:t>创建目录</a:t>
            </a:r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分块读取</a:t>
            </a:r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项目处理了调试信息的编码问题，使用条件编译和c语言互操作实现了系统调用。项目包含了对windows sid处理的逻辑，以适配windows和linux的文件权限适配问题。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使用仓颉，实现一个支持 safetensors 格式，数据精度为 float32 的 transformer 模型推理引擎: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    仿照 python 中的 transformers 库，实现了 Tensor 和 Llama 类。</a:t>
            </a:r>
            <a:endParaRPr lang="zh-CN" altLang="en-US"/>
          </a:p>
          <a:p>
            <a:r>
              <a:rPr lang="zh-CN" altLang="en-US"/>
              <a:t>    实现 forward 的功能。</a:t>
            </a:r>
            <a:endParaRPr lang="zh-CN" altLang="en-US"/>
          </a:p>
          <a:p>
            <a:r>
              <a:rPr lang="zh-CN" altLang="en-US"/>
              <a:t>    实现最基本的文本生成功能。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项目处理了调试信息的编码问题，使用条件编译和c语言互操作实现了系统调用。项目包含了对windows sid处理的逻辑，以适配windows和linux的文件权限适配问题。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4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0" y="491490"/>
            <a:ext cx="5257800" cy="119951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r">
              <a:defRPr sz="2400" u="none" strike="noStrike" kern="1200" cap="none" spc="0" normalizeH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defRPr sz="2400" u="none" strike="noStrike" kern="1200" cap="none" spc="0" normalizeH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defRPr sz="2200" u="none" strike="noStrike" kern="1200" cap="none" spc="0" normalizeH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defRPr u="none" strike="noStrike" kern="1200" cap="none" spc="0" normalizeH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defRPr u="none" strike="noStrike" kern="1200" cap="none" spc="0" normalizeH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defRPr u="none" strike="noStrike" kern="1200" cap="none" spc="0" normalizeH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0" y="491490"/>
            <a:ext cx="5257800" cy="119951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r">
              <a:defRPr sz="2400" u="none" strike="noStrike" kern="1200" cap="none" spc="0" normalizeH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257800" cy="4351655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0" indent="0" algn="l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 sz="1600" u="none" strike="noStrike" kern="1200" cap="none" spc="0" normalizeH="0">
                <a:solidFill>
                  <a:schemeClr val="tx1"/>
                </a:solidFill>
                <a:uFillTx/>
                <a:latin typeface="Liberation Mono" panose="02070409020205020404" charset="0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 sz="2200" u="none" strike="noStrike" kern="1200" cap="none" spc="0" normalizeH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 u="none" strike="noStrike" kern="1200" cap="none" spc="0" normalizeH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 u="none" strike="noStrike" kern="1200" cap="none" spc="0" normalizeH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 u="none" strike="noStrike" kern="1200" cap="none" spc="0" normalizeH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3"/>
          </p:nvPr>
        </p:nvSpPr>
        <p:spPr>
          <a:xfrm>
            <a:off x="6096000" y="1825625"/>
            <a:ext cx="5257800" cy="43516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 sz="1600" u="none" strike="noStrike" kern="1200" cap="none" spc="0" normalizeH="0">
                <a:solidFill>
                  <a:schemeClr val="tx1"/>
                </a:solidFill>
                <a:uFillTx/>
                <a:latin typeface="Liberation Mono" panose="02070409020205020404" charset="0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 sz="2200" u="none" strike="noStrike" kern="1200" cap="none" spc="0" normalizeH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 u="none" strike="noStrike" kern="1200" cap="none" spc="0" normalizeH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 u="none" strike="noStrike" kern="1200" cap="none" spc="0" normalizeH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 u="none" strike="noStrike" kern="1200" cap="none" spc="0" normalizeH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3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0" y="491490"/>
            <a:ext cx="5257800" cy="119951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r">
              <a:defRPr sz="2400" u="none" strike="noStrike" kern="1200" cap="none" spc="0" normalizeH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655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0" indent="0" algn="l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 sz="1600" u="none" strike="noStrike" kern="1200" cap="none" spc="0" normalizeH="0">
                <a:solidFill>
                  <a:schemeClr val="tx1"/>
                </a:solidFill>
                <a:uFillTx/>
                <a:latin typeface="Liberation Mono" panose="02070409020205020404" charset="0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 sz="2200" u="none" strike="noStrike" kern="1200" cap="none" spc="0" normalizeH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 u="none" strike="noStrike" kern="1200" cap="none" spc="0" normalizeH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 u="none" strike="noStrike" kern="1200" cap="none" spc="0" normalizeH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 u="none" strike="noStrike" kern="1200" cap="none" spc="0" normalizeH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DB396C5-89CD-9B42-B4EE-53A9D47B098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1412462-3951-534C-B2EB-31A3E742C10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DB396C5-89CD-9B42-B4EE-53A9D47B098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1412462-3951-534C-B2EB-31A3E742C10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4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0" y="491490"/>
            <a:ext cx="5257800" cy="119951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r">
              <a:defRPr sz="2400" u="none" strike="noStrike" kern="1200" cap="none" spc="0" normalizeH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defRPr sz="2400" u="none" strike="noStrike" kern="1200" cap="none" spc="0" normalizeH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defRPr sz="2200" u="none" strike="noStrike" kern="1200" cap="none" spc="0" normalizeH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defRPr u="none" strike="noStrike" kern="1200" cap="none" spc="0" normalizeH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defRPr u="none" strike="noStrike" kern="1200" cap="none" spc="0" normalizeH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defRPr u="none" strike="noStrike" kern="1200" cap="none" spc="0" normalizeH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0" y="491490"/>
            <a:ext cx="5257800" cy="119951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r">
              <a:defRPr sz="2400" u="none" strike="noStrike" kern="1200" cap="none" spc="0" normalizeH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257800" cy="4351655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0" indent="0" algn="l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 sz="1600" u="none" strike="noStrike" kern="1200" cap="none" spc="0" normalizeH="0">
                <a:solidFill>
                  <a:schemeClr val="tx1"/>
                </a:solidFill>
                <a:uFillTx/>
                <a:latin typeface="Liberation Mono" panose="02070409020205020404" charset="0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 sz="2200" u="none" strike="noStrike" kern="1200" cap="none" spc="0" normalizeH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 u="none" strike="noStrike" kern="1200" cap="none" spc="0" normalizeH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 u="none" strike="noStrike" kern="1200" cap="none" spc="0" normalizeH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 u="none" strike="noStrike" kern="1200" cap="none" spc="0" normalizeH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3"/>
          </p:nvPr>
        </p:nvSpPr>
        <p:spPr>
          <a:xfrm>
            <a:off x="6096000" y="1825625"/>
            <a:ext cx="5257800" cy="43516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 sz="1600" u="none" strike="noStrike" kern="1200" cap="none" spc="0" normalizeH="0">
                <a:solidFill>
                  <a:schemeClr val="tx1"/>
                </a:solidFill>
                <a:uFillTx/>
                <a:latin typeface="Liberation Mono" panose="02070409020205020404" charset="0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 sz="2200" u="none" strike="noStrike" kern="1200" cap="none" spc="0" normalizeH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 u="none" strike="noStrike" kern="1200" cap="none" spc="0" normalizeH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 u="none" strike="noStrike" kern="1200" cap="none" spc="0" normalizeH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 u="none" strike="noStrike" kern="1200" cap="none" spc="0" normalizeH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3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0" y="491490"/>
            <a:ext cx="5257800" cy="119951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r">
              <a:defRPr sz="2400" u="none" strike="noStrike" kern="1200" cap="none" spc="0" normalizeH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655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0" indent="0" algn="l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 sz="1600" u="none" strike="noStrike" kern="1200" cap="none" spc="0" normalizeH="0">
                <a:solidFill>
                  <a:schemeClr val="tx1"/>
                </a:solidFill>
                <a:uFillTx/>
                <a:latin typeface="Liberation Mono" panose="02070409020205020404" charset="0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 sz="2200" u="none" strike="noStrike" kern="1200" cap="none" spc="0" normalizeH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 u="none" strike="noStrike" kern="1200" cap="none" spc="0" normalizeH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 u="none" strike="noStrike" kern="1200" cap="none" spc="0" normalizeH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 u="none" strike="noStrike" kern="1200" cap="none" spc="0" normalizeH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DB396C5-89CD-9B42-B4EE-53A9D47B098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1412462-3951-534C-B2EB-31A3E742C10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DB396C5-89CD-9B42-B4EE-53A9D47B098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1412462-3951-534C-B2EB-31A3E742C10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0" Type="http://schemas.openxmlformats.org/officeDocument/2006/relationships/theme" Target="../theme/theme2.xml"/><Relationship Id="rId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5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32449" y="2604771"/>
            <a:ext cx="7319214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仓颉兴趣组趣味项目分享</a:t>
            </a:r>
            <a:endParaRPr kumimoji="1" lang="zh-CN" altLang="en-US" sz="4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56285" y="3743960"/>
            <a:ext cx="102165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华为开发者布道师</a:t>
            </a:r>
            <a:r>
              <a:rPr kumimoji="1" lang="en-US" altLang="zh-CN" sz="28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kumimoji="1" lang="zh-CN" altLang="en-US" sz="28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东北大学软件学院</a:t>
            </a:r>
            <a:r>
              <a:rPr kumimoji="1" lang="en-US" altLang="zh-CN" sz="28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kumimoji="1" lang="zh-CN" altLang="en-US" sz="28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张引</a:t>
            </a:r>
            <a:endParaRPr kumimoji="1" lang="zh-CN" altLang="en-US" sz="28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78226" y="4636347"/>
            <a:ext cx="2800101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sz="2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TOML</a:t>
            </a:r>
            <a:endParaRPr kumimoji="1" lang="en-US" sz="2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73934" y="4636347"/>
            <a:ext cx="2800101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sz="2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Web Server</a:t>
            </a:r>
            <a:endParaRPr kumimoji="1" lang="en-US" sz="2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85733" y="5297117"/>
            <a:ext cx="2800101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分布式运行时</a:t>
            </a:r>
            <a:endParaRPr kumimoji="1" lang="zh-CN" altLang="en-US" sz="2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573934" y="5303531"/>
            <a:ext cx="2800101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sz="2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云原生</a:t>
            </a:r>
            <a:endParaRPr kumimoji="1" lang="zh-CN" sz="2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8" name="图片 7" descr="devadvocat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285" y="5958205"/>
            <a:ext cx="1699895" cy="6845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816710" y="2571698"/>
            <a:ext cx="9227792" cy="2281451"/>
            <a:chOff x="816710" y="2571698"/>
            <a:chExt cx="9227792" cy="2281451"/>
          </a:xfrm>
        </p:grpSpPr>
        <p:grpSp>
          <p:nvGrpSpPr>
            <p:cNvPr id="13" name="组 38"/>
            <p:cNvGrpSpPr/>
            <p:nvPr/>
          </p:nvGrpSpPr>
          <p:grpSpPr>
            <a:xfrm>
              <a:off x="4564518" y="4423254"/>
              <a:ext cx="2761972" cy="429895"/>
              <a:chOff x="674914" y="4918958"/>
              <a:chExt cx="2761972" cy="429895"/>
            </a:xfrm>
          </p:grpSpPr>
          <p:sp>
            <p:nvSpPr>
              <p:cNvPr id="37" name="文本框 36"/>
              <p:cNvSpPr txBox="1"/>
              <p:nvPr/>
            </p:nvSpPr>
            <p:spPr>
              <a:xfrm>
                <a:off x="770521" y="4918958"/>
                <a:ext cx="2666365" cy="4298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zh-CN" sz="2200" b="1" dirty="0">
                    <a:latin typeface="Microsoft YaHei Light" panose="020B0503020204020204" pitchFamily="34" charset="-122"/>
                    <a:ea typeface="Microsoft YaHei Light" panose="020B0503020204020204" pitchFamily="34" charset="-122"/>
                    <a:sym typeface="+mn-ea"/>
                  </a:rPr>
                  <a:t>Dapr Cangjie SDK</a:t>
                </a:r>
                <a:endParaRPr kumimoji="1" lang="en-US" altLang="zh-CN" sz="2200" b="1" dirty="0">
                  <a:latin typeface="Microsoft YaHei Light" panose="020B0503020204020204" pitchFamily="34" charset="-122"/>
                  <a:ea typeface="Microsoft YaHei Light" panose="020B0503020204020204" pitchFamily="34" charset="-122"/>
                </a:endParaRPr>
              </a:p>
            </p:txBody>
          </p:sp>
          <p:sp>
            <p:nvSpPr>
              <p:cNvPr id="38" name="椭圆 37"/>
              <p:cNvSpPr/>
              <p:nvPr/>
            </p:nvSpPr>
            <p:spPr>
              <a:xfrm>
                <a:off x="674914" y="5092478"/>
                <a:ext cx="95607" cy="9560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816710" y="2571698"/>
              <a:ext cx="9227792" cy="1988746"/>
              <a:chOff x="816710" y="2571698"/>
              <a:chExt cx="9227792" cy="1988746"/>
            </a:xfrm>
          </p:grpSpPr>
          <p:sp>
            <p:nvSpPr>
              <p:cNvPr id="18" name="文本框 17"/>
              <p:cNvSpPr txBox="1"/>
              <p:nvPr/>
            </p:nvSpPr>
            <p:spPr>
              <a:xfrm>
                <a:off x="816710" y="2940593"/>
                <a:ext cx="2278743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CN" altLang="en-US" sz="7200" b="1" dirty="0">
                    <a:latin typeface="Microsoft YaHei Light" panose="020B0503020204020204" pitchFamily="34" charset="-122"/>
                    <a:ea typeface="Microsoft YaHei Light" panose="020B0503020204020204" pitchFamily="34" charset="-122"/>
                  </a:rPr>
                  <a:t>目录</a:t>
                </a:r>
                <a:endParaRPr kumimoji="1" lang="zh-CN" altLang="en-US" sz="7200" b="1" dirty="0">
                  <a:latin typeface="Microsoft YaHei Light" panose="020B0503020204020204" pitchFamily="34" charset="-122"/>
                  <a:ea typeface="Microsoft YaHei Light" panose="020B0503020204020204" pitchFamily="34" charset="-122"/>
                </a:endParaRPr>
              </a:p>
            </p:txBody>
          </p:sp>
          <p:grpSp>
            <p:nvGrpSpPr>
              <p:cNvPr id="19" name="组 29"/>
              <p:cNvGrpSpPr/>
              <p:nvPr/>
            </p:nvGrpSpPr>
            <p:grpSpPr>
              <a:xfrm>
                <a:off x="4564988" y="2571698"/>
                <a:ext cx="2610208" cy="429895"/>
                <a:chOff x="674914" y="4918958"/>
                <a:chExt cx="2610208" cy="429895"/>
              </a:xfrm>
            </p:grpSpPr>
            <p:sp>
              <p:nvSpPr>
                <p:cNvPr id="35" name="文本框 34"/>
                <p:cNvSpPr txBox="1"/>
                <p:nvPr/>
              </p:nvSpPr>
              <p:spPr>
                <a:xfrm>
                  <a:off x="770521" y="4918958"/>
                  <a:ext cx="2514601" cy="4298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zh-CN" altLang="en-US" sz="2200" b="1" dirty="0">
                      <a:latin typeface="Microsoft YaHei Light" panose="020B0503020204020204" pitchFamily="34" charset="-122"/>
                      <a:ea typeface="Microsoft YaHei Light" panose="020B0503020204020204" pitchFamily="34" charset="-122"/>
                    </a:rPr>
                    <a:t>关于仓颉兴趣组</a:t>
                  </a:r>
                  <a:endParaRPr kumimoji="1" lang="en-US" altLang="zh-CN" sz="2200" b="1" dirty="0">
                    <a:latin typeface="Microsoft YaHei Light" panose="020B0503020204020204" pitchFamily="34" charset="-122"/>
                    <a:ea typeface="Microsoft YaHei Light" panose="020B0503020204020204" pitchFamily="34" charset="-122"/>
                  </a:endParaRPr>
                </a:p>
              </p:txBody>
            </p:sp>
            <p:sp>
              <p:nvSpPr>
                <p:cNvPr id="36" name="椭圆 35"/>
                <p:cNvSpPr/>
                <p:nvPr/>
              </p:nvSpPr>
              <p:spPr>
                <a:xfrm>
                  <a:off x="674914" y="5092478"/>
                  <a:ext cx="95607" cy="95607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  <p:grpSp>
            <p:nvGrpSpPr>
              <p:cNvPr id="20" name="组 32"/>
              <p:cNvGrpSpPr/>
              <p:nvPr/>
            </p:nvGrpSpPr>
            <p:grpSpPr>
              <a:xfrm>
                <a:off x="4564518" y="3202858"/>
                <a:ext cx="2610208" cy="429895"/>
                <a:chOff x="674914" y="4918958"/>
                <a:chExt cx="2610208" cy="429895"/>
              </a:xfrm>
            </p:grpSpPr>
            <p:sp>
              <p:nvSpPr>
                <p:cNvPr id="33" name="文本框 32"/>
                <p:cNvSpPr txBox="1"/>
                <p:nvPr/>
              </p:nvSpPr>
              <p:spPr>
                <a:xfrm>
                  <a:off x="770521" y="4918958"/>
                  <a:ext cx="2514601" cy="4298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CN" sz="2200" b="1" dirty="0">
                      <a:latin typeface="Microsoft YaHei Light" panose="020B0503020204020204" pitchFamily="34" charset="-122"/>
                      <a:ea typeface="Microsoft YaHei Light" panose="020B0503020204020204" pitchFamily="34" charset="-122"/>
                    </a:rPr>
                    <a:t>cangjie_toml</a:t>
                  </a:r>
                  <a:endParaRPr kumimoji="1" lang="en-US" altLang="zh-CN" sz="2200" b="1" dirty="0">
                    <a:latin typeface="Microsoft YaHei Light" panose="020B0503020204020204" pitchFamily="34" charset="-122"/>
                    <a:ea typeface="Microsoft YaHei Light" panose="020B0503020204020204" pitchFamily="34" charset="-122"/>
                  </a:endParaRPr>
                </a:p>
              </p:txBody>
            </p:sp>
            <p:sp>
              <p:nvSpPr>
                <p:cNvPr id="34" name="椭圆 33"/>
                <p:cNvSpPr/>
                <p:nvPr/>
              </p:nvSpPr>
              <p:spPr>
                <a:xfrm>
                  <a:off x="674914" y="5092478"/>
                  <a:ext cx="95607" cy="95607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  <p:grpSp>
            <p:nvGrpSpPr>
              <p:cNvPr id="21" name="组 35"/>
              <p:cNvGrpSpPr/>
              <p:nvPr/>
            </p:nvGrpSpPr>
            <p:grpSpPr>
              <a:xfrm>
                <a:off x="4564988" y="3792094"/>
                <a:ext cx="2762250" cy="768350"/>
                <a:chOff x="674914" y="4918958"/>
                <a:chExt cx="2762250" cy="768350"/>
              </a:xfrm>
            </p:grpSpPr>
            <p:sp>
              <p:nvSpPr>
                <p:cNvPr id="31" name="文本框 30"/>
                <p:cNvSpPr txBox="1"/>
                <p:nvPr/>
              </p:nvSpPr>
              <p:spPr>
                <a:xfrm>
                  <a:off x="770799" y="4918958"/>
                  <a:ext cx="2666365" cy="7683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CN" sz="2200" b="1" dirty="0">
                      <a:latin typeface="Microsoft YaHei Light" panose="020B0503020204020204" pitchFamily="34" charset="-122"/>
                      <a:ea typeface="Microsoft YaHei Light" panose="020B0503020204020204" pitchFamily="34" charset="-122"/>
                    </a:rPr>
                    <a:t>tea with seedhttp</a:t>
                  </a:r>
                  <a:endParaRPr kumimoji="1" lang="en-US" altLang="zh-CN" sz="2200" b="1" dirty="0">
                    <a:latin typeface="Microsoft YaHei Light" panose="020B0503020204020204" pitchFamily="34" charset="-122"/>
                    <a:ea typeface="Microsoft YaHei Light" panose="020B0503020204020204" pitchFamily="34" charset="-122"/>
                  </a:endParaRPr>
                </a:p>
              </p:txBody>
            </p:sp>
            <p:sp>
              <p:nvSpPr>
                <p:cNvPr id="32" name="椭圆 31"/>
                <p:cNvSpPr/>
                <p:nvPr/>
              </p:nvSpPr>
              <p:spPr>
                <a:xfrm>
                  <a:off x="674914" y="5092478"/>
                  <a:ext cx="95607" cy="95607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  <p:grpSp>
            <p:nvGrpSpPr>
              <p:cNvPr id="22" name="组 41"/>
              <p:cNvGrpSpPr/>
              <p:nvPr/>
            </p:nvGrpSpPr>
            <p:grpSpPr>
              <a:xfrm>
                <a:off x="7434294" y="2571698"/>
                <a:ext cx="2610208" cy="269127"/>
                <a:chOff x="674914" y="4918958"/>
                <a:chExt cx="2610208" cy="269127"/>
              </a:xfrm>
            </p:grpSpPr>
            <p:sp>
              <p:nvSpPr>
                <p:cNvPr id="29" name="文本框 28"/>
                <p:cNvSpPr txBox="1"/>
                <p:nvPr/>
              </p:nvSpPr>
              <p:spPr>
                <a:xfrm>
                  <a:off x="770521" y="4918958"/>
                  <a:ext cx="2514601" cy="1505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CN" sz="2200" b="1" dirty="0">
                      <a:latin typeface="Microsoft YaHei Light" panose="020B0503020204020204" pitchFamily="34" charset="-122"/>
                      <a:ea typeface="Microsoft YaHei Light" panose="020B0503020204020204" pitchFamily="34" charset="-122"/>
                    </a:rPr>
                    <a:t>naivetoolkit</a:t>
                  </a:r>
                  <a:endParaRPr kumimoji="1" lang="en-US" altLang="zh-CN" sz="2200" b="1" dirty="0">
                    <a:latin typeface="Microsoft YaHei Light" panose="020B0503020204020204" pitchFamily="34" charset="-122"/>
                    <a:ea typeface="Microsoft YaHei Light" panose="020B0503020204020204" pitchFamily="34" charset="-122"/>
                  </a:endParaRPr>
                </a:p>
              </p:txBody>
            </p:sp>
            <p:sp>
              <p:nvSpPr>
                <p:cNvPr id="30" name="椭圆 29"/>
                <p:cNvSpPr/>
                <p:nvPr/>
              </p:nvSpPr>
              <p:spPr>
                <a:xfrm>
                  <a:off x="674914" y="5092478"/>
                  <a:ext cx="95607" cy="95607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  <p:grpSp>
            <p:nvGrpSpPr>
              <p:cNvPr id="23" name="组 44"/>
              <p:cNvGrpSpPr/>
              <p:nvPr/>
            </p:nvGrpSpPr>
            <p:grpSpPr>
              <a:xfrm>
                <a:off x="7433824" y="3202858"/>
                <a:ext cx="2610208" cy="423015"/>
                <a:chOff x="674914" y="4918958"/>
                <a:chExt cx="2610208" cy="423015"/>
              </a:xfrm>
            </p:grpSpPr>
            <p:sp>
              <p:nvSpPr>
                <p:cNvPr id="27" name="文本框 26"/>
                <p:cNvSpPr txBox="1"/>
                <p:nvPr/>
              </p:nvSpPr>
              <p:spPr>
                <a:xfrm>
                  <a:off x="770521" y="4918958"/>
                  <a:ext cx="2514601" cy="4230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CN" sz="2200" b="1" dirty="0">
                      <a:latin typeface="Microsoft YaHei Light" panose="020B0503020204020204" pitchFamily="34" charset="-122"/>
                      <a:ea typeface="Microsoft YaHei Light" panose="020B0503020204020204" pitchFamily="34" charset="-122"/>
                    </a:rPr>
                    <a:t>simplekv</a:t>
                  </a:r>
                  <a:endParaRPr kumimoji="1" lang="en-US" altLang="zh-CN" sz="2200" b="1" dirty="0">
                    <a:latin typeface="Microsoft YaHei Light" panose="020B0503020204020204" pitchFamily="34" charset="-122"/>
                    <a:ea typeface="Microsoft YaHei Light" panose="020B0503020204020204" pitchFamily="34" charset="-122"/>
                  </a:endParaRPr>
                </a:p>
              </p:txBody>
            </p:sp>
            <p:sp>
              <p:nvSpPr>
                <p:cNvPr id="28" name="椭圆 27"/>
                <p:cNvSpPr/>
                <p:nvPr/>
              </p:nvSpPr>
              <p:spPr>
                <a:xfrm>
                  <a:off x="674914" y="5092478"/>
                  <a:ext cx="95607" cy="95607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  <p:grpSp>
            <p:nvGrpSpPr>
              <p:cNvPr id="24" name="组 47"/>
              <p:cNvGrpSpPr/>
              <p:nvPr/>
            </p:nvGrpSpPr>
            <p:grpSpPr>
              <a:xfrm>
                <a:off x="7434294" y="3792094"/>
                <a:ext cx="2610208" cy="426933"/>
                <a:chOff x="674914" y="4918958"/>
                <a:chExt cx="2610208" cy="426933"/>
              </a:xfrm>
            </p:grpSpPr>
            <p:sp>
              <p:nvSpPr>
                <p:cNvPr id="25" name="文本框 24"/>
                <p:cNvSpPr txBox="1"/>
                <p:nvPr/>
              </p:nvSpPr>
              <p:spPr>
                <a:xfrm>
                  <a:off x="770521" y="4918958"/>
                  <a:ext cx="2514601" cy="42693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CN" sz="2200" b="1" dirty="0">
                      <a:latin typeface="Microsoft YaHei Light" panose="020B0503020204020204" pitchFamily="34" charset="-122"/>
                      <a:ea typeface="Microsoft YaHei Light" panose="020B0503020204020204" pitchFamily="34" charset="-122"/>
                    </a:rPr>
                    <a:t>sftp</a:t>
                  </a:r>
                  <a:endParaRPr kumimoji="1" lang="en-US" altLang="zh-CN" sz="2200" b="1" dirty="0">
                    <a:latin typeface="Microsoft YaHei Light" panose="020B0503020204020204" pitchFamily="34" charset="-122"/>
                    <a:ea typeface="Microsoft YaHei Light" panose="020B0503020204020204" pitchFamily="34" charset="-122"/>
                  </a:endParaRPr>
                </a:p>
              </p:txBody>
            </p:sp>
            <p:sp>
              <p:nvSpPr>
                <p:cNvPr id="26" name="椭圆 25"/>
                <p:cNvSpPr/>
                <p:nvPr/>
              </p:nvSpPr>
              <p:spPr>
                <a:xfrm>
                  <a:off x="674914" y="5092478"/>
                  <a:ext cx="95607" cy="95607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</p:grpSp>
        <p:grpSp>
          <p:nvGrpSpPr>
            <p:cNvPr id="15" name="组 50"/>
            <p:cNvGrpSpPr/>
            <p:nvPr/>
          </p:nvGrpSpPr>
          <p:grpSpPr>
            <a:xfrm>
              <a:off x="7433824" y="4423254"/>
              <a:ext cx="2610208" cy="429895"/>
              <a:chOff x="674914" y="4918958"/>
              <a:chExt cx="2610208" cy="429895"/>
            </a:xfrm>
          </p:grpSpPr>
          <p:sp>
            <p:nvSpPr>
              <p:cNvPr id="16" name="文本框 15"/>
              <p:cNvSpPr txBox="1"/>
              <p:nvPr/>
            </p:nvSpPr>
            <p:spPr>
              <a:xfrm>
                <a:off x="770521" y="4918958"/>
                <a:ext cx="2514601" cy="4298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200" b="1" dirty="0">
                    <a:latin typeface="Microsoft YaHei Light" panose="020B0503020204020204" pitchFamily="34" charset="-122"/>
                    <a:ea typeface="Microsoft YaHei Light" panose="020B0503020204020204" pitchFamily="34" charset="-122"/>
                  </a:rPr>
                  <a:t>learning_ml_cj</a:t>
                </a:r>
                <a:endParaRPr kumimoji="1" lang="en-US" altLang="zh-CN" sz="2200" b="1" dirty="0">
                  <a:latin typeface="Microsoft YaHei Light" panose="020B0503020204020204" pitchFamily="34" charset="-122"/>
                  <a:ea typeface="Microsoft YaHei Light" panose="020B0503020204020204" pitchFamily="34" charset="-122"/>
                </a:endParaRPr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674914" y="5092478"/>
                <a:ext cx="95607" cy="9560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/>
          <p:nvPr/>
        </p:nvPicPr>
        <p:blipFill>
          <a:blip r:embed="rId1"/>
        </p:blipFill>
        <p:spPr>
          <a:xfrm>
            <a:off x="2618740" y="2948305"/>
            <a:ext cx="2886075" cy="962025"/>
          </a:xfrm>
          <a:prstGeom prst="rect">
            <a:avLst/>
          </a:prstGeom>
        </p:spPr>
      </p:pic>
      <p:pic>
        <p:nvPicPr>
          <p:cNvPr id="3" name="图片 2"/>
          <p:cNvPicPr/>
          <p:nvPr/>
        </p:nvPicPr>
        <p:blipFill>
          <a:blip r:embed="rId2"/>
          <a:srcRect r="58870"/>
        </p:blipFill>
        <p:spPr>
          <a:xfrm>
            <a:off x="6686550" y="2948305"/>
            <a:ext cx="902335" cy="96139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rcRect t="5878" b="3897"/>
        </p:blipFill>
        <p:spPr>
          <a:xfrm>
            <a:off x="8770620" y="2948305"/>
            <a:ext cx="1149985" cy="96139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928360" y="3244850"/>
            <a:ext cx="335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/>
              <a:t>=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8011795" y="3244850"/>
            <a:ext cx="335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/>
              <a:t>+</a:t>
            </a:r>
            <a:endParaRPr lang="en-US" alt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cangjie_toml</a:t>
            </a:r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cangjie_toml是一个符合仓颉语言标准库serialization包标准的toml文件解析库，支持toml文件到DataModel的转换</a:t>
            </a:r>
            <a:endParaRPr lang="zh-CN" altLang="en-US"/>
          </a:p>
          <a:p>
            <a:pPr lvl="1"/>
            <a:r>
              <a:rPr lang="zh-CN" altLang="en-US"/>
              <a:t>https://gitcode.com/PermissionDog/cangjie_toml</a:t>
            </a:r>
            <a:endParaRPr lang="zh-CN" altLang="en-US"/>
          </a:p>
          <a:p>
            <a:pPr lvl="1"/>
            <a:r>
              <a:rPr lang="en-US" altLang="zh-CN"/>
              <a:t>孟世博</a:t>
            </a:r>
            <a:r>
              <a:rPr lang="zh-CN" altLang="en-US"/>
              <a:t>，东北大学软件学院软件工程专业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cangjie_toml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private const toml = """</a:t>
            </a:r>
            <a:endParaRPr lang="zh-CN" altLang="en-US"/>
          </a:p>
          <a:p>
            <a:r>
              <a:rPr lang="zh-CN" altLang="en-US"/>
              <a:t>name = "SIGCANGJIE"</a:t>
            </a:r>
            <a:endParaRPr lang="zh-CN" altLang="en-US"/>
          </a:p>
          <a:p>
            <a:r>
              <a:rPr lang="zh-CN" altLang="en-US"/>
              <a:t>from = "neu"</a:t>
            </a:r>
            <a:endParaRPr lang="zh-CN" altLang="en-US"/>
          </a:p>
          <a:p>
            <a:r>
              <a:rPr lang="zh-CN" altLang="en-US"/>
              <a:t>"""</a:t>
            </a:r>
            <a:endParaRPr lang="zh-CN" altLang="en-US"/>
          </a:p>
          <a:p>
            <a:r>
              <a:rPr lang="zh-CN" altLang="en-US"/>
              <a:t>private class SigCangjie {</a:t>
            </a:r>
            <a:endParaRPr lang="zh-CN" altLang="en-US"/>
          </a:p>
          <a:p>
            <a:r>
              <a:rPr lang="zh-CN" altLang="en-US"/>
              <a:t>    public SigCangjie(</a:t>
            </a:r>
            <a:endParaRPr lang="zh-CN" altLang="en-US"/>
          </a:p>
          <a:p>
            <a:r>
              <a:rPr lang="zh-CN" altLang="en-US"/>
              <a:t>        public let name: String,</a:t>
            </a:r>
            <a:endParaRPr lang="zh-CN" altLang="en-US"/>
          </a:p>
          <a:p>
            <a:r>
              <a:rPr lang="zh-CN" altLang="en-US"/>
              <a:t>        public let from: String</a:t>
            </a:r>
            <a:endParaRPr lang="zh-CN" altLang="en-US"/>
          </a:p>
          <a:p>
            <a:r>
              <a:rPr lang="zh-CN" altLang="en-US"/>
              <a:t>    ) {}</a:t>
            </a:r>
            <a:endParaRPr lang="zh-CN" altLang="en-US"/>
          </a:p>
          <a:p>
            <a:r>
              <a:rPr lang="zh-CN" altLang="en-US"/>
              <a:t>}</a:t>
            </a:r>
            <a:endParaRPr lang="zh-CN" altLang="en-US"/>
          </a:p>
          <a:p>
            <a:r>
              <a:rPr lang="zh-CN" altLang="en-US"/>
              <a:t>extend SigCangjie &lt;: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</a:t>
            </a:r>
            <a:r>
              <a:rPr lang="zh-CN" altLang="en-US"/>
              <a:t>Serializable&lt;SigCangjie&gt; {</a:t>
            </a:r>
            <a:r>
              <a:rPr lang="en-US" altLang="zh-CN"/>
              <a:t> // ...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3"/>
          </p:nvPr>
        </p:nvSpPr>
        <p:spPr/>
        <p:txBody>
          <a:bodyPr/>
          <a:p>
            <a:r>
              <a:rPr lang="zh-CN" altLang="en-US"/>
              <a:t>let sigcangjie = toml |&gt;</a:t>
            </a:r>
            <a:endParaRPr lang="zh-CN" altLang="en-US"/>
          </a:p>
          <a:p>
            <a:r>
              <a:rPr lang="zh-CN" altLang="en-US"/>
              <a:t>    DataModel.fromToml |&gt;</a:t>
            </a:r>
            <a:endParaRPr lang="zh-CN" altLang="en-US"/>
          </a:p>
          <a:p>
            <a:r>
              <a:rPr lang="zh-CN" altLang="en-US"/>
              <a:t>    SigCangjie.deserialize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cangjie_toml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>
                <a:sym typeface="+mn-ea"/>
              </a:rPr>
              <a:t>let dm = DataModel.fromTomlFile("cjpm.toml")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let root = (dm as DataModelStruct).getOrThrow()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let pkg = (root.get("package") as DataModelStruct).getOrThrow()</a:t>
            </a:r>
            <a:endParaRPr lang="zh-CN" altLang="en-US">
              <a:sym typeface="+mn-ea"/>
            </a:endParaRPr>
          </a:p>
          <a:p>
            <a:endParaRPr lang="zh-CN" altLang="en-US"/>
          </a:p>
          <a:p>
            <a:r>
              <a:rPr lang="zh-CN" altLang="en-US">
                <a:sym typeface="+mn-ea"/>
              </a:rPr>
              <a:t>let cjcVersion = (pkg.get("cjc-version") as DataModelString).getOrThrow().getValue()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let name = (pkg.get("name") as DataModelString).getOrThrow().getValue()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cangjie_toml</a:t>
            </a:r>
            <a:r>
              <a:rPr lang="zh-CN" altLang="en-US">
                <a:sym typeface="+mn-ea"/>
              </a:rPr>
              <a:t>关键技术</a:t>
            </a:r>
            <a:endParaRPr lang="zh-CN" altLang="en-US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1140909487" name="图片 1" descr="图示&#10;&#10;描述已自动生成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99305" y="1825625"/>
            <a:ext cx="2993390" cy="43414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cangjie_toml</a:t>
            </a:r>
            <a:r>
              <a:rPr lang="zh-CN" altLang="en-US">
                <a:sym typeface="+mn-ea"/>
              </a:rPr>
              <a:t>关键技术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// 状态定义</a:t>
            </a:r>
            <a:endParaRPr lang="zh-CN" altLang="en-US"/>
          </a:p>
          <a:p>
            <a:r>
              <a:rPr lang="zh-CN" altLang="en-US"/>
              <a:t>enum State {</a:t>
            </a:r>
            <a:endParaRPr lang="zh-CN" altLang="en-US"/>
          </a:p>
          <a:p>
            <a:r>
              <a:rPr lang="zh-CN" altLang="en-US"/>
              <a:t>    // Func 表示该状态存在</a:t>
            </a:r>
            <a:endParaRPr lang="zh-CN" altLang="en-US"/>
          </a:p>
          <a:p>
            <a:r>
              <a:rPr lang="zh-CN" altLang="en-US"/>
              <a:t>    // 其中函数参数接收一个 Lexer 对象，返回下一个执行的状态。</a:t>
            </a:r>
            <a:endParaRPr lang="zh-CN" altLang="en-US"/>
          </a:p>
          <a:p>
            <a:r>
              <a:rPr lang="zh-CN" altLang="en-US"/>
              <a:t>    | Func((Lexer) -&gt; State)</a:t>
            </a:r>
            <a:endParaRPr lang="zh-CN" altLang="en-US"/>
          </a:p>
          <a:p>
            <a:r>
              <a:rPr lang="zh-CN" altLang="en-US"/>
              <a:t>    // End 表示结束状态</a:t>
            </a:r>
            <a:endParaRPr lang="zh-CN" altLang="en-US"/>
          </a:p>
          <a:p>
            <a:r>
              <a:rPr lang="zh-CN" altLang="en-US"/>
              <a:t>    | End</a:t>
            </a:r>
            <a:endParaRPr lang="zh-CN" altLang="en-US"/>
          </a:p>
          <a:p>
            <a:r>
              <a:rPr lang="zh-CN" altLang="en-US"/>
              <a:t>}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cangjie_toml</a:t>
            </a:r>
            <a:r>
              <a:rPr lang="zh-CN" altLang="en-US">
                <a:sym typeface="+mn-ea"/>
              </a:rPr>
              <a:t>关键技术</a:t>
            </a:r>
            <a:endParaRPr lang="zh-CN" altLang="en-US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871176957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8895" y="1825625"/>
            <a:ext cx="9554845" cy="43611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cangjie_toml</a:t>
            </a:r>
            <a:r>
              <a:rPr lang="zh-CN" altLang="en-US">
                <a:sym typeface="+mn-ea"/>
              </a:rPr>
              <a:t>关键技术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func lexTop(lexer: Lexer): State {</a:t>
            </a:r>
            <a:endParaRPr lang="zh-CN" altLang="en-US"/>
          </a:p>
          <a:p>
            <a:r>
              <a:rPr lang="zh-CN" altLang="en-US"/>
              <a:t>    let r = lexer.next()</a:t>
            </a:r>
            <a:endParaRPr lang="zh-CN" altLang="en-US"/>
          </a:p>
          <a:p>
            <a:r>
              <a:rPr lang="zh-CN" altLang="en-US"/>
              <a:t>    if (isWhiteSpace(r) || isNL(r)) {</a:t>
            </a:r>
            <a:endParaRPr lang="zh-CN" altLang="en-US"/>
          </a:p>
          <a:p>
            <a:r>
              <a:rPr lang="zh-CN" altLang="en-US"/>
              <a:t>        return lexSkip(lexer, Func(lexTop))</a:t>
            </a:r>
            <a:endParaRPr lang="zh-CN" altLang="en-US"/>
          </a:p>
          <a:p>
            <a:r>
              <a:rPr lang="zh-CN" altLang="en-US"/>
              <a:t>    }</a:t>
            </a:r>
            <a:endParaRPr lang="zh-CN" altLang="en-US"/>
          </a:p>
          <a:p>
            <a:r>
              <a:rPr lang="zh-CN" altLang="en-US"/>
              <a:t>    match (r) {</a:t>
            </a:r>
            <a:endParaRPr lang="zh-CN" altLang="en-US"/>
          </a:p>
          <a:p>
            <a:r>
              <a:rPr lang="zh-CN" altLang="en-US"/>
              <a:t>        case r'#' =&gt;</a:t>
            </a:r>
            <a:endParaRPr lang="zh-CN" altLang="en-US"/>
          </a:p>
          <a:p>
            <a:r>
              <a:rPr lang="zh-CN" altLang="en-US"/>
              <a:t>            lexer.push(Func(lexTop))</a:t>
            </a:r>
            <a:endParaRPr lang="zh-CN" altLang="en-US"/>
          </a:p>
          <a:p>
            <a:r>
              <a:rPr lang="zh-CN" altLang="en-US"/>
              <a:t>            return Func(lexCommentStart)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3"/>
          </p:nvPr>
        </p:nvSpPr>
        <p:spPr/>
        <p:txBody>
          <a:bodyPr/>
          <a:p>
            <a:r>
              <a:rPr lang="zh-CN" altLang="en-US"/>
              <a:t>case r'[' =&gt;</a:t>
            </a:r>
            <a:endParaRPr lang="zh-CN" altLang="en-US"/>
          </a:p>
          <a:p>
            <a:r>
              <a:rPr lang="zh-CN" altLang="en-US"/>
              <a:t>    return Func(lexTableStart)</a:t>
            </a:r>
            <a:endParaRPr lang="zh-CN" altLang="en-US"/>
          </a:p>
          <a:p>
            <a:r>
              <a:rPr lang="zh-CN" altLang="en-US"/>
              <a:t>case r'\0' =&gt;</a:t>
            </a:r>
            <a:endParaRPr lang="zh-CN" altLang="en-US"/>
          </a:p>
          <a:p>
            <a:r>
              <a:rPr lang="zh-CN" altLang="en-US"/>
              <a:t>    if (lexer.pos &gt; lexer.start) {</a:t>
            </a:r>
            <a:endParaRPr lang="zh-CN" altLang="en-US"/>
          </a:p>
          <a:p>
            <a:r>
              <a:rPr lang="zh-CN" altLang="en-US"/>
              <a:t>        return lexer.error(LexException("unexpected EOF"))</a:t>
            </a:r>
            <a:endParaRPr lang="zh-CN" altLang="en-US"/>
          </a:p>
          <a:p>
            <a:r>
              <a:rPr lang="zh-CN" altLang="en-US"/>
              <a:t>    }</a:t>
            </a:r>
            <a:endParaRPr lang="zh-CN" altLang="en-US"/>
          </a:p>
          <a:p>
            <a:r>
              <a:rPr lang="zh-CN" altLang="en-US"/>
              <a:t>    lexer.emit(TokenType.EOF)</a:t>
            </a:r>
            <a:endParaRPr lang="zh-CN" altLang="en-US"/>
          </a:p>
          <a:p>
            <a:r>
              <a:rPr lang="zh-CN" altLang="en-US"/>
              <a:t>    return End</a:t>
            </a:r>
            <a:endParaRPr lang="zh-CN" altLang="en-US"/>
          </a:p>
          <a:p>
            <a:r>
              <a:rPr lang="en-US" altLang="zh-CN"/>
              <a:t>// ...</a:t>
            </a:r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cangjie_toml</a:t>
            </a:r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zh-CN">
                <a:sym typeface="+mn-ea"/>
              </a:rPr>
              <a:t>孟世博 </a:t>
            </a:r>
            <a:r>
              <a:rPr lang="zh-CN" altLang="en-US"/>
              <a:t>cangjie_toml</a:t>
            </a:r>
            <a:endParaRPr lang="zh-CN" altLang="en-US"/>
          </a:p>
          <a:p>
            <a:pPr lvl="1"/>
            <a:r>
              <a:rPr lang="zh-CN" altLang="en-US"/>
              <a:t>https://gitcode.com/PermissionDog/cangjie_toml</a:t>
            </a:r>
            <a:endParaRPr lang="zh-CN" altLang="en-US"/>
          </a:p>
        </p:txBody>
      </p:sp>
      <p:pic>
        <p:nvPicPr>
          <p:cNvPr id="4" name="44B7C0F4-79DB-4F8B-9303-0E098D69D8BE-2" descr="wp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57495" y="3263265"/>
            <a:ext cx="1476375" cy="14763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tea with seedhttp</a:t>
            </a:r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zh-CN" sz="2400">
                <a:sym typeface="+mn-ea"/>
              </a:rPr>
              <a:t>seedhttp 是一个</a:t>
            </a:r>
            <a:r>
              <a:rPr lang="en-US" altLang="zh-CN">
                <a:sym typeface="+mn-ea"/>
              </a:rPr>
              <a:t>专注于性能优化</a:t>
            </a:r>
            <a:r>
              <a:rPr lang="zh-CN" altLang="en-US">
                <a:sym typeface="+mn-ea"/>
              </a:rPr>
              <a:t>的</a:t>
            </a:r>
            <a:r>
              <a:rPr lang="en-US" altLang="zh-CN" sz="2400">
                <a:sym typeface="+mn-ea"/>
              </a:rPr>
              <a:t>底层 HTTP 库</a:t>
            </a:r>
            <a:endParaRPr lang="en-US" altLang="zh-CN" sz="2400">
              <a:sym typeface="+mn-ea"/>
            </a:endParaRPr>
          </a:p>
          <a:p>
            <a:r>
              <a:rPr sz="2400">
                <a:sym typeface="+mn-ea"/>
              </a:rPr>
              <a:t>tea 是一个基于 seedhttp 构建的 Web 框架，提供了类似于 Express.js</a:t>
            </a:r>
            <a:r>
              <a:rPr lang="zh-CN" sz="2400">
                <a:sym typeface="+mn-ea"/>
              </a:rPr>
              <a:t>和</a:t>
            </a:r>
            <a:r>
              <a:rPr sz="2400">
                <a:sym typeface="+mn-ea"/>
              </a:rPr>
              <a:t>Gin的简洁</a:t>
            </a:r>
            <a:r>
              <a:rPr lang="zh-CN" sz="2400">
                <a:sym typeface="+mn-ea"/>
              </a:rPr>
              <a:t>的</a:t>
            </a:r>
            <a:r>
              <a:rPr sz="2400">
                <a:sym typeface="+mn-ea"/>
              </a:rPr>
              <a:t> API，</a:t>
            </a:r>
            <a:r>
              <a:rPr lang="zh-CN" sz="2400">
                <a:sym typeface="+mn-ea"/>
              </a:rPr>
              <a:t>帮助</a:t>
            </a:r>
            <a:r>
              <a:rPr sz="2400">
                <a:sym typeface="+mn-ea"/>
              </a:rPr>
              <a:t>开发者高效构建高性能 Web 应用</a:t>
            </a:r>
            <a:endParaRPr sz="2400">
              <a:sym typeface="+mn-ea"/>
            </a:endParaRPr>
          </a:p>
          <a:p>
            <a:pPr lvl="1"/>
            <a:r>
              <a:rPr lang="zh-CN" altLang="en-US" sz="2200">
                <a:sym typeface="+mn-ea"/>
              </a:rPr>
              <a:t>精简、函数式、灵活、高效</a:t>
            </a:r>
            <a:endParaRPr lang="zh-CN" altLang="en-US" sz="2200">
              <a:sym typeface="+mn-ea"/>
            </a:endParaRPr>
          </a:p>
          <a:p>
            <a:pPr lvl="1"/>
            <a:r>
              <a:rPr lang="zh-CN" altLang="en-US" sz="2200">
                <a:sym typeface="+mn-ea"/>
              </a:rPr>
              <a:t>https://gitcode.com/yishengTH/SeedHTTP</a:t>
            </a:r>
            <a:endParaRPr lang="zh-CN" altLang="en-US" sz="2200">
              <a:sym typeface="+mn-ea"/>
            </a:endParaRPr>
          </a:p>
          <a:p>
            <a:pPr lvl="1"/>
            <a:r>
              <a:rPr lang="zh-CN" altLang="en-US" sz="2400"/>
              <a:t>https://gitcode.com/yishengTH/tea</a:t>
            </a:r>
            <a:endParaRPr lang="zh-CN" altLang="en-US" sz="2400"/>
          </a:p>
          <a:p>
            <a:pPr lvl="1"/>
            <a:r>
              <a:rPr lang="zh-CN" altLang="en-US" sz="2400"/>
              <a:t>https://gitcode.com/yishengTH/TeaExample</a:t>
            </a:r>
            <a:endParaRPr lang="zh-CN" altLang="en-US" sz="2400"/>
          </a:p>
          <a:p>
            <a:pPr lvl="1"/>
            <a:r>
              <a:rPr lang="zh-CN" altLang="en-US" sz="2400">
                <a:sym typeface="+mn-ea"/>
              </a:rPr>
              <a:t>李智杰，兰州交通大学电子与信息工程学院软件工程专业</a:t>
            </a:r>
            <a:endParaRPr lang="zh-CN" altLang="en-US" sz="2400"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tea with seedhttp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let app = Tea.default()        // 1. 初始化Tea</a:t>
            </a:r>
            <a:endParaRPr lang="zh-CN" altLang="en-US"/>
          </a:p>
          <a:p>
            <a:r>
              <a:rPr lang="zh-CN" altLang="en-US"/>
              <a:t>app.get("/hello") { c =&gt;       // 2. 注册简单路由</a:t>
            </a:r>
            <a:endParaRPr lang="zh-CN" altLang="en-US"/>
          </a:p>
          <a:p>
            <a:r>
              <a:rPr lang="zh-CN" altLang="en-US"/>
              <a:t>    c.string(200, "Hello Tea")</a:t>
            </a:r>
            <a:endParaRPr lang="zh-CN" altLang="en-US"/>
          </a:p>
          <a:p>
            <a:r>
              <a:rPr lang="zh-CN" altLang="en-US"/>
              <a:t>}</a:t>
            </a:r>
            <a:endParaRPr lang="zh-CN" altLang="en-US"/>
          </a:p>
          <a:p>
            <a:r>
              <a:rPr lang="zh-CN" altLang="en-US"/>
              <a:t>app.run(8080)                  // 3. 启动监听</a:t>
            </a:r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tea with seedhttp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let app = Tea.default()</a:t>
            </a:r>
            <a:endParaRPr lang="zh-CN" altLang="en-US"/>
          </a:p>
          <a:p>
            <a:r>
              <a:rPr lang="zh-CN" altLang="en-US"/>
              <a:t>// 全局中间件：异常捕获 + 跨域</a:t>
            </a:r>
            <a:endParaRPr lang="zh-CN" altLang="en-US"/>
          </a:p>
          <a:p>
            <a:r>
              <a:rPr lang="zh-CN" altLang="en-US"/>
              <a:t>app.use(busRecoveryMiddleware, corsMiddleware)</a:t>
            </a:r>
            <a:endParaRPr lang="zh-CN" altLang="en-US"/>
          </a:p>
          <a:p>
            <a:r>
              <a:rPr lang="zh-CN" altLang="en-US"/>
              <a:t>// 无需登录的路由组</a:t>
            </a:r>
            <a:endParaRPr lang="zh-CN" altLang="en-US"/>
          </a:p>
          <a:p>
            <a:r>
              <a:rPr lang="zh-CN" altLang="en-US"/>
              <a:t>let publicGroup = app.group("public")</a:t>
            </a:r>
            <a:endParaRPr lang="zh-CN" altLang="en-US"/>
          </a:p>
          <a:p>
            <a:r>
              <a:rPr lang="zh-CN" altLang="en-US"/>
              <a:t>publicGroup.post("/register", registerHandler)</a:t>
            </a:r>
            <a:endParaRPr lang="zh-CN" altLang="en-US"/>
          </a:p>
          <a:p>
            <a:r>
              <a:rPr lang="zh-CN" altLang="en-US"/>
              <a:t>publicGroup.post("/login", loginHandler)</a:t>
            </a:r>
            <a:endParaRPr lang="zh-CN" altLang="en-US"/>
          </a:p>
          <a:p>
            <a:r>
              <a:rPr lang="zh-CN" altLang="en-US">
                <a:sym typeface="+mn-ea"/>
              </a:rPr>
              <a:t>// TodoList</a:t>
            </a:r>
            <a:endParaRPr lang="zh-CN" altLang="en-US"/>
          </a:p>
          <a:p>
            <a:r>
              <a:rPr lang="zh-CN" altLang="en-US">
                <a:sym typeface="+mn-ea"/>
              </a:rPr>
              <a:t>publicGroup.get("/todo", getTodoHandler)</a:t>
            </a:r>
            <a:endParaRPr lang="zh-CN" altLang="en-US"/>
          </a:p>
          <a:p>
            <a:r>
              <a:rPr lang="zh-CN" altLang="en-US">
                <a:sym typeface="+mn-ea"/>
              </a:rPr>
              <a:t>publicGroup.get("/todos", listTodosHandler)</a:t>
            </a:r>
            <a:endParaRPr lang="zh-CN" altLang="en-US"/>
          </a:p>
          <a:p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3"/>
          </p:nvPr>
        </p:nvSpPr>
        <p:spPr/>
        <p:txBody>
          <a:bodyPr/>
          <a:p>
            <a:r>
              <a:rPr lang="zh-CN" altLang="en-US"/>
              <a:t>// 需要登录的路由组</a:t>
            </a:r>
            <a:endParaRPr lang="zh-CN" altLang="en-US"/>
          </a:p>
          <a:p>
            <a:r>
              <a:rPr lang="zh-CN" altLang="en-US"/>
              <a:t>let authGroup = app.group("auth")</a:t>
            </a:r>
            <a:endParaRPr lang="zh-CN" altLang="en-US"/>
          </a:p>
          <a:p>
            <a:r>
              <a:rPr lang="zh-CN" altLang="en-US"/>
              <a:t>authGroup.use(authMiddleware)</a:t>
            </a:r>
            <a:endParaRPr lang="zh-CN" altLang="en-US"/>
          </a:p>
          <a:p>
            <a:r>
              <a:rPr lang="zh-CN" altLang="en-US"/>
              <a:t>// TodoList</a:t>
            </a:r>
            <a:endParaRPr lang="zh-CN" altLang="en-US"/>
          </a:p>
          <a:p>
            <a:r>
              <a:rPr lang="zh-CN" altLang="en-US"/>
              <a:t>authGroup.post("/todo", createTodoHandler)</a:t>
            </a:r>
            <a:endParaRPr lang="zh-CN" altLang="en-US"/>
          </a:p>
          <a:p>
            <a:r>
              <a:rPr lang="zh-CN" altLang="en-US"/>
              <a:t>authGroup.put("/todo", updateTodoHandler)</a:t>
            </a:r>
            <a:endParaRPr lang="zh-CN" altLang="en-US"/>
          </a:p>
          <a:p>
            <a:r>
              <a:rPr lang="zh-CN" altLang="en-US"/>
              <a:t>authGroup.delete("/todo", deleteTodoHandler)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app.run(8080)</a:t>
            </a:r>
            <a:endParaRPr lang="zh-CN" altLang="en-US"/>
          </a:p>
          <a:p>
            <a:r>
              <a:rPr lang="zh-CN" altLang="en-US"/>
              <a:t>return 0</a:t>
            </a:r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tea with seedhttp</a:t>
            </a:r>
            <a:r>
              <a:rPr lang="zh-CN" altLang="en-US"/>
              <a:t>关键技术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框架主要分为框架部分和HTTP 核心部分，通过极少的接口相互联动</a:t>
            </a:r>
            <a:endParaRPr lang="zh-CN" altLang="en-US"/>
          </a:p>
          <a:p>
            <a:pPr lvl="1"/>
            <a:r>
              <a:rPr lang="zh-CN" altLang="en-US"/>
              <a:t>核心部分：tea 使用 seedhttp 作为底层 HTTP 引擎，所有 HTTP 请求和响应的处理均由 seedhttp 完成。tea 将 seedhttp 的低级接口抽象为类似 Express.js、Gin的高层API，使开发者不需要操作复杂的seedhttp</a:t>
            </a:r>
            <a:endParaRPr lang="zh-CN" altLang="en-US"/>
          </a:p>
          <a:p>
            <a:pPr lvl="1"/>
            <a:r>
              <a:rPr lang="zh-CN" altLang="en-US"/>
              <a:t>框架部分：提供路由、路由组 (group)、中间件 (middleware) 机制、上下文 (TeaContext) 等高级用法</a:t>
            </a:r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tea with seedhttp</a:t>
            </a:r>
            <a:r>
              <a:rPr lang="zh-CN" altLang="en-US"/>
              <a:t>关键技术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使用压缩前缀树来解析路由，能在复杂路由场景下保持快速、高效的匹配</a:t>
            </a:r>
            <a:endParaRPr lang="zh-CN" altLang="en-US"/>
          </a:p>
          <a:p>
            <a:pPr lvl="1"/>
            <a:r>
              <a:rPr lang="zh-CN" altLang="en-US"/>
              <a:t>通过对前缀进行分段压缩，大幅减少路由节点冗余</a:t>
            </a:r>
            <a:endParaRPr lang="zh-CN" altLang="en-US"/>
          </a:p>
          <a:p>
            <a:pPr lvl="1"/>
            <a:r>
              <a:rPr lang="zh-CN" altLang="en-US"/>
              <a:t>支持带参数的路由（如 /user/:id），并在 TeaContext 中自动填充 params</a:t>
            </a:r>
            <a:endParaRPr lang="zh-CN" altLang="en-US"/>
          </a:p>
          <a:p>
            <a:pPr lvl="1"/>
            <a:r>
              <a:rPr lang="zh-CN" altLang="en-US"/>
              <a:t>支持自动处理不匹配或方法不允许的情况 (404/405)</a:t>
            </a:r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tea with seedhttp</a:t>
            </a:r>
            <a:r>
              <a:rPr lang="zh-CN" altLang="en-US">
                <a:sym typeface="+mn-ea"/>
              </a:rPr>
              <a:t>关键技术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通过 RouterGroup 来实现“分组路由”的能力，可为同一组路由统一设置一些中间件</a:t>
            </a:r>
            <a:endParaRPr lang="zh-CN" altLang="en-US"/>
          </a:p>
          <a:p>
            <a:pPr lvl="1"/>
            <a:r>
              <a:rPr lang="zh-CN" altLang="en-US"/>
              <a:t>let authGroup = app.group("auth")</a:t>
            </a:r>
            <a:endParaRPr lang="zh-CN" altLang="en-US"/>
          </a:p>
          <a:p>
            <a:pPr lvl="1"/>
            <a:r>
              <a:rPr lang="zh-CN" altLang="en-US"/>
              <a:t>authGroup.use(authMiddleware)  // 给该组添加鉴权中间件</a:t>
            </a:r>
            <a:endParaRPr lang="zh-CN" altLang="en-US"/>
          </a:p>
          <a:p>
            <a:pPr lvl="1"/>
            <a:r>
              <a:rPr lang="zh-CN" altLang="en-US"/>
              <a:t>authGroup.post("/todo", createTodoHandler)</a:t>
            </a:r>
            <a:endParaRPr lang="zh-CN" altLang="en-US"/>
          </a:p>
          <a:p>
            <a:pPr lvl="1"/>
            <a:r>
              <a:rPr lang="zh-CN" altLang="en-US"/>
              <a:t>authGroup.put("/todo", updateTodoHandler)</a:t>
            </a:r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tea with seedhttp</a:t>
            </a:r>
            <a:r>
              <a:rPr lang="zh-CN" altLang="en-US">
                <a:sym typeface="+mn-ea"/>
              </a:rPr>
              <a:t>关键技术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TeaContext 是与请求对应的上下文对象，封装了请求/响应的各类操作</a:t>
            </a:r>
            <a:endParaRPr lang="zh-CN" altLang="en-US"/>
          </a:p>
          <a:p>
            <a:pPr lvl="1"/>
            <a:r>
              <a:rPr lang="zh-CN" altLang="en-US"/>
              <a:t>context.query("id") 获取查询参数</a:t>
            </a:r>
            <a:endParaRPr lang="zh-CN" altLang="en-US"/>
          </a:p>
          <a:p>
            <a:pPr lvl="1"/>
            <a:r>
              <a:rPr lang="zh-CN" altLang="en-US"/>
              <a:t>context.param("id") 获取路由参数</a:t>
            </a:r>
            <a:endParaRPr lang="zh-CN" altLang="en-US"/>
          </a:p>
          <a:p>
            <a:pPr lvl="1"/>
            <a:r>
              <a:rPr lang="zh-CN" altLang="en-US"/>
              <a:t>context.requestHeader("Auth") 获取请求头</a:t>
            </a:r>
            <a:endParaRPr lang="zh-CN" altLang="en-US"/>
          </a:p>
          <a:p>
            <a:pPr lvl="1"/>
            <a:r>
              <a:rPr lang="zh-CN" altLang="en-US"/>
              <a:t>context.bindJson&lt;T&gt;() 反序列化请求体为 T 类型</a:t>
            </a:r>
            <a:endParaRPr lang="zh-CN" altLang="en-US"/>
          </a:p>
          <a:p>
            <a:pPr lvl="1"/>
            <a:r>
              <a:rPr lang="zh-CN" altLang="en-US"/>
              <a:t>context.json(code, data) 以 JSON 方式写响应</a:t>
            </a:r>
            <a:endParaRPr lang="zh-CN" altLang="en-US"/>
          </a:p>
          <a:p>
            <a:pPr lvl="1"/>
            <a:r>
              <a:rPr lang="zh-CN" altLang="en-US"/>
              <a:t>context.string(code, data) 写字符串响应</a:t>
            </a:r>
            <a:endParaRPr lang="zh-CN" altLang="en-US"/>
          </a:p>
          <a:p>
            <a:pPr lvl="1"/>
            <a:r>
              <a:rPr lang="zh-CN" altLang="en-US"/>
              <a:t>context.set/get(key, value) 在中间件或路由之间共享数据</a:t>
            </a:r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tea with seedhttp</a:t>
            </a:r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>
                <a:sym typeface="+mn-ea"/>
              </a:rPr>
              <a:t>李智杰</a:t>
            </a:r>
            <a:r>
              <a:rPr lang="en-US" altLang="zh-CN">
                <a:sym typeface="+mn-ea"/>
              </a:rPr>
              <a:t> </a:t>
            </a:r>
            <a:r>
              <a:rPr lang="en-US" altLang="zh-CN"/>
              <a:t>tea with seedhttp</a:t>
            </a:r>
            <a:endParaRPr lang="en-US" altLang="zh-CN"/>
          </a:p>
          <a:p>
            <a:pPr lvl="1"/>
            <a:r>
              <a:rPr lang="zh-CN" altLang="en-US">
                <a:sym typeface="+mn-ea"/>
              </a:rPr>
              <a:t>https://gitcode.com/yishengTH/SeedHTTP</a:t>
            </a:r>
            <a:endParaRPr lang="zh-CN" altLang="en-US">
              <a:sym typeface="+mn-ea"/>
            </a:endParaRPr>
          </a:p>
          <a:p>
            <a:pPr lvl="1"/>
            <a:r>
              <a:rPr lang="zh-CN" altLang="en-US">
                <a:sym typeface="+mn-ea"/>
              </a:rPr>
              <a:t>https://gitcode.com/yishengTH/tea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https://gitcode.com/yishengTH/TeaExample</a:t>
            </a:r>
            <a:endParaRPr lang="zh-CN" altLang="en-US"/>
          </a:p>
        </p:txBody>
      </p:sp>
      <p:pic>
        <p:nvPicPr>
          <p:cNvPr id="5" name="44B7C0F4-79DB-4F8B-9303-0E098D69D8BE-8" descr="wp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58130" y="4319270"/>
            <a:ext cx="1475740" cy="1475740"/>
          </a:xfrm>
          <a:prstGeom prst="rect">
            <a:avLst/>
          </a:prstGeom>
        </p:spPr>
      </p:pic>
      <p:pic>
        <p:nvPicPr>
          <p:cNvPr id="6" name="44B7C0F4-79DB-4F8B-9303-0E098D69D8BE-7" descr="wp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4625" y="4319270"/>
            <a:ext cx="1475740" cy="1475740"/>
          </a:xfrm>
          <a:prstGeom prst="rect">
            <a:avLst/>
          </a:prstGeom>
        </p:spPr>
      </p:pic>
      <p:pic>
        <p:nvPicPr>
          <p:cNvPr id="4" name="44B7C0F4-79DB-4F8B-9303-0E098D69D8BE-9" descr="/tmp/wpp.uBnfKdwp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635" y="4319270"/>
            <a:ext cx="1475740" cy="14757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Dapr Cangjie SDK</a:t>
            </a:r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zh-CN"/>
              <a:t>Dapr</a:t>
            </a:r>
            <a:r>
              <a:rPr lang="zh-CN" altLang="en-US"/>
              <a:t>是一个分布式运行时，为微服务架构应用的构建提供了十余项便捷的功能模块，包括服务调用、发布</a:t>
            </a:r>
            <a:r>
              <a:rPr lang="en-US" altLang="zh-CN"/>
              <a:t>/</a:t>
            </a:r>
            <a:r>
              <a:rPr lang="zh-CN" altLang="en-US"/>
              <a:t>订阅、配置管理、分布式锁、密钥管理等</a:t>
            </a:r>
            <a:endParaRPr lang="zh-CN" altLang="en-US"/>
          </a:p>
          <a:p>
            <a:r>
              <a:rPr lang="en-US" altLang="zh-CN"/>
              <a:t>Dapr Cangjie SDK是Dapr SDK的仓颉语言实现</a:t>
            </a:r>
            <a:endParaRPr lang="en-US" altLang="zh-CN"/>
          </a:p>
          <a:p>
            <a:pPr lvl="1"/>
            <a:r>
              <a:rPr lang="zh-CN" altLang="en-US"/>
              <a:t>https://gitcode.com/PermissionDog/dapr-cangjie-sdk</a:t>
            </a:r>
            <a:endParaRPr lang="zh-CN" altLang="en-US"/>
          </a:p>
          <a:p>
            <a:pPr lvl="1"/>
            <a:r>
              <a:rPr lang="en-US" altLang="zh-CN"/>
              <a:t>孟世博</a:t>
            </a:r>
            <a:r>
              <a:rPr lang="zh-CN" altLang="en-US"/>
              <a:t>，东北大学软件学院软件工程专业</a:t>
            </a:r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Dapr Cangjie SDK</a:t>
            </a:r>
            <a:endParaRPr lang="en-US" alt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import express from 'express'</a:t>
            </a:r>
            <a:endParaRPr lang="zh-CN" altLang="en-US"/>
          </a:p>
          <a:p>
            <a:r>
              <a:rPr lang="zh-CN" altLang="en-US"/>
              <a:t>const app = express()</a:t>
            </a:r>
            <a:endParaRPr lang="zh-CN" altLang="en-US"/>
          </a:p>
          <a:p>
            <a:r>
              <a:rPr lang="zh-CN" altLang="en-US"/>
              <a:t>app.post('/add', (req, res) =&gt; {</a:t>
            </a:r>
            <a:endParaRPr lang="zh-CN" altLang="en-US"/>
          </a:p>
          <a:p>
            <a:r>
              <a:rPr lang="zh-CN" altLang="en-US"/>
              <a:t>    let nums: number[] = req.body.nums </a:t>
            </a:r>
            <a:endParaRPr lang="zh-CN" altLang="en-US"/>
          </a:p>
          <a:p>
            <a:r>
              <a:rPr lang="zh-CN" altLang="en-US"/>
              <a:t>    res.json({</a:t>
            </a:r>
            <a:endParaRPr lang="zh-CN" altLang="en-US"/>
          </a:p>
          <a:p>
            <a:r>
              <a:rPr lang="zh-CN" altLang="en-US"/>
              <a:t>        result: nums.reduce((a, b) =&gt; a + b, 0)</a:t>
            </a:r>
            <a:endParaRPr lang="zh-CN" altLang="en-US"/>
          </a:p>
          <a:p>
            <a:r>
              <a:rPr lang="zh-CN" altLang="en-US"/>
              <a:t>    })</a:t>
            </a:r>
            <a:endParaRPr lang="zh-CN" altLang="en-US"/>
          </a:p>
          <a:p>
            <a:r>
              <a:rPr lang="zh-CN" altLang="en-US"/>
              <a:t>})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3"/>
          </p:nvPr>
        </p:nvSpPr>
        <p:spPr/>
        <p:txBody>
          <a:bodyPr/>
          <a:p>
            <a:r>
              <a:rPr lang="zh-CN" altLang="en-US">
                <a:sym typeface="+mn-ea"/>
              </a:rPr>
              <a:t>let client = DaprHttpClientBuilder()</a:t>
            </a:r>
            <a:endParaRPr lang="zh-CN" altLang="en-US"/>
          </a:p>
          <a:p>
            <a:r>
              <a:rPr lang="zh-CN" altLang="en-US">
                <a:sym typeface="+mn-ea"/>
              </a:rPr>
              <a:t>    .host("localhost")</a:t>
            </a:r>
            <a:endParaRPr lang="zh-CN" altLang="en-US"/>
          </a:p>
          <a:p>
            <a:r>
              <a:rPr lang="zh-CN" altLang="en-US">
                <a:sym typeface="+mn-ea"/>
              </a:rPr>
              <a:t>    .port(3500)</a:t>
            </a:r>
            <a:endParaRPr lang="zh-CN" altLang="en-US"/>
          </a:p>
          <a:p>
            <a:r>
              <a:rPr lang="zh-CN" altLang="en-US">
                <a:sym typeface="+mn-ea"/>
              </a:rPr>
              <a:t>    .build()</a:t>
            </a:r>
            <a:endParaRPr lang="zh-CN" altLang="en-US"/>
          </a:p>
          <a:p>
            <a:r>
              <a:rPr lang="zh-CN" altLang="en-US">
                <a:sym typeface="+mn-ea"/>
              </a:rPr>
              <a:t>// 要调用的服务名称</a:t>
            </a:r>
            <a:endParaRPr lang="zh-CN" altLang="en-US"/>
          </a:p>
          <a:p>
            <a:r>
              <a:rPr lang="zh-CN" altLang="en-US">
                <a:sym typeface="+mn-ea"/>
              </a:rPr>
              <a:t>let serviceName = "add-service"</a:t>
            </a:r>
            <a:endParaRPr lang="zh-CN" altLang="en-US"/>
          </a:p>
          <a:p>
            <a:r>
              <a:rPr lang="zh-CN" altLang="en-US">
                <a:sym typeface="+mn-ea"/>
              </a:rPr>
              <a:t>// 要调用的方法</a:t>
            </a:r>
            <a:endParaRPr lang="zh-CN" altLang="en-US"/>
          </a:p>
          <a:p>
            <a:r>
              <a:rPr lang="zh-CN" altLang="en-US">
                <a:sym typeface="+mn-ea"/>
              </a:rPr>
              <a:t>let method = "add"</a:t>
            </a:r>
            <a:endParaRPr lang="zh-CN" altLang="en-US"/>
          </a:p>
          <a:p>
            <a:r>
              <a:rPr lang="zh-CN" altLang="en-US">
                <a:sym typeface="+mn-ea"/>
              </a:rPr>
              <a:t>let nums = [ 1, 2, 3 ]</a:t>
            </a:r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Dapr Cangjie SDK</a:t>
            </a:r>
            <a:endParaRPr lang="en-US" alt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>
                <a:sym typeface="+mn-ea"/>
              </a:rPr>
              <a:t>// 调用服务</a:t>
            </a:r>
            <a:endParaRPr lang="zh-CN" altLang="en-US"/>
          </a:p>
          <a:p>
            <a:r>
              <a:rPr lang="zh-CN" altLang="en-US">
                <a:sym typeface="+mn-ea"/>
              </a:rPr>
              <a:t>let res = client.invokeMethod(serviceName, method, Request</a:t>
            </a:r>
            <a:endParaRPr lang="zh-CN" altLang="en-US"/>
          </a:p>
          <a:p>
            <a:r>
              <a:rPr lang="zh-CN" altLang="en-US">
                <a:sym typeface="+mn-ea"/>
              </a:rPr>
              <a:t>    .builder().post(RealRequestBody.create(</a:t>
            </a:r>
            <a:endParaRPr lang="zh-CN" altLang="en-US"/>
          </a:p>
          <a:p>
            <a:r>
              <a:rPr lang="zh-CN" altLang="en-US">
                <a:sym typeface="+mn-ea"/>
              </a:rPr>
              <a:t>        MediaType.parse("application/json; charset=utf-8"),</a:t>
            </a:r>
            <a:endParaRPr lang="zh-CN" altLang="en-US"/>
          </a:p>
          <a:p>
            <a:r>
              <a:rPr lang="zh-CN" altLang="en-US">
                <a:sym typeface="+mn-ea"/>
              </a:rPr>
              <a:t>        """</a:t>
            </a:r>
            <a:endParaRPr lang="zh-CN" altLang="en-US"/>
          </a:p>
          <a:p>
            <a:r>
              <a:rPr lang="zh-CN" altLang="en-US">
                <a:sym typeface="+mn-ea"/>
              </a:rPr>
              <a:t>        {</a:t>
            </a:r>
            <a:endParaRPr lang="zh-CN" altLang="en-US"/>
          </a:p>
          <a:p>
            <a:r>
              <a:rPr lang="zh-CN" altLang="en-US">
                <a:sym typeface="+mn-ea"/>
              </a:rPr>
              <a:t>            "nums": [${nums}]</a:t>
            </a:r>
            <a:endParaRPr lang="zh-CN" altLang="en-US"/>
          </a:p>
          <a:p>
            <a:r>
              <a:rPr lang="zh-CN" altLang="en-US">
                <a:sym typeface="+mn-ea"/>
              </a:rPr>
              <a:t>        }</a:t>
            </a:r>
            <a:endParaRPr lang="zh-CN" altLang="en-US"/>
          </a:p>
          <a:p>
            <a:r>
              <a:rPr lang="zh-CN" altLang="en-US">
                <a:sym typeface="+mn-ea"/>
              </a:rPr>
              <a:t>        """))</a:t>
            </a:r>
            <a:endParaRPr lang="zh-CN" altLang="en-US"/>
          </a:p>
          <a:p>
            <a:r>
              <a:rPr lang="zh-CN" altLang="en-US">
                <a:sym typeface="+mn-ea"/>
              </a:rPr>
              <a:t>    .build())</a:t>
            </a:r>
            <a:endParaRPr lang="zh-CN" altLang="en-US"/>
          </a:p>
          <a:p>
            <a:r>
              <a:rPr lang="zh-CN" altLang="en-US">
                <a:sym typeface="+mn-ea"/>
              </a:rPr>
              <a:t>let data = res.getBody().getOrThrow().getString()</a:t>
            </a:r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Dapr Cangjie SDK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// pubsub 名称</a:t>
            </a:r>
            <a:endParaRPr lang="zh-CN" altLang="en-US"/>
          </a:p>
          <a:p>
            <a:r>
              <a:rPr lang="zh-CN" altLang="en-US"/>
              <a:t>let pubsubName = "my-pubsub"</a:t>
            </a:r>
            <a:endParaRPr lang="zh-CN" altLang="en-US"/>
          </a:p>
          <a:p>
            <a:r>
              <a:rPr lang="zh-CN" altLang="en-US"/>
              <a:t>// 主题</a:t>
            </a:r>
            <a:endParaRPr lang="zh-CN" altLang="en-US"/>
          </a:p>
          <a:p>
            <a:r>
              <a:rPr lang="zh-CN" altLang="en-US"/>
              <a:t>let topic = "newOrder"</a:t>
            </a:r>
            <a:endParaRPr lang="zh-CN" altLang="en-US"/>
          </a:p>
          <a:p>
            <a:r>
              <a:rPr lang="zh-CN" altLang="en-US"/>
              <a:t>// 发送事件数据，由 dapr 封装为 CloudEvent</a:t>
            </a:r>
            <a:endParaRPr lang="zh-CN" altLang="en-US"/>
          </a:p>
          <a:p>
            <a:r>
              <a:rPr lang="zh-CN" altLang="en-US"/>
              <a:t>// 未指定事件类型，将被路由至 /otherorders</a:t>
            </a:r>
            <a:endParaRPr lang="zh-CN" altLang="en-US"/>
          </a:p>
          <a:p>
            <a:r>
              <a:rPr lang="zh-CN" altLang="en-US"/>
              <a:t>client.publishEvent(pubsubName, topic, </a:t>
            </a:r>
            <a:endParaRPr lang="zh-CN" altLang="en-US"/>
          </a:p>
          <a:p>
            <a:r>
              <a:rPr lang="zh-CN" altLang="en-US"/>
              <a:t>    HashMap&lt;String, String&gt;([</a:t>
            </a:r>
            <a:endParaRPr lang="zh-CN" altLang="en-US"/>
          </a:p>
          <a:p>
            <a:r>
              <a:rPr lang="zh-CN" altLang="en-US"/>
              <a:t>        ("foo", "bar")                 // 事件数据</a:t>
            </a:r>
            <a:endParaRPr lang="zh-CN" altLang="en-US"/>
          </a:p>
          <a:p>
            <a:r>
              <a:rPr lang="zh-CN" altLang="en-US"/>
              <a:t>    ]).serialize()</a:t>
            </a:r>
            <a:endParaRPr lang="zh-CN" altLang="en-US"/>
          </a:p>
          <a:p>
            <a:r>
              <a:rPr lang="zh-CN" altLang="en-US"/>
              <a:t>)</a:t>
            </a:r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Dapr Cangjie SDK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// 创建自定义 CloudEvent，指定事件类型为 order，将被路由至 /orders</a:t>
            </a:r>
            <a:endParaRPr lang="zh-CN" altLang="en-US"/>
          </a:p>
          <a:p>
            <a:r>
              <a:rPr lang="zh-CN" altLang="en-US"/>
              <a:t>let cloudEvent = CloudEventBuilder&lt;HashMap&lt;String, String&gt;&gt;()</a:t>
            </a:r>
            <a:endParaRPr lang="zh-CN" altLang="en-US"/>
          </a:p>
          <a:p>
            <a:r>
              <a:rPr lang="zh-CN" altLang="en-US"/>
              <a:t>    .id("A123-456-789")</a:t>
            </a:r>
            <a:endParaRPr lang="zh-CN" altLang="en-US"/>
          </a:p>
          <a:p>
            <a:r>
              <a:rPr lang="zh-CN" altLang="en-US"/>
              <a:t>    .subject("mysubject")</a:t>
            </a:r>
            <a:endParaRPr lang="zh-CN" altLang="en-US"/>
          </a:p>
          <a:p>
            <a:r>
              <a:rPr lang="zh-CN" altLang="en-US"/>
              <a:t>    .eventType("order")                // 指定事件类型</a:t>
            </a:r>
            <a:endParaRPr lang="zh-CN" altLang="en-US"/>
          </a:p>
          <a:p>
            <a:r>
              <a:rPr lang="zh-CN" altLang="en-US"/>
              <a:t>    .source("mysource")</a:t>
            </a:r>
            <a:endParaRPr lang="zh-CN" altLang="en-US"/>
          </a:p>
          <a:p>
            <a:r>
              <a:rPr lang="zh-CN" altLang="en-US"/>
              <a:t>    .data(HashMap&lt;String, String&gt;([</a:t>
            </a:r>
            <a:endParaRPr lang="zh-CN" altLang="en-US"/>
          </a:p>
          <a:p>
            <a:r>
              <a:rPr lang="zh-CN" altLang="en-US"/>
              <a:t>        ("foo", "bar")                 // 事件数据</a:t>
            </a:r>
            <a:endParaRPr lang="zh-CN" altLang="en-US"/>
          </a:p>
          <a:p>
            <a:r>
              <a:rPr lang="zh-CN" altLang="en-US"/>
              <a:t>    ]))</a:t>
            </a:r>
            <a:endParaRPr lang="zh-CN" altLang="en-US"/>
          </a:p>
          <a:p>
            <a:r>
              <a:rPr lang="zh-CN" altLang="en-US"/>
              <a:t>    .build()</a:t>
            </a:r>
            <a:endParaRPr lang="zh-CN" altLang="en-US"/>
          </a:p>
          <a:p>
            <a:r>
              <a:rPr lang="zh-CN" altLang="en-US"/>
              <a:t>// 发送原始 CloudEvent 数据</a:t>
            </a:r>
            <a:endParaRPr lang="zh-CN" altLang="en-US"/>
          </a:p>
          <a:p>
            <a:r>
              <a:rPr lang="zh-CN" altLang="en-US"/>
              <a:t>client.publishEvent(pubsubName, topic, </a:t>
            </a:r>
            <a:endParaRPr lang="zh-CN" altLang="en-US"/>
          </a:p>
          <a:p>
            <a:r>
              <a:rPr lang="zh-CN" altLang="en-US"/>
              <a:t>    cloudEvent.serialize())</a:t>
            </a:r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Dapr Cangjie SDK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// 对应的 configuration store</a:t>
            </a:r>
            <a:endParaRPr lang="zh-CN" altLang="en-US"/>
          </a:p>
          <a:p>
            <a:r>
              <a:rPr lang="zh-CN" altLang="en-US"/>
              <a:t>let storeName = "store-name"</a:t>
            </a:r>
            <a:endParaRPr lang="zh-CN" altLang="en-US"/>
          </a:p>
          <a:p>
            <a:r>
              <a:rPr lang="zh-CN" altLang="en-US"/>
              <a:t>// 要查询的键</a:t>
            </a:r>
            <a:endParaRPr lang="zh-CN" altLang="en-US"/>
          </a:p>
          <a:p>
            <a:r>
              <a:rPr lang="zh-CN" altLang="en-US"/>
              <a:t>let keys = ["key1", "key2"]</a:t>
            </a:r>
            <a:endParaRPr lang="zh-CN" altLang="en-US"/>
          </a:p>
          <a:p>
            <a:r>
              <a:rPr lang="zh-CN" altLang="en-US"/>
              <a:t>// 得到查询到的配置信息</a:t>
            </a:r>
            <a:endParaRPr lang="zh-CN" altLang="en-US"/>
          </a:p>
          <a:p>
            <a:r>
              <a:rPr lang="zh-CN" altLang="en-US"/>
              <a:t>client.getConfiguration(storeName, keys)</a:t>
            </a:r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Dapr Cangjie SDK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// 对应的 lock store</a:t>
            </a:r>
            <a:endParaRPr lang="zh-CN" altLang="en-US"/>
          </a:p>
          <a:p>
            <a:r>
              <a:rPr lang="zh-CN" altLang="en-US"/>
              <a:t>let storeName = "store-name"</a:t>
            </a:r>
            <a:endParaRPr lang="zh-CN" altLang="en-US"/>
          </a:p>
          <a:p>
            <a:r>
              <a:rPr lang="zh-CN" altLang="en-US"/>
              <a:t>// 用于标识资源的 ID</a:t>
            </a:r>
            <a:endParaRPr lang="zh-CN" altLang="en-US"/>
          </a:p>
          <a:p>
            <a:r>
              <a:rPr lang="zh-CN" altLang="en-US"/>
              <a:t>let resourceId = "foo-bar"</a:t>
            </a:r>
            <a:endParaRPr lang="zh-CN" altLang="en-US"/>
          </a:p>
          <a:p>
            <a:r>
              <a:rPr lang="zh-CN" altLang="en-US"/>
              <a:t>// 标记所有者</a:t>
            </a:r>
            <a:endParaRPr lang="zh-CN" altLang="en-US"/>
          </a:p>
          <a:p>
            <a:r>
              <a:rPr lang="zh-CN" altLang="en-US"/>
              <a:t>let owner = "owner-name"</a:t>
            </a:r>
            <a:endParaRPr lang="zh-CN" altLang="en-US"/>
          </a:p>
          <a:p>
            <a:r>
              <a:rPr lang="zh-CN" altLang="en-US"/>
              <a:t>// 标记过期时间，单位为秒</a:t>
            </a:r>
            <a:endParaRPr lang="zh-CN" altLang="en-US"/>
          </a:p>
          <a:p>
            <a:r>
              <a:rPr lang="zh-CN" altLang="en-US"/>
              <a:t>let expiryInSeconds = 60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3"/>
          </p:nvPr>
        </p:nvSpPr>
        <p:spPr/>
        <p:txBody>
          <a:bodyPr/>
          <a:p>
            <a:r>
              <a:rPr lang="zh-CN" altLang="en-US">
                <a:sym typeface="+mn-ea"/>
              </a:rPr>
              <a:t>// 上锁</a:t>
            </a:r>
            <a:endParaRPr lang="zh-CN" altLang="en-US"/>
          </a:p>
          <a:p>
            <a:r>
              <a:rPr lang="zh-CN" altLang="en-US">
                <a:sym typeface="+mn-ea"/>
              </a:rPr>
              <a:t>try {</a:t>
            </a:r>
            <a:endParaRPr lang="zh-CN" altLang="en-US"/>
          </a:p>
          <a:p>
            <a:r>
              <a:rPr lang="zh-CN" altLang="en-US">
                <a:sym typeface="+mn-ea"/>
              </a:rPr>
              <a:t>    client.lock(storeName, resourceId, owner, expiryInSeconds)</a:t>
            </a:r>
            <a:endParaRPr lang="zh-CN" altLang="en-US"/>
          </a:p>
          <a:p>
            <a:r>
              <a:rPr lang="zh-CN" altLang="en-US">
                <a:sym typeface="+mn-ea"/>
              </a:rPr>
              <a:t>    println("上锁成功")</a:t>
            </a:r>
            <a:endParaRPr lang="zh-CN" altLang="en-US"/>
          </a:p>
          <a:p>
            <a:r>
              <a:rPr lang="zh-CN" altLang="en-US">
                <a:sym typeface="+mn-ea"/>
              </a:rPr>
              <a:t>} catch (e: DaprException) {</a:t>
            </a:r>
            <a:endParaRPr lang="zh-CN" altLang="en-US"/>
          </a:p>
          <a:p>
            <a:r>
              <a:rPr lang="zh-CN" altLang="en-US">
                <a:sym typeface="+mn-ea"/>
              </a:rPr>
              <a:t>    println("上锁失败")</a:t>
            </a:r>
            <a:endParaRPr lang="zh-CN" altLang="en-US"/>
          </a:p>
          <a:p>
            <a:r>
              <a:rPr lang="zh-CN" altLang="en-US">
                <a:sym typeface="+mn-ea"/>
              </a:rPr>
              <a:t>}</a:t>
            </a:r>
            <a:endParaRPr lang="zh-CN" altLang="en-US"/>
          </a:p>
          <a:p>
            <a:r>
              <a:rPr lang="zh-CN" altLang="en-US"/>
              <a:t>// 解锁</a:t>
            </a:r>
            <a:endParaRPr lang="zh-CN" altLang="en-US"/>
          </a:p>
          <a:p>
            <a:r>
              <a:rPr lang="zh-CN" altLang="en-US"/>
              <a:t>client.unlock(storeName, resourceId, owner)</a:t>
            </a:r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Dapr Cangjie SDK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// 对应的 secret store</a:t>
            </a:r>
            <a:endParaRPr lang="zh-CN" altLang="en-US"/>
          </a:p>
          <a:p>
            <a:r>
              <a:rPr lang="zh-CN" altLang="en-US"/>
              <a:t>let storeName = "store-name"</a:t>
            </a:r>
            <a:endParaRPr lang="zh-CN" altLang="en-US"/>
          </a:p>
          <a:p>
            <a:r>
              <a:rPr lang="zh-CN" altLang="en-US"/>
              <a:t>// 要获取的键</a:t>
            </a:r>
            <a:endParaRPr lang="zh-CN" altLang="en-US"/>
          </a:p>
          <a:p>
            <a:r>
              <a:rPr lang="zh-CN" altLang="en-US"/>
              <a:t>let key = "ConnectionStrings:TextItemContext"</a:t>
            </a:r>
            <a:endParaRPr lang="zh-CN" altLang="en-US"/>
          </a:p>
          <a:p>
            <a:r>
              <a:rPr lang="zh-CN" altLang="en-US"/>
              <a:t>// 获取 secret</a:t>
            </a:r>
            <a:endParaRPr lang="zh-CN" altLang="en-US"/>
          </a:p>
          <a:p>
            <a:r>
              <a:rPr lang="zh-CN" altLang="en-US"/>
              <a:t>client.getSecret(storeName, "ConnectionStrings:TextItemContext")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{</a:t>
            </a:r>
            <a:endParaRPr lang="zh-CN" altLang="en-US"/>
          </a:p>
          <a:p>
            <a:r>
              <a:rPr lang="zh-CN" altLang="en-US"/>
              <a:t>    "ConnectionStrings:TextItemContext": "Server=recall-sqldata;Database=RecAll.TextListDb;User Id=sa;Password=Pass@word;TrustServerCertificate=true"</a:t>
            </a:r>
            <a:endParaRPr lang="zh-CN" altLang="en-US"/>
          </a:p>
          <a:p>
            <a:r>
              <a:rPr lang="zh-CN" altLang="en-US"/>
              <a:t>}</a:t>
            </a:r>
            <a:endParaRPr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Dapr Cangjie SDK</a:t>
            </a:r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zh-CN">
                <a:sym typeface="+mn-ea"/>
              </a:rPr>
              <a:t>孟世博 Dapr Cangjie SDK</a:t>
            </a:r>
            <a:endParaRPr lang="zh-CN" altLang="en-US"/>
          </a:p>
          <a:p>
            <a:pPr lvl="1"/>
            <a:r>
              <a:rPr lang="zh-CN" altLang="en-US"/>
              <a:t>https://gitcode.com/PermissionDog/dapr-cangjie-sdk</a:t>
            </a:r>
            <a:endParaRPr lang="zh-CN" altLang="en-US"/>
          </a:p>
        </p:txBody>
      </p:sp>
      <p:pic>
        <p:nvPicPr>
          <p:cNvPr id="5" name="44B7C0F4-79DB-4F8B-9303-0E098D69D8BE-3" descr="wp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58130" y="3263900"/>
            <a:ext cx="1476000" cy="1476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naivetoolkit</a:t>
            </a:r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zh-CN"/>
              <a:t>naivetoolkit</a:t>
            </a:r>
            <a:r>
              <a:rPr lang="zh-CN" altLang="en-US"/>
              <a:t>是一个简易的仓颉领域驱动设计云原生开发套件</a:t>
            </a:r>
            <a:endParaRPr lang="zh-CN" altLang="en-US"/>
          </a:p>
          <a:p>
            <a:pPr lvl="1"/>
            <a:r>
              <a:rPr lang="zh-CN" altLang="en-US"/>
              <a:t> naiveioc ：一个不依赖反射和AOT的依赖注入容器</a:t>
            </a:r>
            <a:endParaRPr lang="zh-CN" altLang="en-US"/>
          </a:p>
          <a:p>
            <a:pPr lvl="1"/>
            <a:r>
              <a:rPr lang="zh-CN" altLang="en-US"/>
              <a:t> naivemediator ：一个不依赖反射和AOT的中介者模式实现</a:t>
            </a:r>
            <a:endParaRPr lang="zh-CN" altLang="en-US"/>
          </a:p>
          <a:p>
            <a:pPr lvl="1"/>
            <a:r>
              <a:rPr lang="zh-CN" altLang="en-US"/>
              <a:t> navievalidation ： 一个简易的数据验证工具</a:t>
            </a:r>
            <a:endParaRPr lang="zh-CN" altLang="en-US"/>
          </a:p>
          <a:p>
            <a:pPr lvl="1"/>
            <a:r>
              <a:rPr lang="zh-CN" altLang="en-US"/>
              <a:t> navieseedwork ： 一个领域驱动设计基础设施套件</a:t>
            </a:r>
            <a:endParaRPr lang="zh-CN" altLang="en-US"/>
          </a:p>
          <a:p>
            <a:pPr lvl="1"/>
            <a:r>
              <a:rPr lang="zh-CN" altLang="en-US"/>
              <a:t> naiveserviceresult ： 一个通用返回值套件</a:t>
            </a:r>
            <a:endParaRPr lang="zh-CN" altLang="en-US"/>
          </a:p>
          <a:p>
            <a:pPr lvl="1"/>
            <a:r>
              <a:rPr lang="zh-CN" altLang="en-US"/>
              <a:t> naivesqlbuilder：一个简易的SQL生成工具</a:t>
            </a:r>
            <a:endParaRPr lang="zh-CN" altLang="en-US"/>
          </a:p>
          <a:p>
            <a:pPr lvl="1"/>
            <a:r>
              <a:rPr lang="zh-CN" altLang="en-US"/>
              <a:t> naiveteaset ：将naivetoolkit集成到tea</a:t>
            </a:r>
            <a:endParaRPr lang="zh-CN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naivetoolkit</a:t>
            </a:r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一个简易的仓颉领域驱动设计云原生开发套件</a:t>
            </a:r>
            <a:endParaRPr lang="zh-CN" altLang="en-US"/>
          </a:p>
        </p:txBody>
      </p:sp>
      <p:pic>
        <p:nvPicPr>
          <p:cNvPr id="4" name="图片 3"/>
          <p:cNvPicPr/>
          <p:nvPr/>
        </p:nvPicPr>
        <p:blipFill>
          <a:blip r:embed="rId1"/>
        </p:blipFill>
        <p:spPr>
          <a:xfrm>
            <a:off x="3810000" y="3210560"/>
            <a:ext cx="1581150" cy="1581150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2"/>
        </p:blipFill>
        <p:spPr>
          <a:xfrm>
            <a:off x="6886575" y="3217545"/>
            <a:ext cx="1588135" cy="158813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naiveioc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serviceCollection = NaiveServiceCollection()</a:t>
            </a:r>
            <a:endParaRPr lang="zh-CN" altLang="en-US"/>
          </a:p>
          <a:p>
            <a:r>
              <a:rPr lang="zh-CN" altLang="en-US"/>
              <a:t>@NIAddScoped[serviceCollection](Engine)</a:t>
            </a:r>
            <a:endParaRPr lang="zh-CN" altLang="en-US"/>
          </a:p>
          <a:p>
            <a:r>
              <a:rPr lang="zh-CN" altLang="en-US"/>
              <a:t>@NIAddScoped[serviceCollection](ICar, Car)</a:t>
            </a:r>
            <a:endParaRPr lang="zh-CN" altLang="en-US"/>
          </a:p>
          <a:p>
            <a:r>
              <a:rPr lang="zh-CN" altLang="en-US"/>
              <a:t>let serviceProvider = serviceCollection.buildServiceProvider()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let scopedServiceProvider = serviceProvider.createScoped()</a:t>
            </a:r>
            <a:endParaRPr lang="zh-CN" altLang="en-US"/>
          </a:p>
          <a:p>
            <a:r>
              <a:rPr lang="zh-CN" altLang="en-US"/>
              <a:t>let car = @NIGetRequiredService[scopedServiceProvider](ICar)</a:t>
            </a:r>
            <a:endParaRPr lang="zh-CN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naiveioc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let serviceCollection = NaiveServiceCollection()</a:t>
            </a:r>
            <a:endParaRPr lang="zh-CN" altLang="en-US"/>
          </a:p>
          <a:p>
            <a:r>
              <a:rPr lang="zh-CN" altLang="en-US"/>
              <a:t>@NIAddScoped[serviceCollection](Bag)</a:t>
            </a:r>
            <a:endParaRPr lang="zh-CN" altLang="en-US"/>
          </a:p>
          <a:p>
            <a:r>
              <a:rPr lang="zh-CN" altLang="en-US"/>
              <a:t>@NIAddScopedFactory[serviceCollection](Handle, {_:INaiveServiceProvider =&gt; Handle()})</a:t>
            </a:r>
            <a:endParaRPr lang="zh-CN" altLang="en-US"/>
          </a:p>
          <a:p>
            <a:r>
              <a:rPr lang="zh-CN" altLang="en-US"/>
              <a:t>let serviceProvider = serviceCollection.buildServiceProvider()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let scopedServiceProvider = serviceProvider.createScoped()</a:t>
            </a:r>
            <a:endParaRPr lang="zh-CN" altLang="en-US"/>
          </a:p>
          <a:p>
            <a:r>
              <a:rPr lang="zh-CN" altLang="en-US"/>
              <a:t>let handle1 = @NIGetRequiredService[scopedServiceProvider](Handle)</a:t>
            </a:r>
            <a:endParaRPr lang="zh-CN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naiveioc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let serviceCollection = NaiveServiceCollection()</a:t>
            </a:r>
            <a:endParaRPr lang="zh-CN" altLang="en-US"/>
          </a:p>
          <a:p>
            <a:r>
              <a:rPr lang="zh-CN" altLang="en-US"/>
              <a:t>@NIAddSingleton[serviceCollection](Engine)</a:t>
            </a:r>
            <a:endParaRPr lang="zh-CN" altLang="en-US"/>
          </a:p>
          <a:p>
            <a:r>
              <a:rPr lang="zh-CN" altLang="en-US"/>
              <a:t>@NIAddSingleton[serviceCollection](ICar, Car)</a:t>
            </a:r>
            <a:endParaRPr lang="zh-CN" altLang="en-US"/>
          </a:p>
          <a:p>
            <a:r>
              <a:rPr lang="zh-CN" altLang="en-US"/>
              <a:t>@NIAddSingleton[serviceCollection](Logger0&lt;&gt;)</a:t>
            </a:r>
            <a:endParaRPr lang="zh-CN" altLang="en-US"/>
          </a:p>
          <a:p>
            <a:r>
              <a:rPr lang="zh-CN" altLang="en-US"/>
              <a:t>@NIAddSingleton[serviceCollection](Logger1&lt;&gt;)</a:t>
            </a:r>
            <a:endParaRPr lang="zh-CN" altLang="en-US"/>
          </a:p>
          <a:p>
            <a:r>
              <a:rPr lang="zh-CN" altLang="en-US"/>
              <a:t>@NIAddSingleton[serviceCollection](Logger2&lt;&gt;)</a:t>
            </a:r>
            <a:endParaRPr lang="zh-CN" altLang="en-US"/>
          </a:p>
          <a:p>
            <a:r>
              <a:rPr lang="zh-CN" altLang="en-US"/>
              <a:t>@NIAddSingleton[serviceCollection](Student)</a:t>
            </a:r>
            <a:endParaRPr lang="zh-CN" altLang="en-US"/>
          </a:p>
          <a:p>
            <a:r>
              <a:rPr lang="zh-CN" altLang="en-US"/>
              <a:t>@NIAddSingleton[serviceCollection](Class)</a:t>
            </a:r>
            <a:endParaRPr lang="zh-CN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naiveioc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@NIService</a:t>
            </a:r>
            <a:endParaRPr lang="zh-CN" altLang="en-US"/>
          </a:p>
          <a:p>
            <a:r>
              <a:rPr lang="zh-CN" altLang="en-US"/>
              <a:t>public class Class &lt;: Resource {</a:t>
            </a:r>
            <a:r>
              <a:rPr lang="en-US" altLang="zh-CN"/>
              <a:t> </a:t>
            </a:r>
            <a:endParaRPr lang="zh-CN" altLang="en-US"/>
          </a:p>
          <a:p>
            <a:r>
              <a:rPr lang="zh-CN" altLang="en-US"/>
              <a:t>    public Class(public let student: Student, 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    </a:t>
            </a:r>
            <a:r>
              <a:rPr lang="zh-CN" altLang="en-US"/>
              <a:t>public let logger: Logger0&lt;Logger2&lt;Logger0&lt;Student&gt;, Logger0&lt;Class&gt;&gt;&gt;) {}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    private var _isClosed = false</a:t>
            </a:r>
            <a:endParaRPr lang="zh-CN" altLang="en-US"/>
          </a:p>
          <a:p>
            <a:r>
              <a:rPr lang="zh-CN" altLang="en-US"/>
              <a:t>    public func isClosed(): Bool {</a:t>
            </a:r>
            <a:endParaRPr lang="zh-CN" altLang="en-US"/>
          </a:p>
          <a:p>
            <a:r>
              <a:rPr lang="zh-CN" altLang="en-US"/>
              <a:t>        return _isClosed</a:t>
            </a:r>
            <a:endParaRPr lang="zh-CN" altLang="en-US"/>
          </a:p>
          <a:p>
            <a:r>
              <a:rPr lang="zh-CN" altLang="en-US"/>
              <a:t>    }</a:t>
            </a:r>
            <a:endParaRPr lang="zh-CN" altLang="en-US"/>
          </a:p>
          <a:p>
            <a:r>
              <a:rPr lang="zh-CN" altLang="en-US"/>
              <a:t>    public func close(): Unit {</a:t>
            </a:r>
            <a:endParaRPr lang="zh-CN" altLang="en-US"/>
          </a:p>
          <a:p>
            <a:r>
              <a:rPr lang="zh-CN" altLang="en-US"/>
              <a:t>        _isClosed = true</a:t>
            </a:r>
            <a:endParaRPr lang="zh-CN" altLang="en-US"/>
          </a:p>
          <a:p>
            <a:r>
              <a:rPr lang="zh-CN" altLang="en-US"/>
              <a:t>    }</a:t>
            </a:r>
            <a:endParaRPr lang="zh-CN" altLang="en-US"/>
          </a:p>
          <a:p>
            <a:r>
              <a:rPr lang="zh-CN" altLang="en-US"/>
              <a:t>}</a:t>
            </a:r>
            <a:endParaRPr lang="zh-CN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naivemediator</a:t>
            </a:r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let serviceCollection = NaiveServiceCollection()</a:t>
            </a:r>
            <a:endParaRPr lang="zh-CN" altLang="en-US"/>
          </a:p>
          <a:p>
            <a:r>
              <a:rPr lang="zh-CN" altLang="en-US"/>
              <a:t>@NIAddSingleton[serviceCollection](NaiveMediator)</a:t>
            </a:r>
            <a:endParaRPr lang="zh-CN" altLang="en-US"/>
          </a:p>
          <a:p>
            <a:r>
              <a:rPr lang="zh-CN" altLang="en-US"/>
              <a:t>@NIAddSingleton[serviceCollection](IPipelineBehavior, OuterLoggingBehavior)</a:t>
            </a:r>
            <a:endParaRPr lang="zh-CN" altLang="en-US"/>
          </a:p>
          <a:p>
            <a:r>
              <a:rPr lang="zh-CN" altLang="en-US"/>
              <a:t>@NIAddSingleton[serviceCollection](IPipelineBehavior, InnerLoggingBehavior)</a:t>
            </a:r>
            <a:endParaRPr lang="zh-CN" altLang="en-US"/>
          </a:p>
          <a:p>
            <a:r>
              <a:rPr lang="zh-CN" altLang="en-US"/>
              <a:t>@NIAddSingleton[serviceCollection](CreateTodoCommandHandler)</a:t>
            </a:r>
            <a:endParaRPr lang="zh-CN" altLang="en-US"/>
          </a:p>
          <a:p>
            <a:r>
              <a:rPr lang="zh-CN" altLang="en-US"/>
              <a:t>@NMRegisterHandler(CreateTodoCommand, CreateTodoCommandHandler)</a:t>
            </a:r>
            <a:endParaRPr lang="zh-CN" altLang="en-US"/>
          </a:p>
          <a:p>
            <a:r>
              <a:rPr lang="zh-CN" altLang="en-US"/>
              <a:t>let serviceProvider = serviceCollection.buildServiceProvider()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let mediator = @NIGetRequiredService[serviceProvider](NaiveMediator)</a:t>
            </a:r>
            <a:endParaRPr lang="zh-CN" altLang="en-US"/>
          </a:p>
          <a:p>
            <a:r>
              <a:rPr lang="zh-CN" altLang="en-US"/>
              <a:t>let request = CreateTodoCommand()</a:t>
            </a:r>
            <a:endParaRPr lang="zh-CN" altLang="en-US"/>
          </a:p>
          <a:p>
            <a:r>
              <a:rPr lang="zh-CN" altLang="en-US"/>
              <a:t>let response = mediator.send(request)</a:t>
            </a:r>
            <a:endParaRPr lang="zh-CN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naivevalidation</a:t>
            </a:r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public class PersonValidator &lt;: AbstractValidator&lt;Person&gt; {</a:t>
            </a:r>
            <a:endParaRPr lang="zh-CN" altLang="en-US"/>
          </a:p>
          <a:p>
            <a:r>
              <a:rPr lang="zh-CN" altLang="en-US"/>
              <a:t>    public PersonValidator() {</a:t>
            </a:r>
            <a:endParaRPr lang="zh-CN" altLang="en-US"/>
          </a:p>
          <a:p>
            <a:r>
              <a:rPr lang="zh-CN" altLang="en-US"/>
              <a:t>        @NVRuleFor({p =&gt; p.forename}).must({p =&gt; p == "Jim"}).withMessage("forename must be Jim")</a:t>
            </a:r>
            <a:endParaRPr lang="zh-CN" altLang="en-US"/>
          </a:p>
          <a:p>
            <a:r>
              <a:rPr lang="zh-CN" altLang="en-US"/>
              <a:t>    }</a:t>
            </a:r>
            <a:endParaRPr lang="zh-CN" altLang="en-US"/>
          </a:p>
          <a:p>
            <a:r>
              <a:rPr lang="zh-CN" altLang="en-US"/>
              <a:t>}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let person = Person()</a:t>
            </a:r>
            <a:endParaRPr lang="zh-CN" altLang="en-US"/>
          </a:p>
          <a:p>
            <a:r>
              <a:rPr lang="zh-CN" altLang="en-US"/>
              <a:t>person.forename = "Allen"</a:t>
            </a:r>
            <a:endParaRPr lang="zh-CN" altLang="en-US"/>
          </a:p>
          <a:p>
            <a:r>
              <a:rPr lang="zh-CN" altLang="en-US"/>
              <a:t>let validator = PersonValidator()</a:t>
            </a:r>
            <a:endParaRPr lang="zh-CN" altLang="en-US"/>
          </a:p>
          <a:p>
            <a:r>
              <a:rPr lang="zh-CN" altLang="en-US"/>
              <a:t>let result = validator.validate(person)</a:t>
            </a:r>
            <a:endParaRPr lang="zh-CN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naivesqlbuilder</a:t>
            </a:r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let builder = @NSSelectFrom(DataModel) {p =&gt; [p.id]}.setWhere {p =&gt; p.id == 5}.and {p =&gt; p.name == ""}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let builder = @NSInsertInto(DataModel) {p =&gt; [p.id == 5, p.name == ""]}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let builder = @NSUpdate(DataModel) {p =&gt; [p.name == ""]}.setWhere {p =&gt; p.id == 5}</a:t>
            </a:r>
            <a:endParaRPr lang="zh-CN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naivetoolkit</a:t>
            </a:r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let serviceCollection = NaiveServiceCollection()</a:t>
            </a:r>
            <a:endParaRPr lang="zh-CN" altLang="en-US"/>
          </a:p>
          <a:p>
            <a:r>
              <a:rPr lang="zh-CN" altLang="en-US"/>
              <a:t>@NIAddSingleton[serviceCollection](NaiveMediator)</a:t>
            </a:r>
            <a:endParaRPr lang="zh-CN" altLang="en-US"/>
          </a:p>
          <a:p>
            <a:r>
              <a:rPr lang="zh-CN" altLang="en-US"/>
              <a:t>@NIAddSingleton[serviceCollection](IPipelineBehavior, ValidatorBehavior)</a:t>
            </a:r>
            <a:endParaRPr lang="zh-CN" altLang="en-US"/>
          </a:p>
          <a:p>
            <a:r>
              <a:rPr lang="zh-CN" altLang="en-US"/>
              <a:t>@NMRegisterSingletonHandler[serviceCollection](CreateTodoCommand, CreateTodoCommandHandler)</a:t>
            </a:r>
            <a:endParaRPr lang="zh-CN" altLang="en-US"/>
          </a:p>
          <a:p>
            <a:r>
              <a:rPr lang="zh-CN" altLang="en-US"/>
              <a:t>@NVRegisterSingletonValidator[serviceCollection](CreateTodoCommand, CreateTodoCommandValidator)</a:t>
            </a:r>
            <a:endParaRPr lang="zh-CN" altLang="en-US"/>
          </a:p>
          <a:p>
            <a:r>
              <a:rPr lang="zh-CN" altLang="en-US"/>
              <a:t>let serviceProvider = serviceCollection.buildServiceProvider()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let mediator = @NIGetRequiredService[serviceProvider](NaiveMediator)</a:t>
            </a:r>
            <a:endParaRPr lang="zh-CN" altLang="en-US"/>
          </a:p>
          <a:p>
            <a:r>
              <a:rPr lang="zh-CN" altLang="en-US"/>
              <a:t>let createTodoCommand = CreateTodoCommand()</a:t>
            </a:r>
            <a:endParaRPr lang="zh-CN" altLang="en-US"/>
          </a:p>
          <a:p>
            <a:r>
              <a:rPr lang="zh-CN" altLang="en-US"/>
              <a:t>createTodoCommand.request = "this"</a:t>
            </a:r>
            <a:endParaRPr lang="zh-CN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naivetoolkit</a:t>
            </a:r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>
                <a:sym typeface="+mn-ea"/>
              </a:rPr>
              <a:t>main(): Int64 {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    let tea = Tea.default()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    tea.use(globalExceptionHandler)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    tea.useNaiveIoc {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        services =&gt; services |&gt; useDaprClient |&gt; addCustomApplicationServices |&gt; addCustomMediator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    }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    tea |&gt; mapHandlers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    tea.run(8080)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    return 0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}</a:t>
            </a:r>
            <a:endParaRPr>
              <a:sym typeface="+mn-e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naivetoolkit</a:t>
            </a:r>
            <a:endParaRPr lang="en-US" alt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zh-CN"/>
              <a:t>tea with seedhttp  + naivetoolkit + Dapr Cangjie SDK</a:t>
            </a:r>
            <a:endParaRPr lang="zh-CN" altLang="en-US">
              <a:highlight>
                <a:srgbClr val="FFFF00"/>
              </a:highlight>
            </a:endParaRPr>
          </a:p>
          <a:p>
            <a:r>
              <a:rPr lang="zh-CN" altLang="en-US">
                <a:highlight>
                  <a:srgbClr val="FFFF00"/>
                </a:highlight>
              </a:rPr>
              <a:t>可能</a:t>
            </a:r>
            <a:r>
              <a:rPr lang="zh-CN" altLang="en-US"/>
              <a:t>是国内首门</a:t>
            </a:r>
            <a:r>
              <a:rPr lang="zh-CN" altLang="en-US">
                <a:highlight>
                  <a:srgbClr val="FFFF00"/>
                </a:highlight>
              </a:rPr>
              <a:t>“国产自主语言</a:t>
            </a:r>
            <a:r>
              <a:rPr lang="en-US" altLang="zh-CN">
                <a:highlight>
                  <a:srgbClr val="FFFF00"/>
                </a:highlight>
              </a:rPr>
              <a:t>+</a:t>
            </a:r>
            <a:r>
              <a:rPr lang="zh-CN" altLang="en-US">
                <a:highlight>
                  <a:srgbClr val="FFFF00"/>
                </a:highlight>
              </a:rPr>
              <a:t>高校自建框架”的领域驱动设计云原生</a:t>
            </a:r>
            <a:r>
              <a:rPr lang="zh-CN" altLang="en-US"/>
              <a:t>开发课程</a:t>
            </a:r>
            <a:endParaRPr lang="zh-CN" altLang="en-US"/>
          </a:p>
          <a:p>
            <a:pPr lvl="1"/>
            <a:r>
              <a:rPr lang="zh-CN" altLang="en-US" sz="2200"/>
              <a:t>（此处要确保定语足够长）</a:t>
            </a:r>
            <a:endParaRPr lang="zh-CN" altLang="en-US"/>
          </a:p>
          <a:p>
            <a:r>
              <a:rPr lang="zh-CN" altLang="en-US"/>
              <a:t>全量无偿回馈给充满爱与希望的仓颉社区</a:t>
            </a:r>
            <a:endParaRPr lang="zh-CN" altLang="en-US"/>
          </a:p>
          <a:p>
            <a:pPr lvl="1"/>
            <a:r>
              <a:rPr lang="zh-CN" altLang="en-US"/>
              <a:t>课程视频</a:t>
            </a:r>
            <a:endParaRPr lang="zh-CN" altLang="en-US"/>
          </a:p>
          <a:p>
            <a:pPr lvl="1"/>
            <a:r>
              <a:rPr lang="zh-CN" altLang="en-US"/>
              <a:t>课程代码</a:t>
            </a:r>
            <a:endParaRPr lang="zh-CN" altLang="en-US"/>
          </a:p>
          <a:p>
            <a:pPr lvl="1"/>
            <a:r>
              <a:rPr lang="zh-CN" altLang="en-US"/>
              <a:t>开发框架</a:t>
            </a:r>
            <a:endParaRPr lang="zh-CN" altLang="en-US"/>
          </a:p>
          <a:p>
            <a:pPr lvl="1"/>
            <a:r>
              <a:rPr lang="zh-CN" altLang="en-US"/>
              <a:t>参考文档</a:t>
            </a:r>
            <a:endParaRPr lang="zh-CN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naivetoolkit</a:t>
            </a:r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/>
          <p:nvPr/>
        </p:nvPicPr>
        <p:blipFill>
          <a:blip r:embed="rId1"/>
        </p:blipFill>
        <p:spPr>
          <a:xfrm>
            <a:off x="5305425" y="3210560"/>
            <a:ext cx="1581150" cy="158115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simplekv</a:t>
            </a:r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simplekv是一个高效、简洁的键值存储库，支持快速的数据查找、插入、删除，并具备排序数据获取、范围扫描、并发安全等高级功能，适用于需要高性能数据存储的场景</a:t>
            </a:r>
            <a:endParaRPr lang="zh-CN" altLang="en-US"/>
          </a:p>
          <a:p>
            <a:pPr lvl="1"/>
            <a:r>
              <a:rPr lang="zh-CN" altLang="en-US"/>
              <a:t>https://gitcode.com/leaveWhite9088/simplekv</a:t>
            </a:r>
            <a:endParaRPr lang="zh-CN" altLang="en-US"/>
          </a:p>
          <a:p>
            <a:pPr lvl="1"/>
            <a:r>
              <a:rPr lang="zh-CN" altLang="en-US"/>
              <a:t>唐梓鑫，东北大学软件学院软件工程专业</a:t>
            </a:r>
            <a:endParaRPr lang="en-US" altLang="zh-CN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simplekv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// 配置</a:t>
            </a:r>
            <a:endParaRPr lang="zh-CN" altLang="en-US"/>
          </a:p>
          <a:p>
            <a:r>
              <a:rPr lang="zh-CN" altLang="en-US"/>
              <a:t>let config = SimpleKVConfig()</a:t>
            </a:r>
            <a:endParaRPr lang="zh-CN" altLang="en-US"/>
          </a:p>
          <a:p>
            <a:r>
              <a:rPr lang="zh-CN" altLang="en-US"/>
              <a:t>config.fileMode = "0777"</a:t>
            </a:r>
            <a:endParaRPr lang="zh-CN" altLang="en-US"/>
          </a:p>
          <a:p>
            <a:r>
              <a:rPr lang="zh-CN" altLang="en-US"/>
              <a:t>config.dirMode = "0777"</a:t>
            </a:r>
            <a:endParaRPr lang="zh-CN" altLang="en-US"/>
          </a:p>
          <a:p>
            <a:r>
              <a:rPr lang="zh-CN" altLang="en-US"/>
              <a:t>	</a:t>
            </a:r>
            <a:endParaRPr lang="zh-CN" altLang="en-US"/>
          </a:p>
          <a:p>
            <a:r>
              <a:rPr lang="zh-CN" altLang="en-US"/>
              <a:t>// 打开数据库</a:t>
            </a:r>
            <a:endParaRPr lang="zh-CN" altLang="en-US"/>
          </a:p>
          <a:p>
            <a:r>
              <a:rPr lang="zh-CN" altLang="en-US"/>
              <a:t>let F: String = "./testDir/testDb.db"</a:t>
            </a:r>
            <a:endParaRPr lang="zh-CN" altLang="en-US"/>
          </a:p>
          <a:p>
            <a:r>
              <a:rPr lang="zh-CN" altLang="en-US"/>
              <a:t>let db = SimpleKVManager.default.open(F, config)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3"/>
          </p:nvPr>
        </p:nvSpPr>
        <p:spPr/>
        <p:txBody>
          <a:bodyPr/>
          <a:p>
            <a:r>
              <a:rPr lang="zh-CN" altLang="en-US"/>
              <a:t>// 设置键值对</a:t>
            </a:r>
            <a:endParaRPr lang="zh-CN" altLang="en-US"/>
          </a:p>
          <a:p>
            <a:r>
              <a:rPr lang="zh-CN" altLang="en-US"/>
              <a:t>db.set(1, true)</a:t>
            </a:r>
            <a:endParaRPr lang="zh-CN" altLang="en-US"/>
          </a:p>
          <a:p>
            <a:r>
              <a:rPr lang="zh-CN" altLang="en-US"/>
              <a:t>	</a:t>
            </a:r>
            <a:endParaRPr lang="zh-CN" altLang="en-US"/>
          </a:p>
          <a:p>
            <a:r>
              <a:rPr lang="zh-CN" altLang="en-US"/>
              <a:t>// 获取键值对</a:t>
            </a:r>
            <a:endParaRPr lang="zh-CN" altLang="en-US"/>
          </a:p>
          <a:p>
            <a:r>
              <a:rPr lang="zh-CN" altLang="en-US"/>
              <a:t>let v = db.getBool(1)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// 删除数据库文件</a:t>
            </a:r>
            <a:endParaRPr lang="zh-CN" altLang="en-US"/>
          </a:p>
          <a:p>
            <a:r>
              <a:rPr lang="zh-CN" altLang="en-US">
                <a:sym typeface="+mn-ea"/>
              </a:rPr>
              <a:t>db.deleteFile()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simplekv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// 升序检索</a:t>
            </a:r>
            <a:endParaRPr lang="zh-CN" altLang="en-US"/>
          </a:p>
          <a:p>
            <a:r>
              <a:rPr lang="zh-CN" altLang="en-US"/>
              <a:t>let res = db.keys&lt;String&gt;(None, 0, 0, true)</a:t>
            </a:r>
            <a:endParaRPr lang="zh-CN" altLang="en-US"/>
          </a:p>
          <a:p>
            <a:r>
              <a:rPr lang="zh-CN" altLang="en-US"/>
              <a:t>var s = ""</a:t>
            </a:r>
            <a:endParaRPr lang="zh-CN" altLang="en-US"/>
          </a:p>
          <a:p>
            <a:r>
              <a:rPr lang="zh-CN" altLang="en-US"/>
              <a:t>for(r in res){</a:t>
            </a:r>
            <a:endParaRPr lang="zh-CN" altLang="en-US"/>
          </a:p>
          <a:p>
            <a:r>
              <a:rPr lang="en-US" altLang="zh-CN"/>
              <a:t>    </a:t>
            </a:r>
            <a:r>
              <a:rPr lang="zh-CN" altLang="en-US"/>
              <a:t>s += r.toString()</a:t>
            </a:r>
            <a:endParaRPr lang="zh-CN" altLang="en-US"/>
          </a:p>
          <a:p>
            <a:r>
              <a:rPr lang="zh-CN" altLang="en-US"/>
              <a:t>}</a:t>
            </a:r>
            <a:endParaRPr lang="zh-CN" altLang="en-US"/>
          </a:p>
          <a:p>
            <a:r>
              <a:rPr lang="zh-CN" altLang="en-US"/>
              <a:t>println(s)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3"/>
          </p:nvPr>
        </p:nvSpPr>
        <p:spPr/>
        <p:txBody>
          <a:bodyPr/>
          <a:p>
            <a:r>
              <a:rPr lang="zh-CN" altLang="en-US"/>
              <a:t>// 升序偏移和限制</a:t>
            </a:r>
            <a:endParaRPr lang="zh-CN" altLang="en-US"/>
          </a:p>
          <a:p>
            <a:r>
              <a:rPr lang="zh-CN" altLang="en-US"/>
              <a:t>let reslimit  = db.keys&lt;String&gt;(None, 2, 2, true)</a:t>
            </a:r>
            <a:endParaRPr lang="zh-CN" altLang="en-US"/>
          </a:p>
          <a:p>
            <a:r>
              <a:rPr lang="zh-CN" altLang="en-US"/>
              <a:t>s = ""</a:t>
            </a:r>
            <a:endParaRPr lang="zh-CN" altLang="en-US"/>
          </a:p>
          <a:p>
            <a:r>
              <a:rPr lang="zh-CN" altLang="en-US"/>
              <a:t>for(r in reslimit){</a:t>
            </a:r>
            <a:endParaRPr lang="zh-CN" altLang="en-US"/>
          </a:p>
          <a:p>
            <a:r>
              <a:rPr lang="en-US" altLang="zh-CN"/>
              <a:t>    </a:t>
            </a:r>
            <a:r>
              <a:rPr lang="zh-CN" altLang="en-US"/>
              <a:t>s += r.toString()</a:t>
            </a:r>
            <a:endParaRPr lang="zh-CN" altLang="en-US"/>
          </a:p>
          <a:p>
            <a:r>
              <a:rPr lang="zh-CN" altLang="en-US"/>
              <a:t>}</a:t>
            </a:r>
            <a:endParaRPr lang="zh-CN" altLang="en-US"/>
          </a:p>
          <a:p>
            <a:r>
              <a:rPr lang="zh-CN" altLang="en-US"/>
              <a:t>println(s)</a:t>
            </a:r>
            <a:endParaRPr lang="zh-CN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simplekv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// 从特定字节开始的降序检索</a:t>
            </a:r>
            <a:endParaRPr lang="zh-CN" altLang="en-US"/>
          </a:p>
          <a:p>
            <a:r>
              <a:rPr lang="zh-CN" altLang="en-US"/>
              <a:t>let resfromdesc = db.keys&lt;String&gt;("10", 2, 2, false)</a:t>
            </a:r>
            <a:endParaRPr lang="zh-CN" altLang="en-US"/>
          </a:p>
          <a:p>
            <a:r>
              <a:rPr lang="zh-CN" altLang="en-US"/>
              <a:t>s = ""</a:t>
            </a:r>
            <a:endParaRPr lang="zh-CN" altLang="en-US"/>
          </a:p>
          <a:p>
            <a:r>
              <a:rPr lang="zh-CN" altLang="en-US"/>
              <a:t>for(r in resfromdesc){</a:t>
            </a:r>
            <a:endParaRPr lang="zh-CN" altLang="en-US"/>
          </a:p>
          <a:p>
            <a:r>
              <a:rPr lang="zh-CN" altLang="en-US"/>
              <a:t>    s += r.toString()</a:t>
            </a:r>
            <a:endParaRPr lang="zh-CN" altLang="en-US"/>
          </a:p>
          <a:p>
            <a:r>
              <a:rPr lang="zh-CN" altLang="en-US"/>
              <a:t>}</a:t>
            </a:r>
            <a:endParaRPr lang="zh-CN" altLang="en-US"/>
          </a:p>
          <a:p>
            <a:r>
              <a:rPr lang="zh-CN" altLang="en-US"/>
              <a:t>println(s)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3"/>
          </p:nvPr>
        </p:nvSpPr>
        <p:spPr/>
        <p:txBody>
          <a:bodyPr/>
          <a:p>
            <a:r>
              <a:rPr lang="zh-CN" altLang="en-US"/>
              <a:t>// 按前缀升序查询所有</a:t>
            </a:r>
            <a:endParaRPr lang="zh-CN" altLang="en-US"/>
          </a:p>
          <a:p>
            <a:r>
              <a:rPr lang="zh-CN" altLang="en-US"/>
              <a:t>let resprefasc2 = db.keys&lt;String&gt;("1*", 0, 0, true)</a:t>
            </a:r>
            <a:endParaRPr lang="zh-CN" altLang="en-US"/>
          </a:p>
          <a:p>
            <a:r>
              <a:rPr lang="zh-CN" altLang="en-US"/>
              <a:t>s = ""</a:t>
            </a:r>
            <a:endParaRPr lang="zh-CN" altLang="en-US"/>
          </a:p>
          <a:p>
            <a:r>
              <a:rPr lang="zh-CN" altLang="en-US"/>
              <a:t>for(r in resprefasc2){</a:t>
            </a:r>
            <a:endParaRPr lang="zh-CN" altLang="en-US"/>
          </a:p>
          <a:p>
            <a:r>
              <a:rPr lang="zh-CN" altLang="en-US"/>
              <a:t>    s += r.toString()</a:t>
            </a:r>
            <a:endParaRPr lang="zh-CN" altLang="en-US"/>
          </a:p>
          <a:p>
            <a:r>
              <a:rPr lang="zh-CN" altLang="en-US"/>
              <a:t>}</a:t>
            </a:r>
            <a:endParaRPr lang="zh-CN" altLang="en-US"/>
          </a:p>
          <a:p>
            <a:r>
              <a:rPr lang="zh-CN" altLang="en-US"/>
              <a:t>println(s)</a:t>
            </a:r>
            <a:endParaRPr lang="zh-CN" alt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simplekv</a:t>
            </a:r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>
                <a:sym typeface="+mn-ea"/>
              </a:rPr>
              <a:t>唐梓鑫</a:t>
            </a:r>
            <a:r>
              <a:rPr lang="en-US" altLang="zh-CN">
                <a:sym typeface="+mn-ea"/>
              </a:rPr>
              <a:t> simplekv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https://gitcode.com/leaveWhite9088/simplekv</a:t>
            </a:r>
            <a:endParaRPr lang="zh-CN" altLang="en-US"/>
          </a:p>
        </p:txBody>
      </p:sp>
      <p:pic>
        <p:nvPicPr>
          <p:cNvPr id="4" name="44B7C0F4-79DB-4F8B-9303-0E098D69D8BE-4" descr="wp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58130" y="3263265"/>
            <a:ext cx="1476000" cy="1476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sftp4cj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sftp4cj：使用仓颉实现的sftp服务器与客户端</a:t>
            </a:r>
            <a:endParaRPr lang="zh-CN" altLang="en-US"/>
          </a:p>
          <a:p>
            <a:pPr lvl="1"/>
            <a:r>
              <a:rPr lang="zh-CN" altLang="en-US"/>
              <a:t>https://gitcode.com/joy7/sftp4cj</a:t>
            </a:r>
            <a:endParaRPr lang="zh-CN" altLang="en-US"/>
          </a:p>
          <a:p>
            <a:pPr lvl="1"/>
            <a:r>
              <a:rPr lang="zh-CN" altLang="en-US"/>
              <a:t>张博林，东北大学软件学院信息安全专业</a:t>
            </a:r>
            <a:endParaRPr lang="en-US" altLang="zh-CN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sftp4cj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let port = 8000u16</a:t>
            </a:r>
            <a:endParaRPr lang="zh-CN" altLang="en-US"/>
          </a:p>
          <a:p>
            <a:r>
              <a:rPr lang="zh-CN" altLang="en-US"/>
              <a:t>let server = SftpServer(port)</a:t>
            </a:r>
            <a:endParaRPr lang="zh-CN" altLang="en-US"/>
          </a:p>
          <a:p>
            <a:r>
              <a:rPr lang="zh-CN" altLang="en-US"/>
              <a:t>// 启动服务器</a:t>
            </a:r>
            <a:endParaRPr lang="zh-CN" altLang="en-US"/>
          </a:p>
          <a:p>
            <a:r>
              <a:rPr lang="zh-CN" altLang="en-US"/>
              <a:t>spawn { server.start() }</a:t>
            </a:r>
            <a:endParaRPr lang="zh-CN" altLang="en-US"/>
          </a:p>
          <a:p>
            <a:r>
              <a:rPr lang="zh-CN" altLang="en-US"/>
              <a:t>// 等待服务器启动</a:t>
            </a:r>
            <a:endParaRPr lang="zh-CN" altLang="en-US"/>
          </a:p>
          <a:p>
            <a:r>
              <a:rPr lang="zh-CN" altLang="en-US"/>
              <a:t>sleep(Duration.second * 2)</a:t>
            </a:r>
            <a:endParaRPr lang="zh-CN" altLang="en-US"/>
          </a:p>
          <a:p>
            <a:r>
              <a:rPr lang="zh-CN" altLang="en-US"/>
              <a:t>// 创建并连接客户端</a:t>
            </a:r>
            <a:endParaRPr lang="zh-CN" altLang="en-US"/>
          </a:p>
          <a:p>
            <a:r>
              <a:rPr lang="zh-CN" altLang="en-US"/>
              <a:t>let client = SftpClient("127.0.0.1", port, Duration.second * 5, 3u32)</a:t>
            </a:r>
            <a:endParaRPr lang="zh-CN" altLang="en-US"/>
          </a:p>
          <a:p>
            <a:r>
              <a:rPr lang="zh-CN" altLang="en-US"/>
              <a:t>client.connect()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3"/>
          </p:nvPr>
        </p:nvSpPr>
        <p:spPr/>
        <p:txBody>
          <a:bodyPr/>
          <a:p>
            <a:r>
              <a:rPr lang="zh-CN" altLang="en-US"/>
              <a:t>let testFile = "test.txt"</a:t>
            </a:r>
            <a:endParaRPr lang="zh-CN" altLang="en-US"/>
          </a:p>
          <a:p>
            <a:r>
              <a:rPr lang="zh-CN" altLang="en-US"/>
              <a:t>// 创建并写入文件</a:t>
            </a:r>
            <a:endParaRPr lang="zh-CN" altLang="en-US"/>
          </a:p>
          <a:p>
            <a:r>
              <a:rPr lang="zh-CN" altLang="en-US"/>
              <a:t>let handle = client.openFile(testFile, </a:t>
            </a:r>
            <a:endParaRPr lang="zh-CN" altLang="en-US"/>
          </a:p>
          <a:p>
            <a:r>
              <a:rPr lang="zh-CN" altLang="en-US"/>
              <a:t>OpenFlags.WRITE | OpenFlags.CREATE | OpenFlags.TRUNCATE, 0u32)</a:t>
            </a:r>
            <a:endParaRPr lang="zh-CN" altLang="en-US"/>
          </a:p>
          <a:p>
            <a:r>
              <a:rPr lang="zh-CN" altLang="en-US"/>
              <a:t>let testData = "Hello, SFTP!".toArray()</a:t>
            </a:r>
            <a:endParaRPr lang="zh-CN" altLang="en-US"/>
          </a:p>
          <a:p>
            <a:r>
              <a:rPr lang="zh-CN" altLang="en-US"/>
              <a:t>client.writeFile(handle, 0u64, testData)</a:t>
            </a:r>
            <a:endParaRPr lang="zh-CN" altLang="en-US"/>
          </a:p>
          <a:p>
            <a:r>
              <a:rPr lang="zh-CN" altLang="en-US"/>
              <a:t>client.closeFile(handle)</a:t>
            </a:r>
            <a:endParaRPr lang="zh-CN" altLang="en-US"/>
          </a:p>
          <a:p>
            <a:r>
              <a:rPr lang="en-US" altLang="zh-CN"/>
              <a:t>// </a:t>
            </a:r>
            <a:r>
              <a:rPr lang="zh-CN" altLang="en-US"/>
              <a:t>创建目录</a:t>
            </a:r>
            <a:endParaRPr lang="zh-CN" altLang="en-US"/>
          </a:p>
          <a:p>
            <a:r>
              <a:rPr lang="zh-CN" altLang="en-US"/>
              <a:t>client.mkDir("test_directory")</a:t>
            </a:r>
            <a:endParaRPr lang="zh-CN" alt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sftp4cj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let readHandle = client.openFile("large_file.txt", OpenFlags.READ, 0u32)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var offset = 0u64</a:t>
            </a:r>
            <a:endParaRPr lang="zh-CN" altLang="en-US"/>
          </a:p>
          <a:p>
            <a:r>
              <a:rPr lang="zh-CN" altLang="en-US"/>
              <a:t>var totalBytesRead = 0</a:t>
            </a:r>
            <a:endParaRPr lang="zh-CN" altLang="en-US"/>
          </a:p>
          <a:p>
            <a:r>
              <a:rPr lang="zh-CN" altLang="en-US"/>
              <a:t>let chunkSize = 8192u32  // 8KB chunks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3"/>
          </p:nvPr>
        </p:nvSpPr>
        <p:spPr/>
        <p:txBody>
          <a:bodyPr/>
          <a:p>
            <a:r>
              <a:rPr lang="zh-CN" altLang="en-US">
                <a:sym typeface="+mn-ea"/>
              </a:rPr>
              <a:t>while (totalBytesRead &lt; 1024 * 1024) {</a:t>
            </a:r>
            <a:endParaRPr lang="zh-CN" altLang="en-US"/>
          </a:p>
          <a:p>
            <a:r>
              <a:rPr lang="zh-CN" altLang="en-US">
                <a:sym typeface="+mn-ea"/>
              </a:rPr>
              <a:t>let data = client.readFile(readHandle, offset, chunkSize)</a:t>
            </a:r>
            <a:endParaRPr lang="zh-CN" altLang="en-US"/>
          </a:p>
          <a:p>
            <a:r>
              <a:rPr lang="zh-CN" altLang="en-US">
                <a:sym typeface="+mn-ea"/>
              </a:rPr>
              <a:t>let bytesRead = data.size</a:t>
            </a:r>
            <a:endParaRPr lang="zh-CN" altLang="en-US"/>
          </a:p>
          <a:p>
            <a:endParaRPr lang="zh-CN" altLang="en-US">
              <a:sym typeface="+mn-ea"/>
            </a:endParaRPr>
          </a:p>
          <a:p>
            <a:endParaRPr lang="zh-CN" altLang="en-US"/>
          </a:p>
          <a:p>
            <a:r>
              <a:rPr lang="zh-CN" altLang="en-US">
                <a:sym typeface="+mn-ea"/>
              </a:rPr>
              <a:t>if (bytesRead == 0) {</a:t>
            </a:r>
            <a:endParaRPr lang="zh-CN" altLang="en-US"/>
          </a:p>
          <a:p>
            <a:r>
              <a:rPr lang="zh-CN" altLang="en-US">
                <a:sym typeface="+mn-ea"/>
              </a:rPr>
              <a:t>break</a:t>
            </a:r>
            <a:endParaRPr lang="zh-CN" altLang="en-US"/>
          </a:p>
          <a:p>
            <a:r>
              <a:rPr lang="zh-CN" altLang="en-US">
                <a:sym typeface="+mn-ea"/>
              </a:rPr>
              <a:t>}</a:t>
            </a:r>
            <a:endParaRPr lang="zh-CN" altLang="en-US"/>
          </a:p>
          <a:p>
            <a:endParaRPr lang="zh-CN" altLang="en-US">
              <a:sym typeface="+mn-ea"/>
            </a:endParaRPr>
          </a:p>
          <a:p>
            <a:endParaRPr lang="zh-CN" altLang="en-US"/>
          </a:p>
          <a:p>
            <a:r>
              <a:rPr lang="zh-CN" altLang="en-US">
                <a:sym typeface="+mn-ea"/>
              </a:rPr>
              <a:t>totalBytesRead += bytesRead</a:t>
            </a:r>
            <a:endParaRPr lang="zh-CN" altLang="en-US"/>
          </a:p>
          <a:p>
            <a:r>
              <a:rPr lang="zh-CN" altLang="en-US">
                <a:sym typeface="+mn-ea"/>
              </a:rPr>
              <a:t>offset += UInt64(bytesRead)</a:t>
            </a:r>
            <a:endParaRPr lang="zh-CN" altLang="en-US"/>
          </a:p>
          <a:p>
            <a:r>
              <a:rPr lang="zh-CN" altLang="en-US">
                <a:sym typeface="+mn-ea"/>
              </a:rPr>
              <a:t>}</a:t>
            </a:r>
            <a:endParaRPr lang="zh-CN" alt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sftp4cj</a:t>
            </a:r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>
                <a:sym typeface="+mn-ea"/>
              </a:rPr>
              <a:t>张博林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sftp4cj</a:t>
            </a:r>
            <a:endParaRPr lang="zh-CN" altLang="en-US">
              <a:sym typeface="+mn-ea"/>
            </a:endParaRPr>
          </a:p>
          <a:p>
            <a:pPr lvl="1"/>
            <a:r>
              <a:rPr lang="zh-CN" altLang="en-US" sz="2200">
                <a:sym typeface="+mn-ea"/>
              </a:rPr>
              <a:t>如果有工作机会，请联系</a:t>
            </a:r>
            <a:r>
              <a:rPr lang="en-US" altLang="zh-CN" sz="2200">
                <a:sym typeface="+mn-ea"/>
              </a:rPr>
              <a:t> </a:t>
            </a:r>
            <a:r>
              <a:rPr lang="zh-CN" altLang="en-US" sz="2200">
                <a:sym typeface="+mn-ea"/>
              </a:rPr>
              <a:t>2890594946@qq.com</a:t>
            </a:r>
            <a:endParaRPr lang="zh-CN" altLang="en-US" sz="2200">
              <a:sym typeface="+mn-ea"/>
            </a:endParaRPr>
          </a:p>
          <a:p>
            <a:pPr lvl="1"/>
            <a:r>
              <a:rPr lang="zh-CN" altLang="en-US">
                <a:sym typeface="+mn-ea"/>
              </a:rPr>
              <a:t>https://gitcode.com/joy7/sftp4cj</a:t>
            </a:r>
            <a:endParaRPr lang="zh-CN" altLang="en-US"/>
          </a:p>
        </p:txBody>
      </p:sp>
      <p:pic>
        <p:nvPicPr>
          <p:cNvPr id="5" name="44B7C0F4-79DB-4F8B-9303-0E098D69D8BE-5" descr="wp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58130" y="3796030"/>
            <a:ext cx="1476000" cy="1476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learning_ml_cj</a:t>
            </a:r>
            <a:endParaRPr lang="en-US" altLang="zh-CN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zh-CN">
                <a:sym typeface="+mn-ea"/>
              </a:rPr>
              <a:t>learning_ml_cj是一个大模型推理框架，支持开源的safetensor存储结构，</a:t>
            </a:r>
            <a:r>
              <a:rPr lang="zh-CN" altLang="en-US">
                <a:sym typeface="+mn-ea"/>
              </a:rPr>
              <a:t>提供基于</a:t>
            </a:r>
            <a:r>
              <a:rPr lang="en-US" altLang="zh-CN">
                <a:sym typeface="+mn-ea"/>
              </a:rPr>
              <a:t>CPU</a:t>
            </a:r>
            <a:r>
              <a:rPr lang="zh-CN" altLang="en-US">
                <a:sym typeface="+mn-ea"/>
              </a:rPr>
              <a:t>的</a:t>
            </a:r>
            <a:r>
              <a:rPr lang="en-US" altLang="zh-CN">
                <a:sym typeface="+mn-ea"/>
              </a:rPr>
              <a:t>大模型推理服务</a:t>
            </a:r>
            <a:endParaRPr lang="en-US" altLang="zh-CN">
              <a:sym typeface="+mn-ea"/>
            </a:endParaRPr>
          </a:p>
          <a:p>
            <a:pPr lvl="1"/>
            <a:r>
              <a:rPr lang="zh-CN" altLang="en-US"/>
              <a:t>https://gitcode.com/abcd1234-wyj/learning_ml_cj</a:t>
            </a:r>
            <a:endParaRPr lang="zh-CN" altLang="en-US"/>
          </a:p>
          <a:p>
            <a:pPr lvl="1"/>
            <a:r>
              <a:rPr lang="zh-CN" altLang="en-US"/>
              <a:t>王翊嘉，东北大学软件学院软件工程专业</a:t>
            </a:r>
            <a:endParaRPr lang="en-US" altLang="zh-CN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learning_ml_cj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>
                <a:sym typeface="+mn-ea"/>
              </a:rPr>
              <a:t>// 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Once upon a time</a:t>
            </a:r>
            <a:r>
              <a:rPr lang="en-US" altLang="zh-CN">
                <a:sym typeface="+mn-ea"/>
              </a:rPr>
              <a:t>”</a:t>
            </a:r>
            <a:endParaRPr lang="zh-CN" altLang="en-US"/>
          </a:p>
          <a:p>
            <a:r>
              <a:rPr lang="zh-CN" altLang="en-US"/>
              <a:t>let input: Array&lt;UInt32&gt; = [1, 80, 147, 201, 282, 57];   </a:t>
            </a:r>
            <a:endParaRPr lang="zh-CN" altLang="en-US"/>
          </a:p>
          <a:p>
            <a:r>
              <a:rPr lang="zh-CN" altLang="en-US">
                <a:sym typeface="+mn-ea"/>
              </a:rPr>
              <a:t>// load the model</a:t>
            </a:r>
            <a:endParaRPr lang="zh-CN" altLang="en-US"/>
          </a:p>
          <a:p>
            <a:r>
              <a:rPr lang="zh-CN" altLang="en-US"/>
              <a:t>let model = Llama.from_example_files(Option&lt;Path&gt;.None); </a:t>
            </a:r>
            <a:endParaRPr lang="zh-CN" altLang="en-US"/>
          </a:p>
          <a:p>
            <a:r>
              <a:rPr lang="zh-CN" altLang="en-US">
                <a:sym typeface="+mn-ea"/>
              </a:rPr>
              <a:t>// generate the next sentence</a:t>
            </a:r>
            <a:endParaRPr lang="zh-CN" altLang="en-US"/>
          </a:p>
          <a:p>
            <a:r>
              <a:rPr lang="zh-CN" altLang="en-US"/>
              <a:t>let output = model.generate(input, 200, 0.9, 40, -1.0);  </a:t>
            </a:r>
            <a:endParaRPr lang="zh-CN" altLang="en-US"/>
          </a:p>
          <a:p>
            <a:r>
              <a:rPr lang="zh-CN" altLang="en-US"/>
              <a:t>let translator = Translator.from_example_files(Option&lt;Path&gt;.None);</a:t>
            </a:r>
            <a:endParaRPr lang="zh-CN" altLang="en-US"/>
          </a:p>
          <a:p>
            <a:r>
              <a:rPr lang="zh-CN" altLang="en-US"/>
              <a:t>let user_in = translator.translate(input);</a:t>
            </a:r>
            <a:endParaRPr lang="zh-CN" altLang="en-US"/>
          </a:p>
          <a:p>
            <a:r>
              <a:rPr lang="zh-CN" altLang="en-US"/>
              <a:t>let result = translator.translate(output);</a:t>
            </a:r>
            <a:endParaRPr lang="zh-CN" altLang="en-US"/>
          </a:p>
          <a:p>
            <a:r>
              <a:rPr lang="zh-CN" altLang="en-US"/>
              <a:t>println(user_in + result)</a:t>
            </a:r>
            <a:r>
              <a:rPr lang="en-US" altLang="zh-CN"/>
              <a:t>;</a:t>
            </a:r>
            <a:endParaRPr lang="en-US" altLang="zh-CN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learning_ml_cj</a:t>
            </a:r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>
                <a:sym typeface="+mn-ea"/>
              </a:rPr>
              <a:t>王翊嘉</a:t>
            </a:r>
            <a:r>
              <a:rPr lang="en-US" altLang="zh-CN">
                <a:sym typeface="+mn-ea"/>
              </a:rPr>
              <a:t> </a:t>
            </a:r>
            <a:r>
              <a:rPr lang="en-US" altLang="zh-CN">
                <a:sym typeface="+mn-ea"/>
              </a:rPr>
              <a:t>learning_ml_cj</a:t>
            </a:r>
            <a:endParaRPr lang="zh-CN" altLang="en-US" sz="2200">
              <a:sym typeface="+mn-ea"/>
            </a:endParaRPr>
          </a:p>
          <a:p>
            <a:pPr marL="457200" lvl="2"/>
            <a:r>
              <a:rPr lang="zh-CN" altLang="en-US">
                <a:sym typeface="+mn-ea"/>
              </a:rPr>
              <a:t>https://gitcode.com/abcd1234-wyj/learning_ml_cj</a:t>
            </a:r>
            <a:endParaRPr lang="zh-CN" altLang="en-US"/>
          </a:p>
          <a:p>
            <a:pPr lvl="1"/>
            <a:endParaRPr lang="zh-CN" altLang="en-US"/>
          </a:p>
        </p:txBody>
      </p:sp>
      <p:pic>
        <p:nvPicPr>
          <p:cNvPr id="4" name="44B7C0F4-79DB-4F8B-9303-0E098D69D8BE-6" descr="wp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58130" y="3263265"/>
            <a:ext cx="1476000" cy="1476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404" y="4069170"/>
            <a:ext cx="1949953" cy="1953639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12486149" y="2361010"/>
            <a:ext cx="357935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b="1" dirty="0"/>
              <a:t>分享正文标题：</a:t>
            </a:r>
            <a:endParaRPr lang="en-US" altLang="zh-CN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dirty="0"/>
              <a:t>字体</a:t>
            </a:r>
            <a:r>
              <a:rPr lang="zh-CN" altLang="en-US" dirty="0"/>
              <a:t>：</a:t>
            </a:r>
            <a:r>
              <a:rPr lang="zh-CN" altLang="zh-CN" dirty="0"/>
              <a:t>等线</a:t>
            </a:r>
            <a:r>
              <a:rPr lang="zh-CN" altLang="en-US" dirty="0"/>
              <a:t>、微软雅黑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dirty="0"/>
              <a:t>字号</a:t>
            </a:r>
            <a:r>
              <a:rPr lang="zh-CN" altLang="en-US" dirty="0"/>
              <a:t>：</a:t>
            </a:r>
            <a:r>
              <a:rPr lang="en-US" altLang="zh-CN" dirty="0"/>
              <a:t>40</a:t>
            </a:r>
            <a:r>
              <a:rPr lang="zh-CN" altLang="en-US" dirty="0"/>
              <a:t> 、加粗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dirty="0"/>
              <a:t>字体颜色</a:t>
            </a:r>
            <a:r>
              <a:rPr lang="zh-CN" altLang="en-US" dirty="0"/>
              <a:t>：</a:t>
            </a:r>
            <a:r>
              <a:rPr lang="zh-CN" altLang="zh-CN" dirty="0"/>
              <a:t>蓝色</a:t>
            </a:r>
            <a:endParaRPr lang="zh-CN" altLang="zh-CN" dirty="0"/>
          </a:p>
          <a:p>
            <a:r>
              <a:rPr lang="zh-CN" altLang="zh-CN" b="1" dirty="0"/>
              <a:t>分享内容：</a:t>
            </a:r>
            <a:endParaRPr lang="en-US" altLang="zh-CN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dirty="0"/>
              <a:t>字体颜色</a:t>
            </a:r>
            <a:r>
              <a:rPr lang="zh-CN" altLang="en-US" dirty="0"/>
              <a:t>：</a:t>
            </a:r>
            <a:r>
              <a:rPr lang="zh-CN" altLang="zh-CN" dirty="0"/>
              <a:t>以黑色为主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dirty="0"/>
          </a:p>
        </p:txBody>
      </p:sp>
      <p:sp>
        <p:nvSpPr>
          <p:cNvPr id="36" name="文本框 35"/>
          <p:cNvSpPr txBox="1"/>
          <p:nvPr/>
        </p:nvSpPr>
        <p:spPr>
          <a:xfrm>
            <a:off x="795373" y="2817338"/>
            <a:ext cx="60977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感谢您的观看</a:t>
            </a:r>
            <a:r>
              <a:rPr kumimoji="1" lang="en-US" altLang="zh-CN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!</a:t>
            </a:r>
            <a:endParaRPr kumimoji="1" lang="zh-CN" altLang="en-US" sz="4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3192615" y="4607755"/>
            <a:ext cx="4206347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kumimoji="1"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←</a:t>
            </a:r>
            <a:r>
              <a:rPr kumimoji="1"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仓颉兴趣组首页，恳请指导</a:t>
            </a:r>
            <a:endParaRPr kumimoji="1"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buClrTx/>
              <a:buSzTx/>
              <a:buFontTx/>
            </a:pPr>
            <a:r>
              <a:rPr kumimoji="1"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http://www.sigcangjie.cn</a:t>
            </a:r>
            <a:endParaRPr kumimoji="1"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082223" y="4266832"/>
            <a:ext cx="1558314" cy="1558314"/>
          </a:xfrm>
          <a:prstGeom prst="rect">
            <a:avLst/>
          </a:prstGeom>
        </p:spPr>
      </p:pic>
      <p:pic>
        <p:nvPicPr>
          <p:cNvPr id="3" name="44B7C0F4-79DB-4F8B-9303-0E098D69D8BE-1" descr="wp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040" y="4266565"/>
            <a:ext cx="1519555" cy="151955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44B7C0F4-79DB-4F8B-9303-0E098D69D8BE-1">
      <extobjdata type="44B7C0F4-79DB-4F8B-9303-0E098D69D8BE" data="ewoJIkxhc3RVcmwiIDogImh0dHBzOi8vcGVyc29uYWwtYWN0Lndwcy5jbi92aXAtc3BhLzIwMjMvcXJjb2Rlc2Nhbi9pbmRleC5odG1sP3RleHQ9aHR0cCUzQSUyRiUyRnd3dy5zaWdjYW5namllLmNuJnRleHRUeXBlPXRleHQmcm91bmQ9MCZncmFkaWVudFdheT0wIiwKCSJMb2dvIiA6ICIiLAoJIk9yaWdpbmFsVXJsIiA6ICJodHRwczovL3BlcnNvbmFsLWFjdC53cHMuY24vdmlwLXNwYS8yMDIzL3FyY29kZXNjYW4vaW5kZXguaHRtbCIKfQo="/>
    </extobj>
    <extobj name="44B7C0F4-79DB-4F8B-9303-0E098D69D8BE-2">
      <extobjdata type="44B7C0F4-79DB-4F8B-9303-0E098D69D8BE" data="ewoJIkxhc3RVcmwiIDogImh0dHBzOi8vcGVyc29uYWwtYWN0Lndwcy5jbi92aXAtc3BhLzIwMjMvcXJjb2Rlc2Nhbi9pbmRleC5odG1sP3RleHQ9aHR0cHMlM0ElMkYlMkZnaXRjb2RlLmNvbSUyRlBlcm1pc3Npb25Eb2clMkZjYW5namllX3RvbWwmdGV4dFR5cGU9dGV4dCZyb3VuZD0wJmdyYWRpZW50V2F5PTAiLAoJIkxvZ28iIDogIiIsCgkiT3JpZ2luYWxVcmwiIDogImh0dHBzOi8vcGVyc29uYWwtYWN0Lndwcy5jbi92aXAtc3BhLzIwMjMvcXJjb2Rlc2Nhbi9pbmRleC5odG1sIgp9Cg=="/>
    </extobj>
    <extobj name="44B7C0F4-79DB-4F8B-9303-0E098D69D8BE-3">
      <extobjdata type="44B7C0F4-79DB-4F8B-9303-0E098D69D8BE" data="ewoJIkxhc3RVcmwiIDogImh0dHBzOi8vcGVyc29uYWwtYWN0Lndwcy5jbi92aXAtc3BhLzIwMjMvcXJjb2Rlc2Nhbi9pbmRleC5odG1sP3RleHQ9aHR0cHMlM0ElMkYlMkZnaXRjb2RlLmNvbSUyRlBlcm1pc3Npb25Eb2clMkZkYXByLWNhbmdqaWUtc2RrJnRleHRUeXBlPXRleHQmcm91bmQ9MCZncmFkaWVudFdheT0wIiwKCSJMb2dvIiA6ICIiLAoJIk9yaWdpbmFsVXJsIiA6ICJodHRwczovL3BlcnNvbmFsLWFjdC53cHMuY24vdmlwLXNwYS8yMDIzL3FyY29kZXNjYW4vaW5kZXguaHRtbCIKfQo="/>
    </extobj>
    <extobj name="44B7C0F4-79DB-4F8B-9303-0E098D69D8BE-4">
      <extobjdata type="44B7C0F4-79DB-4F8B-9303-0E098D69D8BE" data="ewoJIkxhc3RVcmwiIDogImh0dHBzOi8vcGVyc29uYWwtYWN0Lndwcy5jbi92aXAtc3BhLzIwMjMvcXJjb2Rlc2Nhbi9pbmRleC5odG1sP3RleHQ9aHR0cHMlM0ElMkYlMkZnaXRjb2RlLmNvbSUyRmxlYXZlV2hpdGU5MDg4JTJGc2ltcGxla3YmdGV4dFR5cGU9dGV4dCZyb3VuZD0wJmdyYWRpZW50V2F5PTAiLAoJIkxvZ28iIDogIiIsCgkiT3JpZ2luYWxVcmwiIDogImh0dHBzOi8vcGVyc29uYWwtYWN0Lndwcy5jbi92aXAtc3BhLzIwMjMvcXJjb2Rlc2Nhbi9pbmRleC5odG1sIgp9Cg=="/>
    </extobj>
    <extobj name="44B7C0F4-79DB-4F8B-9303-0E098D69D8BE-5">
      <extobjdata type="44B7C0F4-79DB-4F8B-9303-0E098D69D8BE" data="ewoJIkxhc3RVcmwiIDogImh0dHBzOi8vcGVyc29uYWwtYWN0Lndwcy5jbi92aXAtc3BhLzIwMjMvcXJjb2Rlc2Nhbi9pbmRleC5odG1sP3RleHQ9aHR0cHMlM0ElMkYlMkZnaXRjb2RlLmNvbSUyRmpveTclMkZzZnRwNGNqJnRleHRUeXBlPXRleHQmcm91bmQ9MCZncmFkaWVudFdheT0wIiwKCSJMb2dvIiA6ICIiLAoJIk9yaWdpbmFsVXJsIiA6ICJodHRwczovL3BlcnNvbmFsLWFjdC53cHMuY24vdmlwLXNwYS8yMDIzL3FyY29kZXNjYW4vaW5kZXguaHRtbCIKfQo="/>
    </extobj>
    <extobj name="44B7C0F4-79DB-4F8B-9303-0E098D69D8BE-6">
      <extobjdata type="44B7C0F4-79DB-4F8B-9303-0E098D69D8BE" data="ewoJIkxhc3RVcmwiIDogImh0dHBzOi8vcGVyc29uYWwtYWN0Lndwcy5jbi92aXAtc3BhLzIwMjMvcXJjb2Rlc2Nhbi9pbmRleC5odG1sP3RleHQ9aHR0cHMlM0ElMkYlMkZnaXRjb2RlLmNvbSUyRmFiY2QxMjM0LXd5aiUyRmxlYXJuaW5nX21sX2NqJnRleHRUeXBlPXRleHQmcm91bmQ9MCZncmFkaWVudFdheT0wIiwKCSJMb2dvIiA6ICIiLAoJIk9yaWdpbmFsVXJsIiA6ICJodHRwczovL3BlcnNvbmFsLWFjdC53cHMuY24vdmlwLXNwYS8yMDIzL3FyY29kZXNjYW4vaW5kZXguaHRtbCIKfQo="/>
    </extobj>
    <extobj name="44B7C0F4-79DB-4F8B-9303-0E098D69D8BE-7">
      <extobjdata type="44B7C0F4-79DB-4F8B-9303-0E098D69D8BE" data="ewoJIkxhc3RVcmwiIDogImh0dHBzOi8vcGVyc29uYWwtYWN0Lndwcy5jbi92aXAtc3BhLzIwMjMvcXJjb2Rlc2Nhbi9pbmRleC5odG1sP3RleHQ9aHR0cHMlM0ElMkYlMkZnaXRjb2RlLmNvbSUyRnlpc2hlbmdUSCUyRlRlYUV4YW1wbGUmdGV4dFR5cGU9dGV4dCZyb3VuZD0wJmdyYWRpZW50V2F5PTAiLAoJIkxvZ28iIDogIiIsCgkiT3JpZ2luYWxVcmwiIDogImh0dHBzOi8vcGVyc29uYWwtYWN0Lndwcy5jbi92aXAtc3BhLzIwMjMvcXJjb2Rlc2Nhbi9pbmRleC5odG1sIgp9Cg=="/>
    </extobj>
    <extobj name="44B7C0F4-79DB-4F8B-9303-0E098D69D8BE-8">
      <extobjdata type="44B7C0F4-79DB-4F8B-9303-0E098D69D8BE" data="ewoJIkxhc3RVcmwiIDogImh0dHBzOi8vcGVyc29uYWwtYWN0Lndwcy5jbi92aXAtc3BhLzIwMjMvcXJjb2Rlc2Nhbi9pbmRleC5odG1sP3RleHQ9aHR0cHMlM0ElMkYlMkZnaXRjb2RlLmNvbSUyRnlpc2hlbmdUSCUyRnRlYSZ0ZXh0VHlwZT10ZXh0JnJvdW5kPTAmZ3JhZGllbnRXYXk9MCIsCgkiTG9nbyIgOiAiIiwKCSJPcmlnaW5hbFVybCIgOiAiaHR0cHM6Ly9wZXJzb25hbC1hY3Qud3BzLmNuL3ZpcC1zcGEvMjAyMy9xcmNvZGVzY2FuL2luZGV4Lmh0bWwiCn0K"/>
    </extobj>
    <extobj name="44B7C0F4-79DB-4F8B-9303-0E098D69D8BE-9">
      <extobjdata type="44B7C0F4-79DB-4F8B-9303-0E098D69D8BE" data="ewoJIkxhc3RVcmwiIDogImh0dHBzOi8vcGVyc29uYWwtYWN0Lndwcy5jbi92aXAtc3BhLzIwMjMvcXJjb2Rlc2Nhbi9pbmRleC5odG1sP3RleHQ9aHR0cHMlM0ElMkYlMkZnaXRjb2RlLmNvbSUyRnlpc2hlbmdUSCUyRlNlZWRIVFRQJnRleHRUeXBlPXRleHQmcm91bmQ9MCZncmFkaWVudFdheT0wIiwKCSJMb2dvIiA6ICIiLAoJIk9yaWdpbmFsVXJsIiA6ICJodHRwczovL3BlcnNvbmFsLWFjdC53cHMuY24vdmlwLXNwYS8yMDIzL3FyY29kZXNjYW4vaW5kZXguaHRtbCIKfQo="/>
    </extobj>
  </extobjs>
</s:customData>
</file>

<file path=customXml/itemProps1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12827</Words>
  <Application>WPS 演示</Application>
  <PresentationFormat>宽屏</PresentationFormat>
  <Paragraphs>614</Paragraphs>
  <Slides>54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54</vt:i4>
      </vt:variant>
    </vt:vector>
  </HeadingPairs>
  <TitlesOfParts>
    <vt:vector size="66" baseType="lpstr">
      <vt:lpstr>Arial</vt:lpstr>
      <vt:lpstr>宋体</vt:lpstr>
      <vt:lpstr>Wingdings</vt:lpstr>
      <vt:lpstr>Arial</vt:lpstr>
      <vt:lpstr>微软雅黑</vt:lpstr>
      <vt:lpstr>Liberation Mono</vt:lpstr>
      <vt:lpstr>微软雅黑 Light</vt:lpstr>
      <vt:lpstr>Microsoft YaHei Light</vt:lpstr>
      <vt:lpstr>Arial Unicode MS</vt:lpstr>
      <vt:lpstr>DengXian</vt:lpstr>
      <vt:lpstr>Office 主题</vt:lpstr>
      <vt:lpstr>1_Office 主题</vt:lpstr>
      <vt:lpstr>PowerPoint 演示文稿</vt:lpstr>
      <vt:lpstr>PowerPoint 演示文稿</vt:lpstr>
      <vt:lpstr>PowerPoint 演示文稿</vt:lpstr>
      <vt:lpstr>cangjie_toml</vt:lpstr>
      <vt:lpstr>cangjie_toml</vt:lpstr>
      <vt:lpstr>cangjie_toml</vt:lpstr>
      <vt:lpstr>cangjie_toml关键技术</vt:lpstr>
      <vt:lpstr>cangjie_toml关键技术</vt:lpstr>
      <vt:lpstr>cangjie_toml关键技术</vt:lpstr>
      <vt:lpstr>cangjie_toml关键技术</vt:lpstr>
      <vt:lpstr>cangjie_toml</vt:lpstr>
      <vt:lpstr>tea with seedhttp</vt:lpstr>
      <vt:lpstr>tea with seedhttp</vt:lpstr>
      <vt:lpstr>tea with seedhttp</vt:lpstr>
      <vt:lpstr>tea with seedhttp关键技术</vt:lpstr>
      <vt:lpstr>tea with seedhttp关键技术</vt:lpstr>
      <vt:lpstr>tea with seedhttp关键技术</vt:lpstr>
      <vt:lpstr>tea with seedhttp关键技术</vt:lpstr>
      <vt:lpstr>tea with seedhttp</vt:lpstr>
      <vt:lpstr>Dapr Cangjie SDK</vt:lpstr>
      <vt:lpstr>Dapr Cangjie SDK</vt:lpstr>
      <vt:lpstr>Dapr Cangjie SDK</vt:lpstr>
      <vt:lpstr>Dapr Cangjie SDK</vt:lpstr>
      <vt:lpstr>Dapr Cangjie SDK</vt:lpstr>
      <vt:lpstr>Dapr Cangjie SDK</vt:lpstr>
      <vt:lpstr>Dapr Cangjie SDK</vt:lpstr>
      <vt:lpstr>Dapr Cangjie SDK</vt:lpstr>
      <vt:lpstr>Dapr Cangjie SDK</vt:lpstr>
      <vt:lpstr>naivetoolkit</vt:lpstr>
      <vt:lpstr>naivetoolkit</vt:lpstr>
      <vt:lpstr>naiveioc</vt:lpstr>
      <vt:lpstr>naiveioc</vt:lpstr>
      <vt:lpstr>naiveioc</vt:lpstr>
      <vt:lpstr>naiveioc</vt:lpstr>
      <vt:lpstr>naivemediator</vt:lpstr>
      <vt:lpstr>naivevalidation</vt:lpstr>
      <vt:lpstr>naivesqlbuilder</vt:lpstr>
      <vt:lpstr>naivetoolkit</vt:lpstr>
      <vt:lpstr>naivetoolkit</vt:lpstr>
      <vt:lpstr>naivetoolkit</vt:lpstr>
      <vt:lpstr>naivetoolkit</vt:lpstr>
      <vt:lpstr>simplekv</vt:lpstr>
      <vt:lpstr>simplekv</vt:lpstr>
      <vt:lpstr>simplekv</vt:lpstr>
      <vt:lpstr>simplekv</vt:lpstr>
      <vt:lpstr>simplekv</vt:lpstr>
      <vt:lpstr>sftp4cj</vt:lpstr>
      <vt:lpstr>sftp4cj</vt:lpstr>
      <vt:lpstr>sftp4cj</vt:lpstr>
      <vt:lpstr>sftp4cj</vt:lpstr>
      <vt:lpstr>learning_ml_cj</vt:lpstr>
      <vt:lpstr>learning_ml_cj</vt:lpstr>
      <vt:lpstr>learning_ml_cj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 jingqiao</dc:creator>
  <cp:lastModifiedBy>张引</cp:lastModifiedBy>
  <cp:revision>206</cp:revision>
  <dcterms:created xsi:type="dcterms:W3CDTF">2025-01-23T07:20:43Z</dcterms:created>
  <dcterms:modified xsi:type="dcterms:W3CDTF">2025-01-23T07:20:43Z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(3)f2yP13Qp3vic5XTALCocdDa8Px+yleI4f76Gfge9UvbMH273pVNhawcQ/lv953a4ZCXEI+2I
UcgYWoqOm6AdCvcd/fd+0kya/SnjosPZOGpp42imUR/apPlX9FRnMOsULDMkUDtSFqQPxPBp
YEC5rZQjCgPbxx35AH1G98OLgLdk7GPnsKJ9m0Il9g7gam7lHBITNicZe7BgllxOCyi6zK2L
WUfNmT6TNlNs1xgT+5</vt:lpwstr>
  </property>
  <property fmtid="{D5CDD505-2E9C-101B-9397-08002B2CF9AE}" pid="3" name="_2015_ms_pID_7253431">
    <vt:lpwstr>JthLT77aSDy8Cp1Bp9hPlbkN8hzuD6oHLTAT60DJcx7cOGX5mrUyQK
jL5xEeqP01ct2Ack6dvSsYMT1P4YPSkyAM77DcJD68Bq3hdAGfUiyC8T+bPpdwvN1TS4f4+p
mupzp0lJoiQnz5y/HckxVo42iO1+J34VMQv8zLJc35OPsrlA2GaQX1m5tn2PC6Ku1skxNaOs
6X83iKXXnXqmCq8LjP0ZMbZveAcq6Az1Cttq</vt:lpwstr>
  </property>
  <property fmtid="{D5CDD505-2E9C-101B-9397-08002B2CF9AE}" pid="4" name="_2015_ms_pID_7253432">
    <vt:lpwstr>pw==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1677296177</vt:lpwstr>
  </property>
  <property fmtid="{D5CDD505-2E9C-101B-9397-08002B2CF9AE}" pid="9" name="ICV">
    <vt:lpwstr>8F0F82A8474279DCCBED916799C1E57E_43</vt:lpwstr>
  </property>
  <property fmtid="{D5CDD505-2E9C-101B-9397-08002B2CF9AE}" pid="10" name="KSOProductBuildVer">
    <vt:lpwstr>2052-12.1.0.17900</vt:lpwstr>
  </property>
</Properties>
</file>