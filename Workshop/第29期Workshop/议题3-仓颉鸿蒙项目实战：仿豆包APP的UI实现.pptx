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82" r:id="rId2"/>
    <p:sldId id="304" r:id="rId3"/>
    <p:sldId id="280" r:id="rId4"/>
    <p:sldId id="290" r:id="rId5"/>
    <p:sldId id="291" r:id="rId6"/>
    <p:sldId id="292" r:id="rId7"/>
    <p:sldId id="293" r:id="rId8"/>
    <p:sldId id="306" r:id="rId9"/>
    <p:sldId id="303" r:id="rId10"/>
    <p:sldId id="305" r:id="rId11"/>
    <p:sldId id="295" r:id="rId12"/>
    <p:sldId id="296" r:id="rId13"/>
    <p:sldId id="297" r:id="rId14"/>
    <p:sldId id="302" r:id="rId15"/>
    <p:sldId id="294" r:id="rId16"/>
    <p:sldId id="28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FC2DFAE-FB83-48CB-9811-7C4E6F4F3F73}">
          <p14:sldIdLst>
            <p14:sldId id="282"/>
            <p14:sldId id="304"/>
            <p14:sldId id="280"/>
            <p14:sldId id="290"/>
            <p14:sldId id="291"/>
            <p14:sldId id="292"/>
            <p14:sldId id="293"/>
            <p14:sldId id="306"/>
            <p14:sldId id="303"/>
            <p14:sldId id="305"/>
            <p14:sldId id="295"/>
            <p14:sldId id="296"/>
            <p14:sldId id="297"/>
            <p14:sldId id="302"/>
            <p14:sldId id="294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E0EE"/>
    <a:srgbClr val="CC99FF"/>
    <a:srgbClr val="548235"/>
    <a:srgbClr val="A31515"/>
    <a:srgbClr val="0075F3"/>
    <a:srgbClr val="FFFFFF"/>
    <a:srgbClr val="E5F5FF"/>
    <a:srgbClr val="2D77EE"/>
    <a:srgbClr val="01DFC0"/>
    <a:srgbClr val="91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51" autoAdjust="0"/>
    <p:restoredTop sz="95988"/>
  </p:normalViewPr>
  <p:slideViewPr>
    <p:cSldViewPr snapToGrid="0" snapToObjects="1">
      <p:cViewPr varScale="1">
        <p:scale>
          <a:sx n="108" d="100"/>
          <a:sy n="108" d="100"/>
        </p:scale>
        <p:origin x="4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75235-9A1A-D74C-B5F3-1C693EF9A0DE}" type="datetimeFigureOut">
              <a:rPr kumimoji="1" lang="zh-CN" altLang="en-US" smtClean="0"/>
              <a:t>2025/1/24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9C8D6-C46B-CF46-BEF0-81268CF6F7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717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9C8D6-C46B-CF46-BEF0-81268CF6F78A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4669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9C8D6-C46B-CF46-BEF0-81268CF6F78A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5928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9C8D6-C46B-CF46-BEF0-81268CF6F78A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1640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230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24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32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92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  <a:t>2025/1/24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419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  <a:t>2025/1/24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851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0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17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  <p:sldLayoutId id="2147483658" r:id="rId4"/>
    <p:sldLayoutId id="2147483657" r:id="rId5"/>
    <p:sldLayoutId id="2147483650" r:id="rId6"/>
    <p:sldLayoutId id="214748365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FBB337-4DA7-4097-9230-BA1003605E51}"/>
              </a:ext>
            </a:extLst>
          </p:cNvPr>
          <p:cNvSpPr txBox="1"/>
          <p:nvPr/>
        </p:nvSpPr>
        <p:spPr>
          <a:xfrm>
            <a:off x="685733" y="2486951"/>
            <a:ext cx="9167110" cy="931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仓颉鸿蒙实战之复刻豆包</a:t>
            </a:r>
            <a:r>
              <a:rPr kumimoji="1"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endParaRPr kumimoji="1"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FC9F5C-A5D4-4D13-B164-8CD1D088364A}"/>
              </a:ext>
            </a:extLst>
          </p:cNvPr>
          <p:cNvSpPr txBox="1"/>
          <p:nvPr/>
        </p:nvSpPr>
        <p:spPr>
          <a:xfrm>
            <a:off x="756420" y="3743670"/>
            <a:ext cx="4845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主讲人：徐迪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54F8BF-753F-4421-AB3E-AE22A11120FB}"/>
              </a:ext>
            </a:extLst>
          </p:cNvPr>
          <p:cNvSpPr txBox="1"/>
          <p:nvPr/>
        </p:nvSpPr>
        <p:spPr>
          <a:xfrm>
            <a:off x="678226" y="4636347"/>
            <a:ext cx="2800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01 </a:t>
            </a:r>
            <a:r>
              <a:rPr kumimoji="1"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项目相关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1DBA46-611A-4973-8AF1-A6CDDEA1F945}"/>
              </a:ext>
            </a:extLst>
          </p:cNvPr>
          <p:cNvSpPr txBox="1"/>
          <p:nvPr/>
        </p:nvSpPr>
        <p:spPr>
          <a:xfrm>
            <a:off x="3715977" y="4636347"/>
            <a:ext cx="2800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02 UI</a:t>
            </a:r>
            <a:r>
              <a:rPr kumimoji="1"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界面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57F3A3-FF39-4DAD-9A6D-DAEE42716B77}"/>
              </a:ext>
            </a:extLst>
          </p:cNvPr>
          <p:cNvSpPr txBox="1"/>
          <p:nvPr/>
        </p:nvSpPr>
        <p:spPr>
          <a:xfrm>
            <a:off x="685733" y="5297117"/>
            <a:ext cx="31050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03 </a:t>
            </a:r>
            <a:r>
              <a:rPr kumimoji="1"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调用语言大模型</a:t>
            </a:r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API</a:t>
            </a:r>
            <a:endParaRPr kumimoji="1" lang="zh-CN" altLang="en-US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DE14A0-6868-4EEF-B43D-62B5673F4DDA}"/>
              </a:ext>
            </a:extLst>
          </p:cNvPr>
          <p:cNvSpPr txBox="1"/>
          <p:nvPr/>
        </p:nvSpPr>
        <p:spPr>
          <a:xfrm>
            <a:off x="3715977" y="5297116"/>
            <a:ext cx="3261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04 </a:t>
            </a:r>
            <a:r>
              <a:rPr kumimoji="1"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上下文与流式输出</a:t>
            </a:r>
          </a:p>
        </p:txBody>
      </p:sp>
    </p:spTree>
    <p:extLst>
      <p:ext uri="{BB962C8B-B14F-4D97-AF65-F5344CB8AC3E}">
        <p14:creationId xmlns:p14="http://schemas.microsoft.com/office/powerpoint/2010/main" val="317294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583D894-6132-4E8C-ADE0-927E8B656FF5}"/>
              </a:ext>
            </a:extLst>
          </p:cNvPr>
          <p:cNvSpPr txBox="1"/>
          <p:nvPr/>
        </p:nvSpPr>
        <p:spPr>
          <a:xfrm>
            <a:off x="7550596" y="1727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学习参考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0E1CF3-01F6-4AD4-8BF3-77BCFA50D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290" y="1202874"/>
            <a:ext cx="3889189" cy="26090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9A44A4C-2B08-41A6-BFE1-DABB4F8B1B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863"/>
          <a:stretch/>
        </p:blipFill>
        <p:spPr>
          <a:xfrm>
            <a:off x="2122641" y="1202874"/>
            <a:ext cx="3976919" cy="261590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226EFFD-26F9-4549-9A74-7CF54AF1BE4D}"/>
              </a:ext>
            </a:extLst>
          </p:cNvPr>
          <p:cNvSpPr txBox="1"/>
          <p:nvPr/>
        </p:nvSpPr>
        <p:spPr>
          <a:xfrm>
            <a:off x="6362191" y="3280400"/>
            <a:ext cx="423242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https://developer.huawei.com/consumer/cn/doc/cangjie-references-V5/ui__u7ec4_u4ef6_uff08_u4ed3_u9889_uff09-V5</a:t>
            </a:r>
            <a:endParaRPr lang="zh-CN" altLang="en-US" sz="1050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239397-C576-42C2-9DDC-03035B36CB71}"/>
              </a:ext>
            </a:extLst>
          </p:cNvPr>
          <p:cNvSpPr txBox="1"/>
          <p:nvPr/>
        </p:nvSpPr>
        <p:spPr>
          <a:xfrm>
            <a:off x="2918162" y="3403510"/>
            <a:ext cx="25634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霞鹜文楷等宽" panose="02020509000000000000" pitchFamily="49" charset="-120"/>
                <a:ea typeface="霞鹜文楷等宽" panose="02020509000000000000" pitchFamily="49" charset="-120"/>
              </a:rPr>
              <a:t>https://cangjie.astrallab.net/libs</a:t>
            </a:r>
            <a:r>
              <a:rPr lang="en-US" altLang="zh-CN" sz="1400" dirty="0">
                <a:solidFill>
                  <a:schemeClr val="bg1"/>
                </a:solidFill>
                <a:latin typeface="霞鹜文楷等宽" panose="02020509000000000000" pitchFamily="49" charset="-120"/>
                <a:ea typeface="霞鹜文楷等宽" panose="02020509000000000000" pitchFamily="49" charset="-120"/>
              </a:rPr>
              <a:t>/</a:t>
            </a:r>
            <a:endParaRPr lang="zh-CN" altLang="en-US" sz="1400" dirty="0">
              <a:solidFill>
                <a:schemeClr val="bg1"/>
              </a:solidFill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9B73FC2-B720-449D-B603-7197CA299F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619"/>
          <a:stretch/>
        </p:blipFill>
        <p:spPr>
          <a:xfrm>
            <a:off x="2122640" y="3939364"/>
            <a:ext cx="3976919" cy="261590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4786768-4AFB-4AA3-8A70-2ADBCC9444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1" b="1041"/>
          <a:stretch/>
        </p:blipFill>
        <p:spPr>
          <a:xfrm>
            <a:off x="6249034" y="3939364"/>
            <a:ext cx="3827445" cy="258869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07E3731-EC16-49BB-BB21-E90452069425}"/>
              </a:ext>
            </a:extLst>
          </p:cNvPr>
          <p:cNvSpPr txBox="1"/>
          <p:nvPr/>
        </p:nvSpPr>
        <p:spPr>
          <a:xfrm>
            <a:off x="6486746" y="6053412"/>
            <a:ext cx="3714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https://gitcode.com/Cangjie/Cangjie-Examples</a:t>
            </a:r>
            <a:endParaRPr lang="zh-CN" altLang="en-US" sz="1050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D374EBD-3E7F-4D50-9E78-2CC06ACA3C62}"/>
              </a:ext>
            </a:extLst>
          </p:cNvPr>
          <p:cNvSpPr txBox="1"/>
          <p:nvPr/>
        </p:nvSpPr>
        <p:spPr>
          <a:xfrm>
            <a:off x="2383885" y="6053412"/>
            <a:ext cx="358546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https://gitcode.com/Cangjie/HarmonyOS-Examples</a:t>
            </a:r>
            <a:endParaRPr lang="zh-CN" altLang="en-US" sz="1050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A09341-48E1-4757-A366-5487614848FE}"/>
              </a:ext>
            </a:extLst>
          </p:cNvPr>
          <p:cNvSpPr txBox="1"/>
          <p:nvPr/>
        </p:nvSpPr>
        <p:spPr>
          <a:xfrm>
            <a:off x="10201034" y="2285796"/>
            <a:ext cx="21884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altLang="zh-CN" b="1" i="0" dirty="0">
                <a:solidFill>
                  <a:srgbClr val="00000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HarmonyOS -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仓颉 </a:t>
            </a:r>
            <a:endParaRPr lang="en-US" altLang="zh-CN" b="1" i="0" dirty="0">
              <a:solidFill>
                <a:srgbClr val="000000"/>
              </a:solidFill>
              <a:effectLst/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  <a:p>
            <a:pPr algn="l" fontAlgn="base"/>
            <a:r>
              <a:rPr lang="en-US" altLang="zh-CN" b="1" i="0" dirty="0">
                <a:solidFill>
                  <a:srgbClr val="00000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API 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参考</a:t>
            </a:r>
          </a:p>
          <a:p>
            <a:br>
              <a:rPr lang="zh-CN" altLang="en-US" b="0" i="0" dirty="0">
                <a:solidFill>
                  <a:srgbClr val="333333"/>
                </a:solidFill>
                <a:effectLst/>
                <a:latin typeface="HarmonyOSHans-Regular"/>
              </a:rPr>
            </a:b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E6577D-22EF-46C6-A1CA-BCA950C2FF24}"/>
              </a:ext>
            </a:extLst>
          </p:cNvPr>
          <p:cNvSpPr txBox="1"/>
          <p:nvPr/>
        </p:nvSpPr>
        <p:spPr>
          <a:xfrm>
            <a:off x="60255" y="2357069"/>
            <a:ext cx="2188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zh-CN" altLang="en-US" b="1" i="0" dirty="0">
                <a:solidFill>
                  <a:srgbClr val="00000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仓颉语言库 </a:t>
            </a:r>
            <a:r>
              <a:rPr lang="en-US" altLang="zh-CN" b="1" i="0" dirty="0">
                <a:solidFill>
                  <a:srgbClr val="00000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API</a:t>
            </a:r>
            <a:br>
              <a:rPr lang="zh-CN" altLang="en-US" b="0" i="0" dirty="0">
                <a:solidFill>
                  <a:srgbClr val="333333"/>
                </a:solidFill>
                <a:effectLst/>
                <a:latin typeface="HarmonyOSHans-Regular"/>
              </a:rPr>
            </a:b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FA938C8-DDD8-4B9E-9E51-703DF66DD232}"/>
              </a:ext>
            </a:extLst>
          </p:cNvPr>
          <p:cNvSpPr txBox="1"/>
          <p:nvPr/>
        </p:nvSpPr>
        <p:spPr>
          <a:xfrm>
            <a:off x="60255" y="5144028"/>
            <a:ext cx="21884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zh-CN" altLang="en-US" b="1" i="0" dirty="0">
                <a:solidFill>
                  <a:srgbClr val="00000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仓颉鸿蒙应用示例代码仓库</a:t>
            </a:r>
            <a:br>
              <a:rPr lang="zh-CN" altLang="en-US" b="0" i="0" dirty="0">
                <a:solidFill>
                  <a:srgbClr val="333333"/>
                </a:solidFill>
                <a:effectLst/>
                <a:latin typeface="HarmonyOSHans-Regular"/>
              </a:rPr>
            </a:b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33D4C4D-21EA-4FFB-8A19-8F7B42072B46}"/>
              </a:ext>
            </a:extLst>
          </p:cNvPr>
          <p:cNvSpPr txBox="1"/>
          <p:nvPr/>
        </p:nvSpPr>
        <p:spPr>
          <a:xfrm>
            <a:off x="10177224" y="5149387"/>
            <a:ext cx="2188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zh-CN" altLang="en-US" b="1" i="0" dirty="0">
                <a:solidFill>
                  <a:srgbClr val="00000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仓颉示例代码仓库</a:t>
            </a:r>
            <a:br>
              <a:rPr lang="zh-CN" altLang="en-US" b="0" i="0" dirty="0">
                <a:solidFill>
                  <a:srgbClr val="333333"/>
                </a:solidFill>
                <a:effectLst/>
                <a:latin typeface="HarmonyOSHans-Regular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697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6" grpId="0"/>
      <p:bldP spid="18" grpId="0"/>
      <p:bldP spid="21" grpId="0"/>
      <p:bldP spid="22" grpId="0"/>
      <p:bldP spid="25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1ED894-0A1A-4E31-A6EE-A75EF9B04FD2}"/>
              </a:ext>
            </a:extLst>
          </p:cNvPr>
          <p:cNvSpPr txBox="1"/>
          <p:nvPr/>
        </p:nvSpPr>
        <p:spPr>
          <a:xfrm>
            <a:off x="785812" y="1114425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页面展示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56096E-B517-4FE1-88C0-E0F6EA59EE64}"/>
              </a:ext>
            </a:extLst>
          </p:cNvPr>
          <p:cNvSpPr txBox="1"/>
          <p:nvPr/>
        </p:nvSpPr>
        <p:spPr>
          <a:xfrm>
            <a:off x="3432690" y="1299090"/>
            <a:ext cx="1771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对话页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B3C3EE3-58DF-42FC-B872-8655A8046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561" y="1114425"/>
            <a:ext cx="2646878" cy="560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771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1ED894-0A1A-4E31-A6EE-A75EF9B04FD2}"/>
              </a:ext>
            </a:extLst>
          </p:cNvPr>
          <p:cNvSpPr txBox="1"/>
          <p:nvPr/>
        </p:nvSpPr>
        <p:spPr>
          <a:xfrm>
            <a:off x="785812" y="1114425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页面展示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56096E-B517-4FE1-88C0-E0F6EA59EE64}"/>
              </a:ext>
            </a:extLst>
          </p:cNvPr>
          <p:cNvSpPr txBox="1"/>
          <p:nvPr/>
        </p:nvSpPr>
        <p:spPr>
          <a:xfrm>
            <a:off x="3432690" y="1299090"/>
            <a:ext cx="1771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创作页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182323-4007-4070-8740-59EE6D359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561" y="1114425"/>
            <a:ext cx="2646878" cy="560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89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1ED894-0A1A-4E31-A6EE-A75EF9B04FD2}"/>
              </a:ext>
            </a:extLst>
          </p:cNvPr>
          <p:cNvSpPr txBox="1"/>
          <p:nvPr/>
        </p:nvSpPr>
        <p:spPr>
          <a:xfrm>
            <a:off x="785812" y="1114425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页面展示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56096E-B517-4FE1-88C0-E0F6EA59EE64}"/>
              </a:ext>
            </a:extLst>
          </p:cNvPr>
          <p:cNvSpPr txBox="1"/>
          <p:nvPr/>
        </p:nvSpPr>
        <p:spPr>
          <a:xfrm>
            <a:off x="3432690" y="1299090"/>
            <a:ext cx="1771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发现页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8FEB00-FF9D-4412-80C7-F0EA8B395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815" y="1114425"/>
            <a:ext cx="2646370" cy="56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038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1ED894-0A1A-4E31-A6EE-A75EF9B04FD2}"/>
              </a:ext>
            </a:extLst>
          </p:cNvPr>
          <p:cNvSpPr txBox="1"/>
          <p:nvPr/>
        </p:nvSpPr>
        <p:spPr>
          <a:xfrm>
            <a:off x="785812" y="1114425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页面展示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56096E-B517-4FE1-88C0-E0F6EA59EE64}"/>
              </a:ext>
            </a:extLst>
          </p:cNvPr>
          <p:cNvSpPr txBox="1"/>
          <p:nvPr/>
        </p:nvSpPr>
        <p:spPr>
          <a:xfrm>
            <a:off x="3432690" y="1299090"/>
            <a:ext cx="1771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通知页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BAEE6B6-9BFC-4F9C-B79B-21498CB24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251" y="1114425"/>
            <a:ext cx="2612783" cy="560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589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1ED894-0A1A-4E31-A6EE-A75EF9B04FD2}"/>
              </a:ext>
            </a:extLst>
          </p:cNvPr>
          <p:cNvSpPr txBox="1"/>
          <p:nvPr/>
        </p:nvSpPr>
        <p:spPr>
          <a:xfrm>
            <a:off x="785812" y="1114425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页面展示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56096E-B517-4FE1-88C0-E0F6EA59EE64}"/>
              </a:ext>
            </a:extLst>
          </p:cNvPr>
          <p:cNvSpPr txBox="1"/>
          <p:nvPr/>
        </p:nvSpPr>
        <p:spPr>
          <a:xfrm>
            <a:off x="3432690" y="1299090"/>
            <a:ext cx="1771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个人页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4639FB-AD71-4316-8046-77D36F402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815" y="1114425"/>
            <a:ext cx="2646370" cy="56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150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7F1824A-2FEC-4D6E-BCA8-E0A245779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608" y="1109710"/>
            <a:ext cx="2612784" cy="560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1A5F45D-FF03-4C18-9AAF-949C9B698B8C}"/>
              </a:ext>
            </a:extLst>
          </p:cNvPr>
          <p:cNvSpPr txBox="1"/>
          <p:nvPr/>
        </p:nvSpPr>
        <p:spPr>
          <a:xfrm>
            <a:off x="910099" y="1074753"/>
            <a:ext cx="4474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UI</a:t>
            </a:r>
            <a:r>
              <a:rPr lang="zh-CN" altLang="en-US" sz="48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拆解示例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80525AD-8F70-41BE-9908-50A2928232D4}"/>
              </a:ext>
            </a:extLst>
          </p:cNvPr>
          <p:cNvSpPr/>
          <p:nvPr/>
        </p:nvSpPr>
        <p:spPr>
          <a:xfrm>
            <a:off x="4756264" y="2210542"/>
            <a:ext cx="2661612" cy="3879542"/>
          </a:xfrm>
          <a:prstGeom prst="roundRect">
            <a:avLst>
              <a:gd name="adj" fmla="val 101"/>
            </a:avLst>
          </a:prstGeom>
          <a:noFill/>
          <a:ln w="38100"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BB762CA-9F56-49B3-9551-CEA4E5EAD158}"/>
              </a:ext>
            </a:extLst>
          </p:cNvPr>
          <p:cNvSpPr/>
          <p:nvPr/>
        </p:nvSpPr>
        <p:spPr>
          <a:xfrm>
            <a:off x="4738404" y="1870431"/>
            <a:ext cx="2679472" cy="284820"/>
          </a:xfrm>
          <a:prstGeom prst="roundRect">
            <a:avLst>
              <a:gd name="adj" fmla="val 2752"/>
            </a:avLst>
          </a:prstGeom>
          <a:noFill/>
          <a:ln w="38100"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45A40BA-E100-46F3-BEEA-4524CAC80D45}"/>
              </a:ext>
            </a:extLst>
          </p:cNvPr>
          <p:cNvSpPr/>
          <p:nvPr/>
        </p:nvSpPr>
        <p:spPr>
          <a:xfrm>
            <a:off x="4738404" y="6154252"/>
            <a:ext cx="2679472" cy="284820"/>
          </a:xfrm>
          <a:prstGeom prst="roundRect">
            <a:avLst>
              <a:gd name="adj" fmla="val 2752"/>
            </a:avLst>
          </a:prstGeom>
          <a:noFill/>
          <a:ln w="38100"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98A1376-F492-420A-BB49-0AA24A9A0EC5}"/>
              </a:ext>
            </a:extLst>
          </p:cNvPr>
          <p:cNvSpPr/>
          <p:nvPr/>
        </p:nvSpPr>
        <p:spPr>
          <a:xfrm>
            <a:off x="4857460" y="2253283"/>
            <a:ext cx="2448862" cy="560941"/>
          </a:xfrm>
          <a:prstGeom prst="roundRect">
            <a:avLst>
              <a:gd name="adj" fmla="val 2752"/>
            </a:avLst>
          </a:prstGeom>
          <a:noFill/>
          <a:ln w="38100">
            <a:solidFill>
              <a:srgbClr val="A2E0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CAA6FE-CD50-4D7A-990A-7890EC7A8FD4}"/>
              </a:ext>
            </a:extLst>
          </p:cNvPr>
          <p:cNvSpPr txBox="1"/>
          <p:nvPr/>
        </p:nvSpPr>
        <p:spPr>
          <a:xfrm>
            <a:off x="3338224" y="1828175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C99FF"/>
                </a:solidFill>
                <a:latin typeface="霞鹜文楷等宽" panose="02020509000000000000" pitchFamily="49" charset="-120"/>
                <a:ea typeface="霞鹜文楷等宽" panose="02020509000000000000" pitchFamily="49" charset="-120"/>
              </a:rPr>
              <a:t>Swiper+Tab</a:t>
            </a:r>
            <a:endParaRPr lang="zh-CN" altLang="en-US" b="1" dirty="0">
              <a:solidFill>
                <a:srgbClr val="CC99FF"/>
              </a:solidFill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3D8A70A-87A7-4CEB-B597-5DC5F8D9208A}"/>
              </a:ext>
            </a:extLst>
          </p:cNvPr>
          <p:cNvSpPr txBox="1"/>
          <p:nvPr/>
        </p:nvSpPr>
        <p:spPr>
          <a:xfrm>
            <a:off x="4105186" y="6087304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C99FF"/>
                </a:solidFill>
                <a:latin typeface="霞鹜文楷等宽" panose="02020509000000000000" pitchFamily="49" charset="-120"/>
                <a:ea typeface="霞鹜文楷等宽" panose="02020509000000000000" pitchFamily="49" charset="-120"/>
              </a:rPr>
              <a:t>Tab</a:t>
            </a:r>
            <a:endParaRPr lang="zh-CN" altLang="en-US" b="1" dirty="0">
              <a:solidFill>
                <a:srgbClr val="CC99FF"/>
              </a:solidFill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F4DC24-607B-4384-8B4D-A5175B9409A1}"/>
              </a:ext>
            </a:extLst>
          </p:cNvPr>
          <p:cNvSpPr txBox="1"/>
          <p:nvPr/>
        </p:nvSpPr>
        <p:spPr>
          <a:xfrm>
            <a:off x="3989770" y="39656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C99FF"/>
                </a:solidFill>
                <a:latin typeface="霞鹜文楷等宽" panose="02020509000000000000" pitchFamily="49" charset="-120"/>
                <a:ea typeface="霞鹜文楷等宽" panose="02020509000000000000" pitchFamily="49" charset="-120"/>
              </a:rPr>
              <a:t>List</a:t>
            </a:r>
            <a:endParaRPr lang="zh-CN" altLang="en-US" b="1" dirty="0">
              <a:solidFill>
                <a:srgbClr val="CC99FF"/>
              </a:solidFill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0F1FCBC-0256-4AFD-B5D5-50AEC1906473}"/>
              </a:ext>
            </a:extLst>
          </p:cNvPr>
          <p:cNvSpPr txBox="1"/>
          <p:nvPr/>
        </p:nvSpPr>
        <p:spPr>
          <a:xfrm>
            <a:off x="7499975" y="2206214"/>
            <a:ext cx="278476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>
                <a:solidFill>
                  <a:srgbClr val="00B0F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ListItem:</a:t>
            </a:r>
          </a:p>
          <a:p>
            <a:r>
              <a:rPr lang="en-US" altLang="zh-CN" b="0" dirty="0">
                <a:solidFill>
                  <a:srgbClr val="00B0F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Column()</a:t>
            </a:r>
          </a:p>
          <a:p>
            <a:r>
              <a:rPr lang="en-US" altLang="zh-CN" b="0" dirty="0">
                <a:solidFill>
                  <a:srgbClr val="00B0F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  Row()</a:t>
            </a:r>
          </a:p>
          <a:p>
            <a:r>
              <a:rPr lang="en-US" altLang="zh-CN" b="0" dirty="0">
                <a:solidFill>
                  <a:srgbClr val="00B0F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    Image()</a:t>
            </a:r>
          </a:p>
          <a:p>
            <a:r>
              <a:rPr lang="en-US" altLang="zh-CN" b="0" dirty="0">
                <a:solidFill>
                  <a:srgbClr val="00B0F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    Column() </a:t>
            </a:r>
          </a:p>
          <a:p>
            <a:r>
              <a:rPr lang="en-US" altLang="zh-CN" b="0" dirty="0">
                <a:solidFill>
                  <a:srgbClr val="00B0F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      Row() </a:t>
            </a:r>
          </a:p>
          <a:p>
            <a:r>
              <a:rPr lang="en-US" altLang="zh-CN" b="0" dirty="0">
                <a:solidFill>
                  <a:srgbClr val="00B0F0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        Row()</a:t>
            </a:r>
          </a:p>
          <a:p>
            <a:r>
              <a:rPr lang="en-US" altLang="zh-CN" dirty="0">
                <a:solidFill>
                  <a:srgbClr val="00B0F0"/>
                </a:solidFill>
                <a:latin typeface="霞鹜文楷等宽" panose="02020509000000000000" pitchFamily="49" charset="-120"/>
                <a:ea typeface="霞鹜文楷等宽" panose="02020509000000000000" pitchFamily="49" charset="-120"/>
              </a:rPr>
              <a:t>          Text()</a:t>
            </a:r>
            <a:endParaRPr lang="en-US" altLang="zh-CN" b="0" dirty="0">
              <a:solidFill>
                <a:srgbClr val="00B0F0"/>
              </a:solidFill>
              <a:effectLst/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  <a:p>
            <a:r>
              <a:rPr lang="en-US" altLang="zh-CN" dirty="0">
                <a:solidFill>
                  <a:srgbClr val="00B0F0"/>
                </a:solidFill>
                <a:latin typeface="霞鹜文楷等宽" panose="02020509000000000000" pitchFamily="49" charset="-120"/>
                <a:ea typeface="霞鹜文楷等宽" panose="02020509000000000000" pitchFamily="49" charset="-120"/>
              </a:rPr>
              <a:t>	  …</a:t>
            </a:r>
            <a:endParaRPr lang="en-US" altLang="zh-CN" b="0" dirty="0">
              <a:solidFill>
                <a:srgbClr val="00B0F0"/>
              </a:solidFill>
              <a:effectLst/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508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4" grpId="0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E1FBD5B-DC5C-463D-9D6D-E87782226E8B}"/>
              </a:ext>
            </a:extLst>
          </p:cNvPr>
          <p:cNvSpPr txBox="1"/>
          <p:nvPr/>
        </p:nvSpPr>
        <p:spPr>
          <a:xfrm>
            <a:off x="490490" y="1030436"/>
            <a:ext cx="4401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调用语言大模型 </a:t>
            </a:r>
            <a:r>
              <a:rPr kumimoji="1" lang="en-US" altLang="zh-CN" sz="32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API</a:t>
            </a:r>
            <a:endParaRPr kumimoji="1" lang="zh-CN" altLang="en-US" sz="3200" b="1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193F7F4-25F5-45EF-97A9-7FC6E22EE0E4}"/>
              </a:ext>
            </a:extLst>
          </p:cNvPr>
          <p:cNvGrpSpPr/>
          <p:nvPr/>
        </p:nvGrpSpPr>
        <p:grpSpPr>
          <a:xfrm>
            <a:off x="6336994" y="617085"/>
            <a:ext cx="5471266" cy="5267308"/>
            <a:chOff x="5937683" y="771269"/>
            <a:chExt cx="5471266" cy="5342096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7E404115-0CCC-45A3-82BC-D39101410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7683" y="771269"/>
              <a:ext cx="5471266" cy="4619242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110ABE97-445E-4E5A-A07C-4B2689683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5527364"/>
              <a:ext cx="5295192" cy="586001"/>
            </a:xfrm>
            <a:prstGeom prst="rect">
              <a:avLst/>
            </a:prstGeom>
          </p:spPr>
        </p:pic>
      </p:grp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9AFFFED-1F22-4709-8BE6-BD95623C5125}"/>
              </a:ext>
            </a:extLst>
          </p:cNvPr>
          <p:cNvSpPr/>
          <p:nvPr/>
        </p:nvSpPr>
        <p:spPr>
          <a:xfrm>
            <a:off x="6495311" y="1566996"/>
            <a:ext cx="5312949" cy="2833630"/>
          </a:xfrm>
          <a:prstGeom prst="roundRect">
            <a:avLst>
              <a:gd name="adj" fmla="val 3304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DDA990D-215D-45F3-B36D-AC56F65737E9}"/>
              </a:ext>
            </a:extLst>
          </p:cNvPr>
          <p:cNvSpPr/>
          <p:nvPr/>
        </p:nvSpPr>
        <p:spPr>
          <a:xfrm>
            <a:off x="6495311" y="4611470"/>
            <a:ext cx="5312949" cy="567826"/>
          </a:xfrm>
          <a:prstGeom prst="roundRect">
            <a:avLst>
              <a:gd name="adj" fmla="val 13967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F1A035F-C1FF-4A32-A4C0-3EB30DDA65A9}"/>
              </a:ext>
            </a:extLst>
          </p:cNvPr>
          <p:cNvSpPr/>
          <p:nvPr/>
        </p:nvSpPr>
        <p:spPr>
          <a:xfrm>
            <a:off x="6495311" y="5277535"/>
            <a:ext cx="5312949" cy="567826"/>
          </a:xfrm>
          <a:prstGeom prst="roundRect">
            <a:avLst>
              <a:gd name="adj" fmla="val 17094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EB9198A-15C6-4AD9-8FFF-959C61D40DDE}"/>
              </a:ext>
            </a:extLst>
          </p:cNvPr>
          <p:cNvSpPr/>
          <p:nvPr/>
        </p:nvSpPr>
        <p:spPr>
          <a:xfrm>
            <a:off x="6777551" y="3003375"/>
            <a:ext cx="1060110" cy="275088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8DB1B2D-C8BC-40BA-B93E-A1E91A869C26}"/>
              </a:ext>
            </a:extLst>
          </p:cNvPr>
          <p:cNvSpPr/>
          <p:nvPr/>
        </p:nvSpPr>
        <p:spPr>
          <a:xfrm>
            <a:off x="6777551" y="3395636"/>
            <a:ext cx="1060110" cy="275088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0256246-08D2-4033-A0B5-B391CC3437A1}"/>
              </a:ext>
            </a:extLst>
          </p:cNvPr>
          <p:cNvSpPr txBox="1"/>
          <p:nvPr/>
        </p:nvSpPr>
        <p:spPr>
          <a:xfrm>
            <a:off x="549406" y="1615211"/>
            <a:ext cx="516495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info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"""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"model": "deepseek-chat",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"messages": </a:t>
            </a: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[</a:t>
            </a: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"role": "system", 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     "content": "</a:t>
            </a:r>
            <a:r>
              <a:rPr lang="zh-CN" alt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你是我的全能助手，你叫仓宝</a:t>
            </a:r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" </a:t>
            </a: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rgbClr val="548235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548235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1600" b="0" dirty="0">
                <a:solidFill>
                  <a:srgbClr val="548235"/>
                </a:solidFill>
                <a:effectLst/>
                <a:latin typeface="Consolas" panose="020B0609020204030204" pitchFamily="49" charset="0"/>
              </a:rPr>
              <a:t>"role": "user", </a:t>
            </a:r>
          </a:p>
          <a:p>
            <a:r>
              <a:rPr lang="en-US" altLang="zh-CN" sz="1600" dirty="0">
                <a:solidFill>
                  <a:srgbClr val="548235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1600" b="0" dirty="0">
                <a:solidFill>
                  <a:srgbClr val="548235"/>
                </a:solidFill>
                <a:effectLst/>
                <a:latin typeface="Consolas" panose="020B0609020204030204" pitchFamily="49" charset="0"/>
              </a:rPr>
              <a:t>"content": "${question}“</a:t>
            </a:r>
          </a:p>
          <a:p>
            <a:r>
              <a:rPr lang="en-US" altLang="zh-CN" sz="1600" dirty="0">
                <a:solidFill>
                  <a:srgbClr val="548235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rgbClr val="54823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1600" b="0" dirty="0">
              <a:solidFill>
                <a:schemeClr val="accent6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],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"stream": false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"""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5F13690-5C25-4D4F-B4E9-76A914EB5491}"/>
              </a:ext>
            </a:extLst>
          </p:cNvPr>
          <p:cNvSpPr/>
          <p:nvPr/>
        </p:nvSpPr>
        <p:spPr>
          <a:xfrm>
            <a:off x="773199" y="2091563"/>
            <a:ext cx="2934437" cy="331948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10C0125-21C7-4B8A-AD30-AAB523AE1DDF}"/>
              </a:ext>
            </a:extLst>
          </p:cNvPr>
          <p:cNvSpPr/>
          <p:nvPr/>
        </p:nvSpPr>
        <p:spPr>
          <a:xfrm>
            <a:off x="1230957" y="3055831"/>
            <a:ext cx="781045" cy="301149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B0F2AAD-CA5F-4341-9B22-16943A8F4818}"/>
              </a:ext>
            </a:extLst>
          </p:cNvPr>
          <p:cNvSpPr/>
          <p:nvPr/>
        </p:nvSpPr>
        <p:spPr>
          <a:xfrm>
            <a:off x="1257501" y="4030689"/>
            <a:ext cx="852068" cy="301149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DA0EE94-3CB6-434D-B207-B2B4837075DC}"/>
              </a:ext>
            </a:extLst>
          </p:cNvPr>
          <p:cNvSpPr/>
          <p:nvPr/>
        </p:nvSpPr>
        <p:spPr>
          <a:xfrm>
            <a:off x="1332248" y="3378989"/>
            <a:ext cx="1010386" cy="301149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EFE85C2-968B-466D-AA1A-0DEA4CC5465E}"/>
              </a:ext>
            </a:extLst>
          </p:cNvPr>
          <p:cNvSpPr/>
          <p:nvPr/>
        </p:nvSpPr>
        <p:spPr>
          <a:xfrm>
            <a:off x="1257501" y="4370897"/>
            <a:ext cx="1118485" cy="301149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3D4C2D9-640E-44B4-BF25-E4F376E05AC0}"/>
              </a:ext>
            </a:extLst>
          </p:cNvPr>
          <p:cNvSpPr/>
          <p:nvPr/>
        </p:nvSpPr>
        <p:spPr>
          <a:xfrm>
            <a:off x="804922" y="2445520"/>
            <a:ext cx="1207079" cy="301149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3818435-6BA8-435A-9D13-710BCB90F281}"/>
              </a:ext>
            </a:extLst>
          </p:cNvPr>
          <p:cNvSpPr/>
          <p:nvPr/>
        </p:nvSpPr>
        <p:spPr>
          <a:xfrm>
            <a:off x="6548625" y="1566996"/>
            <a:ext cx="1185121" cy="301149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BBB03DD7-C4BF-4185-BC69-762E560D030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" t="27484" r="2295" b="26417"/>
          <a:stretch/>
        </p:blipFill>
        <p:spPr>
          <a:xfrm rot="10800000">
            <a:off x="5115700" y="3815344"/>
            <a:ext cx="1142135" cy="555553"/>
          </a:xfrm>
          <a:prstGeom prst="rect">
            <a:avLst/>
          </a:prstGeom>
        </p:spPr>
      </p:pic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6B02E2D-0AF4-4804-A0B6-7FEAB0DF5000}"/>
              </a:ext>
            </a:extLst>
          </p:cNvPr>
          <p:cNvSpPr/>
          <p:nvPr/>
        </p:nvSpPr>
        <p:spPr>
          <a:xfrm>
            <a:off x="6548625" y="4628033"/>
            <a:ext cx="810963" cy="275088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05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 animBg="1"/>
      <p:bldP spid="20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E1FBD5B-DC5C-463D-9D6D-E87782226E8B}"/>
              </a:ext>
            </a:extLst>
          </p:cNvPr>
          <p:cNvSpPr txBox="1"/>
          <p:nvPr/>
        </p:nvSpPr>
        <p:spPr>
          <a:xfrm>
            <a:off x="490490" y="1030436"/>
            <a:ext cx="4401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调用语言大模型 </a:t>
            </a:r>
            <a:r>
              <a:rPr kumimoji="1" lang="en-US" altLang="zh-CN" sz="32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API</a:t>
            </a:r>
            <a:endParaRPr kumimoji="1" lang="zh-CN" altLang="en-US" sz="3200" b="1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433A731-5E04-4BD5-9E1A-A89579958A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8249"/>
          <a:stretch/>
        </p:blipFill>
        <p:spPr>
          <a:xfrm>
            <a:off x="6851953" y="841822"/>
            <a:ext cx="5240175" cy="4920694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EED0B739-267A-4D51-B504-F198ECDD99AD}"/>
              </a:ext>
            </a:extLst>
          </p:cNvPr>
          <p:cNvSpPr/>
          <p:nvPr/>
        </p:nvSpPr>
        <p:spPr>
          <a:xfrm>
            <a:off x="7023516" y="2841762"/>
            <a:ext cx="4883690" cy="3021051"/>
          </a:xfrm>
          <a:prstGeom prst="roundRect">
            <a:avLst>
              <a:gd name="adj" fmla="val 3304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AF3AE9D-F812-48D0-88FE-6B0C985D1D64}"/>
              </a:ext>
            </a:extLst>
          </p:cNvPr>
          <p:cNvSpPr/>
          <p:nvPr/>
        </p:nvSpPr>
        <p:spPr>
          <a:xfrm>
            <a:off x="7433157" y="5422687"/>
            <a:ext cx="1060110" cy="275088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583C49E-6BCA-405F-8845-8622259C8569}"/>
              </a:ext>
            </a:extLst>
          </p:cNvPr>
          <p:cNvSpPr/>
          <p:nvPr/>
        </p:nvSpPr>
        <p:spPr>
          <a:xfrm>
            <a:off x="7329230" y="4951643"/>
            <a:ext cx="1060110" cy="275088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9F3A1A5-9878-4BAD-A4AD-B40CA2AA302B}"/>
              </a:ext>
            </a:extLst>
          </p:cNvPr>
          <p:cNvSpPr/>
          <p:nvPr/>
        </p:nvSpPr>
        <p:spPr>
          <a:xfrm>
            <a:off x="7117646" y="2748608"/>
            <a:ext cx="1060110" cy="275088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59632AF-9FB0-4EC3-B943-7307F1B35B71}"/>
              </a:ext>
            </a:extLst>
          </p:cNvPr>
          <p:cNvSpPr txBox="1"/>
          <p:nvPr/>
        </p:nvSpPr>
        <p:spPr>
          <a:xfrm>
            <a:off x="390534" y="2516391"/>
            <a:ext cx="6242364" cy="3181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parse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json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JsonValue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fromStr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asObject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choices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getFields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()[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'choices'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asArray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message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choices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asObject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getFields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()[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'message'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asObject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content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getFields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()[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'content'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asString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content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F540EA7-F7EC-443E-826F-248B1F708EFF}"/>
              </a:ext>
            </a:extLst>
          </p:cNvPr>
          <p:cNvSpPr/>
          <p:nvPr/>
        </p:nvSpPr>
        <p:spPr>
          <a:xfrm>
            <a:off x="4313423" y="3152236"/>
            <a:ext cx="1156344" cy="355976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7D1FE5E-4349-425B-AA8C-482BDE6FE771}"/>
              </a:ext>
            </a:extLst>
          </p:cNvPr>
          <p:cNvSpPr/>
          <p:nvPr/>
        </p:nvSpPr>
        <p:spPr>
          <a:xfrm>
            <a:off x="4670556" y="4081344"/>
            <a:ext cx="1060110" cy="341833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BAB19181-C929-441D-A255-336E130B2DBE}"/>
              </a:ext>
            </a:extLst>
          </p:cNvPr>
          <p:cNvSpPr/>
          <p:nvPr/>
        </p:nvSpPr>
        <p:spPr>
          <a:xfrm>
            <a:off x="3709294" y="3788081"/>
            <a:ext cx="1060110" cy="355976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5A35658E-4F9F-4EEC-AA65-0C5A6930067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2" t="27484" r="2295" b="26417"/>
          <a:stretch/>
        </p:blipFill>
        <p:spPr>
          <a:xfrm rot="10800000">
            <a:off x="5771853" y="3588504"/>
            <a:ext cx="1142135" cy="55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63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2" grpId="0" animBg="1"/>
      <p:bldP spid="31" grpId="0"/>
      <p:bldP spid="33" grpId="0" animBg="1"/>
      <p:bldP spid="34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B5A1447-6F50-4B6C-A3A4-A3BF2377DFF3}"/>
              </a:ext>
            </a:extLst>
          </p:cNvPr>
          <p:cNvSpPr txBox="1"/>
          <p:nvPr/>
        </p:nvSpPr>
        <p:spPr>
          <a:xfrm>
            <a:off x="571620" y="2747747"/>
            <a:ext cx="8786674" cy="1798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messages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StringBuilder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 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StringBuilder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"…"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001080"/>
                </a:solidFill>
                <a:latin typeface="Consolas" panose="020B0609020204030204" pitchFamily="49" charset="0"/>
              </a:rPr>
              <a:t> …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001080"/>
                </a:solidFill>
                <a:latin typeface="Consolas" panose="020B0609020204030204" pitchFamily="49" charset="0"/>
              </a:rPr>
              <a:t>messages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1080"/>
                </a:solidFill>
                <a:latin typeface="Consolas" panose="020B0609020204030204" pitchFamily="49" charset="0"/>
              </a:rPr>
              <a:t>histroy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//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将历史对话添加到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messages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末尾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001080"/>
                </a:solidFill>
                <a:latin typeface="Consolas" panose="020B0609020204030204" pitchFamily="49" charset="0"/>
              </a:rPr>
              <a:t>messages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1080"/>
                </a:solidFill>
                <a:latin typeface="Consolas" panose="020B0609020204030204" pitchFamily="49" charset="0"/>
              </a:rPr>
              <a:t>question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//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将每轮用户请求添加到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messages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末尾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001080"/>
                </a:solidFill>
                <a:latin typeface="Consolas" panose="020B0609020204030204" pitchFamily="49" charset="0"/>
              </a:rPr>
              <a:t>messages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1080"/>
                </a:solidFill>
                <a:latin typeface="Consolas" panose="020B0609020204030204" pitchFamily="49" charset="0"/>
              </a:rPr>
              <a:t>answer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//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将每轮模型的输出添加到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messages 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末尾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1FBD5B-DC5C-463D-9D6D-E87782226E8B}"/>
              </a:ext>
            </a:extLst>
          </p:cNvPr>
          <p:cNvSpPr txBox="1"/>
          <p:nvPr/>
        </p:nvSpPr>
        <p:spPr>
          <a:xfrm>
            <a:off x="490491" y="1030436"/>
            <a:ext cx="3808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上下文拼接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6DDEB64-FA89-4140-B64F-10904AA05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619" y="1788625"/>
            <a:ext cx="10738531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ctr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cap="none" normalizeH="0" baseline="0" dirty="0">
                <a:ln>
                  <a:noFill/>
                </a:ln>
                <a:solidFill>
                  <a:srgbClr val="1C1E21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DeepSeek /chat/completions API 是一个“无状态” API，即服务端不记录用户请求的上下文，用户在每次请求时，</a:t>
            </a:r>
            <a:r>
              <a:rPr kumimoji="0" lang="zh-CN" altLang="zh-CN" sz="2000" b="1" i="0" u="none" cap="none" normalizeH="0" baseline="0" dirty="0">
                <a:ln>
                  <a:noFill/>
                </a:ln>
                <a:solidFill>
                  <a:srgbClr val="1C1E21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需将之前所有对话历史拼接好后</a:t>
            </a:r>
            <a:r>
              <a:rPr kumimoji="0" lang="zh-CN" altLang="zh-CN" sz="2000" b="0" i="0" u="none" cap="none" normalizeH="0" baseline="0" dirty="0">
                <a:ln>
                  <a:noFill/>
                </a:ln>
                <a:solidFill>
                  <a:srgbClr val="1C1E21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，传递给对话 API</a:t>
            </a:r>
            <a:r>
              <a:rPr kumimoji="0" lang="zh-CN" altLang="zh-CN" sz="2400" b="0" i="0" u="none" cap="none" normalizeH="0" baseline="0" dirty="0">
                <a:ln>
                  <a:noFill/>
                </a:ln>
                <a:solidFill>
                  <a:srgbClr val="1C1E21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。</a:t>
            </a:r>
            <a:r>
              <a:rPr kumimoji="0" lang="zh-CN" altLang="zh-CN" sz="2400" b="0" i="0" u="non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BC8F730-A473-47B2-BF81-02A7EB714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54" y="4669136"/>
            <a:ext cx="9346104" cy="218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6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E1FBD5B-DC5C-463D-9D6D-E87782226E8B}"/>
              </a:ext>
            </a:extLst>
          </p:cNvPr>
          <p:cNvSpPr txBox="1"/>
          <p:nvPr/>
        </p:nvSpPr>
        <p:spPr>
          <a:xfrm>
            <a:off x="490491" y="1030436"/>
            <a:ext cx="3808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流式对话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6DDEB64-FA89-4140-B64F-10904AA05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491" y="1575873"/>
            <a:ext cx="105641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ctr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cap="none" normalizeH="0" baseline="0" dirty="0">
                <a:ln>
                  <a:noFill/>
                </a:ln>
                <a:solidFill>
                  <a:srgbClr val="1C1E21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流式 </a:t>
            </a:r>
            <a:r>
              <a:rPr kumimoji="0" lang="en-US" altLang="zh-CN" sz="2400" b="0" i="0" u="none" cap="none" normalizeH="0" baseline="0" dirty="0">
                <a:ln>
                  <a:noFill/>
                </a:ln>
                <a:solidFill>
                  <a:srgbClr val="1C1E21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HTTP </a:t>
            </a:r>
            <a:r>
              <a:rPr kumimoji="0" lang="zh-CN" altLang="en-US" sz="2400" b="0" i="0" u="none" cap="none" normalizeH="0" baseline="0" dirty="0">
                <a:ln>
                  <a:noFill/>
                </a:ln>
                <a:solidFill>
                  <a:srgbClr val="1C1E21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通信原理</a:t>
            </a:r>
            <a:endParaRPr kumimoji="0" lang="zh-CN" altLang="zh-CN" sz="2400" b="0" i="0" u="non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9435F8-03E1-4E56-B9B1-D250635E96DC}"/>
              </a:ext>
            </a:extLst>
          </p:cNvPr>
          <p:cNvSpPr txBox="1"/>
          <p:nvPr/>
        </p:nvSpPr>
        <p:spPr>
          <a:xfrm>
            <a:off x="490491" y="2322501"/>
            <a:ext cx="5986509" cy="400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20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SSE </a:t>
            </a:r>
            <a:r>
              <a:rPr lang="zh-CN" altLang="en-US" sz="20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的本质</a:t>
            </a:r>
            <a:endParaRPr lang="en-US" altLang="zh-CN" sz="2000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  <a:p>
            <a:endParaRPr lang="en-US" altLang="zh-CN" sz="1600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  <a:p>
            <a:pPr>
              <a:lnSpc>
                <a:spcPct val="125000"/>
              </a:lnSpc>
            </a:pPr>
            <a:r>
              <a:rPr lang="zh-CN" altLang="en-US" sz="16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严格地说，</a:t>
            </a:r>
            <a:r>
              <a:rPr lang="en-US" altLang="zh-CN" sz="16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HTTP </a:t>
            </a:r>
            <a:r>
              <a:rPr lang="zh-CN" altLang="en-US" sz="16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协议无法做到服务器主动推送信息。但是，有一种变通方法，就是服务器向客户端声明，接下来要发送的是流信息（</a:t>
            </a:r>
            <a:r>
              <a:rPr lang="en-US" altLang="zh-CN" sz="16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streaming</a:t>
            </a:r>
            <a:r>
              <a:rPr lang="zh-CN" altLang="en-US" sz="16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）。</a:t>
            </a:r>
          </a:p>
          <a:p>
            <a:pPr>
              <a:lnSpc>
                <a:spcPct val="125000"/>
              </a:lnSpc>
            </a:pPr>
            <a:endParaRPr lang="zh-CN" altLang="en-US" sz="1600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  <a:p>
            <a:pPr>
              <a:lnSpc>
                <a:spcPct val="125000"/>
              </a:lnSpc>
            </a:pPr>
            <a:r>
              <a:rPr lang="zh-CN" altLang="en-US" sz="16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也就是说，发送的不是一次性的数据包，而是一个数据流，会连续不断地发送过来。这时，客户端不会关闭连接，会一直等着服务器发过来的新的数据流，视频播放就是这样的例子。本质上，这种通信就是以流信息的方式，完成一次用时很长的下载。</a:t>
            </a:r>
          </a:p>
          <a:p>
            <a:pPr>
              <a:lnSpc>
                <a:spcPct val="125000"/>
              </a:lnSpc>
            </a:pPr>
            <a:endParaRPr lang="zh-CN" altLang="en-US" sz="1600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  <a:p>
            <a:pPr>
              <a:lnSpc>
                <a:spcPct val="125000"/>
              </a:lnSpc>
            </a:pPr>
            <a:r>
              <a:rPr lang="en-US" altLang="zh-CN" sz="16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SSE </a:t>
            </a:r>
            <a:r>
              <a:rPr lang="zh-CN" altLang="en-US" sz="16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就是利用这种机制，使用流信息向浏览器推送信息。它基于 </a:t>
            </a:r>
            <a:r>
              <a:rPr lang="en-US" altLang="zh-CN" sz="16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HTTP </a:t>
            </a:r>
            <a:r>
              <a:rPr lang="zh-CN" altLang="en-US" sz="16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协议，目前除了 </a:t>
            </a:r>
            <a:r>
              <a:rPr lang="en-US" altLang="zh-CN" sz="16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IE/Edge</a:t>
            </a:r>
            <a:r>
              <a:rPr lang="zh-CN" altLang="en-US" sz="16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，其他浏览器都支持。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DF42B791-6C99-4279-A192-BDF9E6E5F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878" y="1277910"/>
            <a:ext cx="5490589" cy="3880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94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E1FBD5B-DC5C-463D-9D6D-E87782226E8B}"/>
              </a:ext>
            </a:extLst>
          </p:cNvPr>
          <p:cNvSpPr txBox="1"/>
          <p:nvPr/>
        </p:nvSpPr>
        <p:spPr>
          <a:xfrm>
            <a:off x="490491" y="1030436"/>
            <a:ext cx="3808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流式对话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6DDEB64-FA89-4140-B64F-10904AA05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491" y="1575873"/>
            <a:ext cx="105641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ctr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cap="none" normalizeH="0" baseline="0" dirty="0">
                <a:ln>
                  <a:noFill/>
                </a:ln>
                <a:solidFill>
                  <a:srgbClr val="1C1E21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流式 </a:t>
            </a:r>
            <a:r>
              <a:rPr kumimoji="0" lang="en-US" altLang="zh-CN" sz="2400" b="0" i="0" u="none" cap="none" normalizeH="0" baseline="0" dirty="0">
                <a:ln>
                  <a:noFill/>
                </a:ln>
                <a:solidFill>
                  <a:srgbClr val="1C1E21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HTTP </a:t>
            </a:r>
            <a:r>
              <a:rPr kumimoji="0" lang="zh-CN" altLang="en-US" sz="2400" b="0" i="0" u="none" cap="none" normalizeH="0" baseline="0" dirty="0">
                <a:ln>
                  <a:noFill/>
                </a:ln>
                <a:solidFill>
                  <a:srgbClr val="1C1E21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通信原理</a:t>
            </a:r>
            <a:endParaRPr kumimoji="0" lang="zh-CN" altLang="zh-CN" sz="2400" b="0" i="0" u="non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9435F8-03E1-4E56-B9B1-D250635E96DC}"/>
              </a:ext>
            </a:extLst>
          </p:cNvPr>
          <p:cNvSpPr txBox="1"/>
          <p:nvPr/>
        </p:nvSpPr>
        <p:spPr>
          <a:xfrm>
            <a:off x="490491" y="2322501"/>
            <a:ext cx="10636218" cy="110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2. </a:t>
            </a:r>
            <a:r>
              <a:rPr lang="zh-CN" altLang="en-US" sz="20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基本用法</a:t>
            </a:r>
            <a:endParaRPr lang="en-US" altLang="zh-CN" sz="2000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  <a:p>
            <a:endParaRPr lang="en-US" altLang="zh-CN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AD46EF-FA06-4490-A682-E8B58E973106}"/>
              </a:ext>
            </a:extLst>
          </p:cNvPr>
          <p:cNvSpPr txBox="1"/>
          <p:nvPr/>
        </p:nvSpPr>
        <p:spPr>
          <a:xfrm>
            <a:off x="490491" y="2876768"/>
            <a:ext cx="516495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info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"""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"model": "deepseek-chat",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"messages": </a:t>
            </a: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[</a:t>
            </a: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"role": "system", 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     "content": "</a:t>
            </a:r>
            <a:r>
              <a:rPr lang="zh-CN" alt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你是我的全能助手，你叫仓宝</a:t>
            </a:r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" </a:t>
            </a:r>
          </a:p>
          <a:p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],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  "stream": true</a:t>
            </a:r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"""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E480444-43EF-4E59-A2CF-A260D23F6DBB}"/>
              </a:ext>
            </a:extLst>
          </p:cNvPr>
          <p:cNvSpPr/>
          <p:nvPr/>
        </p:nvSpPr>
        <p:spPr>
          <a:xfrm>
            <a:off x="619957" y="5318368"/>
            <a:ext cx="1981200" cy="388676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69EF493-C8CE-4549-A0CB-8F7C160176AA}"/>
              </a:ext>
            </a:extLst>
          </p:cNvPr>
          <p:cNvSpPr txBox="1"/>
          <p:nvPr/>
        </p:nvSpPr>
        <p:spPr>
          <a:xfrm>
            <a:off x="5588126" y="818974"/>
            <a:ext cx="6787346" cy="6039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request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HttpRequestBuilder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'https://api.deepseek.com/chat/completions'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'Authorization'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'Bearer 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DEEPSEEK_API_KEY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'application/json'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"Accept"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"text/event-stream"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readTimeout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Duration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1600" dirty="0">
                <a:solidFill>
                  <a:srgbClr val="001080"/>
                </a:solidFill>
                <a:latin typeface="Consolas" panose="020B0609020204030204" pitchFamily="49" charset="0"/>
              </a:rPr>
              <a:t> response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this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 pitchFamily="49" charset="0"/>
              </a:rPr>
              <a:t>send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1080"/>
                </a:solidFill>
                <a:latin typeface="Consolas" panose="020B0609020204030204" pitchFamily="49" charset="0"/>
              </a:rPr>
              <a:t>request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  <a:endParaRPr lang="en-US" altLang="zh-CN" sz="1600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1080"/>
                </a:solidFill>
                <a:latin typeface="Consolas" panose="020B0609020204030204" pitchFamily="49" charset="0"/>
              </a:rPr>
              <a:t>tempText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"[DONE]"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let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buffer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10240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let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length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 let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rawText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fromUtf8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[..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  for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1600" dirty="0">
                <a:solidFill>
                  <a:srgbClr val="001080"/>
                </a:solidFill>
                <a:latin typeface="Consolas" panose="020B0609020204030204" pitchFamily="49" charset="0"/>
              </a:rPr>
              <a:t>tempText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AF00DB"/>
                </a:solidFill>
                <a:latin typeface="Consolas" panose="020B0609020204030204" pitchFamily="49" charset="0"/>
              </a:rPr>
              <a:t>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1080"/>
                </a:solidFill>
                <a:latin typeface="Consolas" panose="020B0609020204030204" pitchFamily="49" charset="0"/>
              </a:rPr>
              <a:t>rawText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 pitchFamily="49" charset="0"/>
              </a:rPr>
              <a:t>split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)){    </a:t>
            </a:r>
          </a:p>
          <a:p>
            <a:r>
              <a:rPr lang="en-US" altLang="zh-CN" sz="1600" dirty="0">
                <a:solidFill>
                  <a:srgbClr val="001080"/>
                </a:solidFill>
                <a:latin typeface="Consolas" panose="020B0609020204030204" pitchFamily="49" charset="0"/>
              </a:rPr>
              <a:t>    resText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 pitchFamily="49" charset="0"/>
              </a:rPr>
              <a:t>parseContent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1080"/>
                </a:solidFill>
                <a:latin typeface="Consolas" panose="020B0609020204030204" pitchFamily="49" charset="0"/>
              </a:rPr>
              <a:t>tempText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…</a:t>
            </a:r>
          </a:p>
          <a:p>
            <a:pPr>
              <a:lnSpc>
                <a:spcPct val="125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BE87FDA-7A24-49E9-A139-FC22298790FF}"/>
              </a:ext>
            </a:extLst>
          </p:cNvPr>
          <p:cNvSpPr/>
          <p:nvPr/>
        </p:nvSpPr>
        <p:spPr>
          <a:xfrm>
            <a:off x="5772562" y="2072442"/>
            <a:ext cx="4690370" cy="378648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668B33-446A-4F7C-B760-C003FD1D204C}"/>
              </a:ext>
            </a:extLst>
          </p:cNvPr>
          <p:cNvSpPr/>
          <p:nvPr/>
        </p:nvSpPr>
        <p:spPr>
          <a:xfrm>
            <a:off x="7246002" y="4778278"/>
            <a:ext cx="3154786" cy="410867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8AA0184-D574-464A-83FC-865ACED66876}"/>
              </a:ext>
            </a:extLst>
          </p:cNvPr>
          <p:cNvSpPr/>
          <p:nvPr/>
        </p:nvSpPr>
        <p:spPr>
          <a:xfrm>
            <a:off x="7569894" y="4128902"/>
            <a:ext cx="1078069" cy="378648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1517FB-18EC-4A6A-8152-5706B1D4413E}"/>
              </a:ext>
            </a:extLst>
          </p:cNvPr>
          <p:cNvSpPr txBox="1"/>
          <p:nvPr/>
        </p:nvSpPr>
        <p:spPr>
          <a:xfrm flipH="1">
            <a:off x="7036121" y="3235238"/>
            <a:ext cx="2397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最后以 </a:t>
            </a:r>
            <a:r>
              <a:rPr lang="en-US" altLang="zh-CN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[DONE] </a:t>
            </a:r>
            <a:r>
              <a:rPr lang="zh-CN" altLang="en-US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结尾</a:t>
            </a:r>
          </a:p>
        </p:txBody>
      </p:sp>
    </p:spTree>
    <p:extLst>
      <p:ext uri="{BB962C8B-B14F-4D97-AF65-F5344CB8AC3E}">
        <p14:creationId xmlns:p14="http://schemas.microsoft.com/office/powerpoint/2010/main" val="46337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3" grpId="0" animBg="1"/>
      <p:bldP spid="18" grpId="0"/>
      <p:bldP spid="19" grpId="0" animBg="1"/>
      <p:bldP spid="24" grpId="0" animBg="1"/>
      <p:bldP spid="25" grpId="0" animBg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E1FBD5B-DC5C-463D-9D6D-E87782226E8B}"/>
              </a:ext>
            </a:extLst>
          </p:cNvPr>
          <p:cNvSpPr txBox="1"/>
          <p:nvPr/>
        </p:nvSpPr>
        <p:spPr>
          <a:xfrm>
            <a:off x="490491" y="1030436"/>
            <a:ext cx="3808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流式对话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6DDEB64-FA89-4140-B64F-10904AA05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491" y="1575873"/>
            <a:ext cx="105641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ctr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cap="none" normalizeH="0" baseline="0" dirty="0">
                <a:ln>
                  <a:noFill/>
                </a:ln>
                <a:solidFill>
                  <a:srgbClr val="1C1E21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流式 </a:t>
            </a:r>
            <a:r>
              <a:rPr kumimoji="0" lang="en-US" altLang="zh-CN" sz="2400" b="0" i="0" u="none" cap="none" normalizeH="0" baseline="0" dirty="0">
                <a:ln>
                  <a:noFill/>
                </a:ln>
                <a:solidFill>
                  <a:srgbClr val="1C1E21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HTTP </a:t>
            </a:r>
            <a:r>
              <a:rPr kumimoji="0" lang="zh-CN" altLang="en-US" sz="2400" b="0" i="0" u="none" cap="none" normalizeH="0" baseline="0" dirty="0">
                <a:ln>
                  <a:noFill/>
                </a:ln>
                <a:solidFill>
                  <a:srgbClr val="1C1E21"/>
                </a:solidFill>
                <a:effectLst/>
                <a:latin typeface="霞鹜文楷等宽" panose="02020509000000000000" pitchFamily="49" charset="-120"/>
                <a:ea typeface="霞鹜文楷等宽" panose="02020509000000000000" pitchFamily="49" charset="-120"/>
              </a:rPr>
              <a:t>通信原理</a:t>
            </a:r>
            <a:endParaRPr kumimoji="0" lang="zh-CN" altLang="zh-CN" sz="2400" b="0" i="0" u="non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9435F8-03E1-4E56-B9B1-D250635E96DC}"/>
              </a:ext>
            </a:extLst>
          </p:cNvPr>
          <p:cNvSpPr txBox="1"/>
          <p:nvPr/>
        </p:nvSpPr>
        <p:spPr>
          <a:xfrm>
            <a:off x="490491" y="2322501"/>
            <a:ext cx="10636218" cy="110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2. </a:t>
            </a:r>
            <a:r>
              <a:rPr lang="zh-CN" altLang="en-US" sz="2000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基本用法</a:t>
            </a:r>
            <a:endParaRPr lang="en-US" altLang="zh-CN" sz="2000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  <a:p>
            <a:endParaRPr lang="en-US" altLang="zh-CN" dirty="0">
              <a:latin typeface="霞鹜文楷等宽" panose="02020509000000000000" pitchFamily="49" charset="-120"/>
              <a:ea typeface="霞鹜文楷等宽" panose="02020509000000000000" pitchFamily="49" charset="-12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BFF9E3-9BB7-4443-ADDC-1ADF3F4B4D6C}"/>
              </a:ext>
            </a:extLst>
          </p:cNvPr>
          <p:cNvSpPr txBox="1"/>
          <p:nvPr/>
        </p:nvSpPr>
        <p:spPr>
          <a:xfrm>
            <a:off x="4157709" y="944663"/>
            <a:ext cx="8034291" cy="222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parseContent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json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JsonValue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fromStr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asObject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choices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getFields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()[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'choices'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asArray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message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choices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asObject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getFields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()[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'delta'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asObject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content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getFields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()[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'content'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asString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getValue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content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FCF7375-604B-4A75-8A1E-40229B0209B9}"/>
              </a:ext>
            </a:extLst>
          </p:cNvPr>
          <p:cNvSpPr/>
          <p:nvPr/>
        </p:nvSpPr>
        <p:spPr>
          <a:xfrm>
            <a:off x="9780233" y="1912752"/>
            <a:ext cx="846338" cy="378648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0E2E731-DDE4-4727-B30B-2F1B3BFBA6F8}"/>
              </a:ext>
            </a:extLst>
          </p:cNvPr>
          <p:cNvSpPr/>
          <p:nvPr/>
        </p:nvSpPr>
        <p:spPr>
          <a:xfrm>
            <a:off x="7868604" y="1562549"/>
            <a:ext cx="1115598" cy="378648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B7AAFC7-8611-40D1-A719-EB361413D1A4}"/>
              </a:ext>
            </a:extLst>
          </p:cNvPr>
          <p:cNvSpPr/>
          <p:nvPr/>
        </p:nvSpPr>
        <p:spPr>
          <a:xfrm>
            <a:off x="8174854" y="2208880"/>
            <a:ext cx="1115598" cy="378648"/>
          </a:xfrm>
          <a:prstGeom prst="roundRect">
            <a:avLst>
              <a:gd name="adj" fmla="val 50000"/>
            </a:avLst>
          </a:prstGeom>
          <a:solidFill>
            <a:srgbClr val="00B050">
              <a:alpha val="18824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48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霞鹜文楷等宽" panose="02020509000000000000" pitchFamily="49" charset="-120"/>
              <a:ea typeface="霞鹜文楷等宽" panose="02020509000000000000" pitchFamily="49" charset="-120"/>
              <a:cs typeface="+mn-cs"/>
            </a:endParaRPr>
          </a:p>
        </p:txBody>
      </p:sp>
      <p:pic>
        <p:nvPicPr>
          <p:cNvPr id="17" name="Picture 2" descr="Image">
            <a:extLst>
              <a:ext uri="{FF2B5EF4-FFF2-40B4-BE49-F238E27FC236}">
                <a16:creationId xmlns:a16="http://schemas.microsoft.com/office/drawing/2014/main" id="{CEF0CEA1-3182-4B31-9BFC-F38EA7B1B2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87" t="683" r="10156" b="42188"/>
          <a:stretch/>
        </p:blipFill>
        <p:spPr bwMode="auto">
          <a:xfrm>
            <a:off x="321075" y="3319035"/>
            <a:ext cx="11549849" cy="3258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095B4C8B-3AD1-46BB-968C-692811277B55}"/>
              </a:ext>
            </a:extLst>
          </p:cNvPr>
          <p:cNvSpPr/>
          <p:nvPr/>
        </p:nvSpPr>
        <p:spPr>
          <a:xfrm>
            <a:off x="5670909" y="4206042"/>
            <a:ext cx="850180" cy="408373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90EE882-AE6F-41E0-B263-CB3890800E86}"/>
              </a:ext>
            </a:extLst>
          </p:cNvPr>
          <p:cNvSpPr/>
          <p:nvPr/>
        </p:nvSpPr>
        <p:spPr>
          <a:xfrm>
            <a:off x="7530793" y="4200407"/>
            <a:ext cx="850180" cy="408373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C3DA707-F36B-4DE2-BAB2-5E0BF41619D1}"/>
              </a:ext>
            </a:extLst>
          </p:cNvPr>
          <p:cNvSpPr/>
          <p:nvPr/>
        </p:nvSpPr>
        <p:spPr>
          <a:xfrm>
            <a:off x="8440272" y="4200406"/>
            <a:ext cx="850180" cy="408373"/>
          </a:xfrm>
          <a:prstGeom prst="ellips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241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 animBg="1"/>
      <p:bldP spid="12" grpId="0" animBg="1"/>
      <p:bldP spid="2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E096D4E-BE53-4460-9FFD-0C25F29D2EB6}"/>
              </a:ext>
            </a:extLst>
          </p:cNvPr>
          <p:cNvSpPr txBox="1"/>
          <p:nvPr/>
        </p:nvSpPr>
        <p:spPr>
          <a:xfrm>
            <a:off x="785812" y="1114425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功能演示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994035-A790-422D-821D-4480A54B4E1D}"/>
              </a:ext>
            </a:extLst>
          </p:cNvPr>
          <p:cNvSpPr txBox="1"/>
          <p:nvPr/>
        </p:nvSpPr>
        <p:spPr>
          <a:xfrm>
            <a:off x="8078680" y="3582122"/>
            <a:ext cx="3156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AIChat</a:t>
            </a:r>
            <a:r>
              <a:rPr lang="zh-CN" altLang="en-US" dirty="0">
                <a:latin typeface="霞鹜文楷等宽" panose="02020509000000000000" pitchFamily="49" charset="-120"/>
                <a:ea typeface="霞鹜文楷等宽" panose="02020509000000000000" pitchFamily="49" charset="-120"/>
              </a:rPr>
              <a:t>支持上下文与流式对话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9B2C2E7C-25E8-4193-A8FB-C933E6F2A11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885" y="948951"/>
            <a:ext cx="3268139" cy="578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372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04" y="4069170"/>
            <a:ext cx="1949953" cy="195363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2486149" y="2361010"/>
            <a:ext cx="357935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/>
              <a:t>分享正文标题：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</a:t>
            </a:r>
            <a:r>
              <a:rPr lang="zh-CN" altLang="en-US" dirty="0"/>
              <a:t>：</a:t>
            </a:r>
            <a:r>
              <a:rPr lang="zh-CN" altLang="zh-CN" dirty="0"/>
              <a:t>等线</a:t>
            </a:r>
            <a:r>
              <a:rPr lang="zh-CN" altLang="en-US" dirty="0"/>
              <a:t>、微软雅黑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字号</a:t>
            </a:r>
            <a:r>
              <a:rPr lang="zh-CN" altLang="en-US" dirty="0"/>
              <a:t>：</a:t>
            </a:r>
            <a:r>
              <a:rPr lang="en-US" altLang="zh-CN" dirty="0"/>
              <a:t>40</a:t>
            </a:r>
            <a:r>
              <a:rPr lang="zh-CN" altLang="en-US" dirty="0"/>
              <a:t> 、加粗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字体颜色</a:t>
            </a:r>
            <a:r>
              <a:rPr lang="zh-CN" altLang="en-US" dirty="0"/>
              <a:t>：</a:t>
            </a:r>
            <a:r>
              <a:rPr lang="zh-CN" altLang="zh-CN" dirty="0"/>
              <a:t>蓝色</a:t>
            </a:r>
          </a:p>
          <a:p>
            <a:r>
              <a:rPr lang="zh-CN" altLang="zh-CN" b="1" dirty="0"/>
              <a:t>分享内容：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字体颜色</a:t>
            </a:r>
            <a:r>
              <a:rPr lang="zh-CN" altLang="en-US" dirty="0"/>
              <a:t>：</a:t>
            </a:r>
            <a:r>
              <a:rPr lang="zh-CN" altLang="zh-CN" dirty="0"/>
              <a:t>以黑色为主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36" name="文本框 35"/>
          <p:cNvSpPr txBox="1"/>
          <p:nvPr/>
        </p:nvSpPr>
        <p:spPr>
          <a:xfrm>
            <a:off x="795373" y="2817338"/>
            <a:ext cx="6097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感谢您的观看</a:t>
            </a:r>
            <a:r>
              <a:rPr kumimoji="1"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kumimoji="1"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192615" y="4607755"/>
            <a:ext cx="42063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关注“仓颉编程语言”公众号，获取最新官方资讯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26F1FD-B4C1-4DC4-B758-CA0ABC9D5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082223" y="4266832"/>
            <a:ext cx="1558314" cy="155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5196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2497</TotalTime>
  <Words>989</Words>
  <Application>Microsoft Office PowerPoint</Application>
  <PresentationFormat>宽屏</PresentationFormat>
  <Paragraphs>144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HarmonyOSHans-Regular</vt:lpstr>
      <vt:lpstr>微软雅黑 Light</vt:lpstr>
      <vt:lpstr>霞鹜文楷等宽</vt:lpstr>
      <vt:lpstr>Arial</vt:lpstr>
      <vt:lpstr>Consolas</vt:lpstr>
      <vt:lpstr>等线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 jingqiao</dc:creator>
  <cp:lastModifiedBy>xudi (L)</cp:lastModifiedBy>
  <cp:revision>126</cp:revision>
  <dcterms:created xsi:type="dcterms:W3CDTF">2022-07-15T02:23:02Z</dcterms:created>
  <dcterms:modified xsi:type="dcterms:W3CDTF">2025-01-24T03:48:52Z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(3)f2yP13Qp3vic5XTALCocdDa8Px+yleI4f76Gfge9UvbMH273pVNhawcQ/lv953a4ZCXEI+2I
UcgYWoqOm6AdCvcd/fd+0kya/SnjosPZOGpp42imUR/apPlX9FRnMOsULDMkUDtSFqQPxPBp
YEC5rZQjCgPbxx35AH1G98OLgLdk7GPnsKJ9m0Il9g7gam7lHBITNicZe7BgllxOCyi6zK2L
WUfNmT6TNlNs1xgT+5</vt:lpwstr>
  </property>
  <property fmtid="{D5CDD505-2E9C-101B-9397-08002B2CF9AE}" pid="3" name="_2015_ms_pID_7253431">
    <vt:lpwstr>JthLT77aSDy8Cp1Bp9hPlbkN8hzuD6oHLTAT60DJcx7cOGX5mrUyQK
jL5xEeqP01ct2Ack6dvSsYMT1P4YPSkyAM77DcJD68Bq3hdAGfUiyC8T+bPpdwvN1TS4f4+p
mupzp0lJoiQnz5y/HckxVo42iO1+J34VMQv8zLJc35OPsrlA2GaQX1m5tn2PC6Ku1skxNaOs
6X83iKXXnXqmCq8LjP0ZMbZveAcq6Az1Cttq</vt:lpwstr>
  </property>
  <property fmtid="{D5CDD505-2E9C-101B-9397-08002B2CF9AE}" pid="4" name="_2015_ms_pID_7253432">
    <vt:lpwstr>pw==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1677296177</vt:lpwstr>
  </property>
</Properties>
</file>