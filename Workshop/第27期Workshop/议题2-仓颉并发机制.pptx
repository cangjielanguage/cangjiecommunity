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82" r:id="rId2"/>
    <p:sldId id="288" r:id="rId3"/>
    <p:sldId id="284" r:id="rId4"/>
    <p:sldId id="295" r:id="rId5"/>
    <p:sldId id="296" r:id="rId6"/>
    <p:sldId id="290" r:id="rId7"/>
    <p:sldId id="291" r:id="rId8"/>
    <p:sldId id="297" r:id="rId9"/>
    <p:sldId id="292" r:id="rId10"/>
    <p:sldId id="299" r:id="rId11"/>
    <p:sldId id="286" r:id="rId12"/>
    <p:sldId id="298" r:id="rId13"/>
    <p:sldId id="294" r:id="rId14"/>
    <p:sldId id="293" r:id="rId15"/>
    <p:sldId id="300" r:id="rId16"/>
    <p:sldId id="28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FC2DFAE-FB83-48CB-9811-7C4E6F4F3F73}">
          <p14:sldIdLst>
            <p14:sldId id="282"/>
            <p14:sldId id="288"/>
            <p14:sldId id="284"/>
            <p14:sldId id="295"/>
            <p14:sldId id="296"/>
            <p14:sldId id="290"/>
            <p14:sldId id="291"/>
            <p14:sldId id="297"/>
            <p14:sldId id="292"/>
            <p14:sldId id="299"/>
            <p14:sldId id="286"/>
            <p14:sldId id="298"/>
            <p14:sldId id="294"/>
            <p14:sldId id="293"/>
            <p14:sldId id="300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28F"/>
    <a:srgbClr val="FAEEEE"/>
    <a:srgbClr val="FFFFFF"/>
    <a:srgbClr val="F5F9FD"/>
    <a:srgbClr val="0075F3"/>
    <a:srgbClr val="CC99FF"/>
    <a:srgbClr val="E5F5FF"/>
    <a:srgbClr val="A2E0EE"/>
    <a:srgbClr val="2D77EE"/>
    <a:srgbClr val="01DF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51" autoAdjust="0"/>
    <p:restoredTop sz="95988"/>
  </p:normalViewPr>
  <p:slideViewPr>
    <p:cSldViewPr snapToGrid="0" snapToObjects="1">
      <p:cViewPr>
        <p:scale>
          <a:sx n="50" d="100"/>
          <a:sy n="50" d="100"/>
        </p:scale>
        <p:origin x="6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75235-9A1A-D74C-B5F3-1C693EF9A0DE}" type="datetimeFigureOut">
              <a:rPr kumimoji="1" lang="zh-CN" altLang="en-US" smtClean="0"/>
              <a:t>2024/11/28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9C8D6-C46B-CF46-BEF0-81268CF6F78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7178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230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244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32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929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6FF7F6-E221-4F34-9DBE-9953E7DC6E1A}" type="datetime1">
              <a:rPr kumimoji="1" lang="zh-CN" altLang="en-US" smtClean="0"/>
              <a:t>2024/11/28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119009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D1412462-3951-534C-B2EB-31A3E742C104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4197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61C580-551B-4F9E-B02B-2F4DF81B4CB5}" type="datetime1">
              <a:rPr kumimoji="1" lang="zh-CN" altLang="en-US" smtClean="0"/>
              <a:t>2024/11/28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851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0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17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9" r:id="rId3"/>
    <p:sldLayoutId id="2147483658" r:id="rId4"/>
    <p:sldLayoutId id="2147483657" r:id="rId5"/>
    <p:sldLayoutId id="2147483650" r:id="rId6"/>
    <p:sldLayoutId id="2147483651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9.sv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8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BFBB337-4DA7-4097-9230-BA1003605E51}"/>
              </a:ext>
            </a:extLst>
          </p:cNvPr>
          <p:cNvSpPr txBox="1"/>
          <p:nvPr/>
        </p:nvSpPr>
        <p:spPr>
          <a:xfrm>
            <a:off x="732448" y="2604771"/>
            <a:ext cx="8139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仓颉并发机制的设计与实现分享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FC9F5C-A5D4-4D13-B164-8CD1D088364A}"/>
              </a:ext>
            </a:extLst>
          </p:cNvPr>
          <p:cNvSpPr txBox="1"/>
          <p:nvPr/>
        </p:nvSpPr>
        <p:spPr>
          <a:xfrm>
            <a:off x="756420" y="3743670"/>
            <a:ext cx="4845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主讲人：陈冬杰</a:t>
            </a:r>
            <a:endParaRPr kumimoji="1" lang="en-US" altLang="zh-CN" sz="2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294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2471400" y="2340429"/>
            <a:ext cx="3175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小</a:t>
            </a:r>
            <a:r>
              <a:rPr lang="zh-CN" altLang="zh-CN" sz="1600" b="1" dirty="0"/>
              <a:t>标题：</a:t>
            </a:r>
            <a:endParaRPr lang="en-US" altLang="zh-CN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</a:t>
            </a:r>
            <a:r>
              <a:rPr lang="zh-CN" altLang="en-US" sz="1600" dirty="0"/>
              <a:t>：等线、微软雅黑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字号</a:t>
            </a:r>
            <a:r>
              <a:rPr lang="zh-CN" altLang="en-US" sz="1600" dirty="0"/>
              <a:t>：</a:t>
            </a:r>
            <a:r>
              <a:rPr lang="en-US" altLang="zh-CN" sz="1600" dirty="0"/>
              <a:t>72</a:t>
            </a:r>
            <a:r>
              <a:rPr lang="zh-CN" altLang="en-US" sz="1600" dirty="0"/>
              <a:t>、加粗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字体颜色</a:t>
            </a:r>
            <a:r>
              <a:rPr lang="zh-CN" altLang="en-US" sz="1600" dirty="0"/>
              <a:t>：</a:t>
            </a:r>
            <a:r>
              <a:rPr lang="zh-CN" altLang="zh-CN" sz="1600" dirty="0"/>
              <a:t>黑色</a:t>
            </a:r>
          </a:p>
          <a:p>
            <a:r>
              <a:rPr lang="zh-CN" altLang="zh-CN" sz="1600" b="1" dirty="0"/>
              <a:t>分享内容关键词</a:t>
            </a:r>
            <a:r>
              <a:rPr lang="zh-CN" altLang="zh-CN" sz="1600" dirty="0"/>
              <a:t>：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</a:t>
            </a:r>
            <a:r>
              <a:rPr lang="zh-CN" altLang="en-US" sz="1600" dirty="0"/>
              <a:t>：</a:t>
            </a:r>
            <a:r>
              <a:rPr lang="zh-CN" altLang="zh-CN" sz="1600" dirty="0"/>
              <a:t>等线</a:t>
            </a:r>
            <a:r>
              <a:rPr lang="zh-CN" altLang="en-US" sz="1600" dirty="0"/>
              <a:t>、微软雅黑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字号</a:t>
            </a:r>
            <a:r>
              <a:rPr lang="zh-CN" altLang="en-US" sz="1600" dirty="0"/>
              <a:t>：</a:t>
            </a:r>
            <a:r>
              <a:rPr lang="en-US" altLang="zh-CN" sz="1600" dirty="0"/>
              <a:t>22</a:t>
            </a:r>
            <a:r>
              <a:rPr lang="zh-CN" altLang="en-US" sz="1600" dirty="0"/>
              <a:t>、加粗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字体颜</a:t>
            </a:r>
            <a:r>
              <a:rPr lang="zh-CN" altLang="en-US" sz="1600" dirty="0"/>
              <a:t>色：黑色</a:t>
            </a:r>
            <a:endParaRPr lang="zh-CN" altLang="zh-CN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572868" y="563153"/>
            <a:ext cx="6684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grpSp>
        <p:nvGrpSpPr>
          <p:cNvPr id="18" name="组合 1"/>
          <p:cNvGrpSpPr/>
          <p:nvPr/>
        </p:nvGrpSpPr>
        <p:grpSpPr>
          <a:xfrm>
            <a:off x="2551383" y="1577207"/>
            <a:ext cx="2953924" cy="1078991"/>
            <a:chOff x="1768673" y="1716257"/>
            <a:chExt cx="2724752" cy="998806"/>
          </a:xfrm>
        </p:grpSpPr>
        <p:grpSp>
          <p:nvGrpSpPr>
            <p:cNvPr id="19" name="组合 2"/>
            <p:cNvGrpSpPr/>
            <p:nvPr/>
          </p:nvGrpSpPr>
          <p:grpSpPr>
            <a:xfrm>
              <a:off x="1768673" y="1716257"/>
              <a:ext cx="2724752" cy="998806"/>
              <a:chOff x="2208627" y="2757268"/>
              <a:chExt cx="2098475" cy="769233"/>
            </a:xfrm>
          </p:grpSpPr>
          <p:sp>
            <p:nvSpPr>
              <p:cNvPr id="21" name="任意多边形 4"/>
              <p:cNvSpPr/>
              <p:nvPr/>
            </p:nvSpPr>
            <p:spPr>
              <a:xfrm rot="428685">
                <a:off x="2267286" y="2880533"/>
                <a:ext cx="2039816" cy="645968"/>
              </a:xfrm>
              <a:custGeom>
                <a:avLst/>
                <a:gdLst>
                  <a:gd name="connsiteX0" fmla="*/ 1948193 w 2039816"/>
                  <a:gd name="connsiteY0" fmla="*/ 0 h 645968"/>
                  <a:gd name="connsiteX1" fmla="*/ 2039816 w 2039816"/>
                  <a:gd name="connsiteY1" fmla="*/ 0 h 645968"/>
                  <a:gd name="connsiteX2" fmla="*/ 2039816 w 2039816"/>
                  <a:gd name="connsiteY2" fmla="*/ 645968 h 645968"/>
                  <a:gd name="connsiteX3" fmla="*/ 0 w 2039816"/>
                  <a:gd name="connsiteY3" fmla="*/ 645968 h 645968"/>
                  <a:gd name="connsiteX4" fmla="*/ 0 w 2039816"/>
                  <a:gd name="connsiteY4" fmla="*/ 636726 h 645968"/>
                  <a:gd name="connsiteX5" fmla="*/ 1996635 w 2039816"/>
                  <a:gd name="connsiteY5" fmla="*/ 386448 h 645968"/>
                  <a:gd name="connsiteX6" fmla="*/ 0 w 2039816"/>
                  <a:gd name="connsiteY6" fmla="*/ 0 h 645968"/>
                  <a:gd name="connsiteX7" fmla="*/ 8681 w 2039816"/>
                  <a:gd name="connsiteY7" fmla="*/ 0 h 645968"/>
                  <a:gd name="connsiteX8" fmla="*/ 0 w 2039816"/>
                  <a:gd name="connsiteY8" fmla="*/ 1088 h 645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39816" h="645968">
                    <a:moveTo>
                      <a:pt x="1948193" y="0"/>
                    </a:moveTo>
                    <a:lnTo>
                      <a:pt x="2039816" y="0"/>
                    </a:lnTo>
                    <a:lnTo>
                      <a:pt x="2039816" y="645968"/>
                    </a:lnTo>
                    <a:lnTo>
                      <a:pt x="0" y="645968"/>
                    </a:lnTo>
                    <a:lnTo>
                      <a:pt x="0" y="636726"/>
                    </a:lnTo>
                    <a:lnTo>
                      <a:pt x="1996635" y="386448"/>
                    </a:lnTo>
                    <a:close/>
                    <a:moveTo>
                      <a:pt x="0" y="0"/>
                    </a:moveTo>
                    <a:lnTo>
                      <a:pt x="8681" y="0"/>
                    </a:lnTo>
                    <a:lnTo>
                      <a:pt x="0" y="1088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Source Han Serif SC" panose="02020400000000000000" pitchFamily="18" charset="-122"/>
                  <a:ea typeface="Source Han Serif SC" panose="02020400000000000000" pitchFamily="18" charset="-122"/>
                  <a:sym typeface="Source Han Serif SC" panose="02020400000000000000" pitchFamily="18" charset="-122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2208627" y="2757268"/>
                <a:ext cx="2039816" cy="630702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tx1"/>
                  </a:solidFill>
                  <a:latin typeface="Source Han Serif SC" panose="02020400000000000000" pitchFamily="18" charset="-122"/>
                  <a:ea typeface="Source Han Serif SC" panose="02020400000000000000" pitchFamily="18" charset="-122"/>
                  <a:sym typeface="Source Han Serif SC" panose="02020400000000000000" pitchFamily="18" charset="-122"/>
                </a:endParaRPr>
              </a:p>
            </p:txBody>
          </p:sp>
        </p:grpSp>
        <p:sp>
          <p:nvSpPr>
            <p:cNvPr id="20" name="矩形 19"/>
            <p:cNvSpPr/>
            <p:nvPr/>
          </p:nvSpPr>
          <p:spPr>
            <a:xfrm>
              <a:off x="2061273" y="1951992"/>
              <a:ext cx="596187" cy="3418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Source Han Serif SC" panose="02020400000000000000" pitchFamily="18" charset="-122"/>
                </a:rPr>
                <a:t>背景</a:t>
              </a:r>
              <a:endParaRPr lang="zh-CN" altLang="en-US" b="1" dirty="0">
                <a:effectLst>
                  <a:outerShdw blurRad="50800" dist="254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Source Han Serif SC" panose="02020400000000000000" pitchFamily="18" charset="-122"/>
              </a:endParaRPr>
            </a:p>
          </p:txBody>
        </p:sp>
      </p:grpSp>
      <p:sp>
        <p:nvSpPr>
          <p:cNvPr id="45" name="矩形 44"/>
          <p:cNvSpPr/>
          <p:nvPr/>
        </p:nvSpPr>
        <p:spPr>
          <a:xfrm>
            <a:off x="1537836" y="1749397"/>
            <a:ext cx="1211664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  <a:sym typeface="Source Han Serif SC" panose="02020400000000000000" pitchFamily="18" charset="-122"/>
              </a:rPr>
              <a:t>01</a:t>
            </a:r>
            <a:endParaRPr lang="zh-CN" altLang="en-US" sz="2133" b="1" dirty="0"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Source Han Serif SC" panose="02020400000000000000" pitchFamily="18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518397" y="3270020"/>
            <a:ext cx="1375076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  <a:sym typeface="Source Han Serif SC" panose="02020400000000000000" pitchFamily="18" charset="-122"/>
              </a:rPr>
              <a:t>02</a:t>
            </a:r>
            <a:endParaRPr lang="zh-CN" altLang="en-US" sz="2133" b="1" dirty="0"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Source Han Serif SC" panose="02020400000000000000" pitchFamily="18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518397" y="4723749"/>
            <a:ext cx="1183113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  <a:sym typeface="Source Han Serif SC" panose="02020400000000000000" pitchFamily="18" charset="-122"/>
              </a:rPr>
              <a:t>03</a:t>
            </a:r>
            <a:endParaRPr lang="zh-CN" altLang="en-US" sz="2133" b="1" dirty="0"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Source Han Serif SC" panose="02020400000000000000" pitchFamily="18" charset="-122"/>
            </a:endParaRPr>
          </a:p>
        </p:txBody>
      </p:sp>
      <p:grpSp>
        <p:nvGrpSpPr>
          <p:cNvPr id="27" name="组合 1">
            <a:extLst>
              <a:ext uri="{FF2B5EF4-FFF2-40B4-BE49-F238E27FC236}">
                <a16:creationId xmlns:a16="http://schemas.microsoft.com/office/drawing/2014/main" id="{6E375137-E85E-41BF-B113-EC7731BCB612}"/>
              </a:ext>
            </a:extLst>
          </p:cNvPr>
          <p:cNvGrpSpPr/>
          <p:nvPr/>
        </p:nvGrpSpPr>
        <p:grpSpPr>
          <a:xfrm>
            <a:off x="2537264" y="3109556"/>
            <a:ext cx="2953924" cy="1078991"/>
            <a:chOff x="1768673" y="1716257"/>
            <a:chExt cx="2724752" cy="998806"/>
          </a:xfrm>
        </p:grpSpPr>
        <p:grpSp>
          <p:nvGrpSpPr>
            <p:cNvPr id="28" name="组合 2">
              <a:extLst>
                <a:ext uri="{FF2B5EF4-FFF2-40B4-BE49-F238E27FC236}">
                  <a16:creationId xmlns:a16="http://schemas.microsoft.com/office/drawing/2014/main" id="{A00873AE-5790-47DA-9314-DEEC58D2F8FA}"/>
                </a:ext>
              </a:extLst>
            </p:cNvPr>
            <p:cNvGrpSpPr/>
            <p:nvPr/>
          </p:nvGrpSpPr>
          <p:grpSpPr>
            <a:xfrm>
              <a:off x="1768673" y="1716257"/>
              <a:ext cx="2724752" cy="998806"/>
              <a:chOff x="2208627" y="2757268"/>
              <a:chExt cx="2098475" cy="769233"/>
            </a:xfrm>
          </p:grpSpPr>
          <p:sp>
            <p:nvSpPr>
              <p:cNvPr id="30" name="任意多边形 4">
                <a:extLst>
                  <a:ext uri="{FF2B5EF4-FFF2-40B4-BE49-F238E27FC236}">
                    <a16:creationId xmlns:a16="http://schemas.microsoft.com/office/drawing/2014/main" id="{0087E2CF-9E14-4C1A-A326-0A192E69A816}"/>
                  </a:ext>
                </a:extLst>
              </p:cNvPr>
              <p:cNvSpPr/>
              <p:nvPr/>
            </p:nvSpPr>
            <p:spPr>
              <a:xfrm rot="428685">
                <a:off x="2267286" y="2880533"/>
                <a:ext cx="2039816" cy="645968"/>
              </a:xfrm>
              <a:custGeom>
                <a:avLst/>
                <a:gdLst>
                  <a:gd name="connsiteX0" fmla="*/ 1948193 w 2039816"/>
                  <a:gd name="connsiteY0" fmla="*/ 0 h 645968"/>
                  <a:gd name="connsiteX1" fmla="*/ 2039816 w 2039816"/>
                  <a:gd name="connsiteY1" fmla="*/ 0 h 645968"/>
                  <a:gd name="connsiteX2" fmla="*/ 2039816 w 2039816"/>
                  <a:gd name="connsiteY2" fmla="*/ 645968 h 645968"/>
                  <a:gd name="connsiteX3" fmla="*/ 0 w 2039816"/>
                  <a:gd name="connsiteY3" fmla="*/ 645968 h 645968"/>
                  <a:gd name="connsiteX4" fmla="*/ 0 w 2039816"/>
                  <a:gd name="connsiteY4" fmla="*/ 636726 h 645968"/>
                  <a:gd name="connsiteX5" fmla="*/ 1996635 w 2039816"/>
                  <a:gd name="connsiteY5" fmla="*/ 386448 h 645968"/>
                  <a:gd name="connsiteX6" fmla="*/ 0 w 2039816"/>
                  <a:gd name="connsiteY6" fmla="*/ 0 h 645968"/>
                  <a:gd name="connsiteX7" fmla="*/ 8681 w 2039816"/>
                  <a:gd name="connsiteY7" fmla="*/ 0 h 645968"/>
                  <a:gd name="connsiteX8" fmla="*/ 0 w 2039816"/>
                  <a:gd name="connsiteY8" fmla="*/ 1088 h 645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39816" h="645968">
                    <a:moveTo>
                      <a:pt x="1948193" y="0"/>
                    </a:moveTo>
                    <a:lnTo>
                      <a:pt x="2039816" y="0"/>
                    </a:lnTo>
                    <a:lnTo>
                      <a:pt x="2039816" y="645968"/>
                    </a:lnTo>
                    <a:lnTo>
                      <a:pt x="0" y="645968"/>
                    </a:lnTo>
                    <a:lnTo>
                      <a:pt x="0" y="636726"/>
                    </a:lnTo>
                    <a:lnTo>
                      <a:pt x="1996635" y="386448"/>
                    </a:lnTo>
                    <a:close/>
                    <a:moveTo>
                      <a:pt x="0" y="0"/>
                    </a:moveTo>
                    <a:lnTo>
                      <a:pt x="8681" y="0"/>
                    </a:lnTo>
                    <a:lnTo>
                      <a:pt x="0" y="1088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Source Han Serif SC" panose="02020400000000000000" pitchFamily="18" charset="-122"/>
                  <a:ea typeface="Source Han Serif SC" panose="02020400000000000000" pitchFamily="18" charset="-122"/>
                  <a:sym typeface="Source Han Serif SC" panose="02020400000000000000" pitchFamily="18" charset="-122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1F16049B-D1EB-450E-82B6-30A2A44793A1}"/>
                  </a:ext>
                </a:extLst>
              </p:cNvPr>
              <p:cNvSpPr/>
              <p:nvPr/>
            </p:nvSpPr>
            <p:spPr>
              <a:xfrm>
                <a:off x="2208627" y="2757268"/>
                <a:ext cx="2039816" cy="630702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Source Han Serif SC" panose="02020400000000000000" pitchFamily="18" charset="-122"/>
                  <a:ea typeface="Source Han Serif SC" panose="02020400000000000000" pitchFamily="18" charset="-122"/>
                  <a:sym typeface="Source Han Serif SC" panose="02020400000000000000" pitchFamily="18" charset="-122"/>
                </a:endParaRPr>
              </a:p>
            </p:txBody>
          </p:sp>
        </p:grp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6DC0B173-3774-4D0D-901A-A425BADB3D87}"/>
                </a:ext>
              </a:extLst>
            </p:cNvPr>
            <p:cNvSpPr/>
            <p:nvPr/>
          </p:nvSpPr>
          <p:spPr>
            <a:xfrm>
              <a:off x="2061273" y="1951992"/>
              <a:ext cx="1873730" cy="3418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仓颉并发机制介绍</a:t>
              </a:r>
            </a:p>
          </p:txBody>
        </p:sp>
      </p:grpSp>
      <p:grpSp>
        <p:nvGrpSpPr>
          <p:cNvPr id="32" name="组合 1">
            <a:extLst>
              <a:ext uri="{FF2B5EF4-FFF2-40B4-BE49-F238E27FC236}">
                <a16:creationId xmlns:a16="http://schemas.microsoft.com/office/drawing/2014/main" id="{208843EC-B08F-426F-909C-EF3701E3A4FF}"/>
              </a:ext>
            </a:extLst>
          </p:cNvPr>
          <p:cNvGrpSpPr/>
          <p:nvPr/>
        </p:nvGrpSpPr>
        <p:grpSpPr>
          <a:xfrm>
            <a:off x="2551383" y="4554795"/>
            <a:ext cx="2953924" cy="1078991"/>
            <a:chOff x="1768673" y="1716257"/>
            <a:chExt cx="2724752" cy="998806"/>
          </a:xfrm>
        </p:grpSpPr>
        <p:grpSp>
          <p:nvGrpSpPr>
            <p:cNvPr id="33" name="组合 2">
              <a:extLst>
                <a:ext uri="{FF2B5EF4-FFF2-40B4-BE49-F238E27FC236}">
                  <a16:creationId xmlns:a16="http://schemas.microsoft.com/office/drawing/2014/main" id="{B6FAC0EF-ECF6-4C59-816E-532B43087003}"/>
                </a:ext>
              </a:extLst>
            </p:cNvPr>
            <p:cNvGrpSpPr/>
            <p:nvPr/>
          </p:nvGrpSpPr>
          <p:grpSpPr>
            <a:xfrm>
              <a:off x="1768673" y="1716257"/>
              <a:ext cx="2724752" cy="998806"/>
              <a:chOff x="2208627" y="2757268"/>
              <a:chExt cx="2098475" cy="769233"/>
            </a:xfrm>
          </p:grpSpPr>
          <p:sp>
            <p:nvSpPr>
              <p:cNvPr id="35" name="任意多边形 4">
                <a:extLst>
                  <a:ext uri="{FF2B5EF4-FFF2-40B4-BE49-F238E27FC236}">
                    <a16:creationId xmlns:a16="http://schemas.microsoft.com/office/drawing/2014/main" id="{340C99FC-C334-47C5-A65C-5D9CF9C88D12}"/>
                  </a:ext>
                </a:extLst>
              </p:cNvPr>
              <p:cNvSpPr/>
              <p:nvPr/>
            </p:nvSpPr>
            <p:spPr>
              <a:xfrm rot="428685">
                <a:off x="2267286" y="2880533"/>
                <a:ext cx="2039816" cy="645968"/>
              </a:xfrm>
              <a:custGeom>
                <a:avLst/>
                <a:gdLst>
                  <a:gd name="connsiteX0" fmla="*/ 1948193 w 2039816"/>
                  <a:gd name="connsiteY0" fmla="*/ 0 h 645968"/>
                  <a:gd name="connsiteX1" fmla="*/ 2039816 w 2039816"/>
                  <a:gd name="connsiteY1" fmla="*/ 0 h 645968"/>
                  <a:gd name="connsiteX2" fmla="*/ 2039816 w 2039816"/>
                  <a:gd name="connsiteY2" fmla="*/ 645968 h 645968"/>
                  <a:gd name="connsiteX3" fmla="*/ 0 w 2039816"/>
                  <a:gd name="connsiteY3" fmla="*/ 645968 h 645968"/>
                  <a:gd name="connsiteX4" fmla="*/ 0 w 2039816"/>
                  <a:gd name="connsiteY4" fmla="*/ 636726 h 645968"/>
                  <a:gd name="connsiteX5" fmla="*/ 1996635 w 2039816"/>
                  <a:gd name="connsiteY5" fmla="*/ 386448 h 645968"/>
                  <a:gd name="connsiteX6" fmla="*/ 0 w 2039816"/>
                  <a:gd name="connsiteY6" fmla="*/ 0 h 645968"/>
                  <a:gd name="connsiteX7" fmla="*/ 8681 w 2039816"/>
                  <a:gd name="connsiteY7" fmla="*/ 0 h 645968"/>
                  <a:gd name="connsiteX8" fmla="*/ 0 w 2039816"/>
                  <a:gd name="connsiteY8" fmla="*/ 1088 h 645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39816" h="645968">
                    <a:moveTo>
                      <a:pt x="1948193" y="0"/>
                    </a:moveTo>
                    <a:lnTo>
                      <a:pt x="2039816" y="0"/>
                    </a:lnTo>
                    <a:lnTo>
                      <a:pt x="2039816" y="645968"/>
                    </a:lnTo>
                    <a:lnTo>
                      <a:pt x="0" y="645968"/>
                    </a:lnTo>
                    <a:lnTo>
                      <a:pt x="0" y="636726"/>
                    </a:lnTo>
                    <a:lnTo>
                      <a:pt x="1996635" y="386448"/>
                    </a:lnTo>
                    <a:close/>
                    <a:moveTo>
                      <a:pt x="0" y="0"/>
                    </a:moveTo>
                    <a:lnTo>
                      <a:pt x="8681" y="0"/>
                    </a:lnTo>
                    <a:lnTo>
                      <a:pt x="0" y="1088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Source Han Serif SC" panose="02020400000000000000" pitchFamily="18" charset="-122"/>
                  <a:ea typeface="Source Han Serif SC" panose="02020400000000000000" pitchFamily="18" charset="-122"/>
                  <a:sym typeface="Source Han Serif SC" panose="02020400000000000000" pitchFamily="18" charset="-122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0C62924B-6FE3-4A60-9BE1-E9ED13FCECAD}"/>
                  </a:ext>
                </a:extLst>
              </p:cNvPr>
              <p:cNvSpPr/>
              <p:nvPr/>
            </p:nvSpPr>
            <p:spPr>
              <a:xfrm>
                <a:off x="2208627" y="2757268"/>
                <a:ext cx="2039816" cy="630702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Source Han Serif SC" panose="02020400000000000000" pitchFamily="18" charset="-122"/>
                  <a:ea typeface="Source Han Serif SC" panose="02020400000000000000" pitchFamily="18" charset="-122"/>
                  <a:sym typeface="Source Han Serif SC" panose="02020400000000000000" pitchFamily="18" charset="-122"/>
                </a:endParaRPr>
              </a:p>
            </p:txBody>
          </p:sp>
        </p:grp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C1AA268-A791-4A07-B20F-E7FBBCC1334F}"/>
                </a:ext>
              </a:extLst>
            </p:cNvPr>
            <p:cNvSpPr/>
            <p:nvPr/>
          </p:nvSpPr>
          <p:spPr>
            <a:xfrm>
              <a:off x="2061273" y="1951992"/>
              <a:ext cx="596187" cy="3418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Source Han Serif SC" panose="02020400000000000000" pitchFamily="18" charset="-122"/>
                </a:rPr>
                <a:t>小结</a:t>
              </a:r>
              <a:endParaRPr lang="zh-CN" altLang="en-US" b="1" dirty="0">
                <a:effectLst>
                  <a:outerShdw blurRad="50800" dist="254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Source Han Serif SC" panose="02020400000000000000" pitchFamily="18" charset="-122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3439F60-A088-4539-A705-A93DB957E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2462-3951-534C-B2EB-31A3E742C104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975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>
            <a:extLst>
              <a:ext uri="{FF2B5EF4-FFF2-40B4-BE49-F238E27FC236}">
                <a16:creationId xmlns:a16="http://schemas.microsoft.com/office/drawing/2014/main" id="{5F348215-ECA3-4D11-978A-6D7D0C17C691}"/>
              </a:ext>
            </a:extLst>
          </p:cNvPr>
          <p:cNvGrpSpPr/>
          <p:nvPr/>
        </p:nvGrpSpPr>
        <p:grpSpPr>
          <a:xfrm>
            <a:off x="816710" y="2940593"/>
            <a:ext cx="7159966" cy="830997"/>
            <a:chOff x="816710" y="2940593"/>
            <a:chExt cx="7159966" cy="830997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497C2D08-2F0D-4B64-8CEC-97EA770BAD6B}"/>
                </a:ext>
              </a:extLst>
            </p:cNvPr>
            <p:cNvSpPr txBox="1"/>
            <p:nvPr/>
          </p:nvSpPr>
          <p:spPr>
            <a:xfrm>
              <a:off x="816710" y="2940593"/>
              <a:ext cx="295519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4800" b="1" dirty="0">
                  <a:latin typeface="Calibri" panose="020F0502020204030204" pitchFamily="34" charset="0"/>
                  <a:ea typeface="Microsoft YaHei" panose="020B0503020204020204" pitchFamily="34" charset="-122"/>
                  <a:sym typeface="Calibri" panose="020F0502020204030204" pitchFamily="34" charset="0"/>
                </a:rPr>
                <a:t>背景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269C77E-2C8D-417F-94F5-1EBCAC0E734E}"/>
                </a:ext>
              </a:extLst>
            </p:cNvPr>
            <p:cNvSpPr txBox="1"/>
            <p:nvPr/>
          </p:nvSpPr>
          <p:spPr>
            <a:xfrm>
              <a:off x="3097273" y="3071614"/>
              <a:ext cx="487940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200" b="1" dirty="0">
                  <a:latin typeface="Calibri" panose="020F0502020204030204" pitchFamily="34" charset="0"/>
                  <a:ea typeface="Microsoft YaHei" panose="020B0503020204020204" pitchFamily="34" charset="-122"/>
                  <a:sym typeface="Calibri" panose="020F0502020204030204" pitchFamily="34" charset="0"/>
                </a:rPr>
                <a:t>仓颉语言使用 用户态 有栈协程 模型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37B40EB5-5944-4980-A878-1CB7EFA5860D}"/>
              </a:ext>
            </a:extLst>
          </p:cNvPr>
          <p:cNvSpPr txBox="1"/>
          <p:nvPr/>
        </p:nvSpPr>
        <p:spPr>
          <a:xfrm>
            <a:off x="3612840" y="4222189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内核态 </a:t>
            </a:r>
            <a:r>
              <a: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VS. </a:t>
            </a:r>
            <a:r>
              <a:rPr lang="zh-CN" altLang="en-US" dirty="0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用户态</a:t>
            </a:r>
            <a:endParaRPr lang="en-US" dirty="0">
              <a:latin typeface="Calibri" panose="020F0502020204030204" pitchFamily="34" charset="0"/>
              <a:ea typeface="Microsoft YaHei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EEAA157-B221-4E5E-BDFA-54A0008C36A3}"/>
              </a:ext>
            </a:extLst>
          </p:cNvPr>
          <p:cNvSpPr txBox="1"/>
          <p:nvPr/>
        </p:nvSpPr>
        <p:spPr>
          <a:xfrm>
            <a:off x="6297849" y="4222189"/>
            <a:ext cx="1507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有栈 </a:t>
            </a:r>
            <a:r>
              <a: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VS. </a:t>
            </a:r>
            <a:r>
              <a:rPr lang="zh-CN" altLang="en-US" dirty="0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无栈</a:t>
            </a:r>
            <a:endParaRPr lang="en-US" dirty="0">
              <a:latin typeface="Calibri" panose="020F0502020204030204" pitchFamily="34" charset="0"/>
              <a:ea typeface="Microsoft YaHei" panose="020B0503020204020204" pitchFamily="34" charset="-122"/>
              <a:sym typeface="Calibri" panose="020F0502020204030204" pitchFamily="34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7F31939-C569-4B5E-A228-64ECB93C3E2C}"/>
              </a:ext>
            </a:extLst>
          </p:cNvPr>
          <p:cNvGrpSpPr/>
          <p:nvPr/>
        </p:nvGrpSpPr>
        <p:grpSpPr>
          <a:xfrm>
            <a:off x="4558928" y="3548397"/>
            <a:ext cx="846138" cy="675862"/>
            <a:chOff x="4043362" y="3586923"/>
            <a:chExt cx="846138" cy="675862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A7312196-25F3-4FF2-8275-140DBCF5A08B}"/>
                </a:ext>
              </a:extLst>
            </p:cNvPr>
            <p:cNvCxnSpPr>
              <a:cxnSpLocks/>
            </p:cNvCxnSpPr>
            <p:nvPr/>
          </p:nvCxnSpPr>
          <p:spPr>
            <a:xfrm>
              <a:off x="4889500" y="3586923"/>
              <a:ext cx="0" cy="41261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E77D765B-254B-4554-8C1C-7BC2782BEB32}"/>
                </a:ext>
              </a:extLst>
            </p:cNvPr>
            <p:cNvCxnSpPr>
              <a:cxnSpLocks/>
            </p:cNvCxnSpPr>
            <p:nvPr/>
          </p:nvCxnSpPr>
          <p:spPr>
            <a:xfrm>
              <a:off x="4043362" y="4001608"/>
              <a:ext cx="0" cy="26117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D6843FCD-1800-48F8-AF9B-346003C6C2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3362" y="3999538"/>
              <a:ext cx="846138" cy="207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318886C-4FB8-43FE-BE9C-B2970F4DCA56}"/>
              </a:ext>
            </a:extLst>
          </p:cNvPr>
          <p:cNvGrpSpPr/>
          <p:nvPr/>
        </p:nvGrpSpPr>
        <p:grpSpPr>
          <a:xfrm>
            <a:off x="6391142" y="3550467"/>
            <a:ext cx="734774" cy="671722"/>
            <a:chOff x="2960926" y="3588993"/>
            <a:chExt cx="734774" cy="671722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E8ED360-25BC-436F-B81F-C1F35F299FA6}"/>
                </a:ext>
              </a:extLst>
            </p:cNvPr>
            <p:cNvCxnSpPr>
              <a:cxnSpLocks/>
            </p:cNvCxnSpPr>
            <p:nvPr/>
          </p:nvCxnSpPr>
          <p:spPr>
            <a:xfrm>
              <a:off x="2960926" y="3588993"/>
              <a:ext cx="0" cy="41261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51FD7507-1D25-45F1-BF8A-940A921A2F81}"/>
                </a:ext>
              </a:extLst>
            </p:cNvPr>
            <p:cNvCxnSpPr>
              <a:cxnSpLocks/>
            </p:cNvCxnSpPr>
            <p:nvPr/>
          </p:nvCxnSpPr>
          <p:spPr>
            <a:xfrm>
              <a:off x="3695700" y="3999538"/>
              <a:ext cx="0" cy="26117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47FD188B-AD4D-43FE-9ACB-6F3261CD19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60926" y="3999538"/>
              <a:ext cx="734774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7829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7BF35EB2-517D-4927-957C-13FAC4D55FFF}"/>
              </a:ext>
            </a:extLst>
          </p:cNvPr>
          <p:cNvSpPr/>
          <p:nvPr/>
        </p:nvSpPr>
        <p:spPr>
          <a:xfrm>
            <a:off x="1978021" y="3758640"/>
            <a:ext cx="7599894" cy="13458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F35F5A-31F6-4198-9A77-9EF6DCCF5FD2}"/>
              </a:ext>
            </a:extLst>
          </p:cNvPr>
          <p:cNvSpPr/>
          <p:nvPr/>
        </p:nvSpPr>
        <p:spPr>
          <a:xfrm>
            <a:off x="1978021" y="2491901"/>
            <a:ext cx="7599894" cy="12667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E861ABF7-C63C-40FE-AC44-59C0FA84CD7B}"/>
              </a:ext>
            </a:extLst>
          </p:cNvPr>
          <p:cNvSpPr/>
          <p:nvPr/>
        </p:nvSpPr>
        <p:spPr>
          <a:xfrm>
            <a:off x="4020642" y="4037731"/>
            <a:ext cx="822960" cy="82296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AC2286A-5845-4095-9F25-DA60CAB5B991}"/>
              </a:ext>
            </a:extLst>
          </p:cNvPr>
          <p:cNvSpPr/>
          <p:nvPr/>
        </p:nvSpPr>
        <p:spPr>
          <a:xfrm>
            <a:off x="3022606" y="4038069"/>
            <a:ext cx="822960" cy="82296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1A77A4E-57DC-48EA-B4DF-BCC5C1836700}"/>
              </a:ext>
            </a:extLst>
          </p:cNvPr>
          <p:cNvSpPr txBox="1"/>
          <p:nvPr/>
        </p:nvSpPr>
        <p:spPr>
          <a:xfrm>
            <a:off x="572868" y="563153"/>
            <a:ext cx="6684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内核态线程 </a:t>
            </a:r>
            <a:r>
              <a:rPr kumimoji="1"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VS. </a:t>
            </a:r>
            <a:r>
              <a:rPr kumimoji="1"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用户态线程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99DD740-E147-426A-B5DB-B875EF23B93C}"/>
              </a:ext>
            </a:extLst>
          </p:cNvPr>
          <p:cNvSpPr txBox="1"/>
          <p:nvPr/>
        </p:nvSpPr>
        <p:spPr>
          <a:xfrm>
            <a:off x="5777968" y="1478701"/>
            <a:ext cx="2150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spawn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{ 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// A new thread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}</a:t>
            </a: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D6CACEEB-B38A-4674-9E30-DA88271A4FBC}"/>
              </a:ext>
            </a:extLst>
          </p:cNvPr>
          <p:cNvSpPr/>
          <p:nvPr/>
        </p:nvSpPr>
        <p:spPr>
          <a:xfrm>
            <a:off x="4743482" y="1578402"/>
            <a:ext cx="194720" cy="709909"/>
          </a:xfrm>
          <a:custGeom>
            <a:avLst/>
            <a:gdLst>
              <a:gd name="connsiteX0" fmla="*/ 446963 w 493504"/>
              <a:gd name="connsiteY0" fmla="*/ 0 h 1111827"/>
              <a:gd name="connsiteX1" fmla="*/ 154 w 493504"/>
              <a:gd name="connsiteY1" fmla="*/ 457200 h 1111827"/>
              <a:gd name="connsiteX2" fmla="*/ 488527 w 493504"/>
              <a:gd name="connsiteY2" fmla="*/ 529936 h 1111827"/>
              <a:gd name="connsiteX3" fmla="*/ 259927 w 493504"/>
              <a:gd name="connsiteY3" fmla="*/ 1111827 h 111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504" h="1111827">
                <a:moveTo>
                  <a:pt x="446963" y="0"/>
                </a:moveTo>
                <a:cubicBezTo>
                  <a:pt x="220095" y="184438"/>
                  <a:pt x="-6773" y="368877"/>
                  <a:pt x="154" y="457200"/>
                </a:cubicBezTo>
                <a:cubicBezTo>
                  <a:pt x="7081" y="545523"/>
                  <a:pt x="445231" y="420832"/>
                  <a:pt x="488527" y="529936"/>
                </a:cubicBezTo>
                <a:cubicBezTo>
                  <a:pt x="531823" y="639041"/>
                  <a:pt x="278977" y="950768"/>
                  <a:pt x="259927" y="1111827"/>
                </a:cubicBezTo>
              </a:path>
            </a:pathLst>
          </a:cu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3A8FEDD9-92DC-44B3-983C-2131E9AFC799}"/>
              </a:ext>
            </a:extLst>
          </p:cNvPr>
          <p:cNvSpPr/>
          <p:nvPr/>
        </p:nvSpPr>
        <p:spPr>
          <a:xfrm>
            <a:off x="3317573" y="2695771"/>
            <a:ext cx="194720" cy="709909"/>
          </a:xfrm>
          <a:custGeom>
            <a:avLst/>
            <a:gdLst>
              <a:gd name="connsiteX0" fmla="*/ 446963 w 493504"/>
              <a:gd name="connsiteY0" fmla="*/ 0 h 1111827"/>
              <a:gd name="connsiteX1" fmla="*/ 154 w 493504"/>
              <a:gd name="connsiteY1" fmla="*/ 457200 h 1111827"/>
              <a:gd name="connsiteX2" fmla="*/ 488527 w 493504"/>
              <a:gd name="connsiteY2" fmla="*/ 529936 h 1111827"/>
              <a:gd name="connsiteX3" fmla="*/ 259927 w 493504"/>
              <a:gd name="connsiteY3" fmla="*/ 1111827 h 111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504" h="1111827">
                <a:moveTo>
                  <a:pt x="446963" y="0"/>
                </a:moveTo>
                <a:cubicBezTo>
                  <a:pt x="220095" y="184438"/>
                  <a:pt x="-6773" y="368877"/>
                  <a:pt x="154" y="457200"/>
                </a:cubicBezTo>
                <a:cubicBezTo>
                  <a:pt x="7081" y="545523"/>
                  <a:pt x="445231" y="420832"/>
                  <a:pt x="488527" y="529936"/>
                </a:cubicBezTo>
                <a:cubicBezTo>
                  <a:pt x="531823" y="639041"/>
                  <a:pt x="278977" y="950768"/>
                  <a:pt x="259927" y="1111827"/>
                </a:cubicBezTo>
              </a:path>
            </a:pathLst>
          </a:cu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7A22A7BA-FFFE-4B9C-8958-BF0AADC777C1}"/>
              </a:ext>
            </a:extLst>
          </p:cNvPr>
          <p:cNvSpPr/>
          <p:nvPr/>
        </p:nvSpPr>
        <p:spPr>
          <a:xfrm>
            <a:off x="3317573" y="4111036"/>
            <a:ext cx="194720" cy="709909"/>
          </a:xfrm>
          <a:custGeom>
            <a:avLst/>
            <a:gdLst>
              <a:gd name="connsiteX0" fmla="*/ 446963 w 493504"/>
              <a:gd name="connsiteY0" fmla="*/ 0 h 1111827"/>
              <a:gd name="connsiteX1" fmla="*/ 154 w 493504"/>
              <a:gd name="connsiteY1" fmla="*/ 457200 h 1111827"/>
              <a:gd name="connsiteX2" fmla="*/ 488527 w 493504"/>
              <a:gd name="connsiteY2" fmla="*/ 529936 h 1111827"/>
              <a:gd name="connsiteX3" fmla="*/ 259927 w 493504"/>
              <a:gd name="connsiteY3" fmla="*/ 1111827 h 111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504" h="1111827">
                <a:moveTo>
                  <a:pt x="446963" y="0"/>
                </a:moveTo>
                <a:cubicBezTo>
                  <a:pt x="220095" y="184438"/>
                  <a:pt x="-6773" y="368877"/>
                  <a:pt x="154" y="457200"/>
                </a:cubicBezTo>
                <a:cubicBezTo>
                  <a:pt x="7081" y="545523"/>
                  <a:pt x="445231" y="420832"/>
                  <a:pt x="488527" y="529936"/>
                </a:cubicBezTo>
                <a:cubicBezTo>
                  <a:pt x="531823" y="639041"/>
                  <a:pt x="278977" y="950768"/>
                  <a:pt x="259927" y="1111827"/>
                </a:cubicBezTo>
              </a:path>
            </a:pathLst>
          </a:cu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04B37A21-CF4B-4D26-9008-7A5BA5DC3F14}"/>
              </a:ext>
            </a:extLst>
          </p:cNvPr>
          <p:cNvSpPr/>
          <p:nvPr/>
        </p:nvSpPr>
        <p:spPr>
          <a:xfrm>
            <a:off x="4316060" y="2695771"/>
            <a:ext cx="194720" cy="709909"/>
          </a:xfrm>
          <a:custGeom>
            <a:avLst/>
            <a:gdLst>
              <a:gd name="connsiteX0" fmla="*/ 446963 w 493504"/>
              <a:gd name="connsiteY0" fmla="*/ 0 h 1111827"/>
              <a:gd name="connsiteX1" fmla="*/ 154 w 493504"/>
              <a:gd name="connsiteY1" fmla="*/ 457200 h 1111827"/>
              <a:gd name="connsiteX2" fmla="*/ 488527 w 493504"/>
              <a:gd name="connsiteY2" fmla="*/ 529936 h 1111827"/>
              <a:gd name="connsiteX3" fmla="*/ 259927 w 493504"/>
              <a:gd name="connsiteY3" fmla="*/ 1111827 h 111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504" h="1111827">
                <a:moveTo>
                  <a:pt x="446963" y="0"/>
                </a:moveTo>
                <a:cubicBezTo>
                  <a:pt x="220095" y="184438"/>
                  <a:pt x="-6773" y="368877"/>
                  <a:pt x="154" y="457200"/>
                </a:cubicBezTo>
                <a:cubicBezTo>
                  <a:pt x="7081" y="545523"/>
                  <a:pt x="445231" y="420832"/>
                  <a:pt x="488527" y="529936"/>
                </a:cubicBezTo>
                <a:cubicBezTo>
                  <a:pt x="531823" y="639041"/>
                  <a:pt x="278977" y="950768"/>
                  <a:pt x="259927" y="1111827"/>
                </a:cubicBezTo>
              </a:path>
            </a:pathLst>
          </a:cu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C07F242F-4CC4-425C-8527-2C369FF04999}"/>
              </a:ext>
            </a:extLst>
          </p:cNvPr>
          <p:cNvSpPr/>
          <p:nvPr/>
        </p:nvSpPr>
        <p:spPr>
          <a:xfrm>
            <a:off x="4316060" y="4111035"/>
            <a:ext cx="194720" cy="709909"/>
          </a:xfrm>
          <a:custGeom>
            <a:avLst/>
            <a:gdLst>
              <a:gd name="connsiteX0" fmla="*/ 446963 w 493504"/>
              <a:gd name="connsiteY0" fmla="*/ 0 h 1111827"/>
              <a:gd name="connsiteX1" fmla="*/ 154 w 493504"/>
              <a:gd name="connsiteY1" fmla="*/ 457200 h 1111827"/>
              <a:gd name="connsiteX2" fmla="*/ 488527 w 493504"/>
              <a:gd name="connsiteY2" fmla="*/ 529936 h 1111827"/>
              <a:gd name="connsiteX3" fmla="*/ 259927 w 493504"/>
              <a:gd name="connsiteY3" fmla="*/ 1111827 h 111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504" h="1111827">
                <a:moveTo>
                  <a:pt x="446963" y="0"/>
                </a:moveTo>
                <a:cubicBezTo>
                  <a:pt x="220095" y="184438"/>
                  <a:pt x="-6773" y="368877"/>
                  <a:pt x="154" y="457200"/>
                </a:cubicBezTo>
                <a:cubicBezTo>
                  <a:pt x="7081" y="545523"/>
                  <a:pt x="445231" y="420832"/>
                  <a:pt x="488527" y="529936"/>
                </a:cubicBezTo>
                <a:cubicBezTo>
                  <a:pt x="531823" y="639041"/>
                  <a:pt x="278977" y="950768"/>
                  <a:pt x="259927" y="1111827"/>
                </a:cubicBezTo>
              </a:path>
            </a:pathLst>
          </a:cu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E6F23192-E32C-477F-B4FB-44F3065AD525}"/>
              </a:ext>
            </a:extLst>
          </p:cNvPr>
          <p:cNvCxnSpPr>
            <a:cxnSpLocks/>
          </p:cNvCxnSpPr>
          <p:nvPr/>
        </p:nvCxnSpPr>
        <p:spPr>
          <a:xfrm flipH="1">
            <a:off x="5233482" y="1916349"/>
            <a:ext cx="45611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7A77941-FCDE-4DD4-BE83-83CF7E516828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434086" y="3492026"/>
            <a:ext cx="0" cy="546043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24D056C-268B-4422-A624-E4D6E5CF5BE8}"/>
              </a:ext>
            </a:extLst>
          </p:cNvPr>
          <p:cNvCxnSpPr>
            <a:cxnSpLocks/>
          </p:cNvCxnSpPr>
          <p:nvPr/>
        </p:nvCxnSpPr>
        <p:spPr>
          <a:xfrm>
            <a:off x="4415141" y="3492026"/>
            <a:ext cx="0" cy="546043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85A083D3-DB92-4B77-9BD1-538AA4C022E9}"/>
              </a:ext>
            </a:extLst>
          </p:cNvPr>
          <p:cNvSpPr/>
          <p:nvPr/>
        </p:nvSpPr>
        <p:spPr>
          <a:xfrm>
            <a:off x="7226167" y="2674116"/>
            <a:ext cx="194720" cy="709909"/>
          </a:xfrm>
          <a:custGeom>
            <a:avLst/>
            <a:gdLst>
              <a:gd name="connsiteX0" fmla="*/ 446963 w 493504"/>
              <a:gd name="connsiteY0" fmla="*/ 0 h 1111827"/>
              <a:gd name="connsiteX1" fmla="*/ 154 w 493504"/>
              <a:gd name="connsiteY1" fmla="*/ 457200 h 1111827"/>
              <a:gd name="connsiteX2" fmla="*/ 488527 w 493504"/>
              <a:gd name="connsiteY2" fmla="*/ 529936 h 1111827"/>
              <a:gd name="connsiteX3" fmla="*/ 259927 w 493504"/>
              <a:gd name="connsiteY3" fmla="*/ 1111827 h 111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504" h="1111827">
                <a:moveTo>
                  <a:pt x="446963" y="0"/>
                </a:moveTo>
                <a:cubicBezTo>
                  <a:pt x="220095" y="184438"/>
                  <a:pt x="-6773" y="368877"/>
                  <a:pt x="154" y="457200"/>
                </a:cubicBezTo>
                <a:cubicBezTo>
                  <a:pt x="7081" y="545523"/>
                  <a:pt x="445231" y="420832"/>
                  <a:pt x="488527" y="529936"/>
                </a:cubicBezTo>
                <a:cubicBezTo>
                  <a:pt x="531823" y="639041"/>
                  <a:pt x="278977" y="950768"/>
                  <a:pt x="259927" y="1111827"/>
                </a:cubicBezTo>
              </a:path>
            </a:pathLst>
          </a:cu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9937A76-AF53-4BB9-A8E5-545AC48FCCFB}"/>
              </a:ext>
            </a:extLst>
          </p:cNvPr>
          <p:cNvGrpSpPr/>
          <p:nvPr/>
        </p:nvGrpSpPr>
        <p:grpSpPr>
          <a:xfrm>
            <a:off x="7401694" y="4097810"/>
            <a:ext cx="822960" cy="822960"/>
            <a:chOff x="6388030" y="4286135"/>
            <a:chExt cx="822960" cy="822960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B6516A6C-DF1C-416C-886F-39F3B690E444}"/>
                </a:ext>
              </a:extLst>
            </p:cNvPr>
            <p:cNvSpPr/>
            <p:nvPr/>
          </p:nvSpPr>
          <p:spPr>
            <a:xfrm>
              <a:off x="6388030" y="4286135"/>
              <a:ext cx="822960" cy="82296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F2488604-396C-4184-B5F0-9A6A73BEB684}"/>
                </a:ext>
              </a:extLst>
            </p:cNvPr>
            <p:cNvSpPr/>
            <p:nvPr/>
          </p:nvSpPr>
          <p:spPr>
            <a:xfrm>
              <a:off x="6682997" y="4359102"/>
              <a:ext cx="194720" cy="709909"/>
            </a:xfrm>
            <a:custGeom>
              <a:avLst/>
              <a:gdLst>
                <a:gd name="connsiteX0" fmla="*/ 446963 w 493504"/>
                <a:gd name="connsiteY0" fmla="*/ 0 h 1111827"/>
                <a:gd name="connsiteX1" fmla="*/ 154 w 493504"/>
                <a:gd name="connsiteY1" fmla="*/ 457200 h 1111827"/>
                <a:gd name="connsiteX2" fmla="*/ 488527 w 493504"/>
                <a:gd name="connsiteY2" fmla="*/ 529936 h 1111827"/>
                <a:gd name="connsiteX3" fmla="*/ 259927 w 493504"/>
                <a:gd name="connsiteY3" fmla="*/ 1111827 h 1111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504" h="1111827">
                  <a:moveTo>
                    <a:pt x="446963" y="0"/>
                  </a:moveTo>
                  <a:cubicBezTo>
                    <a:pt x="220095" y="184438"/>
                    <a:pt x="-6773" y="368877"/>
                    <a:pt x="154" y="457200"/>
                  </a:cubicBezTo>
                  <a:cubicBezTo>
                    <a:pt x="7081" y="545523"/>
                    <a:pt x="445231" y="420832"/>
                    <a:pt x="488527" y="529936"/>
                  </a:cubicBezTo>
                  <a:cubicBezTo>
                    <a:pt x="531823" y="639041"/>
                    <a:pt x="278977" y="950768"/>
                    <a:pt x="259927" y="1111827"/>
                  </a:cubicBezTo>
                </a:path>
              </a:pathLst>
            </a:custGeom>
            <a:ln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62A2F829-D65C-4B84-8C83-411D07069046}"/>
              </a:ext>
            </a:extLst>
          </p:cNvPr>
          <p:cNvSpPr/>
          <p:nvPr/>
        </p:nvSpPr>
        <p:spPr>
          <a:xfrm>
            <a:off x="8224654" y="2674116"/>
            <a:ext cx="194720" cy="709909"/>
          </a:xfrm>
          <a:custGeom>
            <a:avLst/>
            <a:gdLst>
              <a:gd name="connsiteX0" fmla="*/ 446963 w 493504"/>
              <a:gd name="connsiteY0" fmla="*/ 0 h 1111827"/>
              <a:gd name="connsiteX1" fmla="*/ 154 w 493504"/>
              <a:gd name="connsiteY1" fmla="*/ 457200 h 1111827"/>
              <a:gd name="connsiteX2" fmla="*/ 488527 w 493504"/>
              <a:gd name="connsiteY2" fmla="*/ 529936 h 1111827"/>
              <a:gd name="connsiteX3" fmla="*/ 259927 w 493504"/>
              <a:gd name="connsiteY3" fmla="*/ 1111827 h 111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504" h="1111827">
                <a:moveTo>
                  <a:pt x="446963" y="0"/>
                </a:moveTo>
                <a:cubicBezTo>
                  <a:pt x="220095" y="184438"/>
                  <a:pt x="-6773" y="368877"/>
                  <a:pt x="154" y="457200"/>
                </a:cubicBezTo>
                <a:cubicBezTo>
                  <a:pt x="7081" y="545523"/>
                  <a:pt x="445231" y="420832"/>
                  <a:pt x="488527" y="529936"/>
                </a:cubicBezTo>
                <a:cubicBezTo>
                  <a:pt x="531823" y="639041"/>
                  <a:pt x="278977" y="950768"/>
                  <a:pt x="259927" y="1111827"/>
                </a:cubicBezTo>
              </a:path>
            </a:pathLst>
          </a:cu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F167D4B-A21F-483C-9238-A9750C3DBCD1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7401694" y="3457145"/>
            <a:ext cx="411480" cy="640665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EB3988C-FFAF-4A8F-8ACA-2D934DF70669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7813174" y="3456992"/>
            <a:ext cx="508840" cy="64081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4ED3B47A-B3FA-4006-BF77-9540ED05CD7E}"/>
              </a:ext>
            </a:extLst>
          </p:cNvPr>
          <p:cNvSpPr/>
          <p:nvPr/>
        </p:nvSpPr>
        <p:spPr>
          <a:xfrm>
            <a:off x="2020542" y="29406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用户态</a:t>
            </a:r>
            <a:endParaRPr lang="en-US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5229FA7-2CEA-46DC-A1B2-99866D0B14B8}"/>
              </a:ext>
            </a:extLst>
          </p:cNvPr>
          <p:cNvSpPr/>
          <p:nvPr/>
        </p:nvSpPr>
        <p:spPr>
          <a:xfrm>
            <a:off x="2020541" y="4234227"/>
            <a:ext cx="877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内核态</a:t>
            </a:r>
            <a:endParaRPr lang="en-US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AF4B216-FA67-4BCC-9C07-ED7576F1E6F5}"/>
              </a:ext>
            </a:extLst>
          </p:cNvPr>
          <p:cNvSpPr txBox="1"/>
          <p:nvPr/>
        </p:nvSpPr>
        <p:spPr>
          <a:xfrm>
            <a:off x="2362200" y="1675644"/>
            <a:ext cx="1996943" cy="374571"/>
          </a:xfrm>
          <a:prstGeom prst="wedgeRoundRectCallout">
            <a:avLst>
              <a:gd name="adj1" fmla="val 62539"/>
              <a:gd name="adj2" fmla="val -10154"/>
              <a:gd name="adj3" fmla="val 16667"/>
            </a:avLst>
          </a:prstGeom>
          <a:solidFill>
            <a:srgbClr val="FFFFFF"/>
          </a:solidFill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如何执行仓颉线程？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F4D94D6-7D13-4E07-9D05-9A348399D1C7}"/>
              </a:ext>
            </a:extLst>
          </p:cNvPr>
          <p:cNvSpPr txBox="1"/>
          <p:nvPr/>
        </p:nvSpPr>
        <p:spPr>
          <a:xfrm>
            <a:off x="2282577" y="5218708"/>
            <a:ext cx="3072652" cy="1464231"/>
          </a:xfrm>
          <a:prstGeom prst="roundRect">
            <a:avLst/>
          </a:prstGeom>
          <a:solidFill>
            <a:srgbClr val="FFFFFF"/>
          </a:solidFill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内核线程方案：</a:t>
            </a:r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仓颉线程与内核线程一一对应</a:t>
            </a:r>
            <a:endParaRPr lang="en-US" altLang="zh-CN" sz="1600" kern="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实现简单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运行时开销大</a:t>
            </a:r>
            <a:endParaRPr lang="en-US" altLang="zh-CN" sz="1600" kern="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最大线程数量受限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98C6775-0361-4A52-8B21-AB0D1A86A305}"/>
              </a:ext>
            </a:extLst>
          </p:cNvPr>
          <p:cNvSpPr txBox="1"/>
          <p:nvPr/>
        </p:nvSpPr>
        <p:spPr>
          <a:xfrm>
            <a:off x="6146215" y="5224322"/>
            <a:ext cx="3255154" cy="1464231"/>
          </a:xfrm>
          <a:prstGeom prst="roundRect">
            <a:avLst/>
          </a:prstGeom>
          <a:solidFill>
            <a:srgbClr val="FFFFFF"/>
          </a:solidFill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用户态线程方案：</a:t>
            </a:r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仓颉线程与内核线程多对多关联</a:t>
            </a:r>
            <a:endParaRPr lang="en-US" altLang="zh-CN" sz="1600" kern="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实现复杂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运行时开销小</a:t>
            </a:r>
            <a:endParaRPr lang="en-US" altLang="zh-CN" sz="1600" kern="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最大线程数 </a:t>
            </a:r>
            <a:r>
              <a:rPr lang="en-US" altLang="zh-CN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&gt;&gt; </a:t>
            </a:r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内核线程数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pic>
        <p:nvPicPr>
          <p:cNvPr id="24" name="图形 23">
            <a:extLst>
              <a:ext uri="{FF2B5EF4-FFF2-40B4-BE49-F238E27FC236}">
                <a16:creationId xmlns:a16="http://schemas.microsoft.com/office/drawing/2014/main" id="{3544DB31-44D8-4697-81A1-5B54F9F77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95332" y="5730572"/>
            <a:ext cx="640666" cy="640666"/>
          </a:xfrm>
          <a:prstGeom prst="rect">
            <a:avLst/>
          </a:prstGeom>
        </p:spPr>
      </p:pic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DEBA3E63-04D0-4B0F-8C7B-A2F528C6F4AB}"/>
              </a:ext>
            </a:extLst>
          </p:cNvPr>
          <p:cNvCxnSpPr>
            <a:stCxn id="10" idx="0"/>
            <a:endCxn id="34" idx="2"/>
          </p:cNvCxnSpPr>
          <p:nvPr/>
        </p:nvCxnSpPr>
        <p:spPr>
          <a:xfrm>
            <a:off x="5777968" y="2491901"/>
            <a:ext cx="0" cy="261259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灯片编号占位符 49">
            <a:extLst>
              <a:ext uri="{FF2B5EF4-FFF2-40B4-BE49-F238E27FC236}">
                <a16:creationId xmlns:a16="http://schemas.microsoft.com/office/drawing/2014/main" id="{D18ED986-99BA-4F62-A27E-4CEF21609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2462-3951-534C-B2EB-31A3E742C104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5853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2350B7E-687D-478A-8CFE-6994D690EF43}"/>
              </a:ext>
            </a:extLst>
          </p:cNvPr>
          <p:cNvSpPr/>
          <p:nvPr/>
        </p:nvSpPr>
        <p:spPr>
          <a:xfrm>
            <a:off x="1796762" y="4256192"/>
            <a:ext cx="8246906" cy="10758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0D1D113-9659-4492-9A3D-7D5F72022B53}"/>
              </a:ext>
            </a:extLst>
          </p:cNvPr>
          <p:cNvSpPr/>
          <p:nvPr/>
        </p:nvSpPr>
        <p:spPr>
          <a:xfrm>
            <a:off x="1796761" y="2853595"/>
            <a:ext cx="8246907" cy="14354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89AAB28-EBBC-4B2B-B997-E973CB4CB42C}"/>
              </a:ext>
            </a:extLst>
          </p:cNvPr>
          <p:cNvSpPr/>
          <p:nvPr/>
        </p:nvSpPr>
        <p:spPr>
          <a:xfrm>
            <a:off x="1839283" y="316812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用户态</a:t>
            </a:r>
            <a:endParaRPr lang="en-US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CC4FE0D-DFF9-4722-82C8-B352F1D7D075}"/>
              </a:ext>
            </a:extLst>
          </p:cNvPr>
          <p:cNvSpPr/>
          <p:nvPr/>
        </p:nvSpPr>
        <p:spPr>
          <a:xfrm>
            <a:off x="1839282" y="4461745"/>
            <a:ext cx="877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内核态</a:t>
            </a:r>
            <a:endParaRPr lang="en-US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1A77A4E-57DC-48EA-B4DF-BCC5C1836700}"/>
              </a:ext>
            </a:extLst>
          </p:cNvPr>
          <p:cNvSpPr txBox="1"/>
          <p:nvPr/>
        </p:nvSpPr>
        <p:spPr>
          <a:xfrm>
            <a:off x="572868" y="563153"/>
            <a:ext cx="6684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有栈 </a:t>
            </a:r>
            <a:r>
              <a:rPr kumimoji="1"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VS.</a:t>
            </a:r>
            <a:r>
              <a:rPr kumimoji="1"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无栈（用户态线程）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E7EBE5-2D35-4806-87C5-E3D3C2178F00}"/>
              </a:ext>
            </a:extLst>
          </p:cNvPr>
          <p:cNvSpPr txBox="1"/>
          <p:nvPr/>
        </p:nvSpPr>
        <p:spPr>
          <a:xfrm>
            <a:off x="2302905" y="1283935"/>
            <a:ext cx="28040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func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foo() { sleep() }</a:t>
            </a:r>
          </a:p>
          <a:p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spawn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{ 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//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…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foo()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// …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}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742764-9506-41AC-BF3C-788A2DE6AF0E}"/>
              </a:ext>
            </a:extLst>
          </p:cNvPr>
          <p:cNvSpPr txBox="1"/>
          <p:nvPr/>
        </p:nvSpPr>
        <p:spPr>
          <a:xfrm>
            <a:off x="6511393" y="1285373"/>
            <a:ext cx="34041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i="1" dirty="0"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async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</a:t>
            </a:r>
            <a:r>
              <a:rPr lang="en-US" altLang="zh-CN" sz="1600" dirty="0" err="1"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func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foo() { sleep() }</a:t>
            </a:r>
            <a:endParaRPr lang="en-US" altLang="zh-CN" sz="1600" dirty="0">
              <a:solidFill>
                <a:srgbClr val="C00000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spawn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{ 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//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…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</a:t>
            </a:r>
            <a:r>
              <a:rPr lang="en-US" altLang="zh-CN" sz="1600" i="1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await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sleep()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// …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}</a:t>
            </a: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A8D18FD6-A215-43FA-80B4-72DA4238C436}"/>
              </a:ext>
            </a:extLst>
          </p:cNvPr>
          <p:cNvSpPr/>
          <p:nvPr/>
        </p:nvSpPr>
        <p:spPr>
          <a:xfrm>
            <a:off x="3142681" y="3182499"/>
            <a:ext cx="194720" cy="709909"/>
          </a:xfrm>
          <a:custGeom>
            <a:avLst/>
            <a:gdLst>
              <a:gd name="connsiteX0" fmla="*/ 446963 w 493504"/>
              <a:gd name="connsiteY0" fmla="*/ 0 h 1111827"/>
              <a:gd name="connsiteX1" fmla="*/ 154 w 493504"/>
              <a:gd name="connsiteY1" fmla="*/ 457200 h 1111827"/>
              <a:gd name="connsiteX2" fmla="*/ 488527 w 493504"/>
              <a:gd name="connsiteY2" fmla="*/ 529936 h 1111827"/>
              <a:gd name="connsiteX3" fmla="*/ 259927 w 493504"/>
              <a:gd name="connsiteY3" fmla="*/ 1111827 h 111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504" h="1111827">
                <a:moveTo>
                  <a:pt x="446963" y="0"/>
                </a:moveTo>
                <a:cubicBezTo>
                  <a:pt x="220095" y="184438"/>
                  <a:pt x="-6773" y="368877"/>
                  <a:pt x="154" y="457200"/>
                </a:cubicBezTo>
                <a:cubicBezTo>
                  <a:pt x="7081" y="545523"/>
                  <a:pt x="445231" y="420832"/>
                  <a:pt x="488527" y="529936"/>
                </a:cubicBezTo>
                <a:cubicBezTo>
                  <a:pt x="531823" y="639041"/>
                  <a:pt x="278977" y="950768"/>
                  <a:pt x="259927" y="1111827"/>
                </a:cubicBezTo>
              </a:path>
            </a:pathLst>
          </a:cu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EFE16D3-4F00-4C47-A568-95824EBA0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581883"/>
              </p:ext>
            </p:extLst>
          </p:nvPr>
        </p:nvGraphicFramePr>
        <p:xfrm>
          <a:off x="3588081" y="2958334"/>
          <a:ext cx="714907" cy="115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4907">
                  <a:extLst>
                    <a:ext uri="{9D8B030D-6E8A-4147-A177-3AD203B41FA5}">
                      <a16:colId xmlns:a16="http://schemas.microsoft.com/office/drawing/2014/main" val="1995812569"/>
                    </a:ext>
                  </a:extLst>
                </a:gridCol>
              </a:tblGrid>
              <a:tr h="278276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253533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sleep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582412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onsolas" panose="020B0609020204030204" pitchFamily="49" charset="0"/>
                        </a:rPr>
                        <a:t>foo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734983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onsolas" panose="020B0609020204030204" pitchFamily="49" charset="0"/>
                        </a:rPr>
                        <a:t>entry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130659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8E6EEBB3-B257-4303-A6D9-3432EE9E3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424401"/>
              </p:ext>
            </p:extLst>
          </p:nvPr>
        </p:nvGraphicFramePr>
        <p:xfrm>
          <a:off x="4930306" y="3132435"/>
          <a:ext cx="714907" cy="883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4907">
                  <a:extLst>
                    <a:ext uri="{9D8B030D-6E8A-4147-A177-3AD203B41FA5}">
                      <a16:colId xmlns:a16="http://schemas.microsoft.com/office/drawing/2014/main" val="1995812569"/>
                    </a:ext>
                  </a:extLst>
                </a:gridCol>
              </a:tblGrid>
              <a:tr h="209787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253533"/>
                  </a:ext>
                </a:extLst>
              </a:tr>
              <a:tr h="171644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734983"/>
                  </a:ext>
                </a:extLst>
              </a:tr>
              <a:tr h="171644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130659"/>
                  </a:ext>
                </a:extLst>
              </a:tr>
            </a:tbl>
          </a:graphicData>
        </a:graphic>
      </p:graphicFrame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2FA66705-5C01-4BC3-9A88-57814F749F22}"/>
              </a:ext>
            </a:extLst>
          </p:cNvPr>
          <p:cNvSpPr/>
          <p:nvPr/>
        </p:nvSpPr>
        <p:spPr>
          <a:xfrm>
            <a:off x="4607256" y="3182499"/>
            <a:ext cx="194720" cy="709909"/>
          </a:xfrm>
          <a:custGeom>
            <a:avLst/>
            <a:gdLst>
              <a:gd name="connsiteX0" fmla="*/ 446963 w 493504"/>
              <a:gd name="connsiteY0" fmla="*/ 0 h 1111827"/>
              <a:gd name="connsiteX1" fmla="*/ 154 w 493504"/>
              <a:gd name="connsiteY1" fmla="*/ 457200 h 1111827"/>
              <a:gd name="connsiteX2" fmla="*/ 488527 w 493504"/>
              <a:gd name="connsiteY2" fmla="*/ 529936 h 1111827"/>
              <a:gd name="connsiteX3" fmla="*/ 259927 w 493504"/>
              <a:gd name="connsiteY3" fmla="*/ 1111827 h 111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504" h="1111827">
                <a:moveTo>
                  <a:pt x="446963" y="0"/>
                </a:moveTo>
                <a:cubicBezTo>
                  <a:pt x="220095" y="184438"/>
                  <a:pt x="-6773" y="368877"/>
                  <a:pt x="154" y="457200"/>
                </a:cubicBezTo>
                <a:cubicBezTo>
                  <a:pt x="7081" y="545523"/>
                  <a:pt x="445231" y="420832"/>
                  <a:pt x="488527" y="529936"/>
                </a:cubicBezTo>
                <a:cubicBezTo>
                  <a:pt x="531823" y="639041"/>
                  <a:pt x="278977" y="950768"/>
                  <a:pt x="259927" y="1111827"/>
                </a:cubicBezTo>
              </a:path>
            </a:pathLst>
          </a:cu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F808F08-D1C8-4A94-A799-CB39D61C8AF1}"/>
              </a:ext>
            </a:extLst>
          </p:cNvPr>
          <p:cNvGrpSpPr/>
          <p:nvPr/>
        </p:nvGrpSpPr>
        <p:grpSpPr>
          <a:xfrm>
            <a:off x="3805797" y="4431532"/>
            <a:ext cx="822960" cy="822960"/>
            <a:chOff x="3924178" y="5229545"/>
            <a:chExt cx="822960" cy="822960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EA23634B-0F36-4AF8-8EC0-735D6A304CD6}"/>
                </a:ext>
              </a:extLst>
            </p:cNvPr>
            <p:cNvSpPr/>
            <p:nvPr/>
          </p:nvSpPr>
          <p:spPr>
            <a:xfrm>
              <a:off x="3924178" y="5229545"/>
              <a:ext cx="822960" cy="82296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AB0BEE93-E2A3-4C0D-B7F1-E7C60A814D60}"/>
                </a:ext>
              </a:extLst>
            </p:cNvPr>
            <p:cNvSpPr/>
            <p:nvPr/>
          </p:nvSpPr>
          <p:spPr>
            <a:xfrm>
              <a:off x="4219145" y="5302512"/>
              <a:ext cx="194720" cy="709909"/>
            </a:xfrm>
            <a:custGeom>
              <a:avLst/>
              <a:gdLst>
                <a:gd name="connsiteX0" fmla="*/ 446963 w 493504"/>
                <a:gd name="connsiteY0" fmla="*/ 0 h 1111827"/>
                <a:gd name="connsiteX1" fmla="*/ 154 w 493504"/>
                <a:gd name="connsiteY1" fmla="*/ 457200 h 1111827"/>
                <a:gd name="connsiteX2" fmla="*/ 488527 w 493504"/>
                <a:gd name="connsiteY2" fmla="*/ 529936 h 1111827"/>
                <a:gd name="connsiteX3" fmla="*/ 259927 w 493504"/>
                <a:gd name="connsiteY3" fmla="*/ 1111827 h 1111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504" h="1111827">
                  <a:moveTo>
                    <a:pt x="446963" y="0"/>
                  </a:moveTo>
                  <a:cubicBezTo>
                    <a:pt x="220095" y="184438"/>
                    <a:pt x="-6773" y="368877"/>
                    <a:pt x="154" y="457200"/>
                  </a:cubicBezTo>
                  <a:cubicBezTo>
                    <a:pt x="7081" y="545523"/>
                    <a:pt x="445231" y="420832"/>
                    <a:pt x="488527" y="529936"/>
                  </a:cubicBezTo>
                  <a:cubicBezTo>
                    <a:pt x="531823" y="639041"/>
                    <a:pt x="278977" y="950768"/>
                    <a:pt x="259927" y="1111827"/>
                  </a:cubicBezTo>
                </a:path>
              </a:pathLst>
            </a:custGeom>
            <a:ln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CF925DF6-ED0A-49DE-9C0C-36658372E5E3}"/>
              </a:ext>
            </a:extLst>
          </p:cNvPr>
          <p:cNvSpPr/>
          <p:nvPr/>
        </p:nvSpPr>
        <p:spPr>
          <a:xfrm>
            <a:off x="7150527" y="2982435"/>
            <a:ext cx="194720" cy="709909"/>
          </a:xfrm>
          <a:custGeom>
            <a:avLst/>
            <a:gdLst>
              <a:gd name="connsiteX0" fmla="*/ 446963 w 493504"/>
              <a:gd name="connsiteY0" fmla="*/ 0 h 1111827"/>
              <a:gd name="connsiteX1" fmla="*/ 154 w 493504"/>
              <a:gd name="connsiteY1" fmla="*/ 457200 h 1111827"/>
              <a:gd name="connsiteX2" fmla="*/ 488527 w 493504"/>
              <a:gd name="connsiteY2" fmla="*/ 529936 h 1111827"/>
              <a:gd name="connsiteX3" fmla="*/ 259927 w 493504"/>
              <a:gd name="connsiteY3" fmla="*/ 1111827 h 111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504" h="1111827">
                <a:moveTo>
                  <a:pt x="446963" y="0"/>
                </a:moveTo>
                <a:cubicBezTo>
                  <a:pt x="220095" y="184438"/>
                  <a:pt x="-6773" y="368877"/>
                  <a:pt x="154" y="457200"/>
                </a:cubicBezTo>
                <a:cubicBezTo>
                  <a:pt x="7081" y="545523"/>
                  <a:pt x="445231" y="420832"/>
                  <a:pt x="488527" y="529936"/>
                </a:cubicBezTo>
                <a:cubicBezTo>
                  <a:pt x="531823" y="639041"/>
                  <a:pt x="278977" y="950768"/>
                  <a:pt x="259927" y="1111827"/>
                </a:cubicBezTo>
              </a:path>
            </a:pathLst>
          </a:cu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E0A8D41-6241-4416-9C91-4C2D40628EA3}"/>
              </a:ext>
            </a:extLst>
          </p:cNvPr>
          <p:cNvGrpSpPr/>
          <p:nvPr/>
        </p:nvGrpSpPr>
        <p:grpSpPr>
          <a:xfrm>
            <a:off x="6191980" y="3768492"/>
            <a:ext cx="2066082" cy="276999"/>
            <a:chOff x="6952608" y="4197138"/>
            <a:chExt cx="2066082" cy="27699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4A65A2A-0AC0-41CA-A78F-7DCB0E90BF61}"/>
                </a:ext>
              </a:extLst>
            </p:cNvPr>
            <p:cNvSpPr/>
            <p:nvPr/>
          </p:nvSpPr>
          <p:spPr>
            <a:xfrm>
              <a:off x="6952608" y="4197138"/>
              <a:ext cx="609462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pPr lvl="0" algn="ctr"/>
              <a:r>
                <a:rPr lang="en-US" sz="1200" dirty="0">
                  <a:solidFill>
                    <a:prstClr val="black"/>
                  </a:solidFill>
                  <a:latin typeface="Consolas" panose="020B0609020204030204" pitchFamily="49" charset="0"/>
                </a:rPr>
                <a:t>sleep</a:t>
              </a: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A766524A-0F41-4E21-ABAD-ED9942C40260}"/>
                </a:ext>
              </a:extLst>
            </p:cNvPr>
            <p:cNvSpPr/>
            <p:nvPr/>
          </p:nvSpPr>
          <p:spPr>
            <a:xfrm>
              <a:off x="7799428" y="4197138"/>
              <a:ext cx="439544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pPr lvl="0" algn="ctr"/>
              <a:r>
                <a:rPr lang="en-US" sz="1200" dirty="0">
                  <a:solidFill>
                    <a:prstClr val="black"/>
                  </a:solidFill>
                  <a:latin typeface="Consolas" panose="020B0609020204030204" pitchFamily="49" charset="0"/>
                </a:rPr>
                <a:t>foo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FF513BA9-A102-4C7F-A3E1-50D31A975E91}"/>
                </a:ext>
              </a:extLst>
            </p:cNvPr>
            <p:cNvSpPr/>
            <p:nvPr/>
          </p:nvSpPr>
          <p:spPr>
            <a:xfrm>
              <a:off x="8409228" y="4197138"/>
              <a:ext cx="609462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pPr lvl="0" algn="ctr"/>
              <a:r>
                <a:rPr lang="en-US" sz="1200" dirty="0">
                  <a:solidFill>
                    <a:prstClr val="black"/>
                  </a:solidFill>
                  <a:latin typeface="Consolas" panose="020B0609020204030204" pitchFamily="49" charset="0"/>
                </a:rPr>
                <a:t>entry</a:t>
              </a:r>
            </a:p>
          </p:txBody>
        </p:sp>
        <p:cxnSp>
          <p:nvCxnSpPr>
            <p:cNvPr id="9" name="连接符: 曲线 8">
              <a:extLst>
                <a:ext uri="{FF2B5EF4-FFF2-40B4-BE49-F238E27FC236}">
                  <a16:creationId xmlns:a16="http://schemas.microsoft.com/office/drawing/2014/main" id="{564137A3-BF03-4B48-8669-EB9042793CE7}"/>
                </a:ext>
              </a:extLst>
            </p:cNvPr>
            <p:cNvCxnSpPr/>
            <p:nvPr/>
          </p:nvCxnSpPr>
          <p:spPr>
            <a:xfrm>
              <a:off x="7553942" y="4216634"/>
              <a:ext cx="237358" cy="227225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连接符: 曲线 35">
              <a:extLst>
                <a:ext uri="{FF2B5EF4-FFF2-40B4-BE49-F238E27FC236}">
                  <a16:creationId xmlns:a16="http://schemas.microsoft.com/office/drawing/2014/main" id="{DEDC2507-FC04-4EA3-9B3D-B3D5FBE2A62F}"/>
                </a:ext>
              </a:extLst>
            </p:cNvPr>
            <p:cNvCxnSpPr/>
            <p:nvPr/>
          </p:nvCxnSpPr>
          <p:spPr>
            <a:xfrm>
              <a:off x="8216883" y="4216634"/>
              <a:ext cx="237358" cy="227225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E13E84D-08C6-499E-B2FF-B19BEFB722A7}"/>
              </a:ext>
            </a:extLst>
          </p:cNvPr>
          <p:cNvGrpSpPr/>
          <p:nvPr/>
        </p:nvGrpSpPr>
        <p:grpSpPr>
          <a:xfrm>
            <a:off x="8532258" y="3163948"/>
            <a:ext cx="1201405" cy="851265"/>
            <a:chOff x="10161170" y="2995959"/>
            <a:chExt cx="1201405" cy="851265"/>
          </a:xfrm>
        </p:grpSpPr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B5885D81-1CB4-4727-8637-3261B69F5B64}"/>
                </a:ext>
              </a:extLst>
            </p:cNvPr>
            <p:cNvSpPr/>
            <p:nvPr/>
          </p:nvSpPr>
          <p:spPr>
            <a:xfrm>
              <a:off x="10600714" y="2995959"/>
              <a:ext cx="194720" cy="431111"/>
            </a:xfrm>
            <a:custGeom>
              <a:avLst/>
              <a:gdLst>
                <a:gd name="connsiteX0" fmla="*/ 446963 w 493504"/>
                <a:gd name="connsiteY0" fmla="*/ 0 h 1111827"/>
                <a:gd name="connsiteX1" fmla="*/ 154 w 493504"/>
                <a:gd name="connsiteY1" fmla="*/ 457200 h 1111827"/>
                <a:gd name="connsiteX2" fmla="*/ 488527 w 493504"/>
                <a:gd name="connsiteY2" fmla="*/ 529936 h 1111827"/>
                <a:gd name="connsiteX3" fmla="*/ 259927 w 493504"/>
                <a:gd name="connsiteY3" fmla="*/ 1111827 h 1111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504" h="1111827">
                  <a:moveTo>
                    <a:pt x="446963" y="0"/>
                  </a:moveTo>
                  <a:cubicBezTo>
                    <a:pt x="220095" y="184438"/>
                    <a:pt x="-6773" y="368877"/>
                    <a:pt x="154" y="457200"/>
                  </a:cubicBezTo>
                  <a:cubicBezTo>
                    <a:pt x="7081" y="545523"/>
                    <a:pt x="445231" y="420832"/>
                    <a:pt x="488527" y="529936"/>
                  </a:cubicBezTo>
                  <a:cubicBezTo>
                    <a:pt x="531823" y="639041"/>
                    <a:pt x="278977" y="950768"/>
                    <a:pt x="259927" y="1111827"/>
                  </a:cubicBezTo>
                </a:path>
              </a:pathLst>
            </a:cu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E9A06668-96C7-47A8-8C12-35279661C21C}"/>
                </a:ext>
              </a:extLst>
            </p:cNvPr>
            <p:cNvGrpSpPr/>
            <p:nvPr/>
          </p:nvGrpSpPr>
          <p:grpSpPr>
            <a:xfrm>
              <a:off x="10161170" y="3570225"/>
              <a:ext cx="1201405" cy="276999"/>
              <a:chOff x="7037567" y="4197138"/>
              <a:chExt cx="1201405" cy="276999"/>
            </a:xfrm>
          </p:grpSpPr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EBD7A1BC-1964-452F-B911-6A844FDE83E0}"/>
                  </a:ext>
                </a:extLst>
              </p:cNvPr>
              <p:cNvSpPr/>
              <p:nvPr/>
            </p:nvSpPr>
            <p:spPr>
              <a:xfrm>
                <a:off x="7037567" y="4197138"/>
                <a:ext cx="439544" cy="276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lvl="0" algn="ctr"/>
                <a:r>
                  <a:rPr lang="en-US" sz="12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   </a:t>
                </a: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D0250D32-0C7F-43EC-B0E4-F299924B629B}"/>
                  </a:ext>
                </a:extLst>
              </p:cNvPr>
              <p:cNvSpPr/>
              <p:nvPr/>
            </p:nvSpPr>
            <p:spPr>
              <a:xfrm>
                <a:off x="7799428" y="4197138"/>
                <a:ext cx="439544" cy="276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lvl="0" algn="ctr"/>
                <a:r>
                  <a:rPr lang="en-US" sz="12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   </a:t>
                </a:r>
              </a:p>
            </p:txBody>
          </p:sp>
          <p:cxnSp>
            <p:nvCxnSpPr>
              <p:cNvPr id="42" name="连接符: 曲线 41">
                <a:extLst>
                  <a:ext uri="{FF2B5EF4-FFF2-40B4-BE49-F238E27FC236}">
                    <a16:creationId xmlns:a16="http://schemas.microsoft.com/office/drawing/2014/main" id="{5DD78890-46B2-4E10-A2A7-774F3C399B80}"/>
                  </a:ext>
                </a:extLst>
              </p:cNvPr>
              <p:cNvCxnSpPr/>
              <p:nvPr/>
            </p:nvCxnSpPr>
            <p:spPr>
              <a:xfrm>
                <a:off x="7553942" y="4216634"/>
                <a:ext cx="237358" cy="227225"/>
              </a:xfrm>
              <a:prstGeom prst="curvedConnector3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A0864FD8-C948-4879-8A56-831F2229D7B4}"/>
              </a:ext>
            </a:extLst>
          </p:cNvPr>
          <p:cNvGrpSpPr/>
          <p:nvPr/>
        </p:nvGrpSpPr>
        <p:grpSpPr>
          <a:xfrm>
            <a:off x="7162671" y="4441374"/>
            <a:ext cx="822960" cy="822960"/>
            <a:chOff x="3924178" y="5229545"/>
            <a:chExt cx="822960" cy="822960"/>
          </a:xfrm>
        </p:grpSpPr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AB64D10B-009E-4F69-9439-AEDC4BBAA7E6}"/>
                </a:ext>
              </a:extLst>
            </p:cNvPr>
            <p:cNvSpPr/>
            <p:nvPr/>
          </p:nvSpPr>
          <p:spPr>
            <a:xfrm>
              <a:off x="3924178" y="5229545"/>
              <a:ext cx="822960" cy="82296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1116E9A9-0717-4EB3-AF87-6A4EEF64F39A}"/>
                </a:ext>
              </a:extLst>
            </p:cNvPr>
            <p:cNvSpPr/>
            <p:nvPr/>
          </p:nvSpPr>
          <p:spPr>
            <a:xfrm>
              <a:off x="4219145" y="5302512"/>
              <a:ext cx="194720" cy="709909"/>
            </a:xfrm>
            <a:custGeom>
              <a:avLst/>
              <a:gdLst>
                <a:gd name="connsiteX0" fmla="*/ 446963 w 493504"/>
                <a:gd name="connsiteY0" fmla="*/ 0 h 1111827"/>
                <a:gd name="connsiteX1" fmla="*/ 154 w 493504"/>
                <a:gd name="connsiteY1" fmla="*/ 457200 h 1111827"/>
                <a:gd name="connsiteX2" fmla="*/ 488527 w 493504"/>
                <a:gd name="connsiteY2" fmla="*/ 529936 h 1111827"/>
                <a:gd name="connsiteX3" fmla="*/ 259927 w 493504"/>
                <a:gd name="connsiteY3" fmla="*/ 1111827 h 1111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504" h="1111827">
                  <a:moveTo>
                    <a:pt x="446963" y="0"/>
                  </a:moveTo>
                  <a:cubicBezTo>
                    <a:pt x="220095" y="184438"/>
                    <a:pt x="-6773" y="368877"/>
                    <a:pt x="154" y="457200"/>
                  </a:cubicBezTo>
                  <a:cubicBezTo>
                    <a:pt x="7081" y="545523"/>
                    <a:pt x="445231" y="420832"/>
                    <a:pt x="488527" y="529936"/>
                  </a:cubicBezTo>
                  <a:cubicBezTo>
                    <a:pt x="531823" y="639041"/>
                    <a:pt x="278977" y="950768"/>
                    <a:pt x="259927" y="1111827"/>
                  </a:cubicBezTo>
                </a:path>
              </a:pathLst>
            </a:custGeom>
            <a:ln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26E4CEE6-D57C-4DD1-BC41-74505A4B3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882658"/>
              </p:ext>
            </p:extLst>
          </p:nvPr>
        </p:nvGraphicFramePr>
        <p:xfrm>
          <a:off x="8117882" y="4548054"/>
          <a:ext cx="714907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4907">
                  <a:extLst>
                    <a:ext uri="{9D8B030D-6E8A-4147-A177-3AD203B41FA5}">
                      <a16:colId xmlns:a16="http://schemas.microsoft.com/office/drawing/2014/main" val="1995812569"/>
                    </a:ext>
                  </a:extLst>
                </a:gridCol>
              </a:tblGrid>
              <a:tr h="209787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253533"/>
                  </a:ext>
                </a:extLst>
              </a:tr>
              <a:tr h="171644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130659"/>
                  </a:ext>
                </a:extLst>
              </a:tr>
            </a:tbl>
          </a:graphicData>
        </a:graphic>
      </p:graphicFrame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4F0742B-C64C-4FD6-A225-CE92266358B1}"/>
              </a:ext>
            </a:extLst>
          </p:cNvPr>
          <p:cNvCxnSpPr>
            <a:cxnSpLocks/>
          </p:cNvCxnSpPr>
          <p:nvPr/>
        </p:nvCxnSpPr>
        <p:spPr>
          <a:xfrm>
            <a:off x="6096612" y="2853595"/>
            <a:ext cx="0" cy="247842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C3C9925C-AB21-4881-8B06-E77A5840CD05}"/>
              </a:ext>
            </a:extLst>
          </p:cNvPr>
          <p:cNvSpPr txBox="1"/>
          <p:nvPr/>
        </p:nvSpPr>
        <p:spPr>
          <a:xfrm>
            <a:off x="2419248" y="5404984"/>
            <a:ext cx="3072652" cy="1191816"/>
          </a:xfrm>
          <a:prstGeom prst="roundRect">
            <a:avLst/>
          </a:prstGeom>
          <a:solidFill>
            <a:srgbClr val="FFFFFF"/>
          </a:solidFill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有栈方案：</a:t>
            </a:r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用户态线程有独立的执行栈</a:t>
            </a:r>
            <a:endParaRPr lang="en-US" altLang="zh-CN" sz="1600" kern="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开发者使用更简洁（避免关键字传播问题</a:t>
            </a:r>
            <a:r>
              <a:rPr lang="en-US" altLang="zh-CN" sz="1600" kern="0" baseline="300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1</a:t>
            </a:r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）</a:t>
            </a:r>
            <a:endParaRPr lang="en-US" altLang="zh-CN" sz="1600" kern="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478762C-60E0-4C0C-B0C9-59F17FA1F538}"/>
              </a:ext>
            </a:extLst>
          </p:cNvPr>
          <p:cNvSpPr txBox="1"/>
          <p:nvPr/>
        </p:nvSpPr>
        <p:spPr>
          <a:xfrm>
            <a:off x="6296348" y="5432772"/>
            <a:ext cx="3437315" cy="1191816"/>
          </a:xfrm>
          <a:prstGeom prst="roundRect">
            <a:avLst/>
          </a:prstGeom>
          <a:solidFill>
            <a:srgbClr val="FFFFFF"/>
          </a:solidFill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无栈方案：</a:t>
            </a:r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用户态线程使用链表管理执行信息，借助内核线程的栈完成执行</a:t>
            </a:r>
            <a:endParaRPr lang="en-US" altLang="zh-CN" sz="1600" kern="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能够“压榨出”更极致的性能</a:t>
            </a:r>
            <a:endParaRPr lang="en-US" altLang="zh-CN" sz="1600" kern="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pic>
        <p:nvPicPr>
          <p:cNvPr id="65" name="图形 64">
            <a:extLst>
              <a:ext uri="{FF2B5EF4-FFF2-40B4-BE49-F238E27FC236}">
                <a16:creationId xmlns:a16="http://schemas.microsoft.com/office/drawing/2014/main" id="{BC96150C-140B-4DA0-A57D-DBA3EB997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14117" y="5404984"/>
            <a:ext cx="640666" cy="640666"/>
          </a:xfrm>
          <a:prstGeom prst="rect">
            <a:avLst/>
          </a:prstGeom>
        </p:spPr>
      </p:pic>
      <p:sp>
        <p:nvSpPr>
          <p:cNvPr id="24" name="灯片编号占位符 23">
            <a:extLst>
              <a:ext uri="{FF2B5EF4-FFF2-40B4-BE49-F238E27FC236}">
                <a16:creationId xmlns:a16="http://schemas.microsoft.com/office/drawing/2014/main" id="{4F1CA6D1-0306-4A9F-B0E8-C9771025A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2462-3951-534C-B2EB-31A3E742C104}" type="slidenum">
              <a:rPr kumimoji="1" lang="zh-CN" altLang="en-US" smtClean="0"/>
              <a:t>5</a:t>
            </a:fld>
            <a:endParaRPr kumimoji="1" lang="zh-CN" altLang="en-US"/>
          </a:p>
        </p:txBody>
      </p:sp>
      <p:sp>
        <p:nvSpPr>
          <p:cNvPr id="67" name="页脚占位符 66">
            <a:extLst>
              <a:ext uri="{FF2B5EF4-FFF2-40B4-BE49-F238E27FC236}">
                <a16:creationId xmlns:a16="http://schemas.microsoft.com/office/drawing/2014/main" id="{0CBCBBE3-04AA-4AE1-A4B1-74B8DAD88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69717"/>
            <a:ext cx="4114800" cy="182562"/>
          </a:xfrm>
        </p:spPr>
        <p:txBody>
          <a:bodyPr anchor="ctr"/>
          <a:lstStyle/>
          <a:p>
            <a:r>
              <a:rPr kumimoji="1" lang="en-US" altLang="zh-CN" sz="1000" dirty="0"/>
              <a:t>1</a:t>
            </a:r>
            <a:r>
              <a:rPr kumimoji="1" lang="zh-CN" altLang="en-US" sz="1000" dirty="0"/>
              <a:t>：关键字</a:t>
            </a:r>
            <a:r>
              <a:rPr kumimoji="1" lang="en-US" altLang="zh-CN" sz="1000" dirty="0"/>
              <a:t>async</a:t>
            </a:r>
            <a:r>
              <a:rPr kumimoji="1" lang="zh-CN" altLang="en-US" sz="1000" dirty="0"/>
              <a:t>具有传染性，调用</a:t>
            </a:r>
            <a:r>
              <a:rPr kumimoji="1" lang="en-US" altLang="zh-CN" sz="1000" dirty="0"/>
              <a:t>async</a:t>
            </a:r>
            <a:r>
              <a:rPr kumimoji="1" lang="zh-CN" altLang="en-US" sz="1000" dirty="0"/>
              <a:t>的函数也必须是</a:t>
            </a:r>
            <a:r>
              <a:rPr kumimoji="1" lang="en-US" altLang="zh-CN" sz="1000" dirty="0"/>
              <a:t>async</a:t>
            </a:r>
            <a:r>
              <a:rPr kumimoji="1" lang="zh-CN" altLang="en-US" sz="1000" dirty="0"/>
              <a:t>定义。</a:t>
            </a:r>
          </a:p>
        </p:txBody>
      </p:sp>
    </p:spTree>
    <p:extLst>
      <p:ext uri="{BB962C8B-B14F-4D97-AF65-F5344CB8AC3E}">
        <p14:creationId xmlns:p14="http://schemas.microsoft.com/office/powerpoint/2010/main" val="3607005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>
            <a:extLst>
              <a:ext uri="{FF2B5EF4-FFF2-40B4-BE49-F238E27FC236}">
                <a16:creationId xmlns:a16="http://schemas.microsoft.com/office/drawing/2014/main" id="{497C2D08-2F0D-4B64-8CEC-97EA770BAD6B}"/>
              </a:ext>
            </a:extLst>
          </p:cNvPr>
          <p:cNvSpPr txBox="1"/>
          <p:nvPr/>
        </p:nvSpPr>
        <p:spPr>
          <a:xfrm>
            <a:off x="816710" y="2940593"/>
            <a:ext cx="29551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仓颉并发机制介绍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27F746C-86BD-4A6C-8BF7-2A996115699F}"/>
              </a:ext>
            </a:extLst>
          </p:cNvPr>
          <p:cNvSpPr/>
          <p:nvPr/>
        </p:nvSpPr>
        <p:spPr>
          <a:xfrm>
            <a:off x="3947508" y="5029021"/>
            <a:ext cx="1511670" cy="4360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798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线程间通信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1A9B700-F054-4E71-8158-35EB84AEACFB}"/>
              </a:ext>
            </a:extLst>
          </p:cNvPr>
          <p:cNvSpPr/>
          <p:nvPr/>
        </p:nvSpPr>
        <p:spPr>
          <a:xfrm>
            <a:off x="8156759" y="4625342"/>
            <a:ext cx="1793407" cy="4285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defTabSz="913668">
              <a:defRPr/>
            </a:pPr>
            <a:r>
              <a:rPr lang="zh-CN" altLang="en-US" sz="1398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原子类型 </a:t>
            </a:r>
            <a:r>
              <a:rPr lang="en-US" altLang="zh-CN" sz="1398" kern="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AtomicX</a:t>
            </a:r>
            <a:endParaRPr lang="en-US" altLang="zh-CN" sz="1398" kern="0" dirty="0">
              <a:solidFill>
                <a:schemeClr val="bg2">
                  <a:lumMod val="90000"/>
                </a:schemeClr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5AB0929-8567-4AE3-984E-0088A4C1719F}"/>
              </a:ext>
            </a:extLst>
          </p:cNvPr>
          <p:cNvSpPr/>
          <p:nvPr/>
        </p:nvSpPr>
        <p:spPr>
          <a:xfrm>
            <a:off x="8149146" y="3758166"/>
            <a:ext cx="3420253" cy="43211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398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并发控制组件 </a:t>
            </a:r>
            <a:r>
              <a:rPr lang="en-US" altLang="zh-CN" sz="1398" kern="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Monitor</a:t>
            </a:r>
            <a:r>
              <a:rPr lang="zh-CN" altLang="en-US" sz="1398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、</a:t>
            </a:r>
            <a:r>
              <a:rPr lang="en-US" altLang="zh-CN" sz="1398" kern="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Semaphore</a:t>
            </a:r>
            <a:r>
              <a:rPr lang="zh-CN" altLang="en-US" sz="1398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 等</a:t>
            </a:r>
            <a:endParaRPr lang="en-US" altLang="zh-CN" sz="1398" kern="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265386C-327D-450E-BB59-2E396FDEDF4B}"/>
              </a:ext>
            </a:extLst>
          </p:cNvPr>
          <p:cNvSpPr/>
          <p:nvPr/>
        </p:nvSpPr>
        <p:spPr>
          <a:xfrm>
            <a:off x="9630772" y="3116986"/>
            <a:ext cx="1361481" cy="4285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398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可重入读写锁</a:t>
            </a:r>
            <a:endParaRPr lang="en-US" altLang="zh-CN" sz="1398" kern="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B3AEDFC-EFE0-485D-AC4F-7D3271951583}"/>
              </a:ext>
            </a:extLst>
          </p:cNvPr>
          <p:cNvSpPr/>
          <p:nvPr/>
        </p:nvSpPr>
        <p:spPr>
          <a:xfrm>
            <a:off x="3947508" y="3371169"/>
            <a:ext cx="1511670" cy="4360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798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线程同步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FAB96E3-4C1C-4492-8300-11E28D02D9B5}"/>
              </a:ext>
            </a:extLst>
          </p:cNvPr>
          <p:cNvSpPr/>
          <p:nvPr/>
        </p:nvSpPr>
        <p:spPr>
          <a:xfrm>
            <a:off x="3947509" y="1749301"/>
            <a:ext cx="1511669" cy="4360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798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线程模型</a:t>
            </a:r>
            <a:endParaRPr lang="en-US" sz="1798" kern="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665A7D4-43F4-4E14-A094-5B1BF33628B2}"/>
              </a:ext>
            </a:extLst>
          </p:cNvPr>
          <p:cNvSpPr/>
          <p:nvPr/>
        </p:nvSpPr>
        <p:spPr>
          <a:xfrm>
            <a:off x="8145777" y="2036540"/>
            <a:ext cx="1169845" cy="4195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en-US" altLang="zh-CN" sz="1398" kern="0" dirty="0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Thread</a:t>
            </a:r>
            <a:r>
              <a:rPr lang="en-US" altLang="zh-CN" sz="1398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 </a:t>
            </a:r>
            <a:r>
              <a:rPr lang="zh-CN" altLang="en-US" sz="1398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类</a:t>
            </a:r>
            <a:endParaRPr lang="en-US" altLang="zh-CN" sz="1398" kern="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AB5E3CB-D116-4D58-BDB7-1DCC4F9F8E64}"/>
              </a:ext>
            </a:extLst>
          </p:cNvPr>
          <p:cNvSpPr/>
          <p:nvPr/>
        </p:nvSpPr>
        <p:spPr>
          <a:xfrm>
            <a:off x="10557886" y="1453027"/>
            <a:ext cx="955796" cy="419510"/>
          </a:xfrm>
          <a:prstGeom prst="roundRect">
            <a:avLst/>
          </a:prstGeom>
          <a:solidFill>
            <a:srgbClr val="F5F9FD"/>
          </a:solidFill>
          <a:ln w="12700" cap="flat" cmpd="sng" algn="ctr">
            <a:solidFill>
              <a:srgbClr val="2F528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398" kern="0" dirty="0">
                <a:solidFill>
                  <a:prstClr val="black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线程取消机制</a:t>
            </a:r>
            <a:endParaRPr lang="en-US" altLang="zh-CN" sz="1398" kern="0" dirty="0">
              <a:solidFill>
                <a:prstClr val="black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8ED4D27-591E-412F-9D12-95DA1AFB52A9}"/>
              </a:ext>
            </a:extLst>
          </p:cNvPr>
          <p:cNvSpPr/>
          <p:nvPr/>
        </p:nvSpPr>
        <p:spPr>
          <a:xfrm>
            <a:off x="9508913" y="2049569"/>
            <a:ext cx="1402520" cy="43211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/>
            <a:r>
              <a:rPr lang="en-US" altLang="zh-CN" sz="1398" kern="0" dirty="0" err="1">
                <a:solidFill>
                  <a:schemeClr val="bg2">
                    <a:lumMod val="90000"/>
                  </a:schemeClr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ThreadLocal</a:t>
            </a:r>
            <a:r>
              <a:rPr lang="en-US" altLang="zh-CN" sz="1398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 </a:t>
            </a:r>
            <a:r>
              <a:rPr lang="zh-CN" altLang="en-US" sz="1398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类型</a:t>
            </a:r>
            <a:endParaRPr lang="en-US" altLang="zh-CN" sz="1398" kern="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94B0BBB-0348-4147-ADB9-1B0AFC6DAE22}"/>
              </a:ext>
            </a:extLst>
          </p:cNvPr>
          <p:cNvSpPr/>
          <p:nvPr/>
        </p:nvSpPr>
        <p:spPr>
          <a:xfrm>
            <a:off x="8145777" y="1453027"/>
            <a:ext cx="1169846" cy="419510"/>
          </a:xfrm>
          <a:prstGeom prst="roundRect">
            <a:avLst/>
          </a:prstGeom>
          <a:solidFill>
            <a:srgbClr val="F5F9FD"/>
          </a:solidFill>
          <a:ln w="12700" cap="flat" cmpd="sng" algn="ctr">
            <a:solidFill>
              <a:srgbClr val="2F528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398" kern="0" dirty="0">
                <a:solidFill>
                  <a:prstClr val="black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关键字 </a:t>
            </a:r>
            <a:r>
              <a:rPr lang="en-US" altLang="zh-CN" sz="1398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spawn</a:t>
            </a:r>
            <a:r>
              <a:rPr lang="en-US" altLang="zh-CN" sz="1398" kern="0" dirty="0">
                <a:solidFill>
                  <a:prstClr val="black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 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98F15E1-0FF2-4023-8476-2B121F776AF3}"/>
              </a:ext>
            </a:extLst>
          </p:cNvPr>
          <p:cNvSpPr/>
          <p:nvPr/>
        </p:nvSpPr>
        <p:spPr>
          <a:xfrm>
            <a:off x="9505544" y="1457757"/>
            <a:ext cx="955796" cy="419510"/>
          </a:xfrm>
          <a:prstGeom prst="roundRect">
            <a:avLst/>
          </a:prstGeom>
          <a:solidFill>
            <a:srgbClr val="F5F9FD"/>
          </a:solidFill>
          <a:ln w="12700" cap="flat" cmpd="sng" algn="ctr">
            <a:solidFill>
              <a:srgbClr val="2F528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en-US" altLang="zh-CN" sz="1398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Future</a:t>
            </a:r>
            <a:r>
              <a:rPr lang="en-US" altLang="zh-CN" sz="1398" kern="0" dirty="0">
                <a:solidFill>
                  <a:prstClr val="black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 </a:t>
            </a:r>
            <a:r>
              <a:rPr lang="zh-CN" altLang="en-US" sz="1398" kern="0" dirty="0">
                <a:solidFill>
                  <a:prstClr val="black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类型</a:t>
            </a:r>
            <a:endParaRPr lang="en-US" altLang="zh-CN" sz="1398" kern="0" dirty="0">
              <a:solidFill>
                <a:prstClr val="black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9DC5BFD-8F0C-4A2C-A005-55C06D410677}"/>
              </a:ext>
            </a:extLst>
          </p:cNvPr>
          <p:cNvSpPr/>
          <p:nvPr/>
        </p:nvSpPr>
        <p:spPr>
          <a:xfrm>
            <a:off x="8147432" y="3113494"/>
            <a:ext cx="1361481" cy="428500"/>
          </a:xfrm>
          <a:prstGeom prst="roundRect">
            <a:avLst/>
          </a:prstGeom>
          <a:solidFill>
            <a:srgbClr val="F5F9FD"/>
          </a:solidFill>
          <a:ln w="12700" cap="flat" cmpd="sng" algn="ctr">
            <a:solidFill>
              <a:srgbClr val="2F528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398" kern="0" dirty="0">
                <a:solidFill>
                  <a:prstClr val="black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可重入互斥锁</a:t>
            </a:r>
            <a:endParaRPr lang="en-US" altLang="zh-CN" sz="1398" kern="0" dirty="0">
              <a:solidFill>
                <a:prstClr val="black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C75DEAC-9C87-4E8E-BCAF-E6E8D6298D71}"/>
              </a:ext>
            </a:extLst>
          </p:cNvPr>
          <p:cNvSpPr/>
          <p:nvPr/>
        </p:nvSpPr>
        <p:spPr>
          <a:xfrm>
            <a:off x="6104565" y="4650611"/>
            <a:ext cx="1404114" cy="4285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40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共享内存通信</a:t>
            </a:r>
            <a:endParaRPr lang="en-US" altLang="zh-CN" sz="140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E9250DF-5E59-4DF7-80D1-85470AB752D5}"/>
              </a:ext>
            </a:extLst>
          </p:cNvPr>
          <p:cNvSpPr/>
          <p:nvPr/>
        </p:nvSpPr>
        <p:spPr>
          <a:xfrm>
            <a:off x="6104565" y="5389820"/>
            <a:ext cx="1404114" cy="4285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40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消息传递通信</a:t>
            </a:r>
            <a:endParaRPr lang="en-US" altLang="zh-CN" sz="140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34BD7ED-C75D-4F60-BB09-478F704A73B7}"/>
              </a:ext>
            </a:extLst>
          </p:cNvPr>
          <p:cNvSpPr/>
          <p:nvPr/>
        </p:nvSpPr>
        <p:spPr>
          <a:xfrm>
            <a:off x="10050115" y="4618228"/>
            <a:ext cx="1331158" cy="428500"/>
          </a:xfrm>
          <a:prstGeom prst="roundRect">
            <a:avLst/>
          </a:prstGeom>
          <a:solidFill>
            <a:srgbClr val="F5F9FD"/>
          </a:solidFill>
          <a:ln w="12700" cap="flat" cmpd="sng" algn="ctr">
            <a:solidFill>
              <a:srgbClr val="2F528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defTabSz="913668">
              <a:defRPr/>
            </a:pPr>
            <a:r>
              <a:rPr lang="zh-CN" altLang="en-US" sz="1398" kern="0" dirty="0">
                <a:solidFill>
                  <a:prstClr val="black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并发 </a:t>
            </a:r>
            <a:r>
              <a:rPr lang="en-US" altLang="zh-CN" sz="1398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HashMap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FF7AEB3-8BDF-4A26-B220-DF1C6DC0E656}"/>
              </a:ext>
            </a:extLst>
          </p:cNvPr>
          <p:cNvSpPr/>
          <p:nvPr/>
        </p:nvSpPr>
        <p:spPr>
          <a:xfrm>
            <a:off x="8155045" y="5382706"/>
            <a:ext cx="1098541" cy="4360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defTabSz="913668">
              <a:defRPr/>
            </a:pPr>
            <a:r>
              <a:rPr lang="zh-CN" altLang="en-US" sz="1398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共享队列</a:t>
            </a:r>
            <a:endParaRPr lang="en-US" altLang="zh-CN" sz="1398" kern="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03B40F0-4D65-4653-9798-4868964585D2}"/>
              </a:ext>
            </a:extLst>
          </p:cNvPr>
          <p:cNvCxnSpPr>
            <a:stCxn id="18" idx="3"/>
          </p:cNvCxnSpPr>
          <p:nvPr/>
        </p:nvCxnSpPr>
        <p:spPr>
          <a:xfrm>
            <a:off x="5459178" y="1967316"/>
            <a:ext cx="2876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B40005D-ECA3-49D7-AB11-44D6BB5E3258}"/>
              </a:ext>
            </a:extLst>
          </p:cNvPr>
          <p:cNvSpPr/>
          <p:nvPr/>
        </p:nvSpPr>
        <p:spPr>
          <a:xfrm>
            <a:off x="6104560" y="1453027"/>
            <a:ext cx="1404121" cy="3624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线程使用</a:t>
            </a:r>
            <a:endParaRPr lang="en-US" sz="140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5091AE3-37AC-486A-B8CD-06FE8FAF7613}"/>
              </a:ext>
            </a:extLst>
          </p:cNvPr>
          <p:cNvSpPr/>
          <p:nvPr/>
        </p:nvSpPr>
        <p:spPr>
          <a:xfrm>
            <a:off x="6098111" y="2075597"/>
            <a:ext cx="1410575" cy="3624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线程信息访问</a:t>
            </a:r>
            <a:endParaRPr lang="en-US" sz="140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1BA2A00-FFE1-46F3-BF9E-49317B0EE1D6}"/>
              </a:ext>
            </a:extLst>
          </p:cNvPr>
          <p:cNvSpPr/>
          <p:nvPr/>
        </p:nvSpPr>
        <p:spPr>
          <a:xfrm>
            <a:off x="6095999" y="3179554"/>
            <a:ext cx="1412689" cy="3624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临界区互斥</a:t>
            </a:r>
            <a:endParaRPr lang="en-US" sz="140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C9B6A3BC-C6B1-4E44-A9DC-1137C13C2C67}"/>
              </a:ext>
            </a:extLst>
          </p:cNvPr>
          <p:cNvSpPr/>
          <p:nvPr/>
        </p:nvSpPr>
        <p:spPr>
          <a:xfrm>
            <a:off x="6092637" y="3750833"/>
            <a:ext cx="1416055" cy="3624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等待</a:t>
            </a:r>
            <a:r>
              <a:rPr lang="en-US" altLang="zh-CN" sz="140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</a:t>
            </a:r>
            <a:r>
              <a:rPr lang="zh-CN" altLang="en-US" sz="140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唤醒同步</a:t>
            </a:r>
            <a:endParaRPr lang="en-US" sz="140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BBB1337-8838-42F8-8203-AF19D8DCBDB4}"/>
              </a:ext>
            </a:extLst>
          </p:cNvPr>
          <p:cNvCxnSpPr/>
          <p:nvPr/>
        </p:nvCxnSpPr>
        <p:spPr>
          <a:xfrm>
            <a:off x="5746854" y="1634247"/>
            <a:ext cx="0" cy="6225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D0801B1A-DA53-458B-9F12-283B259AFEA9}"/>
              </a:ext>
            </a:extLst>
          </p:cNvPr>
          <p:cNvGrpSpPr/>
          <p:nvPr/>
        </p:nvGrpSpPr>
        <p:grpSpPr>
          <a:xfrm>
            <a:off x="5459178" y="3268171"/>
            <a:ext cx="287676" cy="622570"/>
            <a:chOff x="5611578" y="1786647"/>
            <a:chExt cx="287676" cy="622570"/>
          </a:xfrm>
        </p:grpSpPr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649B40DB-FB8E-4CBC-99A9-DBA4BA41325D}"/>
                </a:ext>
              </a:extLst>
            </p:cNvPr>
            <p:cNvCxnSpPr/>
            <p:nvPr/>
          </p:nvCxnSpPr>
          <p:spPr>
            <a:xfrm>
              <a:off x="5611578" y="2119716"/>
              <a:ext cx="28767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EAEF05D9-F926-45DA-BB26-E57C4EB82F4E}"/>
                </a:ext>
              </a:extLst>
            </p:cNvPr>
            <p:cNvCxnSpPr/>
            <p:nvPr/>
          </p:nvCxnSpPr>
          <p:spPr>
            <a:xfrm>
              <a:off x="5899254" y="1786647"/>
              <a:ext cx="0" cy="62257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55D4A6BC-246F-49F0-98AA-9CE65C777E0C}"/>
              </a:ext>
            </a:extLst>
          </p:cNvPr>
          <p:cNvGrpSpPr/>
          <p:nvPr/>
        </p:nvGrpSpPr>
        <p:grpSpPr>
          <a:xfrm>
            <a:off x="5467740" y="4912468"/>
            <a:ext cx="287676" cy="622570"/>
            <a:chOff x="5611578" y="1786647"/>
            <a:chExt cx="287676" cy="622570"/>
          </a:xfrm>
        </p:grpSpPr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8C3892E3-8C89-4A28-B133-26F4B6C1D4DB}"/>
                </a:ext>
              </a:extLst>
            </p:cNvPr>
            <p:cNvCxnSpPr/>
            <p:nvPr/>
          </p:nvCxnSpPr>
          <p:spPr>
            <a:xfrm>
              <a:off x="5611578" y="2119716"/>
              <a:ext cx="28767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96C96E47-F0CD-469C-9427-04676F32E22F}"/>
                </a:ext>
              </a:extLst>
            </p:cNvPr>
            <p:cNvCxnSpPr/>
            <p:nvPr/>
          </p:nvCxnSpPr>
          <p:spPr>
            <a:xfrm>
              <a:off x="5899254" y="1786647"/>
              <a:ext cx="0" cy="62257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781BE8A-D939-4716-8F27-F1F7BBD08C04}"/>
              </a:ext>
            </a:extLst>
          </p:cNvPr>
          <p:cNvCxnSpPr/>
          <p:nvPr/>
        </p:nvCxnSpPr>
        <p:spPr>
          <a:xfrm>
            <a:off x="5755416" y="1634247"/>
            <a:ext cx="3405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1E770906-30D1-4061-8717-037CAFC8AAA5}"/>
              </a:ext>
            </a:extLst>
          </p:cNvPr>
          <p:cNvCxnSpPr/>
          <p:nvPr/>
        </p:nvCxnSpPr>
        <p:spPr>
          <a:xfrm>
            <a:off x="5746854" y="2256817"/>
            <a:ext cx="3405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E04C05D5-1A97-4687-BC4D-52B572EC26A1}"/>
              </a:ext>
            </a:extLst>
          </p:cNvPr>
          <p:cNvCxnSpPr/>
          <p:nvPr/>
        </p:nvCxnSpPr>
        <p:spPr>
          <a:xfrm>
            <a:off x="5746854" y="3268171"/>
            <a:ext cx="3405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FE28ABE-5219-4E1F-A5DF-B3A752D3F81E}"/>
              </a:ext>
            </a:extLst>
          </p:cNvPr>
          <p:cNvCxnSpPr/>
          <p:nvPr/>
        </p:nvCxnSpPr>
        <p:spPr>
          <a:xfrm>
            <a:off x="5746854" y="3890741"/>
            <a:ext cx="3405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A02A8DC8-5CAE-4E4C-A4AA-47C2A45B69D6}"/>
              </a:ext>
            </a:extLst>
          </p:cNvPr>
          <p:cNvCxnSpPr/>
          <p:nvPr/>
        </p:nvCxnSpPr>
        <p:spPr>
          <a:xfrm>
            <a:off x="5746854" y="4917009"/>
            <a:ext cx="3405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F54ABCBE-437D-4831-995D-99445D3CA3B6}"/>
              </a:ext>
            </a:extLst>
          </p:cNvPr>
          <p:cNvCxnSpPr/>
          <p:nvPr/>
        </p:nvCxnSpPr>
        <p:spPr>
          <a:xfrm>
            <a:off x="5746854" y="5544767"/>
            <a:ext cx="3405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双大括号 9">
            <a:extLst>
              <a:ext uri="{FF2B5EF4-FFF2-40B4-BE49-F238E27FC236}">
                <a16:creationId xmlns:a16="http://schemas.microsoft.com/office/drawing/2014/main" id="{E8E413C2-6A9C-40D5-8468-DD62B4FD09F3}"/>
              </a:ext>
            </a:extLst>
          </p:cNvPr>
          <p:cNvSpPr/>
          <p:nvPr/>
        </p:nvSpPr>
        <p:spPr>
          <a:xfrm>
            <a:off x="8000702" y="1414267"/>
            <a:ext cx="3753132" cy="463000"/>
          </a:xfrm>
          <a:prstGeom prst="bracePair">
            <a:avLst/>
          </a:prstGeom>
          <a:ln w="19050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双大括号 57">
            <a:extLst>
              <a:ext uri="{FF2B5EF4-FFF2-40B4-BE49-F238E27FC236}">
                <a16:creationId xmlns:a16="http://schemas.microsoft.com/office/drawing/2014/main" id="{5438DDB3-191A-4F2A-8CC9-C1AD009C796A}"/>
              </a:ext>
            </a:extLst>
          </p:cNvPr>
          <p:cNvSpPr/>
          <p:nvPr/>
        </p:nvSpPr>
        <p:spPr>
          <a:xfrm>
            <a:off x="7982706" y="2032776"/>
            <a:ext cx="3190117" cy="463000"/>
          </a:xfrm>
          <a:prstGeom prst="bracePair">
            <a:avLst/>
          </a:prstGeom>
          <a:ln w="19050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双大括号 58">
            <a:extLst>
              <a:ext uri="{FF2B5EF4-FFF2-40B4-BE49-F238E27FC236}">
                <a16:creationId xmlns:a16="http://schemas.microsoft.com/office/drawing/2014/main" id="{468399C7-85BF-4336-8471-4AFB138D7588}"/>
              </a:ext>
            </a:extLst>
          </p:cNvPr>
          <p:cNvSpPr/>
          <p:nvPr/>
        </p:nvSpPr>
        <p:spPr>
          <a:xfrm>
            <a:off x="8000702" y="3091605"/>
            <a:ext cx="3190117" cy="463000"/>
          </a:xfrm>
          <a:prstGeom prst="bracePair">
            <a:avLst/>
          </a:prstGeom>
          <a:ln w="19050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双大括号 59">
            <a:extLst>
              <a:ext uri="{FF2B5EF4-FFF2-40B4-BE49-F238E27FC236}">
                <a16:creationId xmlns:a16="http://schemas.microsoft.com/office/drawing/2014/main" id="{6EDEE5B8-D0F0-4447-B7FF-2B3072FEEAD7}"/>
              </a:ext>
            </a:extLst>
          </p:cNvPr>
          <p:cNvSpPr/>
          <p:nvPr/>
        </p:nvSpPr>
        <p:spPr>
          <a:xfrm>
            <a:off x="7997349" y="3739785"/>
            <a:ext cx="3753132" cy="463000"/>
          </a:xfrm>
          <a:prstGeom prst="bracePair">
            <a:avLst/>
          </a:prstGeom>
          <a:ln w="19050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双大括号 60">
            <a:extLst>
              <a:ext uri="{FF2B5EF4-FFF2-40B4-BE49-F238E27FC236}">
                <a16:creationId xmlns:a16="http://schemas.microsoft.com/office/drawing/2014/main" id="{8D0CEC08-621D-43CF-AB78-01872F311D10}"/>
              </a:ext>
            </a:extLst>
          </p:cNvPr>
          <p:cNvSpPr/>
          <p:nvPr/>
        </p:nvSpPr>
        <p:spPr>
          <a:xfrm>
            <a:off x="7997349" y="4614311"/>
            <a:ext cx="3516329" cy="463000"/>
          </a:xfrm>
          <a:prstGeom prst="bracePair">
            <a:avLst/>
          </a:prstGeom>
          <a:ln w="19050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双大括号 61">
            <a:extLst>
              <a:ext uri="{FF2B5EF4-FFF2-40B4-BE49-F238E27FC236}">
                <a16:creationId xmlns:a16="http://schemas.microsoft.com/office/drawing/2014/main" id="{BF773BD3-84C0-4D16-A380-F6F4810448AC}"/>
              </a:ext>
            </a:extLst>
          </p:cNvPr>
          <p:cNvSpPr/>
          <p:nvPr/>
        </p:nvSpPr>
        <p:spPr>
          <a:xfrm>
            <a:off x="7997350" y="5375272"/>
            <a:ext cx="1404114" cy="463000"/>
          </a:xfrm>
          <a:prstGeom prst="bracePair">
            <a:avLst/>
          </a:prstGeom>
          <a:ln w="19050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43C2640-39EA-4E54-8A6A-E0B1F00B29BC}"/>
              </a:ext>
            </a:extLst>
          </p:cNvPr>
          <p:cNvCxnSpPr>
            <a:cxnSpLocks/>
          </p:cNvCxnSpPr>
          <p:nvPr/>
        </p:nvCxnSpPr>
        <p:spPr>
          <a:xfrm>
            <a:off x="7561704" y="1645767"/>
            <a:ext cx="2786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DACBF44E-AB45-4B23-817D-F51D78FB65F6}"/>
              </a:ext>
            </a:extLst>
          </p:cNvPr>
          <p:cNvCxnSpPr>
            <a:cxnSpLocks/>
          </p:cNvCxnSpPr>
          <p:nvPr/>
        </p:nvCxnSpPr>
        <p:spPr>
          <a:xfrm>
            <a:off x="7574798" y="2264276"/>
            <a:ext cx="2786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C2437BB8-113D-4C89-A909-AB594332D401}"/>
              </a:ext>
            </a:extLst>
          </p:cNvPr>
          <p:cNvCxnSpPr>
            <a:cxnSpLocks/>
          </p:cNvCxnSpPr>
          <p:nvPr/>
        </p:nvCxnSpPr>
        <p:spPr>
          <a:xfrm>
            <a:off x="7577462" y="3346323"/>
            <a:ext cx="2786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A4D8E2E6-8D11-42B8-A649-78F1B3D4A9F4}"/>
              </a:ext>
            </a:extLst>
          </p:cNvPr>
          <p:cNvCxnSpPr>
            <a:cxnSpLocks/>
          </p:cNvCxnSpPr>
          <p:nvPr/>
        </p:nvCxnSpPr>
        <p:spPr>
          <a:xfrm>
            <a:off x="7590556" y="3964832"/>
            <a:ext cx="2786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86F38609-2583-4A15-A779-5BF9A10DF195}"/>
              </a:ext>
            </a:extLst>
          </p:cNvPr>
          <p:cNvCxnSpPr>
            <a:cxnSpLocks/>
          </p:cNvCxnSpPr>
          <p:nvPr/>
        </p:nvCxnSpPr>
        <p:spPr>
          <a:xfrm>
            <a:off x="7561704" y="4864861"/>
            <a:ext cx="2786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E770A7C9-D038-4314-8D55-DE753043905E}"/>
              </a:ext>
            </a:extLst>
          </p:cNvPr>
          <p:cNvCxnSpPr>
            <a:cxnSpLocks/>
          </p:cNvCxnSpPr>
          <p:nvPr/>
        </p:nvCxnSpPr>
        <p:spPr>
          <a:xfrm>
            <a:off x="7561704" y="5600721"/>
            <a:ext cx="2786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ED8757F-912B-4411-B1D3-7DCCA638C0C3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3493007" y="1967316"/>
            <a:ext cx="454502" cy="16121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FA5C5D3E-6A9F-4C94-9ADB-9E669FC80837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3493007" y="3589184"/>
            <a:ext cx="454501" cy="16578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593AB1D2-FFF4-49A3-A423-3980342975F0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3493007" y="3589184"/>
            <a:ext cx="4545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9" name="图形 78">
            <a:extLst>
              <a:ext uri="{FF2B5EF4-FFF2-40B4-BE49-F238E27FC236}">
                <a16:creationId xmlns:a16="http://schemas.microsoft.com/office/drawing/2014/main" id="{01C9C310-7168-401D-9F37-5F42FEFB5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0316" y="948819"/>
            <a:ext cx="454503" cy="454503"/>
          </a:xfrm>
          <a:prstGeom prst="rect">
            <a:avLst/>
          </a:prstGeom>
        </p:spPr>
      </p:pic>
      <p:pic>
        <p:nvPicPr>
          <p:cNvPr id="80" name="图形 79">
            <a:extLst>
              <a:ext uri="{FF2B5EF4-FFF2-40B4-BE49-F238E27FC236}">
                <a16:creationId xmlns:a16="http://schemas.microsoft.com/office/drawing/2014/main" id="{DCC006E1-3D4D-42FD-916A-E2FB0E9B9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0920" y="2709283"/>
            <a:ext cx="454503" cy="454503"/>
          </a:xfrm>
          <a:prstGeom prst="rect">
            <a:avLst/>
          </a:prstGeom>
        </p:spPr>
      </p:pic>
      <p:pic>
        <p:nvPicPr>
          <p:cNvPr id="81" name="图形 80">
            <a:extLst>
              <a:ext uri="{FF2B5EF4-FFF2-40B4-BE49-F238E27FC236}">
                <a16:creationId xmlns:a16="http://schemas.microsoft.com/office/drawing/2014/main" id="{31CCC70D-CB66-47D7-886B-FED966B22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04670" y="4221166"/>
            <a:ext cx="454503" cy="454503"/>
          </a:xfrm>
          <a:prstGeom prst="rect">
            <a:avLst/>
          </a:prstGeom>
        </p:spPr>
      </p:pic>
      <p:grpSp>
        <p:nvGrpSpPr>
          <p:cNvPr id="84" name="组合 83">
            <a:extLst>
              <a:ext uri="{FF2B5EF4-FFF2-40B4-BE49-F238E27FC236}">
                <a16:creationId xmlns:a16="http://schemas.microsoft.com/office/drawing/2014/main" id="{DDB70E57-15F4-42D1-B718-0BD1CAA38344}"/>
              </a:ext>
            </a:extLst>
          </p:cNvPr>
          <p:cNvGrpSpPr/>
          <p:nvPr/>
        </p:nvGrpSpPr>
        <p:grpSpPr>
          <a:xfrm>
            <a:off x="4929364" y="6189935"/>
            <a:ext cx="2924045" cy="454503"/>
            <a:chOff x="4929364" y="6189935"/>
            <a:chExt cx="2924045" cy="454503"/>
          </a:xfrm>
        </p:grpSpPr>
        <p:sp>
          <p:nvSpPr>
            <p:cNvPr id="82" name="页脚占位符 66">
              <a:extLst>
                <a:ext uri="{FF2B5EF4-FFF2-40B4-BE49-F238E27FC236}">
                  <a16:creationId xmlns:a16="http://schemas.microsoft.com/office/drawing/2014/main" id="{DAD7FB65-B70C-4FED-82B1-B44E58A0986D}"/>
                </a:ext>
              </a:extLst>
            </p:cNvPr>
            <p:cNvSpPr txBox="1">
              <a:spLocks/>
            </p:cNvSpPr>
            <p:nvPr/>
          </p:nvSpPr>
          <p:spPr>
            <a:xfrm>
              <a:off x="5300912" y="6247850"/>
              <a:ext cx="2552497" cy="344395"/>
            </a:xfrm>
            <a:prstGeom prst="rect">
              <a:avLst/>
            </a:prstGeom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本次报告涉及的分享内容</a:t>
              </a:r>
            </a:p>
          </p:txBody>
        </p:sp>
        <p:pic>
          <p:nvPicPr>
            <p:cNvPr id="83" name="图形 82">
              <a:extLst>
                <a:ext uri="{FF2B5EF4-FFF2-40B4-BE49-F238E27FC236}">
                  <a16:creationId xmlns:a16="http://schemas.microsoft.com/office/drawing/2014/main" id="{DC47140C-E02A-4013-B23F-F741B5DF3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29364" y="6189935"/>
              <a:ext cx="454503" cy="4545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4808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A77A4E-57DC-48EA-B4DF-BCC5C1836700}"/>
              </a:ext>
            </a:extLst>
          </p:cNvPr>
          <p:cNvSpPr txBox="1"/>
          <p:nvPr/>
        </p:nvSpPr>
        <p:spPr>
          <a:xfrm>
            <a:off x="572868" y="563153"/>
            <a:ext cx="6684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仓颉线程使用示例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97B8EB7-92D4-4A05-9450-F78383DA9870}"/>
              </a:ext>
            </a:extLst>
          </p:cNvPr>
          <p:cNvSpPr txBox="1"/>
          <p:nvPr/>
        </p:nvSpPr>
        <p:spPr>
          <a:xfrm>
            <a:off x="1317979" y="2992738"/>
            <a:ext cx="43924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let future: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C7000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Future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&lt;String&gt; =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spawn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{ 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return “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Cangjie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”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}</a:t>
            </a: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  <a:p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let result: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future.</a:t>
            </a:r>
            <a:r>
              <a:rPr lang="en-US" sz="1600" dirty="0" err="1">
                <a:solidFill>
                  <a:srgbClr val="C7000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get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()</a:t>
            </a: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  <a:p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println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(“hello ${result}”)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11F5C1-B307-411C-A45A-6E7E37D6DA7D}"/>
              </a:ext>
            </a:extLst>
          </p:cNvPr>
          <p:cNvSpPr txBox="1"/>
          <p:nvPr/>
        </p:nvSpPr>
        <p:spPr>
          <a:xfrm>
            <a:off x="3838258" y="1819794"/>
            <a:ext cx="3295967" cy="919401"/>
          </a:xfrm>
          <a:prstGeom prst="wedgeRoundRectCallout">
            <a:avLst>
              <a:gd name="adj1" fmla="val -11477"/>
              <a:gd name="adj2" fmla="val 83385"/>
              <a:gd name="adj3" fmla="val 16667"/>
            </a:avLst>
          </a:prstGeom>
          <a:solidFill>
            <a:schemeClr val="bg1"/>
          </a:solidFill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1.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关键字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spawn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尾随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lambda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函数，新建仓颉线程并返回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Future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对象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1EB4CBE-8C4F-4753-9F9B-A80A886FF544}"/>
              </a:ext>
            </a:extLst>
          </p:cNvPr>
          <p:cNvSpPr txBox="1"/>
          <p:nvPr/>
        </p:nvSpPr>
        <p:spPr>
          <a:xfrm>
            <a:off x="954187" y="2133398"/>
            <a:ext cx="2590368" cy="646986"/>
          </a:xfrm>
          <a:prstGeom prst="wedgeRoundRectCallout">
            <a:avLst>
              <a:gd name="adj1" fmla="val 33287"/>
              <a:gd name="adj2" fmla="val 76423"/>
              <a:gd name="adj3" fmla="val 16667"/>
            </a:avLst>
          </a:prstGeom>
          <a:solidFill>
            <a:schemeClr val="bg1"/>
          </a:solidFill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2.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类型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Future&lt;T&gt;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包装了线程的执行结果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60530F9-6139-4932-95BD-7F950D1F4573}"/>
              </a:ext>
            </a:extLst>
          </p:cNvPr>
          <p:cNvSpPr txBox="1"/>
          <p:nvPr/>
        </p:nvSpPr>
        <p:spPr>
          <a:xfrm>
            <a:off x="4279728" y="4602462"/>
            <a:ext cx="2597322" cy="919401"/>
          </a:xfrm>
          <a:prstGeom prst="wedgeRoundRectCallout">
            <a:avLst>
              <a:gd name="adj1" fmla="val -31681"/>
              <a:gd name="adj2" fmla="val -82392"/>
              <a:gd name="adj3" fmla="val 16667"/>
            </a:avLst>
          </a:prstGeom>
          <a:solidFill>
            <a:srgbClr val="FFFFFF"/>
          </a:solidFill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3. Future&lt;T&gt;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的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get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()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方法等待线程的执行结束并获取实际结果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AEC84D3-8E4C-4B00-A5F5-0D7E4621E27F}"/>
              </a:ext>
            </a:extLst>
          </p:cNvPr>
          <p:cNvCxnSpPr>
            <a:cxnSpLocks/>
          </p:cNvCxnSpPr>
          <p:nvPr/>
        </p:nvCxnSpPr>
        <p:spPr>
          <a:xfrm>
            <a:off x="7941877" y="2570408"/>
            <a:ext cx="0" cy="2130983"/>
          </a:xfrm>
          <a:prstGeom prst="line">
            <a:avLst/>
          </a:prstGeom>
          <a:noFill/>
          <a:ln w="19050" cap="flat" cmpd="sng" algn="ctr">
            <a:solidFill>
              <a:srgbClr val="1D1D1A"/>
            </a:solidFill>
            <a:prstDash val="solid"/>
            <a:miter lim="800000"/>
          </a:ln>
          <a:effectLst/>
        </p:spPr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E934B84E-A229-4336-9C20-B832C09B1915}"/>
              </a:ext>
            </a:extLst>
          </p:cNvPr>
          <p:cNvSpPr/>
          <p:nvPr/>
        </p:nvSpPr>
        <p:spPr>
          <a:xfrm>
            <a:off x="7624073" y="2877618"/>
            <a:ext cx="681597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spawn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FrutigerNext LT Regular" pitchFamily="34" charset="0"/>
              <a:ea typeface="MS PGothic" pitchFamily="34" charset="-128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5A503D-3945-49CD-A413-7BC5F306E6BA}"/>
              </a:ext>
            </a:extLst>
          </p:cNvPr>
          <p:cNvSpPr/>
          <p:nvPr/>
        </p:nvSpPr>
        <p:spPr>
          <a:xfrm>
            <a:off x="9001194" y="3133029"/>
            <a:ext cx="13773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nsolas" panose="020B0609020204030204" pitchFamily="49" charset="0"/>
                <a:ea typeface="MS PGothic" pitchFamily="34" charset="-128"/>
              </a:rPr>
              <a:t>Thread start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onsolas" panose="020B0609020204030204" pitchFamily="49" charset="0"/>
              <a:ea typeface="MS PGothic" pitchFamily="34" charset="-128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90B5A12-4A23-4E34-949C-34BA5FE969EF}"/>
              </a:ext>
            </a:extLst>
          </p:cNvPr>
          <p:cNvSpPr/>
          <p:nvPr/>
        </p:nvSpPr>
        <p:spPr>
          <a:xfrm>
            <a:off x="9079889" y="3825478"/>
            <a:ext cx="11785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nsolas" panose="020B0609020204030204" pitchFamily="49" charset="0"/>
                <a:ea typeface="MS PGothic" pitchFamily="34" charset="-128"/>
              </a:rPr>
              <a:t>Thread end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onsolas" panose="020B0609020204030204" pitchFamily="49" charset="0"/>
              <a:ea typeface="MS PGothic" pitchFamily="34" charset="-128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7D24D5F-82F9-4346-9A8A-59092FF24524}"/>
              </a:ext>
            </a:extLst>
          </p:cNvPr>
          <p:cNvSpPr/>
          <p:nvPr/>
        </p:nvSpPr>
        <p:spPr>
          <a:xfrm>
            <a:off x="7433284" y="3990504"/>
            <a:ext cx="1377300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future.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get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()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FrutigerNext LT Regular" pitchFamily="34" charset="0"/>
              <a:ea typeface="MS PGothic" pitchFamily="34" charset="-128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BF261D11-59DE-4739-961B-10E6525D23B5}"/>
              </a:ext>
            </a:extLst>
          </p:cNvPr>
          <p:cNvCxnSpPr>
            <a:stCxn id="22" idx="3"/>
            <a:endCxn id="23" idx="1"/>
          </p:cNvCxnSpPr>
          <p:nvPr/>
        </p:nvCxnSpPr>
        <p:spPr>
          <a:xfrm>
            <a:off x="8305670" y="3031507"/>
            <a:ext cx="695524" cy="255411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3B791D7-5BB9-41C4-AF39-6FB20003EA51}"/>
              </a:ext>
            </a:extLst>
          </p:cNvPr>
          <p:cNvCxnSpPr>
            <a:cxnSpLocks/>
            <a:stCxn id="24" idx="1"/>
            <a:endCxn id="25" idx="3"/>
          </p:cNvCxnSpPr>
          <p:nvPr/>
        </p:nvCxnSpPr>
        <p:spPr>
          <a:xfrm flipH="1">
            <a:off x="8810584" y="3979367"/>
            <a:ext cx="269305" cy="165026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CD2B1F3-E2C6-402E-A5BF-6B399A843DB8}"/>
              </a:ext>
            </a:extLst>
          </p:cNvPr>
          <p:cNvCxnSpPr>
            <a:cxnSpLocks/>
          </p:cNvCxnSpPr>
          <p:nvPr/>
        </p:nvCxnSpPr>
        <p:spPr>
          <a:xfrm>
            <a:off x="9500402" y="3415585"/>
            <a:ext cx="0" cy="456299"/>
          </a:xfrm>
          <a:prstGeom prst="line">
            <a:avLst/>
          </a:prstGeom>
          <a:noFill/>
          <a:ln w="19050" cap="flat" cmpd="sng" algn="ctr">
            <a:solidFill>
              <a:srgbClr val="1D1D1A"/>
            </a:solidFill>
            <a:prstDash val="solid"/>
            <a:miter lim="800000"/>
          </a:ln>
          <a:effectLst/>
        </p:spPr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F33C2C0F-A312-4351-A9EF-7B01EA30C340}"/>
              </a:ext>
            </a:extLst>
          </p:cNvPr>
          <p:cNvSpPr/>
          <p:nvPr/>
        </p:nvSpPr>
        <p:spPr>
          <a:xfrm>
            <a:off x="9541501" y="3482012"/>
            <a:ext cx="161775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执行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</a:rPr>
              <a:t>lambda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函数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4583D33-6974-467C-94C9-A0639D7F7CD9}"/>
              </a:ext>
            </a:extLst>
          </p:cNvPr>
          <p:cNvSpPr txBox="1"/>
          <p:nvPr/>
        </p:nvSpPr>
        <p:spPr>
          <a:xfrm>
            <a:off x="8312545" y="4836841"/>
            <a:ext cx="1377297" cy="462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ts val="344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执行时序图示</a:t>
            </a:r>
            <a:endParaRPr lang="en-US" sz="1400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81ACB8B6-B58F-4BFD-8F64-34E634B31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2462-3951-534C-B2EB-31A3E742C104}" type="slidenum">
              <a:rPr kumimoji="1" lang="zh-CN" altLang="en-US" smtClean="0"/>
              <a:t>7</a:t>
            </a:fld>
            <a:endParaRPr kumimoji="1"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A398BD2-8924-4910-873D-8386B79D0A59}"/>
              </a:ext>
            </a:extLst>
          </p:cNvPr>
          <p:cNvSpPr/>
          <p:nvPr/>
        </p:nvSpPr>
        <p:spPr>
          <a:xfrm>
            <a:off x="10729608" y="862656"/>
            <a:ext cx="1143457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并发数据结构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01CE520-0826-4A89-AA5B-65F1ABA62B61}"/>
              </a:ext>
            </a:extLst>
          </p:cNvPr>
          <p:cNvSpPr/>
          <p:nvPr/>
        </p:nvSpPr>
        <p:spPr>
          <a:xfrm>
            <a:off x="10729609" y="555838"/>
            <a:ext cx="1143457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可重入互斥锁</a:t>
            </a:r>
            <a:endParaRPr lang="en-US" altLang="zh-CN" sz="1000" kern="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916E8BF5-FF6F-491D-880A-4354FC7AA4B7}"/>
              </a:ext>
            </a:extLst>
          </p:cNvPr>
          <p:cNvSpPr/>
          <p:nvPr/>
        </p:nvSpPr>
        <p:spPr>
          <a:xfrm>
            <a:off x="10729609" y="249020"/>
            <a:ext cx="1143456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线程使用</a:t>
            </a:r>
            <a:endParaRPr lang="en-US" sz="1000" kern="0" dirty="0"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pic>
        <p:nvPicPr>
          <p:cNvPr id="50" name="图形 49">
            <a:extLst>
              <a:ext uri="{FF2B5EF4-FFF2-40B4-BE49-F238E27FC236}">
                <a16:creationId xmlns:a16="http://schemas.microsoft.com/office/drawing/2014/main" id="{0C15AB41-904A-458E-8A37-BBD1304F7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6667" y="249020"/>
            <a:ext cx="352942" cy="35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97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 174">
            <a:extLst>
              <a:ext uri="{FF2B5EF4-FFF2-40B4-BE49-F238E27FC236}">
                <a16:creationId xmlns:a16="http://schemas.microsoft.com/office/drawing/2014/main" id="{52F66E70-C06B-4B69-AE7A-4052024564B8}"/>
              </a:ext>
            </a:extLst>
          </p:cNvPr>
          <p:cNvSpPr/>
          <p:nvPr/>
        </p:nvSpPr>
        <p:spPr>
          <a:xfrm>
            <a:off x="2204859" y="1510356"/>
            <a:ext cx="7599894" cy="3931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Microsoft YaHei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44C73CC0-F017-47EA-AB3D-9EEAF9D09711}"/>
              </a:ext>
            </a:extLst>
          </p:cNvPr>
          <p:cNvSpPr/>
          <p:nvPr/>
        </p:nvSpPr>
        <p:spPr>
          <a:xfrm>
            <a:off x="2204860" y="5351879"/>
            <a:ext cx="7599894" cy="11213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Microsoft YaHei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1A77A4E-57DC-48EA-B4DF-BCC5C1836700}"/>
              </a:ext>
            </a:extLst>
          </p:cNvPr>
          <p:cNvSpPr txBox="1"/>
          <p:nvPr/>
        </p:nvSpPr>
        <p:spPr>
          <a:xfrm>
            <a:off x="572868" y="563153"/>
            <a:ext cx="6684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仓颉线程实现概览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6FEFCA20-8235-4E12-8CA4-11905F403ED0}"/>
              </a:ext>
            </a:extLst>
          </p:cNvPr>
          <p:cNvSpPr txBox="1"/>
          <p:nvPr/>
        </p:nvSpPr>
        <p:spPr>
          <a:xfrm>
            <a:off x="5015609" y="295652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全局队列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32DFEC88-EFA7-4476-924F-F036E795BFD2}"/>
              </a:ext>
            </a:extLst>
          </p:cNvPr>
          <p:cNvSpPr txBox="1"/>
          <p:nvPr/>
        </p:nvSpPr>
        <p:spPr>
          <a:xfrm>
            <a:off x="3501335" y="3817570"/>
            <a:ext cx="1313180" cy="2616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仓颉线程本地队列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08A52A2D-62A8-4934-A2A8-3FA8D30183CE}"/>
              </a:ext>
            </a:extLst>
          </p:cNvPr>
          <p:cNvSpPr/>
          <p:nvPr/>
        </p:nvSpPr>
        <p:spPr>
          <a:xfrm>
            <a:off x="3822036" y="4811722"/>
            <a:ext cx="633067" cy="36872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700" kern="0" dirty="0">
                <a:solidFill>
                  <a:prstClr val="black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P</a:t>
            </a: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rocessor</a:t>
            </a:r>
            <a:endParaRPr kumimoji="0" lang="zh-CN" altLang="en-US" sz="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icrosoft YaHei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834B2F32-005D-4404-8593-6E4561DB448E}"/>
              </a:ext>
            </a:extLst>
          </p:cNvPr>
          <p:cNvSpPr/>
          <p:nvPr/>
        </p:nvSpPr>
        <p:spPr>
          <a:xfrm>
            <a:off x="7069552" y="4755265"/>
            <a:ext cx="633067" cy="36872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700" kern="0" dirty="0">
                <a:solidFill>
                  <a:prstClr val="black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P</a:t>
            </a: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rocessor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icrosoft YaHei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C839E2AB-2238-482D-A90F-1941603150F9}"/>
              </a:ext>
            </a:extLst>
          </p:cNvPr>
          <p:cNvSpPr/>
          <p:nvPr/>
        </p:nvSpPr>
        <p:spPr>
          <a:xfrm>
            <a:off x="5366656" y="4770378"/>
            <a:ext cx="633067" cy="36872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700" kern="0" dirty="0">
                <a:solidFill>
                  <a:prstClr val="black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P</a:t>
            </a: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rocessor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icrosoft YaHei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908D7510-B0F9-48BB-9B64-39CB6721C1E3}"/>
              </a:ext>
            </a:extLst>
          </p:cNvPr>
          <p:cNvSpPr/>
          <p:nvPr/>
        </p:nvSpPr>
        <p:spPr>
          <a:xfrm>
            <a:off x="3310378" y="6020447"/>
            <a:ext cx="5778917" cy="29951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操作系统</a:t>
            </a:r>
          </a:p>
        </p:txBody>
      </p:sp>
      <p:sp>
        <p:nvSpPr>
          <p:cNvPr id="126" name="矩形: 圆角 24">
            <a:extLst>
              <a:ext uri="{FF2B5EF4-FFF2-40B4-BE49-F238E27FC236}">
                <a16:creationId xmlns:a16="http://schemas.microsoft.com/office/drawing/2014/main" id="{75939D49-C22C-40E1-ACE6-7DD78816C4FA}"/>
              </a:ext>
            </a:extLst>
          </p:cNvPr>
          <p:cNvSpPr/>
          <p:nvPr/>
        </p:nvSpPr>
        <p:spPr>
          <a:xfrm>
            <a:off x="4340045" y="6542225"/>
            <a:ext cx="470377" cy="225839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cpu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icrosoft YaHei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27" name="矩形: 圆角 108">
            <a:extLst>
              <a:ext uri="{FF2B5EF4-FFF2-40B4-BE49-F238E27FC236}">
                <a16:creationId xmlns:a16="http://schemas.microsoft.com/office/drawing/2014/main" id="{38FF2A34-5C39-4152-912B-A9FD7CED4417}"/>
              </a:ext>
            </a:extLst>
          </p:cNvPr>
          <p:cNvSpPr/>
          <p:nvPr/>
        </p:nvSpPr>
        <p:spPr>
          <a:xfrm>
            <a:off x="5461424" y="6542225"/>
            <a:ext cx="470377" cy="225839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cpu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icrosoft YaHei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28" name="矩形: 圆角 109">
            <a:extLst>
              <a:ext uri="{FF2B5EF4-FFF2-40B4-BE49-F238E27FC236}">
                <a16:creationId xmlns:a16="http://schemas.microsoft.com/office/drawing/2014/main" id="{8650CE5F-107C-441F-AB96-FCFAB39918EE}"/>
              </a:ext>
            </a:extLst>
          </p:cNvPr>
          <p:cNvSpPr/>
          <p:nvPr/>
        </p:nvSpPr>
        <p:spPr>
          <a:xfrm>
            <a:off x="6594164" y="6542225"/>
            <a:ext cx="470377" cy="225839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cpu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icrosoft YaHei" panose="020B0503020204020204" pitchFamily="34" charset="-122"/>
              <a:sym typeface="Calibri" panose="020F0502020204030204" pitchFamily="34" charset="0"/>
            </a:endParaRPr>
          </a:p>
        </p:txBody>
      </p: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D1E6892F-EC79-4CBF-8D43-4A6B830D8E72}"/>
              </a:ext>
            </a:extLst>
          </p:cNvPr>
          <p:cNvCxnSpPr>
            <a:cxnSpLocks/>
            <a:endCxn id="106" idx="0"/>
          </p:cNvCxnSpPr>
          <p:nvPr/>
        </p:nvCxnSpPr>
        <p:spPr>
          <a:xfrm>
            <a:off x="4137734" y="4566745"/>
            <a:ext cx="836" cy="244977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E8C4C3C6-77F4-4C09-99DC-F807F844C7AE}"/>
              </a:ext>
            </a:extLst>
          </p:cNvPr>
          <p:cNvCxnSpPr>
            <a:cxnSpLocks/>
            <a:endCxn id="123" idx="0"/>
          </p:cNvCxnSpPr>
          <p:nvPr/>
        </p:nvCxnSpPr>
        <p:spPr>
          <a:xfrm>
            <a:off x="5683190" y="4549519"/>
            <a:ext cx="0" cy="220859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01258737-6264-456E-BA8A-30634F86E3D3}"/>
              </a:ext>
            </a:extLst>
          </p:cNvPr>
          <p:cNvCxnSpPr>
            <a:cxnSpLocks/>
            <a:endCxn id="122" idx="0"/>
          </p:cNvCxnSpPr>
          <p:nvPr/>
        </p:nvCxnSpPr>
        <p:spPr>
          <a:xfrm>
            <a:off x="7386086" y="4549519"/>
            <a:ext cx="0" cy="205746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69DE5344-F221-40B2-98C2-CD3ACAB20607}"/>
              </a:ext>
            </a:extLst>
          </p:cNvPr>
          <p:cNvCxnSpPr>
            <a:cxnSpLocks/>
            <a:stCxn id="167" idx="0"/>
            <a:endCxn id="123" idx="2"/>
          </p:cNvCxnSpPr>
          <p:nvPr/>
        </p:nvCxnSpPr>
        <p:spPr>
          <a:xfrm flipV="1">
            <a:off x="5341601" y="5139098"/>
            <a:ext cx="341589" cy="260475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F33926B1-6C8D-4F89-9924-A382C084DD32}"/>
              </a:ext>
            </a:extLst>
          </p:cNvPr>
          <p:cNvCxnSpPr>
            <a:cxnSpLocks/>
            <a:stCxn id="170" idx="0"/>
            <a:endCxn id="122" idx="2"/>
          </p:cNvCxnSpPr>
          <p:nvPr/>
        </p:nvCxnSpPr>
        <p:spPr>
          <a:xfrm flipV="1">
            <a:off x="6671973" y="5123985"/>
            <a:ext cx="714113" cy="305197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D6FE664F-7DE4-49D8-A86E-AD7897171391}"/>
              </a:ext>
            </a:extLst>
          </p:cNvPr>
          <p:cNvCxnSpPr>
            <a:cxnSpLocks/>
          </p:cNvCxnSpPr>
          <p:nvPr/>
        </p:nvCxnSpPr>
        <p:spPr>
          <a:xfrm flipV="1">
            <a:off x="4134973" y="5839523"/>
            <a:ext cx="0" cy="180923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853EDAFF-D86E-4D13-B2CD-8291C535ADFF}"/>
              </a:ext>
            </a:extLst>
          </p:cNvPr>
          <p:cNvCxnSpPr>
            <a:cxnSpLocks/>
          </p:cNvCxnSpPr>
          <p:nvPr/>
        </p:nvCxnSpPr>
        <p:spPr>
          <a:xfrm flipV="1">
            <a:off x="5339808" y="5833229"/>
            <a:ext cx="0" cy="192835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88EDEA47-5C43-417D-ABA4-BFD5A682A8E1}"/>
              </a:ext>
            </a:extLst>
          </p:cNvPr>
          <p:cNvCxnSpPr>
            <a:cxnSpLocks/>
          </p:cNvCxnSpPr>
          <p:nvPr/>
        </p:nvCxnSpPr>
        <p:spPr>
          <a:xfrm flipH="1" flipV="1">
            <a:off x="6656127" y="5847202"/>
            <a:ext cx="1" cy="173781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153FB1BF-3ADC-4A33-BCE5-E5FC3EEA4A80}"/>
              </a:ext>
            </a:extLst>
          </p:cNvPr>
          <p:cNvCxnSpPr>
            <a:cxnSpLocks/>
            <a:stCxn id="126" idx="0"/>
          </p:cNvCxnSpPr>
          <p:nvPr/>
        </p:nvCxnSpPr>
        <p:spPr>
          <a:xfrm flipV="1">
            <a:off x="4575234" y="6319959"/>
            <a:ext cx="0" cy="22226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46C37C97-A36B-405F-AB78-6936466A45B5}"/>
              </a:ext>
            </a:extLst>
          </p:cNvPr>
          <p:cNvCxnSpPr>
            <a:cxnSpLocks/>
          </p:cNvCxnSpPr>
          <p:nvPr/>
        </p:nvCxnSpPr>
        <p:spPr>
          <a:xfrm flipH="1" flipV="1">
            <a:off x="5691888" y="6325173"/>
            <a:ext cx="491" cy="22464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40B298C0-0A72-4FBF-AB27-E97DFCB9B145}"/>
              </a:ext>
            </a:extLst>
          </p:cNvPr>
          <p:cNvCxnSpPr>
            <a:cxnSpLocks/>
          </p:cNvCxnSpPr>
          <p:nvPr/>
        </p:nvCxnSpPr>
        <p:spPr>
          <a:xfrm flipH="1" flipV="1">
            <a:off x="6825520" y="6316386"/>
            <a:ext cx="3832" cy="22583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5" name="文本框 144">
            <a:extLst>
              <a:ext uri="{FF2B5EF4-FFF2-40B4-BE49-F238E27FC236}">
                <a16:creationId xmlns:a16="http://schemas.microsoft.com/office/drawing/2014/main" id="{BD858AB6-12FD-4A59-93E1-03DE49F067FB}"/>
              </a:ext>
            </a:extLst>
          </p:cNvPr>
          <p:cNvSpPr txBox="1"/>
          <p:nvPr/>
        </p:nvSpPr>
        <p:spPr>
          <a:xfrm>
            <a:off x="3103755" y="239347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调度器</a:t>
            </a:r>
          </a:p>
        </p:txBody>
      </p:sp>
      <p:sp>
        <p:nvSpPr>
          <p:cNvPr id="156" name="矩形: 圆角 97">
            <a:extLst>
              <a:ext uri="{FF2B5EF4-FFF2-40B4-BE49-F238E27FC236}">
                <a16:creationId xmlns:a16="http://schemas.microsoft.com/office/drawing/2014/main" id="{A8470F23-79DA-49F9-ABD5-F7A2D7DFFF7E}"/>
              </a:ext>
            </a:extLst>
          </p:cNvPr>
          <p:cNvSpPr/>
          <p:nvPr/>
        </p:nvSpPr>
        <p:spPr>
          <a:xfrm>
            <a:off x="8090000" y="5412065"/>
            <a:ext cx="1378431" cy="52116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Microsoft YaHei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266F4AFE-0F88-4B73-89B5-EE1BB9488C0F}"/>
              </a:ext>
            </a:extLst>
          </p:cNvPr>
          <p:cNvSpPr txBox="1"/>
          <p:nvPr/>
        </p:nvSpPr>
        <p:spPr>
          <a:xfrm>
            <a:off x="8478078" y="4610788"/>
            <a:ext cx="513842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空闲线程</a:t>
            </a:r>
          </a:p>
        </p:txBody>
      </p:sp>
      <p:sp>
        <p:nvSpPr>
          <p:cNvPr id="162" name="等腰三角形 161">
            <a:extLst>
              <a:ext uri="{FF2B5EF4-FFF2-40B4-BE49-F238E27FC236}">
                <a16:creationId xmlns:a16="http://schemas.microsoft.com/office/drawing/2014/main" id="{02301FDD-9E9C-4750-9AC4-B0576416EA39}"/>
              </a:ext>
            </a:extLst>
          </p:cNvPr>
          <p:cNvSpPr/>
          <p:nvPr/>
        </p:nvSpPr>
        <p:spPr>
          <a:xfrm>
            <a:off x="3310377" y="2488871"/>
            <a:ext cx="5970167" cy="335208"/>
          </a:xfrm>
          <a:prstGeom prst="triangle">
            <a:avLst/>
          </a:prstGeom>
          <a:solidFill>
            <a:srgbClr val="D6DCE5"/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监视线程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17ECA0C-665B-4A06-9068-83AB6148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2462-3951-534C-B2EB-31A3E742C104}" type="slidenum">
              <a:rPr kumimoji="1" lang="zh-CN" altLang="en-US" smtClean="0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8</a:t>
            </a:fld>
            <a:endParaRPr kumimoji="1" lang="zh-CN" altLang="en-US">
              <a:latin typeface="Calibri" panose="020F0502020204030204" pitchFamily="34" charset="0"/>
              <a:ea typeface="Microsoft YaHei" panose="020B0503020204020204" pitchFamily="34" charset="-122"/>
              <a:sym typeface="Calibri" panose="020F0502020204030204" pitchFamily="34" charset="0"/>
            </a:endParaRPr>
          </a:p>
        </p:txBody>
      </p: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D631E583-F216-4429-881B-B95B458C9C05}"/>
              </a:ext>
            </a:extLst>
          </p:cNvPr>
          <p:cNvGrpSpPr/>
          <p:nvPr/>
        </p:nvGrpSpPr>
        <p:grpSpPr>
          <a:xfrm>
            <a:off x="3938621" y="5420831"/>
            <a:ext cx="418018" cy="418018"/>
            <a:chOff x="3924178" y="5229545"/>
            <a:chExt cx="822960" cy="822960"/>
          </a:xfrm>
        </p:grpSpPr>
        <p:sp>
          <p:nvSpPr>
            <p:cNvPr id="164" name="椭圆 163">
              <a:extLst>
                <a:ext uri="{FF2B5EF4-FFF2-40B4-BE49-F238E27FC236}">
                  <a16:creationId xmlns:a16="http://schemas.microsoft.com/office/drawing/2014/main" id="{DC4F2CB4-E95A-48E5-8558-CF5CB3E79800}"/>
                </a:ext>
              </a:extLst>
            </p:cNvPr>
            <p:cNvSpPr/>
            <p:nvPr/>
          </p:nvSpPr>
          <p:spPr>
            <a:xfrm>
              <a:off x="3924178" y="5229545"/>
              <a:ext cx="822960" cy="82296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165" name="任意多边形: 形状 164">
              <a:extLst>
                <a:ext uri="{FF2B5EF4-FFF2-40B4-BE49-F238E27FC236}">
                  <a16:creationId xmlns:a16="http://schemas.microsoft.com/office/drawing/2014/main" id="{E9B00C8A-F9CF-4D94-8C49-CB7E2C779F25}"/>
                </a:ext>
              </a:extLst>
            </p:cNvPr>
            <p:cNvSpPr/>
            <p:nvPr/>
          </p:nvSpPr>
          <p:spPr>
            <a:xfrm>
              <a:off x="4219145" y="5302512"/>
              <a:ext cx="194720" cy="709909"/>
            </a:xfrm>
            <a:custGeom>
              <a:avLst/>
              <a:gdLst>
                <a:gd name="connsiteX0" fmla="*/ 446963 w 493504"/>
                <a:gd name="connsiteY0" fmla="*/ 0 h 1111827"/>
                <a:gd name="connsiteX1" fmla="*/ 154 w 493504"/>
                <a:gd name="connsiteY1" fmla="*/ 457200 h 1111827"/>
                <a:gd name="connsiteX2" fmla="*/ 488527 w 493504"/>
                <a:gd name="connsiteY2" fmla="*/ 529936 h 1111827"/>
                <a:gd name="connsiteX3" fmla="*/ 259927 w 493504"/>
                <a:gd name="connsiteY3" fmla="*/ 1111827 h 1111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504" h="1111827">
                  <a:moveTo>
                    <a:pt x="446963" y="0"/>
                  </a:moveTo>
                  <a:cubicBezTo>
                    <a:pt x="220095" y="184438"/>
                    <a:pt x="-6773" y="368877"/>
                    <a:pt x="154" y="457200"/>
                  </a:cubicBezTo>
                  <a:cubicBezTo>
                    <a:pt x="7081" y="545523"/>
                    <a:pt x="445231" y="420832"/>
                    <a:pt x="488527" y="529936"/>
                  </a:cubicBezTo>
                  <a:cubicBezTo>
                    <a:pt x="531823" y="639041"/>
                    <a:pt x="278977" y="950768"/>
                    <a:pt x="259927" y="1111827"/>
                  </a:cubicBezTo>
                </a:path>
              </a:pathLst>
            </a:custGeom>
            <a:ln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endParaRPr>
            </a:p>
          </p:txBody>
        </p:sp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661E3956-0899-47B0-AC41-99CE93DA8F2E}"/>
              </a:ext>
            </a:extLst>
          </p:cNvPr>
          <p:cNvGrpSpPr/>
          <p:nvPr/>
        </p:nvGrpSpPr>
        <p:grpSpPr>
          <a:xfrm>
            <a:off x="5132592" y="5399573"/>
            <a:ext cx="418018" cy="418018"/>
            <a:chOff x="3924178" y="5229545"/>
            <a:chExt cx="822960" cy="822960"/>
          </a:xfrm>
        </p:grpSpPr>
        <p:sp>
          <p:nvSpPr>
            <p:cNvPr id="167" name="椭圆 166">
              <a:extLst>
                <a:ext uri="{FF2B5EF4-FFF2-40B4-BE49-F238E27FC236}">
                  <a16:creationId xmlns:a16="http://schemas.microsoft.com/office/drawing/2014/main" id="{D13211E5-8A57-4D1A-BF36-1C47CE0167A6}"/>
                </a:ext>
              </a:extLst>
            </p:cNvPr>
            <p:cNvSpPr/>
            <p:nvPr/>
          </p:nvSpPr>
          <p:spPr>
            <a:xfrm>
              <a:off x="3924178" y="5229545"/>
              <a:ext cx="822960" cy="82296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168" name="任意多边形: 形状 167">
              <a:extLst>
                <a:ext uri="{FF2B5EF4-FFF2-40B4-BE49-F238E27FC236}">
                  <a16:creationId xmlns:a16="http://schemas.microsoft.com/office/drawing/2014/main" id="{3A745D53-71BF-49DD-BFC4-47ECFEA6B7E2}"/>
                </a:ext>
              </a:extLst>
            </p:cNvPr>
            <p:cNvSpPr/>
            <p:nvPr/>
          </p:nvSpPr>
          <p:spPr>
            <a:xfrm>
              <a:off x="4219145" y="5302512"/>
              <a:ext cx="194720" cy="709909"/>
            </a:xfrm>
            <a:custGeom>
              <a:avLst/>
              <a:gdLst>
                <a:gd name="connsiteX0" fmla="*/ 446963 w 493504"/>
                <a:gd name="connsiteY0" fmla="*/ 0 h 1111827"/>
                <a:gd name="connsiteX1" fmla="*/ 154 w 493504"/>
                <a:gd name="connsiteY1" fmla="*/ 457200 h 1111827"/>
                <a:gd name="connsiteX2" fmla="*/ 488527 w 493504"/>
                <a:gd name="connsiteY2" fmla="*/ 529936 h 1111827"/>
                <a:gd name="connsiteX3" fmla="*/ 259927 w 493504"/>
                <a:gd name="connsiteY3" fmla="*/ 1111827 h 1111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504" h="1111827">
                  <a:moveTo>
                    <a:pt x="446963" y="0"/>
                  </a:moveTo>
                  <a:cubicBezTo>
                    <a:pt x="220095" y="184438"/>
                    <a:pt x="-6773" y="368877"/>
                    <a:pt x="154" y="457200"/>
                  </a:cubicBezTo>
                  <a:cubicBezTo>
                    <a:pt x="7081" y="545523"/>
                    <a:pt x="445231" y="420832"/>
                    <a:pt x="488527" y="529936"/>
                  </a:cubicBezTo>
                  <a:cubicBezTo>
                    <a:pt x="531823" y="639041"/>
                    <a:pt x="278977" y="950768"/>
                    <a:pt x="259927" y="1111827"/>
                  </a:cubicBezTo>
                </a:path>
              </a:pathLst>
            </a:custGeom>
            <a:ln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endParaRPr>
            </a:p>
          </p:txBody>
        </p:sp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A1E0FEE6-633E-478A-B1D7-B2F4FE8AC92D}"/>
              </a:ext>
            </a:extLst>
          </p:cNvPr>
          <p:cNvGrpSpPr/>
          <p:nvPr/>
        </p:nvGrpSpPr>
        <p:grpSpPr>
          <a:xfrm>
            <a:off x="6462964" y="5429182"/>
            <a:ext cx="418018" cy="418018"/>
            <a:chOff x="3924178" y="5229545"/>
            <a:chExt cx="822960" cy="822960"/>
          </a:xfrm>
        </p:grpSpPr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5088B091-182F-4B84-8A13-6B5BDEBE6F00}"/>
                </a:ext>
              </a:extLst>
            </p:cNvPr>
            <p:cNvSpPr/>
            <p:nvPr/>
          </p:nvSpPr>
          <p:spPr>
            <a:xfrm>
              <a:off x="3924178" y="5229545"/>
              <a:ext cx="822960" cy="82296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171" name="任意多边形: 形状 170">
              <a:extLst>
                <a:ext uri="{FF2B5EF4-FFF2-40B4-BE49-F238E27FC236}">
                  <a16:creationId xmlns:a16="http://schemas.microsoft.com/office/drawing/2014/main" id="{8DD4AE26-5D05-4A3A-8264-92931CE1DC97}"/>
                </a:ext>
              </a:extLst>
            </p:cNvPr>
            <p:cNvSpPr/>
            <p:nvPr/>
          </p:nvSpPr>
          <p:spPr>
            <a:xfrm>
              <a:off x="4219145" y="5302512"/>
              <a:ext cx="194720" cy="709909"/>
            </a:xfrm>
            <a:custGeom>
              <a:avLst/>
              <a:gdLst>
                <a:gd name="connsiteX0" fmla="*/ 446963 w 493504"/>
                <a:gd name="connsiteY0" fmla="*/ 0 h 1111827"/>
                <a:gd name="connsiteX1" fmla="*/ 154 w 493504"/>
                <a:gd name="connsiteY1" fmla="*/ 457200 h 1111827"/>
                <a:gd name="connsiteX2" fmla="*/ 488527 w 493504"/>
                <a:gd name="connsiteY2" fmla="*/ 529936 h 1111827"/>
                <a:gd name="connsiteX3" fmla="*/ 259927 w 493504"/>
                <a:gd name="connsiteY3" fmla="*/ 1111827 h 1111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504" h="1111827">
                  <a:moveTo>
                    <a:pt x="446963" y="0"/>
                  </a:moveTo>
                  <a:cubicBezTo>
                    <a:pt x="220095" y="184438"/>
                    <a:pt x="-6773" y="368877"/>
                    <a:pt x="154" y="457200"/>
                  </a:cubicBezTo>
                  <a:cubicBezTo>
                    <a:pt x="7081" y="545523"/>
                    <a:pt x="445231" y="420832"/>
                    <a:pt x="488527" y="529936"/>
                  </a:cubicBezTo>
                  <a:cubicBezTo>
                    <a:pt x="531823" y="639041"/>
                    <a:pt x="278977" y="950768"/>
                    <a:pt x="259927" y="1111827"/>
                  </a:cubicBezTo>
                </a:path>
              </a:pathLst>
            </a:custGeom>
            <a:ln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endParaRPr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3D7DC518-A9E9-4930-888C-DBF1A310F70E}"/>
              </a:ext>
            </a:extLst>
          </p:cNvPr>
          <p:cNvGrpSpPr/>
          <p:nvPr/>
        </p:nvGrpSpPr>
        <p:grpSpPr>
          <a:xfrm>
            <a:off x="8250481" y="5460316"/>
            <a:ext cx="418018" cy="418018"/>
            <a:chOff x="3924178" y="5229545"/>
            <a:chExt cx="822960" cy="822960"/>
          </a:xfrm>
        </p:grpSpPr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62060B8E-E312-4847-A53A-89AB3059556E}"/>
                </a:ext>
              </a:extLst>
            </p:cNvPr>
            <p:cNvSpPr/>
            <p:nvPr/>
          </p:nvSpPr>
          <p:spPr>
            <a:xfrm>
              <a:off x="3924178" y="5229545"/>
              <a:ext cx="822960" cy="82296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174" name="任意多边形: 形状 173">
              <a:extLst>
                <a:ext uri="{FF2B5EF4-FFF2-40B4-BE49-F238E27FC236}">
                  <a16:creationId xmlns:a16="http://schemas.microsoft.com/office/drawing/2014/main" id="{7A7579D4-5843-45FE-9D6F-EA3B7B7A18CD}"/>
                </a:ext>
              </a:extLst>
            </p:cNvPr>
            <p:cNvSpPr/>
            <p:nvPr/>
          </p:nvSpPr>
          <p:spPr>
            <a:xfrm>
              <a:off x="4219145" y="5302512"/>
              <a:ext cx="194720" cy="709909"/>
            </a:xfrm>
            <a:custGeom>
              <a:avLst/>
              <a:gdLst>
                <a:gd name="connsiteX0" fmla="*/ 446963 w 493504"/>
                <a:gd name="connsiteY0" fmla="*/ 0 h 1111827"/>
                <a:gd name="connsiteX1" fmla="*/ 154 w 493504"/>
                <a:gd name="connsiteY1" fmla="*/ 457200 h 1111827"/>
                <a:gd name="connsiteX2" fmla="*/ 488527 w 493504"/>
                <a:gd name="connsiteY2" fmla="*/ 529936 h 1111827"/>
                <a:gd name="connsiteX3" fmla="*/ 259927 w 493504"/>
                <a:gd name="connsiteY3" fmla="*/ 1111827 h 1111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504" h="1111827">
                  <a:moveTo>
                    <a:pt x="446963" y="0"/>
                  </a:moveTo>
                  <a:cubicBezTo>
                    <a:pt x="220095" y="184438"/>
                    <a:pt x="-6773" y="368877"/>
                    <a:pt x="154" y="457200"/>
                  </a:cubicBezTo>
                  <a:cubicBezTo>
                    <a:pt x="7081" y="545523"/>
                    <a:pt x="445231" y="420832"/>
                    <a:pt x="488527" y="529936"/>
                  </a:cubicBezTo>
                  <a:cubicBezTo>
                    <a:pt x="531823" y="639041"/>
                    <a:pt x="278977" y="950768"/>
                    <a:pt x="259927" y="1111827"/>
                  </a:cubicBezTo>
                </a:path>
              </a:pathLst>
            </a:custGeom>
            <a:ln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endParaRPr>
            </a:p>
          </p:txBody>
        </p:sp>
      </p:grpSp>
      <p:sp>
        <p:nvSpPr>
          <p:cNvPr id="176" name="矩形 175">
            <a:extLst>
              <a:ext uri="{FF2B5EF4-FFF2-40B4-BE49-F238E27FC236}">
                <a16:creationId xmlns:a16="http://schemas.microsoft.com/office/drawing/2014/main" id="{87FFDDCC-D650-488C-A656-B7F5D45458A5}"/>
              </a:ext>
            </a:extLst>
          </p:cNvPr>
          <p:cNvSpPr/>
          <p:nvPr/>
        </p:nvSpPr>
        <p:spPr>
          <a:xfrm>
            <a:off x="2204859" y="488156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用户态</a:t>
            </a:r>
            <a:endParaRPr lang="en-US" b="1" dirty="0">
              <a:latin typeface="Calibri" panose="020F0502020204030204" pitchFamily="34" charset="0"/>
              <a:ea typeface="Microsoft YaHei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74CF1A8B-1A9A-429B-ADC0-9E3437E7A38F}"/>
              </a:ext>
            </a:extLst>
          </p:cNvPr>
          <p:cNvSpPr/>
          <p:nvPr/>
        </p:nvSpPr>
        <p:spPr>
          <a:xfrm>
            <a:off x="2183317" y="5517636"/>
            <a:ext cx="877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内核态</a:t>
            </a:r>
            <a:endParaRPr lang="en-US" b="1" dirty="0">
              <a:latin typeface="Calibri" panose="020F0502020204030204" pitchFamily="34" charset="0"/>
              <a:ea typeface="Microsoft YaHei" panose="020B0503020204020204" pitchFamily="34" charset="-122"/>
              <a:sym typeface="Calibri" panose="020F050202020403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1EAA84F-50C4-40FE-8F56-20567479867F}"/>
              </a:ext>
            </a:extLst>
          </p:cNvPr>
          <p:cNvGrpSpPr/>
          <p:nvPr/>
        </p:nvGrpSpPr>
        <p:grpSpPr>
          <a:xfrm>
            <a:off x="3535522" y="4078789"/>
            <a:ext cx="1278993" cy="425826"/>
            <a:chOff x="800369" y="3423093"/>
            <a:chExt cx="1278993" cy="425826"/>
          </a:xfrm>
        </p:grpSpPr>
        <p:grpSp>
          <p:nvGrpSpPr>
            <p:cNvPr id="188" name="组合 187">
              <a:extLst>
                <a:ext uri="{FF2B5EF4-FFF2-40B4-BE49-F238E27FC236}">
                  <a16:creationId xmlns:a16="http://schemas.microsoft.com/office/drawing/2014/main" id="{AD8E0430-478A-4C63-AA43-F4269B19B8FC}"/>
                </a:ext>
              </a:extLst>
            </p:cNvPr>
            <p:cNvGrpSpPr/>
            <p:nvPr/>
          </p:nvGrpSpPr>
          <p:grpSpPr>
            <a:xfrm>
              <a:off x="800369" y="3423093"/>
              <a:ext cx="1278993" cy="425826"/>
              <a:chOff x="5152292" y="3913911"/>
              <a:chExt cx="1278993" cy="425826"/>
            </a:xfrm>
          </p:grpSpPr>
          <p:cxnSp>
            <p:nvCxnSpPr>
              <p:cNvPr id="189" name="直接连接符 188">
                <a:extLst>
                  <a:ext uri="{FF2B5EF4-FFF2-40B4-BE49-F238E27FC236}">
                    <a16:creationId xmlns:a16="http://schemas.microsoft.com/office/drawing/2014/main" id="{2A5B2C43-8AD1-4503-8C5A-5768A2F761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4104" y="3913911"/>
                <a:ext cx="124718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>
                <a:extLst>
                  <a:ext uri="{FF2B5EF4-FFF2-40B4-BE49-F238E27FC236}">
                    <a16:creationId xmlns:a16="http://schemas.microsoft.com/office/drawing/2014/main" id="{DE5052A6-05AE-4858-A864-DF7CD6216E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2292" y="4339737"/>
                <a:ext cx="123957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1" name="组合 190">
              <a:extLst>
                <a:ext uri="{FF2B5EF4-FFF2-40B4-BE49-F238E27FC236}">
                  <a16:creationId xmlns:a16="http://schemas.microsoft.com/office/drawing/2014/main" id="{AAC9C31F-DF3C-48F9-9363-A760207DDEBC}"/>
                </a:ext>
              </a:extLst>
            </p:cNvPr>
            <p:cNvGrpSpPr/>
            <p:nvPr/>
          </p:nvGrpSpPr>
          <p:grpSpPr>
            <a:xfrm>
              <a:off x="954544" y="3471803"/>
              <a:ext cx="980334" cy="369332"/>
              <a:chOff x="5329082" y="4568028"/>
              <a:chExt cx="980334" cy="369332"/>
            </a:xfrm>
          </p:grpSpPr>
          <p:sp>
            <p:nvSpPr>
              <p:cNvPr id="192" name="矩形 191">
                <a:extLst>
                  <a:ext uri="{FF2B5EF4-FFF2-40B4-BE49-F238E27FC236}">
                    <a16:creationId xmlns:a16="http://schemas.microsoft.com/office/drawing/2014/main" id="{14AED248-DCC0-460F-A5AF-6DF53093D89E}"/>
                  </a:ext>
                </a:extLst>
              </p:cNvPr>
              <p:cNvSpPr/>
              <p:nvPr/>
            </p:nvSpPr>
            <p:spPr>
              <a:xfrm>
                <a:off x="5951625" y="4568028"/>
                <a:ext cx="357791" cy="369332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>
                    <a:latin typeface="Calibri" panose="020F0502020204030204" pitchFamily="34" charset="0"/>
                    <a:ea typeface="Microsoft YaHei" panose="020B0503020204020204" pitchFamily="34" charset="-122"/>
                    <a:cs typeface="+mn-ea"/>
                    <a:sym typeface="Calibri" panose="020F0502020204030204" pitchFamily="34" charset="0"/>
                  </a:rPr>
                  <a:t>...</a:t>
                </a:r>
              </a:p>
            </p:txBody>
          </p:sp>
          <p:grpSp>
            <p:nvGrpSpPr>
              <p:cNvPr id="193" name="组合 192">
                <a:extLst>
                  <a:ext uri="{FF2B5EF4-FFF2-40B4-BE49-F238E27FC236}">
                    <a16:creationId xmlns:a16="http://schemas.microsoft.com/office/drawing/2014/main" id="{7DFF6193-5FAC-4437-8CED-0528F0522092}"/>
                  </a:ext>
                </a:extLst>
              </p:cNvPr>
              <p:cNvGrpSpPr/>
              <p:nvPr/>
            </p:nvGrpSpPr>
            <p:grpSpPr>
              <a:xfrm>
                <a:off x="5329082" y="4570854"/>
                <a:ext cx="250602" cy="297190"/>
                <a:chOff x="4436571" y="4621677"/>
                <a:chExt cx="250602" cy="297190"/>
              </a:xfrm>
            </p:grpSpPr>
            <p:sp>
              <p:nvSpPr>
                <p:cNvPr id="199" name="矩形 198">
                  <a:extLst>
                    <a:ext uri="{FF2B5EF4-FFF2-40B4-BE49-F238E27FC236}">
                      <a16:creationId xmlns:a16="http://schemas.microsoft.com/office/drawing/2014/main" id="{5F12CD4D-57A7-488D-AC74-0E1A4CEA81EF}"/>
                    </a:ext>
                  </a:extLst>
                </p:cNvPr>
                <p:cNvSpPr/>
                <p:nvPr/>
              </p:nvSpPr>
              <p:spPr>
                <a:xfrm>
                  <a:off x="4479131" y="4621677"/>
                  <a:ext cx="164306" cy="29719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  <a:alpha val="50000"/>
                  </a:schemeClr>
                </a:solidFill>
                <a:ln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Calibri" panose="020F0502020204030204" pitchFamily="34" charset="0"/>
                    <a:ea typeface="Microsoft YaHei" panose="020B0503020204020204" pitchFamily="34" charset="-122"/>
                    <a:cs typeface="+mn-ea"/>
                    <a:sym typeface="Calibri" panose="020F0502020204030204" pitchFamily="34" charset="0"/>
                  </a:endParaRPr>
                </a:p>
              </p:txBody>
            </p:sp>
            <p:grpSp>
              <p:nvGrpSpPr>
                <p:cNvPr id="200" name="组合 199">
                  <a:extLst>
                    <a:ext uri="{FF2B5EF4-FFF2-40B4-BE49-F238E27FC236}">
                      <a16:creationId xmlns:a16="http://schemas.microsoft.com/office/drawing/2014/main" id="{3F538F08-3305-4044-AE6B-2FEBCB4D71D0}"/>
                    </a:ext>
                  </a:extLst>
                </p:cNvPr>
                <p:cNvGrpSpPr/>
                <p:nvPr/>
              </p:nvGrpSpPr>
              <p:grpSpPr>
                <a:xfrm>
                  <a:off x="4436571" y="4632193"/>
                  <a:ext cx="250602" cy="270411"/>
                  <a:chOff x="1803295" y="2729444"/>
                  <a:chExt cx="250602" cy="270411"/>
                </a:xfrm>
              </p:grpSpPr>
              <p:sp>
                <p:nvSpPr>
                  <p:cNvPr id="201" name="弧形 200">
                    <a:extLst>
                      <a:ext uri="{FF2B5EF4-FFF2-40B4-BE49-F238E27FC236}">
                        <a16:creationId xmlns:a16="http://schemas.microsoft.com/office/drawing/2014/main" id="{880C1A5F-7027-414D-8C66-1799CD70BC08}"/>
                      </a:ext>
                    </a:extLst>
                  </p:cNvPr>
                  <p:cNvSpPr/>
                  <p:nvPr/>
                </p:nvSpPr>
                <p:spPr>
                  <a:xfrm rot="13459654">
                    <a:off x="1909642" y="2729444"/>
                    <a:ext cx="144255" cy="156631"/>
                  </a:xfrm>
                  <a:prstGeom prst="arc">
                    <a:avLst>
                      <a:gd name="adj1" fmla="val 16031560"/>
                      <a:gd name="adj2" fmla="val 21427861"/>
                    </a:avLst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Calibri" panose="020F0502020204030204" pitchFamily="34" charset="0"/>
                      <a:ea typeface="Microsoft YaHei" panose="020B0503020204020204" pitchFamily="34" charset="-122"/>
                      <a:sym typeface="Calibri" panose="020F0502020204030204" pitchFamily="34" charset="0"/>
                    </a:endParaRPr>
                  </a:p>
                </p:txBody>
              </p:sp>
              <p:sp>
                <p:nvSpPr>
                  <p:cNvPr id="202" name="弧形 201">
                    <a:extLst>
                      <a:ext uri="{FF2B5EF4-FFF2-40B4-BE49-F238E27FC236}">
                        <a16:creationId xmlns:a16="http://schemas.microsoft.com/office/drawing/2014/main" id="{30D67418-1C7D-4698-A09F-9BC16C50ED2A}"/>
                      </a:ext>
                    </a:extLst>
                  </p:cNvPr>
                  <p:cNvSpPr/>
                  <p:nvPr/>
                </p:nvSpPr>
                <p:spPr>
                  <a:xfrm rot="2676595">
                    <a:off x="1803295" y="2843224"/>
                    <a:ext cx="144255" cy="156631"/>
                  </a:xfrm>
                  <a:prstGeom prst="arc">
                    <a:avLst>
                      <a:gd name="adj1" fmla="val 16031560"/>
                      <a:gd name="adj2" fmla="val 21427861"/>
                    </a:avLst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Calibri" panose="020F0502020204030204" pitchFamily="34" charset="0"/>
                      <a:ea typeface="Microsoft YaHei" panose="020B0503020204020204" pitchFamily="34" charset="-122"/>
                      <a:sym typeface="Calibri" panose="020F0502020204030204" pitchFamily="34" charset="0"/>
                    </a:endParaRPr>
                  </a:p>
                </p:txBody>
              </p:sp>
            </p:grpSp>
          </p:grpSp>
          <p:grpSp>
            <p:nvGrpSpPr>
              <p:cNvPr id="194" name="组合 193">
                <a:extLst>
                  <a:ext uri="{FF2B5EF4-FFF2-40B4-BE49-F238E27FC236}">
                    <a16:creationId xmlns:a16="http://schemas.microsoft.com/office/drawing/2014/main" id="{48DC3AE2-5A38-4CB8-A039-7333F7805854}"/>
                  </a:ext>
                </a:extLst>
              </p:cNvPr>
              <p:cNvGrpSpPr/>
              <p:nvPr/>
            </p:nvGrpSpPr>
            <p:grpSpPr>
              <a:xfrm>
                <a:off x="5702299" y="4577859"/>
                <a:ext cx="250602" cy="297190"/>
                <a:chOff x="4436571" y="4621677"/>
                <a:chExt cx="250602" cy="297190"/>
              </a:xfrm>
            </p:grpSpPr>
            <p:sp>
              <p:nvSpPr>
                <p:cNvPr id="195" name="矩形 194">
                  <a:extLst>
                    <a:ext uri="{FF2B5EF4-FFF2-40B4-BE49-F238E27FC236}">
                      <a16:creationId xmlns:a16="http://schemas.microsoft.com/office/drawing/2014/main" id="{3ABF82EC-41D2-4FB8-8A2F-F3312C63DD98}"/>
                    </a:ext>
                  </a:extLst>
                </p:cNvPr>
                <p:cNvSpPr/>
                <p:nvPr/>
              </p:nvSpPr>
              <p:spPr>
                <a:xfrm>
                  <a:off x="4479131" y="4621677"/>
                  <a:ext cx="164306" cy="29719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  <a:alpha val="50000"/>
                  </a:schemeClr>
                </a:solidFill>
                <a:ln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Calibri" panose="020F0502020204030204" pitchFamily="34" charset="0"/>
                    <a:ea typeface="Microsoft YaHei" panose="020B0503020204020204" pitchFamily="34" charset="-122"/>
                    <a:cs typeface="+mn-ea"/>
                    <a:sym typeface="Calibri" panose="020F0502020204030204" pitchFamily="34" charset="0"/>
                  </a:endParaRPr>
                </a:p>
              </p:txBody>
            </p:sp>
            <p:grpSp>
              <p:nvGrpSpPr>
                <p:cNvPr id="196" name="组合 195">
                  <a:extLst>
                    <a:ext uri="{FF2B5EF4-FFF2-40B4-BE49-F238E27FC236}">
                      <a16:creationId xmlns:a16="http://schemas.microsoft.com/office/drawing/2014/main" id="{35B0771B-94AD-4F6D-B7D2-697AD784EC61}"/>
                    </a:ext>
                  </a:extLst>
                </p:cNvPr>
                <p:cNvGrpSpPr/>
                <p:nvPr/>
              </p:nvGrpSpPr>
              <p:grpSpPr>
                <a:xfrm>
                  <a:off x="4436571" y="4632193"/>
                  <a:ext cx="250602" cy="270411"/>
                  <a:chOff x="1803295" y="2729444"/>
                  <a:chExt cx="250602" cy="270411"/>
                </a:xfrm>
              </p:grpSpPr>
              <p:sp>
                <p:nvSpPr>
                  <p:cNvPr id="197" name="弧形 196">
                    <a:extLst>
                      <a:ext uri="{FF2B5EF4-FFF2-40B4-BE49-F238E27FC236}">
                        <a16:creationId xmlns:a16="http://schemas.microsoft.com/office/drawing/2014/main" id="{3630D638-2417-4636-B1FE-D339394D03FE}"/>
                      </a:ext>
                    </a:extLst>
                  </p:cNvPr>
                  <p:cNvSpPr/>
                  <p:nvPr/>
                </p:nvSpPr>
                <p:spPr>
                  <a:xfrm rot="13459654">
                    <a:off x="1909642" y="2729444"/>
                    <a:ext cx="144255" cy="156631"/>
                  </a:xfrm>
                  <a:prstGeom prst="arc">
                    <a:avLst>
                      <a:gd name="adj1" fmla="val 16031560"/>
                      <a:gd name="adj2" fmla="val 21427861"/>
                    </a:avLst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Calibri" panose="020F0502020204030204" pitchFamily="34" charset="0"/>
                      <a:ea typeface="Microsoft YaHei" panose="020B0503020204020204" pitchFamily="34" charset="-122"/>
                      <a:sym typeface="Calibri" panose="020F0502020204030204" pitchFamily="34" charset="0"/>
                    </a:endParaRPr>
                  </a:p>
                </p:txBody>
              </p:sp>
              <p:sp>
                <p:nvSpPr>
                  <p:cNvPr id="198" name="弧形 197">
                    <a:extLst>
                      <a:ext uri="{FF2B5EF4-FFF2-40B4-BE49-F238E27FC236}">
                        <a16:creationId xmlns:a16="http://schemas.microsoft.com/office/drawing/2014/main" id="{CF4DB659-7E40-4A91-ADFB-D6C72F21F68E}"/>
                      </a:ext>
                    </a:extLst>
                  </p:cNvPr>
                  <p:cNvSpPr/>
                  <p:nvPr/>
                </p:nvSpPr>
                <p:spPr>
                  <a:xfrm rot="2676595">
                    <a:off x="1803295" y="2843224"/>
                    <a:ext cx="144255" cy="156631"/>
                  </a:xfrm>
                  <a:prstGeom prst="arc">
                    <a:avLst>
                      <a:gd name="adj1" fmla="val 16031560"/>
                      <a:gd name="adj2" fmla="val 21427861"/>
                    </a:avLst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Calibri" panose="020F0502020204030204" pitchFamily="34" charset="0"/>
                      <a:ea typeface="Microsoft YaHei" panose="020B0503020204020204" pitchFamily="34" charset="-122"/>
                      <a:sym typeface="Calibri" panose="020F0502020204030204" pitchFamily="34" charset="0"/>
                    </a:endParaRPr>
                  </a:p>
                </p:txBody>
              </p:sp>
            </p:grpSp>
          </p:grpSp>
        </p:grp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63FA72C2-251D-48F8-A49E-42E830536775}"/>
              </a:ext>
            </a:extLst>
          </p:cNvPr>
          <p:cNvGrpSpPr/>
          <p:nvPr/>
        </p:nvGrpSpPr>
        <p:grpSpPr>
          <a:xfrm>
            <a:off x="5087817" y="4071005"/>
            <a:ext cx="1344422" cy="425826"/>
            <a:chOff x="800369" y="3423093"/>
            <a:chExt cx="1344422" cy="425826"/>
          </a:xfrm>
        </p:grpSpPr>
        <p:grpSp>
          <p:nvGrpSpPr>
            <p:cNvPr id="204" name="组合 203">
              <a:extLst>
                <a:ext uri="{FF2B5EF4-FFF2-40B4-BE49-F238E27FC236}">
                  <a16:creationId xmlns:a16="http://schemas.microsoft.com/office/drawing/2014/main" id="{47880714-E86F-4062-B34C-17149F64C142}"/>
                </a:ext>
              </a:extLst>
            </p:cNvPr>
            <p:cNvGrpSpPr/>
            <p:nvPr/>
          </p:nvGrpSpPr>
          <p:grpSpPr>
            <a:xfrm>
              <a:off x="800369" y="3423093"/>
              <a:ext cx="1344422" cy="425826"/>
              <a:chOff x="5152292" y="3913911"/>
              <a:chExt cx="1344422" cy="425826"/>
            </a:xfrm>
          </p:grpSpPr>
          <p:cxnSp>
            <p:nvCxnSpPr>
              <p:cNvPr id="217" name="直接连接符 216">
                <a:extLst>
                  <a:ext uri="{FF2B5EF4-FFF2-40B4-BE49-F238E27FC236}">
                    <a16:creationId xmlns:a16="http://schemas.microsoft.com/office/drawing/2014/main" id="{2DA5D582-ED41-42C6-8677-64727CEE1D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4104" y="3913911"/>
                <a:ext cx="13126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 217">
                <a:extLst>
                  <a:ext uri="{FF2B5EF4-FFF2-40B4-BE49-F238E27FC236}">
                    <a16:creationId xmlns:a16="http://schemas.microsoft.com/office/drawing/2014/main" id="{CBDE4FB5-4EFD-4BC9-BD8B-EAF35EADA7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2292" y="4339737"/>
                <a:ext cx="134442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5" name="组合 204">
              <a:extLst>
                <a:ext uri="{FF2B5EF4-FFF2-40B4-BE49-F238E27FC236}">
                  <a16:creationId xmlns:a16="http://schemas.microsoft.com/office/drawing/2014/main" id="{9D4CC7F0-60D2-4B9E-8E08-B392D903A68D}"/>
                </a:ext>
              </a:extLst>
            </p:cNvPr>
            <p:cNvGrpSpPr/>
            <p:nvPr/>
          </p:nvGrpSpPr>
          <p:grpSpPr>
            <a:xfrm>
              <a:off x="954544" y="3471803"/>
              <a:ext cx="980334" cy="369332"/>
              <a:chOff x="5329082" y="4568028"/>
              <a:chExt cx="980334" cy="369332"/>
            </a:xfrm>
          </p:grpSpPr>
          <p:sp>
            <p:nvSpPr>
              <p:cNvPr id="206" name="矩形 205">
                <a:extLst>
                  <a:ext uri="{FF2B5EF4-FFF2-40B4-BE49-F238E27FC236}">
                    <a16:creationId xmlns:a16="http://schemas.microsoft.com/office/drawing/2014/main" id="{B3758B8F-52EE-4FED-9518-301830E9785C}"/>
                  </a:ext>
                </a:extLst>
              </p:cNvPr>
              <p:cNvSpPr/>
              <p:nvPr/>
            </p:nvSpPr>
            <p:spPr>
              <a:xfrm>
                <a:off x="5951625" y="4568028"/>
                <a:ext cx="357791" cy="369332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>
                    <a:latin typeface="Calibri" panose="020F0502020204030204" pitchFamily="34" charset="0"/>
                    <a:ea typeface="Microsoft YaHei" panose="020B0503020204020204" pitchFamily="34" charset="-122"/>
                    <a:cs typeface="+mn-ea"/>
                    <a:sym typeface="Calibri" panose="020F0502020204030204" pitchFamily="34" charset="0"/>
                  </a:rPr>
                  <a:t>...</a:t>
                </a:r>
              </a:p>
            </p:txBody>
          </p:sp>
          <p:grpSp>
            <p:nvGrpSpPr>
              <p:cNvPr id="207" name="组合 206">
                <a:extLst>
                  <a:ext uri="{FF2B5EF4-FFF2-40B4-BE49-F238E27FC236}">
                    <a16:creationId xmlns:a16="http://schemas.microsoft.com/office/drawing/2014/main" id="{9B33A634-A6FF-46E0-B6FE-45C07AF45EEE}"/>
                  </a:ext>
                </a:extLst>
              </p:cNvPr>
              <p:cNvGrpSpPr/>
              <p:nvPr/>
            </p:nvGrpSpPr>
            <p:grpSpPr>
              <a:xfrm>
                <a:off x="5329082" y="4570854"/>
                <a:ext cx="250602" cy="297190"/>
                <a:chOff x="4436571" y="4621677"/>
                <a:chExt cx="250602" cy="297190"/>
              </a:xfrm>
            </p:grpSpPr>
            <p:sp>
              <p:nvSpPr>
                <p:cNvPr id="213" name="矩形 212">
                  <a:extLst>
                    <a:ext uri="{FF2B5EF4-FFF2-40B4-BE49-F238E27FC236}">
                      <a16:creationId xmlns:a16="http://schemas.microsoft.com/office/drawing/2014/main" id="{137A703A-F58C-443D-88EB-EC826FA9C71C}"/>
                    </a:ext>
                  </a:extLst>
                </p:cNvPr>
                <p:cNvSpPr/>
                <p:nvPr/>
              </p:nvSpPr>
              <p:spPr>
                <a:xfrm>
                  <a:off x="4479131" y="4621677"/>
                  <a:ext cx="164306" cy="29719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  <a:alpha val="50000"/>
                  </a:schemeClr>
                </a:solidFill>
                <a:ln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Calibri" panose="020F0502020204030204" pitchFamily="34" charset="0"/>
                    <a:ea typeface="Microsoft YaHei" panose="020B0503020204020204" pitchFamily="34" charset="-122"/>
                    <a:cs typeface="+mn-ea"/>
                    <a:sym typeface="Calibri" panose="020F0502020204030204" pitchFamily="34" charset="0"/>
                  </a:endParaRPr>
                </a:p>
              </p:txBody>
            </p:sp>
            <p:grpSp>
              <p:nvGrpSpPr>
                <p:cNvPr id="214" name="组合 213">
                  <a:extLst>
                    <a:ext uri="{FF2B5EF4-FFF2-40B4-BE49-F238E27FC236}">
                      <a16:creationId xmlns:a16="http://schemas.microsoft.com/office/drawing/2014/main" id="{71A40EAD-1274-418E-A07A-E9CCE32C4CC7}"/>
                    </a:ext>
                  </a:extLst>
                </p:cNvPr>
                <p:cNvGrpSpPr/>
                <p:nvPr/>
              </p:nvGrpSpPr>
              <p:grpSpPr>
                <a:xfrm>
                  <a:off x="4436571" y="4632193"/>
                  <a:ext cx="250602" cy="270411"/>
                  <a:chOff x="1803295" y="2729444"/>
                  <a:chExt cx="250602" cy="270411"/>
                </a:xfrm>
              </p:grpSpPr>
              <p:sp>
                <p:nvSpPr>
                  <p:cNvPr id="215" name="弧形 214">
                    <a:extLst>
                      <a:ext uri="{FF2B5EF4-FFF2-40B4-BE49-F238E27FC236}">
                        <a16:creationId xmlns:a16="http://schemas.microsoft.com/office/drawing/2014/main" id="{3E817958-F7F8-43FB-BE7B-E8649BC8495A}"/>
                      </a:ext>
                    </a:extLst>
                  </p:cNvPr>
                  <p:cNvSpPr/>
                  <p:nvPr/>
                </p:nvSpPr>
                <p:spPr>
                  <a:xfrm rot="13459654">
                    <a:off x="1909642" y="2729444"/>
                    <a:ext cx="144255" cy="156631"/>
                  </a:xfrm>
                  <a:prstGeom prst="arc">
                    <a:avLst>
                      <a:gd name="adj1" fmla="val 16031560"/>
                      <a:gd name="adj2" fmla="val 21427861"/>
                    </a:avLst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Calibri" panose="020F0502020204030204" pitchFamily="34" charset="0"/>
                      <a:ea typeface="Microsoft YaHei" panose="020B0503020204020204" pitchFamily="34" charset="-122"/>
                      <a:sym typeface="Calibri" panose="020F0502020204030204" pitchFamily="34" charset="0"/>
                    </a:endParaRPr>
                  </a:p>
                </p:txBody>
              </p:sp>
              <p:sp>
                <p:nvSpPr>
                  <p:cNvPr id="216" name="弧形 215">
                    <a:extLst>
                      <a:ext uri="{FF2B5EF4-FFF2-40B4-BE49-F238E27FC236}">
                        <a16:creationId xmlns:a16="http://schemas.microsoft.com/office/drawing/2014/main" id="{5774416A-ACC1-4232-80FA-B1B3E9A39F6A}"/>
                      </a:ext>
                    </a:extLst>
                  </p:cNvPr>
                  <p:cNvSpPr/>
                  <p:nvPr/>
                </p:nvSpPr>
                <p:spPr>
                  <a:xfrm rot="2676595">
                    <a:off x="1803295" y="2843224"/>
                    <a:ext cx="144255" cy="156631"/>
                  </a:xfrm>
                  <a:prstGeom prst="arc">
                    <a:avLst>
                      <a:gd name="adj1" fmla="val 16031560"/>
                      <a:gd name="adj2" fmla="val 21427861"/>
                    </a:avLst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Calibri" panose="020F0502020204030204" pitchFamily="34" charset="0"/>
                      <a:ea typeface="Microsoft YaHei" panose="020B0503020204020204" pitchFamily="34" charset="-122"/>
                      <a:sym typeface="Calibri" panose="020F0502020204030204" pitchFamily="34" charset="0"/>
                    </a:endParaRPr>
                  </a:p>
                </p:txBody>
              </p:sp>
            </p:grpSp>
          </p:grpSp>
          <p:grpSp>
            <p:nvGrpSpPr>
              <p:cNvPr id="208" name="组合 207">
                <a:extLst>
                  <a:ext uri="{FF2B5EF4-FFF2-40B4-BE49-F238E27FC236}">
                    <a16:creationId xmlns:a16="http://schemas.microsoft.com/office/drawing/2014/main" id="{D4B4B5A9-5922-4303-A915-54DAABB05063}"/>
                  </a:ext>
                </a:extLst>
              </p:cNvPr>
              <p:cNvGrpSpPr/>
              <p:nvPr/>
            </p:nvGrpSpPr>
            <p:grpSpPr>
              <a:xfrm>
                <a:off x="5702299" y="4577859"/>
                <a:ext cx="250602" cy="297190"/>
                <a:chOff x="4436571" y="4621677"/>
                <a:chExt cx="250602" cy="297190"/>
              </a:xfrm>
            </p:grpSpPr>
            <p:sp>
              <p:nvSpPr>
                <p:cNvPr id="209" name="矩形 208">
                  <a:extLst>
                    <a:ext uri="{FF2B5EF4-FFF2-40B4-BE49-F238E27FC236}">
                      <a16:creationId xmlns:a16="http://schemas.microsoft.com/office/drawing/2014/main" id="{6DEFD2D3-8B57-4089-A9B8-B08E9F3CC6BF}"/>
                    </a:ext>
                  </a:extLst>
                </p:cNvPr>
                <p:cNvSpPr/>
                <p:nvPr/>
              </p:nvSpPr>
              <p:spPr>
                <a:xfrm>
                  <a:off x="4479131" y="4621677"/>
                  <a:ext cx="164306" cy="29719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  <a:alpha val="50000"/>
                  </a:schemeClr>
                </a:solidFill>
                <a:ln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Calibri" panose="020F0502020204030204" pitchFamily="34" charset="0"/>
                    <a:ea typeface="Microsoft YaHei" panose="020B0503020204020204" pitchFamily="34" charset="-122"/>
                    <a:cs typeface="+mn-ea"/>
                    <a:sym typeface="Calibri" panose="020F0502020204030204" pitchFamily="34" charset="0"/>
                  </a:endParaRPr>
                </a:p>
              </p:txBody>
            </p:sp>
            <p:grpSp>
              <p:nvGrpSpPr>
                <p:cNvPr id="210" name="组合 209">
                  <a:extLst>
                    <a:ext uri="{FF2B5EF4-FFF2-40B4-BE49-F238E27FC236}">
                      <a16:creationId xmlns:a16="http://schemas.microsoft.com/office/drawing/2014/main" id="{321B7694-1EE8-46F1-976D-5C35C0D36DD5}"/>
                    </a:ext>
                  </a:extLst>
                </p:cNvPr>
                <p:cNvGrpSpPr/>
                <p:nvPr/>
              </p:nvGrpSpPr>
              <p:grpSpPr>
                <a:xfrm>
                  <a:off x="4436571" y="4632193"/>
                  <a:ext cx="250602" cy="270411"/>
                  <a:chOff x="1803295" y="2729444"/>
                  <a:chExt cx="250602" cy="270411"/>
                </a:xfrm>
              </p:grpSpPr>
              <p:sp>
                <p:nvSpPr>
                  <p:cNvPr id="211" name="弧形 210">
                    <a:extLst>
                      <a:ext uri="{FF2B5EF4-FFF2-40B4-BE49-F238E27FC236}">
                        <a16:creationId xmlns:a16="http://schemas.microsoft.com/office/drawing/2014/main" id="{C8B03281-7A94-4019-89A2-C11EEE2AE64A}"/>
                      </a:ext>
                    </a:extLst>
                  </p:cNvPr>
                  <p:cNvSpPr/>
                  <p:nvPr/>
                </p:nvSpPr>
                <p:spPr>
                  <a:xfrm rot="13459654">
                    <a:off x="1909642" y="2729444"/>
                    <a:ext cx="144255" cy="156631"/>
                  </a:xfrm>
                  <a:prstGeom prst="arc">
                    <a:avLst>
                      <a:gd name="adj1" fmla="val 16031560"/>
                      <a:gd name="adj2" fmla="val 21427861"/>
                    </a:avLst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Calibri" panose="020F0502020204030204" pitchFamily="34" charset="0"/>
                      <a:ea typeface="Microsoft YaHei" panose="020B0503020204020204" pitchFamily="34" charset="-122"/>
                      <a:sym typeface="Calibri" panose="020F0502020204030204" pitchFamily="34" charset="0"/>
                    </a:endParaRPr>
                  </a:p>
                </p:txBody>
              </p:sp>
              <p:sp>
                <p:nvSpPr>
                  <p:cNvPr id="212" name="弧形 211">
                    <a:extLst>
                      <a:ext uri="{FF2B5EF4-FFF2-40B4-BE49-F238E27FC236}">
                        <a16:creationId xmlns:a16="http://schemas.microsoft.com/office/drawing/2014/main" id="{D6DBAB29-80B6-4337-8102-50F620411E19}"/>
                      </a:ext>
                    </a:extLst>
                  </p:cNvPr>
                  <p:cNvSpPr/>
                  <p:nvPr/>
                </p:nvSpPr>
                <p:spPr>
                  <a:xfrm rot="2676595">
                    <a:off x="1803295" y="2843224"/>
                    <a:ext cx="144255" cy="156631"/>
                  </a:xfrm>
                  <a:prstGeom prst="arc">
                    <a:avLst>
                      <a:gd name="adj1" fmla="val 16031560"/>
                      <a:gd name="adj2" fmla="val 21427861"/>
                    </a:avLst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Calibri" panose="020F0502020204030204" pitchFamily="34" charset="0"/>
                      <a:ea typeface="Microsoft YaHei" panose="020B0503020204020204" pitchFamily="34" charset="-122"/>
                      <a:sym typeface="Calibri" panose="020F0502020204030204" pitchFamily="34" charset="0"/>
                    </a:endParaRPr>
                  </a:p>
                </p:txBody>
              </p:sp>
            </p:grpSp>
          </p:grpSp>
        </p:grpSp>
      </p:grpSp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694BAC43-5C48-4210-BD43-2173536167CC}"/>
              </a:ext>
            </a:extLst>
          </p:cNvPr>
          <p:cNvGrpSpPr/>
          <p:nvPr/>
        </p:nvGrpSpPr>
        <p:grpSpPr>
          <a:xfrm>
            <a:off x="6735578" y="4071005"/>
            <a:ext cx="1344422" cy="425826"/>
            <a:chOff x="800369" y="3423093"/>
            <a:chExt cx="1344422" cy="425826"/>
          </a:xfrm>
        </p:grpSpPr>
        <p:grpSp>
          <p:nvGrpSpPr>
            <p:cNvPr id="221" name="组合 220">
              <a:extLst>
                <a:ext uri="{FF2B5EF4-FFF2-40B4-BE49-F238E27FC236}">
                  <a16:creationId xmlns:a16="http://schemas.microsoft.com/office/drawing/2014/main" id="{1E278716-2A27-4C3C-8CED-189EA2244AE6}"/>
                </a:ext>
              </a:extLst>
            </p:cNvPr>
            <p:cNvGrpSpPr/>
            <p:nvPr/>
          </p:nvGrpSpPr>
          <p:grpSpPr>
            <a:xfrm>
              <a:off x="800369" y="3423093"/>
              <a:ext cx="1344422" cy="425826"/>
              <a:chOff x="5152292" y="3913911"/>
              <a:chExt cx="1344422" cy="425826"/>
            </a:xfrm>
          </p:grpSpPr>
          <p:cxnSp>
            <p:nvCxnSpPr>
              <p:cNvPr id="234" name="直接连接符 233">
                <a:extLst>
                  <a:ext uri="{FF2B5EF4-FFF2-40B4-BE49-F238E27FC236}">
                    <a16:creationId xmlns:a16="http://schemas.microsoft.com/office/drawing/2014/main" id="{770155DC-F4AF-4D29-8B5A-0A6D26CC33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4104" y="3913911"/>
                <a:ext cx="13126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直接连接符 234">
                <a:extLst>
                  <a:ext uri="{FF2B5EF4-FFF2-40B4-BE49-F238E27FC236}">
                    <a16:creationId xmlns:a16="http://schemas.microsoft.com/office/drawing/2014/main" id="{AD332854-EC5A-4E98-A9F4-D14B5CA29F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2292" y="4339737"/>
                <a:ext cx="134442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2" name="组合 221">
              <a:extLst>
                <a:ext uri="{FF2B5EF4-FFF2-40B4-BE49-F238E27FC236}">
                  <a16:creationId xmlns:a16="http://schemas.microsoft.com/office/drawing/2014/main" id="{0D993903-E1C5-477F-9F2B-79355F1305ED}"/>
                </a:ext>
              </a:extLst>
            </p:cNvPr>
            <p:cNvGrpSpPr/>
            <p:nvPr/>
          </p:nvGrpSpPr>
          <p:grpSpPr>
            <a:xfrm>
              <a:off x="954544" y="3471803"/>
              <a:ext cx="980334" cy="369332"/>
              <a:chOff x="5329082" y="4568028"/>
              <a:chExt cx="980334" cy="369332"/>
            </a:xfrm>
          </p:grpSpPr>
          <p:sp>
            <p:nvSpPr>
              <p:cNvPr id="223" name="矩形 222">
                <a:extLst>
                  <a:ext uri="{FF2B5EF4-FFF2-40B4-BE49-F238E27FC236}">
                    <a16:creationId xmlns:a16="http://schemas.microsoft.com/office/drawing/2014/main" id="{6068B9B3-38BC-4FC1-A59A-56064C097497}"/>
                  </a:ext>
                </a:extLst>
              </p:cNvPr>
              <p:cNvSpPr/>
              <p:nvPr/>
            </p:nvSpPr>
            <p:spPr>
              <a:xfrm>
                <a:off x="5951625" y="4568028"/>
                <a:ext cx="357791" cy="369332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>
                    <a:latin typeface="Calibri" panose="020F0502020204030204" pitchFamily="34" charset="0"/>
                    <a:ea typeface="Microsoft YaHei" panose="020B0503020204020204" pitchFamily="34" charset="-122"/>
                    <a:cs typeface="+mn-ea"/>
                    <a:sym typeface="Calibri" panose="020F0502020204030204" pitchFamily="34" charset="0"/>
                  </a:rPr>
                  <a:t>...</a:t>
                </a:r>
              </a:p>
            </p:txBody>
          </p:sp>
          <p:grpSp>
            <p:nvGrpSpPr>
              <p:cNvPr id="224" name="组合 223">
                <a:extLst>
                  <a:ext uri="{FF2B5EF4-FFF2-40B4-BE49-F238E27FC236}">
                    <a16:creationId xmlns:a16="http://schemas.microsoft.com/office/drawing/2014/main" id="{660EDF92-60A1-4AB5-B73A-5B2AB1E6603E}"/>
                  </a:ext>
                </a:extLst>
              </p:cNvPr>
              <p:cNvGrpSpPr/>
              <p:nvPr/>
            </p:nvGrpSpPr>
            <p:grpSpPr>
              <a:xfrm>
                <a:off x="5329082" y="4570854"/>
                <a:ext cx="250602" cy="297190"/>
                <a:chOff x="4436571" y="4621677"/>
                <a:chExt cx="250602" cy="297190"/>
              </a:xfrm>
            </p:grpSpPr>
            <p:sp>
              <p:nvSpPr>
                <p:cNvPr id="230" name="矩形 229">
                  <a:extLst>
                    <a:ext uri="{FF2B5EF4-FFF2-40B4-BE49-F238E27FC236}">
                      <a16:creationId xmlns:a16="http://schemas.microsoft.com/office/drawing/2014/main" id="{2427777D-8D41-46B4-A0DC-40F58DCA733D}"/>
                    </a:ext>
                  </a:extLst>
                </p:cNvPr>
                <p:cNvSpPr/>
                <p:nvPr/>
              </p:nvSpPr>
              <p:spPr>
                <a:xfrm>
                  <a:off x="4479131" y="4621677"/>
                  <a:ext cx="164306" cy="29719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  <a:alpha val="50000"/>
                  </a:schemeClr>
                </a:solidFill>
                <a:ln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Calibri" panose="020F0502020204030204" pitchFamily="34" charset="0"/>
                    <a:ea typeface="Microsoft YaHei" panose="020B0503020204020204" pitchFamily="34" charset="-122"/>
                    <a:cs typeface="+mn-ea"/>
                    <a:sym typeface="Calibri" panose="020F0502020204030204" pitchFamily="34" charset="0"/>
                  </a:endParaRPr>
                </a:p>
              </p:txBody>
            </p:sp>
            <p:grpSp>
              <p:nvGrpSpPr>
                <p:cNvPr id="231" name="组合 230">
                  <a:extLst>
                    <a:ext uri="{FF2B5EF4-FFF2-40B4-BE49-F238E27FC236}">
                      <a16:creationId xmlns:a16="http://schemas.microsoft.com/office/drawing/2014/main" id="{A37DD629-2F10-47AF-BD94-4FFCDFECA796}"/>
                    </a:ext>
                  </a:extLst>
                </p:cNvPr>
                <p:cNvGrpSpPr/>
                <p:nvPr/>
              </p:nvGrpSpPr>
              <p:grpSpPr>
                <a:xfrm>
                  <a:off x="4436571" y="4632193"/>
                  <a:ext cx="250602" cy="270411"/>
                  <a:chOff x="1803295" y="2729444"/>
                  <a:chExt cx="250602" cy="270411"/>
                </a:xfrm>
              </p:grpSpPr>
              <p:sp>
                <p:nvSpPr>
                  <p:cNvPr id="232" name="弧形 231">
                    <a:extLst>
                      <a:ext uri="{FF2B5EF4-FFF2-40B4-BE49-F238E27FC236}">
                        <a16:creationId xmlns:a16="http://schemas.microsoft.com/office/drawing/2014/main" id="{ED8AFF3E-E81F-4E90-BA3A-0695478845D7}"/>
                      </a:ext>
                    </a:extLst>
                  </p:cNvPr>
                  <p:cNvSpPr/>
                  <p:nvPr/>
                </p:nvSpPr>
                <p:spPr>
                  <a:xfrm rot="13459654">
                    <a:off x="1909642" y="2729444"/>
                    <a:ext cx="144255" cy="156631"/>
                  </a:xfrm>
                  <a:prstGeom prst="arc">
                    <a:avLst>
                      <a:gd name="adj1" fmla="val 16031560"/>
                      <a:gd name="adj2" fmla="val 21427861"/>
                    </a:avLst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Calibri" panose="020F0502020204030204" pitchFamily="34" charset="0"/>
                      <a:ea typeface="Microsoft YaHei" panose="020B0503020204020204" pitchFamily="34" charset="-122"/>
                      <a:sym typeface="Calibri" panose="020F0502020204030204" pitchFamily="34" charset="0"/>
                    </a:endParaRPr>
                  </a:p>
                </p:txBody>
              </p:sp>
              <p:sp>
                <p:nvSpPr>
                  <p:cNvPr id="233" name="弧形 232">
                    <a:extLst>
                      <a:ext uri="{FF2B5EF4-FFF2-40B4-BE49-F238E27FC236}">
                        <a16:creationId xmlns:a16="http://schemas.microsoft.com/office/drawing/2014/main" id="{6B20895F-ACF3-40FE-94C1-E8ECA8B04163}"/>
                      </a:ext>
                    </a:extLst>
                  </p:cNvPr>
                  <p:cNvSpPr/>
                  <p:nvPr/>
                </p:nvSpPr>
                <p:spPr>
                  <a:xfrm rot="2676595">
                    <a:off x="1803295" y="2843224"/>
                    <a:ext cx="144255" cy="156631"/>
                  </a:xfrm>
                  <a:prstGeom prst="arc">
                    <a:avLst>
                      <a:gd name="adj1" fmla="val 16031560"/>
                      <a:gd name="adj2" fmla="val 21427861"/>
                    </a:avLst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Calibri" panose="020F0502020204030204" pitchFamily="34" charset="0"/>
                      <a:ea typeface="Microsoft YaHei" panose="020B0503020204020204" pitchFamily="34" charset="-122"/>
                      <a:sym typeface="Calibri" panose="020F0502020204030204" pitchFamily="34" charset="0"/>
                    </a:endParaRPr>
                  </a:p>
                </p:txBody>
              </p:sp>
            </p:grpSp>
          </p:grpSp>
          <p:grpSp>
            <p:nvGrpSpPr>
              <p:cNvPr id="225" name="组合 224">
                <a:extLst>
                  <a:ext uri="{FF2B5EF4-FFF2-40B4-BE49-F238E27FC236}">
                    <a16:creationId xmlns:a16="http://schemas.microsoft.com/office/drawing/2014/main" id="{434AB78D-1755-4ADA-A26E-C9FDA8140C98}"/>
                  </a:ext>
                </a:extLst>
              </p:cNvPr>
              <p:cNvGrpSpPr/>
              <p:nvPr/>
            </p:nvGrpSpPr>
            <p:grpSpPr>
              <a:xfrm>
                <a:off x="5702299" y="4577859"/>
                <a:ext cx="250602" cy="297190"/>
                <a:chOff x="4436571" y="4621677"/>
                <a:chExt cx="250602" cy="297190"/>
              </a:xfrm>
            </p:grpSpPr>
            <p:sp>
              <p:nvSpPr>
                <p:cNvPr id="226" name="矩形 225">
                  <a:extLst>
                    <a:ext uri="{FF2B5EF4-FFF2-40B4-BE49-F238E27FC236}">
                      <a16:creationId xmlns:a16="http://schemas.microsoft.com/office/drawing/2014/main" id="{B3BF549E-DDDF-4353-B94A-AAC48D00260C}"/>
                    </a:ext>
                  </a:extLst>
                </p:cNvPr>
                <p:cNvSpPr/>
                <p:nvPr/>
              </p:nvSpPr>
              <p:spPr>
                <a:xfrm>
                  <a:off x="4479131" y="4621677"/>
                  <a:ext cx="164306" cy="29719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  <a:alpha val="50000"/>
                  </a:schemeClr>
                </a:solidFill>
                <a:ln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Calibri" panose="020F0502020204030204" pitchFamily="34" charset="0"/>
                    <a:ea typeface="Microsoft YaHei" panose="020B0503020204020204" pitchFamily="34" charset="-122"/>
                    <a:cs typeface="+mn-ea"/>
                    <a:sym typeface="Calibri" panose="020F0502020204030204" pitchFamily="34" charset="0"/>
                  </a:endParaRPr>
                </a:p>
              </p:txBody>
            </p:sp>
            <p:grpSp>
              <p:nvGrpSpPr>
                <p:cNvPr id="227" name="组合 226">
                  <a:extLst>
                    <a:ext uri="{FF2B5EF4-FFF2-40B4-BE49-F238E27FC236}">
                      <a16:creationId xmlns:a16="http://schemas.microsoft.com/office/drawing/2014/main" id="{C6672AE4-B73A-4A94-89F3-E1D033421F4A}"/>
                    </a:ext>
                  </a:extLst>
                </p:cNvPr>
                <p:cNvGrpSpPr/>
                <p:nvPr/>
              </p:nvGrpSpPr>
              <p:grpSpPr>
                <a:xfrm>
                  <a:off x="4436571" y="4632193"/>
                  <a:ext cx="250602" cy="270411"/>
                  <a:chOff x="1803295" y="2729444"/>
                  <a:chExt cx="250602" cy="270411"/>
                </a:xfrm>
              </p:grpSpPr>
              <p:sp>
                <p:nvSpPr>
                  <p:cNvPr id="228" name="弧形 227">
                    <a:extLst>
                      <a:ext uri="{FF2B5EF4-FFF2-40B4-BE49-F238E27FC236}">
                        <a16:creationId xmlns:a16="http://schemas.microsoft.com/office/drawing/2014/main" id="{2EC83ADE-6724-44CA-BA36-51BCAF9F57CB}"/>
                      </a:ext>
                    </a:extLst>
                  </p:cNvPr>
                  <p:cNvSpPr/>
                  <p:nvPr/>
                </p:nvSpPr>
                <p:spPr>
                  <a:xfrm rot="13459654">
                    <a:off x="1909642" y="2729444"/>
                    <a:ext cx="144255" cy="156631"/>
                  </a:xfrm>
                  <a:prstGeom prst="arc">
                    <a:avLst>
                      <a:gd name="adj1" fmla="val 16031560"/>
                      <a:gd name="adj2" fmla="val 21427861"/>
                    </a:avLst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Calibri" panose="020F0502020204030204" pitchFamily="34" charset="0"/>
                      <a:ea typeface="Microsoft YaHei" panose="020B0503020204020204" pitchFamily="34" charset="-122"/>
                      <a:sym typeface="Calibri" panose="020F0502020204030204" pitchFamily="34" charset="0"/>
                    </a:endParaRPr>
                  </a:p>
                </p:txBody>
              </p:sp>
              <p:sp>
                <p:nvSpPr>
                  <p:cNvPr id="229" name="弧形 228">
                    <a:extLst>
                      <a:ext uri="{FF2B5EF4-FFF2-40B4-BE49-F238E27FC236}">
                        <a16:creationId xmlns:a16="http://schemas.microsoft.com/office/drawing/2014/main" id="{A7402D96-10E9-475F-8E6C-FA36E6EC1CDB}"/>
                      </a:ext>
                    </a:extLst>
                  </p:cNvPr>
                  <p:cNvSpPr/>
                  <p:nvPr/>
                </p:nvSpPr>
                <p:spPr>
                  <a:xfrm rot="2676595">
                    <a:off x="1803295" y="2843224"/>
                    <a:ext cx="144255" cy="156631"/>
                  </a:xfrm>
                  <a:prstGeom prst="arc">
                    <a:avLst>
                      <a:gd name="adj1" fmla="val 16031560"/>
                      <a:gd name="adj2" fmla="val 21427861"/>
                    </a:avLst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Calibri" panose="020F0502020204030204" pitchFamily="34" charset="0"/>
                      <a:ea typeface="Microsoft YaHei" panose="020B0503020204020204" pitchFamily="34" charset="-122"/>
                      <a:sym typeface="Calibri" panose="020F0502020204030204" pitchFamily="34" charset="0"/>
                    </a:endParaRPr>
                  </a:p>
                </p:txBody>
              </p:sp>
            </p:grpSp>
          </p:grpSp>
        </p:grpSp>
      </p:grpSp>
      <p:grpSp>
        <p:nvGrpSpPr>
          <p:cNvPr id="236" name="组合 235">
            <a:extLst>
              <a:ext uri="{FF2B5EF4-FFF2-40B4-BE49-F238E27FC236}">
                <a16:creationId xmlns:a16="http://schemas.microsoft.com/office/drawing/2014/main" id="{B3257EA8-0414-4B6D-968A-DBF1D0B13871}"/>
              </a:ext>
            </a:extLst>
          </p:cNvPr>
          <p:cNvGrpSpPr/>
          <p:nvPr/>
        </p:nvGrpSpPr>
        <p:grpSpPr>
          <a:xfrm>
            <a:off x="5030274" y="3244122"/>
            <a:ext cx="1899041" cy="425826"/>
            <a:chOff x="800369" y="3423093"/>
            <a:chExt cx="1899041" cy="425826"/>
          </a:xfrm>
        </p:grpSpPr>
        <p:grpSp>
          <p:nvGrpSpPr>
            <p:cNvPr id="237" name="组合 236">
              <a:extLst>
                <a:ext uri="{FF2B5EF4-FFF2-40B4-BE49-F238E27FC236}">
                  <a16:creationId xmlns:a16="http://schemas.microsoft.com/office/drawing/2014/main" id="{AAB78A00-3783-4D58-8D9B-8F8AEFC7FE67}"/>
                </a:ext>
              </a:extLst>
            </p:cNvPr>
            <p:cNvGrpSpPr/>
            <p:nvPr/>
          </p:nvGrpSpPr>
          <p:grpSpPr>
            <a:xfrm>
              <a:off x="800369" y="3423093"/>
              <a:ext cx="1899041" cy="425826"/>
              <a:chOff x="5152292" y="3913911"/>
              <a:chExt cx="1899041" cy="425826"/>
            </a:xfrm>
          </p:grpSpPr>
          <p:cxnSp>
            <p:nvCxnSpPr>
              <p:cNvPr id="250" name="直接连接符 249">
                <a:extLst>
                  <a:ext uri="{FF2B5EF4-FFF2-40B4-BE49-F238E27FC236}">
                    <a16:creationId xmlns:a16="http://schemas.microsoft.com/office/drawing/2014/main" id="{7AB1EC06-43B4-4FFC-BF4E-C4B794AF89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4104" y="3913911"/>
                <a:ext cx="186722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 250">
                <a:extLst>
                  <a:ext uri="{FF2B5EF4-FFF2-40B4-BE49-F238E27FC236}">
                    <a16:creationId xmlns:a16="http://schemas.microsoft.com/office/drawing/2014/main" id="{D8CCE7A8-707D-4A5C-8FB1-E1639CF7E9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2292" y="4339737"/>
                <a:ext cx="189904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8" name="组合 237">
              <a:extLst>
                <a:ext uri="{FF2B5EF4-FFF2-40B4-BE49-F238E27FC236}">
                  <a16:creationId xmlns:a16="http://schemas.microsoft.com/office/drawing/2014/main" id="{9F9A8D7A-DD2C-476A-9FB9-9E3728A22DE7}"/>
                </a:ext>
              </a:extLst>
            </p:cNvPr>
            <p:cNvGrpSpPr/>
            <p:nvPr/>
          </p:nvGrpSpPr>
          <p:grpSpPr>
            <a:xfrm>
              <a:off x="954544" y="3471803"/>
              <a:ext cx="980334" cy="369332"/>
              <a:chOff x="5329082" y="4568028"/>
              <a:chExt cx="980334" cy="369332"/>
            </a:xfrm>
          </p:grpSpPr>
          <p:sp>
            <p:nvSpPr>
              <p:cNvPr id="239" name="矩形 238">
                <a:extLst>
                  <a:ext uri="{FF2B5EF4-FFF2-40B4-BE49-F238E27FC236}">
                    <a16:creationId xmlns:a16="http://schemas.microsoft.com/office/drawing/2014/main" id="{31622DD0-D55C-46F5-9F20-A5220A4D6289}"/>
                  </a:ext>
                </a:extLst>
              </p:cNvPr>
              <p:cNvSpPr/>
              <p:nvPr/>
            </p:nvSpPr>
            <p:spPr>
              <a:xfrm>
                <a:off x="5951625" y="4568028"/>
                <a:ext cx="357791" cy="369332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>
                    <a:latin typeface="Calibri" panose="020F0502020204030204" pitchFamily="34" charset="0"/>
                    <a:ea typeface="Microsoft YaHei" panose="020B0503020204020204" pitchFamily="34" charset="-122"/>
                    <a:cs typeface="+mn-ea"/>
                    <a:sym typeface="Calibri" panose="020F0502020204030204" pitchFamily="34" charset="0"/>
                  </a:rPr>
                  <a:t>...</a:t>
                </a:r>
              </a:p>
            </p:txBody>
          </p:sp>
          <p:grpSp>
            <p:nvGrpSpPr>
              <p:cNvPr id="240" name="组合 239">
                <a:extLst>
                  <a:ext uri="{FF2B5EF4-FFF2-40B4-BE49-F238E27FC236}">
                    <a16:creationId xmlns:a16="http://schemas.microsoft.com/office/drawing/2014/main" id="{773823AE-3464-4A3C-B0FD-9BD0699C0266}"/>
                  </a:ext>
                </a:extLst>
              </p:cNvPr>
              <p:cNvGrpSpPr/>
              <p:nvPr/>
            </p:nvGrpSpPr>
            <p:grpSpPr>
              <a:xfrm>
                <a:off x="5329082" y="4570854"/>
                <a:ext cx="250602" cy="297190"/>
                <a:chOff x="4436571" y="4621677"/>
                <a:chExt cx="250602" cy="297190"/>
              </a:xfrm>
            </p:grpSpPr>
            <p:sp>
              <p:nvSpPr>
                <p:cNvPr id="246" name="矩形 245">
                  <a:extLst>
                    <a:ext uri="{FF2B5EF4-FFF2-40B4-BE49-F238E27FC236}">
                      <a16:creationId xmlns:a16="http://schemas.microsoft.com/office/drawing/2014/main" id="{B0089985-B668-44EA-B520-34B09BC3FAE1}"/>
                    </a:ext>
                  </a:extLst>
                </p:cNvPr>
                <p:cNvSpPr/>
                <p:nvPr/>
              </p:nvSpPr>
              <p:spPr>
                <a:xfrm>
                  <a:off x="4479131" y="4621677"/>
                  <a:ext cx="164306" cy="29719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  <a:alpha val="50000"/>
                  </a:schemeClr>
                </a:solidFill>
                <a:ln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Calibri" panose="020F0502020204030204" pitchFamily="34" charset="0"/>
                    <a:ea typeface="Microsoft YaHei" panose="020B0503020204020204" pitchFamily="34" charset="-122"/>
                    <a:cs typeface="+mn-ea"/>
                    <a:sym typeface="Calibri" panose="020F0502020204030204" pitchFamily="34" charset="0"/>
                  </a:endParaRPr>
                </a:p>
              </p:txBody>
            </p:sp>
            <p:grpSp>
              <p:nvGrpSpPr>
                <p:cNvPr id="247" name="组合 246">
                  <a:extLst>
                    <a:ext uri="{FF2B5EF4-FFF2-40B4-BE49-F238E27FC236}">
                      <a16:creationId xmlns:a16="http://schemas.microsoft.com/office/drawing/2014/main" id="{D8EF9130-FC74-46F7-BF86-D47FBAAF0BA2}"/>
                    </a:ext>
                  </a:extLst>
                </p:cNvPr>
                <p:cNvGrpSpPr/>
                <p:nvPr/>
              </p:nvGrpSpPr>
              <p:grpSpPr>
                <a:xfrm>
                  <a:off x="4436571" y="4632193"/>
                  <a:ext cx="250602" cy="270411"/>
                  <a:chOff x="1803295" y="2729444"/>
                  <a:chExt cx="250602" cy="270411"/>
                </a:xfrm>
              </p:grpSpPr>
              <p:sp>
                <p:nvSpPr>
                  <p:cNvPr id="248" name="弧形 247">
                    <a:extLst>
                      <a:ext uri="{FF2B5EF4-FFF2-40B4-BE49-F238E27FC236}">
                        <a16:creationId xmlns:a16="http://schemas.microsoft.com/office/drawing/2014/main" id="{55F03616-7993-4D75-829B-5C344EDFBD01}"/>
                      </a:ext>
                    </a:extLst>
                  </p:cNvPr>
                  <p:cNvSpPr/>
                  <p:nvPr/>
                </p:nvSpPr>
                <p:spPr>
                  <a:xfrm rot="13459654">
                    <a:off x="1909642" y="2729444"/>
                    <a:ext cx="144255" cy="156631"/>
                  </a:xfrm>
                  <a:prstGeom prst="arc">
                    <a:avLst>
                      <a:gd name="adj1" fmla="val 16031560"/>
                      <a:gd name="adj2" fmla="val 21427861"/>
                    </a:avLst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Calibri" panose="020F0502020204030204" pitchFamily="34" charset="0"/>
                      <a:ea typeface="Microsoft YaHei" panose="020B0503020204020204" pitchFamily="34" charset="-122"/>
                      <a:sym typeface="Calibri" panose="020F0502020204030204" pitchFamily="34" charset="0"/>
                    </a:endParaRPr>
                  </a:p>
                </p:txBody>
              </p:sp>
              <p:sp>
                <p:nvSpPr>
                  <p:cNvPr id="249" name="弧形 248">
                    <a:extLst>
                      <a:ext uri="{FF2B5EF4-FFF2-40B4-BE49-F238E27FC236}">
                        <a16:creationId xmlns:a16="http://schemas.microsoft.com/office/drawing/2014/main" id="{8B28AB7E-1269-4055-A155-7BC340CFEFD0}"/>
                      </a:ext>
                    </a:extLst>
                  </p:cNvPr>
                  <p:cNvSpPr/>
                  <p:nvPr/>
                </p:nvSpPr>
                <p:spPr>
                  <a:xfrm rot="2676595">
                    <a:off x="1803295" y="2843224"/>
                    <a:ext cx="144255" cy="156631"/>
                  </a:xfrm>
                  <a:prstGeom prst="arc">
                    <a:avLst>
                      <a:gd name="adj1" fmla="val 16031560"/>
                      <a:gd name="adj2" fmla="val 21427861"/>
                    </a:avLst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Calibri" panose="020F0502020204030204" pitchFamily="34" charset="0"/>
                      <a:ea typeface="Microsoft YaHei" panose="020B0503020204020204" pitchFamily="34" charset="-122"/>
                      <a:sym typeface="Calibri" panose="020F0502020204030204" pitchFamily="34" charset="0"/>
                    </a:endParaRPr>
                  </a:p>
                </p:txBody>
              </p:sp>
            </p:grpSp>
          </p:grpSp>
          <p:grpSp>
            <p:nvGrpSpPr>
              <p:cNvPr id="241" name="组合 240">
                <a:extLst>
                  <a:ext uri="{FF2B5EF4-FFF2-40B4-BE49-F238E27FC236}">
                    <a16:creationId xmlns:a16="http://schemas.microsoft.com/office/drawing/2014/main" id="{0A34D133-A5F3-4447-ACCE-63D8F71D7BB7}"/>
                  </a:ext>
                </a:extLst>
              </p:cNvPr>
              <p:cNvGrpSpPr/>
              <p:nvPr/>
            </p:nvGrpSpPr>
            <p:grpSpPr>
              <a:xfrm>
                <a:off x="5702299" y="4577859"/>
                <a:ext cx="250602" cy="297190"/>
                <a:chOff x="4436571" y="4621677"/>
                <a:chExt cx="250602" cy="297190"/>
              </a:xfrm>
            </p:grpSpPr>
            <p:sp>
              <p:nvSpPr>
                <p:cNvPr id="242" name="矩形 241">
                  <a:extLst>
                    <a:ext uri="{FF2B5EF4-FFF2-40B4-BE49-F238E27FC236}">
                      <a16:creationId xmlns:a16="http://schemas.microsoft.com/office/drawing/2014/main" id="{DE2200A7-F968-4E46-A853-46AA899ED7C0}"/>
                    </a:ext>
                  </a:extLst>
                </p:cNvPr>
                <p:cNvSpPr/>
                <p:nvPr/>
              </p:nvSpPr>
              <p:spPr>
                <a:xfrm>
                  <a:off x="4479131" y="4621677"/>
                  <a:ext cx="164306" cy="29719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  <a:alpha val="50000"/>
                  </a:schemeClr>
                </a:solidFill>
                <a:ln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Calibri" panose="020F0502020204030204" pitchFamily="34" charset="0"/>
                    <a:ea typeface="Microsoft YaHei" panose="020B0503020204020204" pitchFamily="34" charset="-122"/>
                    <a:cs typeface="+mn-ea"/>
                    <a:sym typeface="Calibri" panose="020F0502020204030204" pitchFamily="34" charset="0"/>
                  </a:endParaRPr>
                </a:p>
              </p:txBody>
            </p:sp>
            <p:grpSp>
              <p:nvGrpSpPr>
                <p:cNvPr id="243" name="组合 242">
                  <a:extLst>
                    <a:ext uri="{FF2B5EF4-FFF2-40B4-BE49-F238E27FC236}">
                      <a16:creationId xmlns:a16="http://schemas.microsoft.com/office/drawing/2014/main" id="{7AE14A1C-309E-44BD-A4F7-3087845E5803}"/>
                    </a:ext>
                  </a:extLst>
                </p:cNvPr>
                <p:cNvGrpSpPr/>
                <p:nvPr/>
              </p:nvGrpSpPr>
              <p:grpSpPr>
                <a:xfrm>
                  <a:off x="4436571" y="4632193"/>
                  <a:ext cx="250602" cy="270411"/>
                  <a:chOff x="1803295" y="2729444"/>
                  <a:chExt cx="250602" cy="270411"/>
                </a:xfrm>
              </p:grpSpPr>
              <p:sp>
                <p:nvSpPr>
                  <p:cNvPr id="244" name="弧形 243">
                    <a:extLst>
                      <a:ext uri="{FF2B5EF4-FFF2-40B4-BE49-F238E27FC236}">
                        <a16:creationId xmlns:a16="http://schemas.microsoft.com/office/drawing/2014/main" id="{990246FD-76B9-4D16-87C6-72376719ECAD}"/>
                      </a:ext>
                    </a:extLst>
                  </p:cNvPr>
                  <p:cNvSpPr/>
                  <p:nvPr/>
                </p:nvSpPr>
                <p:spPr>
                  <a:xfrm rot="13459654">
                    <a:off x="1909642" y="2729444"/>
                    <a:ext cx="144255" cy="156631"/>
                  </a:xfrm>
                  <a:prstGeom prst="arc">
                    <a:avLst>
                      <a:gd name="adj1" fmla="val 16031560"/>
                      <a:gd name="adj2" fmla="val 21427861"/>
                    </a:avLst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Calibri" panose="020F0502020204030204" pitchFamily="34" charset="0"/>
                      <a:ea typeface="Microsoft YaHei" panose="020B0503020204020204" pitchFamily="34" charset="-122"/>
                      <a:sym typeface="Calibri" panose="020F0502020204030204" pitchFamily="34" charset="0"/>
                    </a:endParaRPr>
                  </a:p>
                </p:txBody>
              </p:sp>
              <p:sp>
                <p:nvSpPr>
                  <p:cNvPr id="245" name="弧形 244">
                    <a:extLst>
                      <a:ext uri="{FF2B5EF4-FFF2-40B4-BE49-F238E27FC236}">
                        <a16:creationId xmlns:a16="http://schemas.microsoft.com/office/drawing/2014/main" id="{0EAE6332-160F-487E-8F3F-C85BC35132DF}"/>
                      </a:ext>
                    </a:extLst>
                  </p:cNvPr>
                  <p:cNvSpPr/>
                  <p:nvPr/>
                </p:nvSpPr>
                <p:spPr>
                  <a:xfrm rot="2676595">
                    <a:off x="1803295" y="2843224"/>
                    <a:ext cx="144255" cy="156631"/>
                  </a:xfrm>
                  <a:prstGeom prst="arc">
                    <a:avLst>
                      <a:gd name="adj1" fmla="val 16031560"/>
                      <a:gd name="adj2" fmla="val 21427861"/>
                    </a:avLst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Calibri" panose="020F0502020204030204" pitchFamily="34" charset="0"/>
                      <a:ea typeface="Microsoft YaHei" panose="020B0503020204020204" pitchFamily="34" charset="-122"/>
                      <a:sym typeface="Calibri" panose="020F0502020204030204" pitchFamily="34" charset="0"/>
                    </a:endParaRPr>
                  </a:p>
                </p:txBody>
              </p:sp>
            </p:grpSp>
          </p:grpSp>
        </p:grpSp>
      </p:grpSp>
      <p:cxnSp>
        <p:nvCxnSpPr>
          <p:cNvPr id="253" name="直接箭头连接符 252">
            <a:extLst>
              <a:ext uri="{FF2B5EF4-FFF2-40B4-BE49-F238E27FC236}">
                <a16:creationId xmlns:a16="http://schemas.microsoft.com/office/drawing/2014/main" id="{309C9AFE-A0C6-449C-AFE9-F9771AD09406}"/>
              </a:ext>
            </a:extLst>
          </p:cNvPr>
          <p:cNvCxnSpPr>
            <a:cxnSpLocks/>
          </p:cNvCxnSpPr>
          <p:nvPr/>
        </p:nvCxnSpPr>
        <p:spPr>
          <a:xfrm flipV="1">
            <a:off x="4147630" y="5173472"/>
            <a:ext cx="0" cy="247359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dash"/>
            <a:miter lim="800000"/>
            <a:tailEnd type="triangle"/>
          </a:ln>
          <a:effectLst/>
        </p:spPr>
      </p:cxnSp>
      <p:grpSp>
        <p:nvGrpSpPr>
          <p:cNvPr id="254" name="组合 253">
            <a:extLst>
              <a:ext uri="{FF2B5EF4-FFF2-40B4-BE49-F238E27FC236}">
                <a16:creationId xmlns:a16="http://schemas.microsoft.com/office/drawing/2014/main" id="{E8A6EFD2-17B8-4602-B884-D88D535C9881}"/>
              </a:ext>
            </a:extLst>
          </p:cNvPr>
          <p:cNvGrpSpPr/>
          <p:nvPr/>
        </p:nvGrpSpPr>
        <p:grpSpPr>
          <a:xfrm>
            <a:off x="8774556" y="5464290"/>
            <a:ext cx="418018" cy="418018"/>
            <a:chOff x="3924178" y="5229545"/>
            <a:chExt cx="822960" cy="822960"/>
          </a:xfrm>
        </p:grpSpPr>
        <p:sp>
          <p:nvSpPr>
            <p:cNvPr id="255" name="椭圆 254">
              <a:extLst>
                <a:ext uri="{FF2B5EF4-FFF2-40B4-BE49-F238E27FC236}">
                  <a16:creationId xmlns:a16="http://schemas.microsoft.com/office/drawing/2014/main" id="{C7E24A3D-66F3-4B35-9B67-A5C4C1ADE7BF}"/>
                </a:ext>
              </a:extLst>
            </p:cNvPr>
            <p:cNvSpPr/>
            <p:nvPr/>
          </p:nvSpPr>
          <p:spPr>
            <a:xfrm>
              <a:off x="3924178" y="5229545"/>
              <a:ext cx="822960" cy="82296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256" name="任意多边形: 形状 255">
              <a:extLst>
                <a:ext uri="{FF2B5EF4-FFF2-40B4-BE49-F238E27FC236}">
                  <a16:creationId xmlns:a16="http://schemas.microsoft.com/office/drawing/2014/main" id="{AFAA243F-59ED-42BE-8CAE-9E75538D0ECE}"/>
                </a:ext>
              </a:extLst>
            </p:cNvPr>
            <p:cNvSpPr/>
            <p:nvPr/>
          </p:nvSpPr>
          <p:spPr>
            <a:xfrm>
              <a:off x="4219145" y="5302512"/>
              <a:ext cx="194720" cy="709909"/>
            </a:xfrm>
            <a:custGeom>
              <a:avLst/>
              <a:gdLst>
                <a:gd name="connsiteX0" fmla="*/ 446963 w 493504"/>
                <a:gd name="connsiteY0" fmla="*/ 0 h 1111827"/>
                <a:gd name="connsiteX1" fmla="*/ 154 w 493504"/>
                <a:gd name="connsiteY1" fmla="*/ 457200 h 1111827"/>
                <a:gd name="connsiteX2" fmla="*/ 488527 w 493504"/>
                <a:gd name="connsiteY2" fmla="*/ 529936 h 1111827"/>
                <a:gd name="connsiteX3" fmla="*/ 259927 w 493504"/>
                <a:gd name="connsiteY3" fmla="*/ 1111827 h 1111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504" h="1111827">
                  <a:moveTo>
                    <a:pt x="446963" y="0"/>
                  </a:moveTo>
                  <a:cubicBezTo>
                    <a:pt x="220095" y="184438"/>
                    <a:pt x="-6773" y="368877"/>
                    <a:pt x="154" y="457200"/>
                  </a:cubicBezTo>
                  <a:cubicBezTo>
                    <a:pt x="7081" y="545523"/>
                    <a:pt x="445231" y="420832"/>
                    <a:pt x="488527" y="529936"/>
                  </a:cubicBezTo>
                  <a:cubicBezTo>
                    <a:pt x="531823" y="639041"/>
                    <a:pt x="278977" y="950768"/>
                    <a:pt x="259927" y="1111827"/>
                  </a:cubicBezTo>
                </a:path>
              </a:pathLst>
            </a:custGeom>
            <a:ln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endParaRPr>
            </a:p>
          </p:txBody>
        </p:sp>
      </p:grpSp>
      <p:cxnSp>
        <p:nvCxnSpPr>
          <p:cNvPr id="258" name="直接连接符 257">
            <a:extLst>
              <a:ext uri="{FF2B5EF4-FFF2-40B4-BE49-F238E27FC236}">
                <a16:creationId xmlns:a16="http://schemas.microsoft.com/office/drawing/2014/main" id="{19F32936-7310-4541-A17A-025B2E07FB5B}"/>
              </a:ext>
            </a:extLst>
          </p:cNvPr>
          <p:cNvCxnSpPr>
            <a:cxnSpLocks/>
          </p:cNvCxnSpPr>
          <p:nvPr/>
        </p:nvCxnSpPr>
        <p:spPr>
          <a:xfrm flipH="1">
            <a:off x="8123327" y="5058597"/>
            <a:ext cx="611673" cy="374909"/>
          </a:xfrm>
          <a:prstGeom prst="line">
            <a:avLst/>
          </a:prstGeom>
          <a:ln w="9525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连接符 258">
            <a:extLst>
              <a:ext uri="{FF2B5EF4-FFF2-40B4-BE49-F238E27FC236}">
                <a16:creationId xmlns:a16="http://schemas.microsoft.com/office/drawing/2014/main" id="{863DEDF9-1FC5-4B67-B42E-906743FF64EF}"/>
              </a:ext>
            </a:extLst>
          </p:cNvPr>
          <p:cNvCxnSpPr>
            <a:cxnSpLocks/>
          </p:cNvCxnSpPr>
          <p:nvPr/>
        </p:nvCxnSpPr>
        <p:spPr>
          <a:xfrm>
            <a:off x="8734999" y="5058597"/>
            <a:ext cx="713071" cy="381080"/>
          </a:xfrm>
          <a:prstGeom prst="line">
            <a:avLst/>
          </a:prstGeom>
          <a:ln w="9525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矩形 263">
            <a:extLst>
              <a:ext uri="{FF2B5EF4-FFF2-40B4-BE49-F238E27FC236}">
                <a16:creationId xmlns:a16="http://schemas.microsoft.com/office/drawing/2014/main" id="{CDD2C440-1D59-42D3-8F65-A0F7223C7345}"/>
              </a:ext>
            </a:extLst>
          </p:cNvPr>
          <p:cNvSpPr/>
          <p:nvPr/>
        </p:nvSpPr>
        <p:spPr>
          <a:xfrm>
            <a:off x="9167728" y="5563894"/>
            <a:ext cx="35779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ea typeface="Microsoft YaHei" panose="020B0503020204020204" pitchFamily="34" charset="-122"/>
                <a:cs typeface="+mn-ea"/>
                <a:sym typeface="Calibri" panose="020F0502020204030204" pitchFamily="34" charset="0"/>
              </a:rPr>
              <a:t>...</a:t>
            </a:r>
          </a:p>
        </p:txBody>
      </p:sp>
      <p:cxnSp>
        <p:nvCxnSpPr>
          <p:cNvPr id="266" name="直接箭头连接符 265">
            <a:extLst>
              <a:ext uri="{FF2B5EF4-FFF2-40B4-BE49-F238E27FC236}">
                <a16:creationId xmlns:a16="http://schemas.microsoft.com/office/drawing/2014/main" id="{A3B54599-1C58-48A4-AF73-774BEDBDF963}"/>
              </a:ext>
            </a:extLst>
          </p:cNvPr>
          <p:cNvCxnSpPr>
            <a:cxnSpLocks/>
          </p:cNvCxnSpPr>
          <p:nvPr/>
        </p:nvCxnSpPr>
        <p:spPr>
          <a:xfrm flipH="1" flipV="1">
            <a:off x="7690201" y="5847202"/>
            <a:ext cx="1" cy="173781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267" name="组合 266">
            <a:extLst>
              <a:ext uri="{FF2B5EF4-FFF2-40B4-BE49-F238E27FC236}">
                <a16:creationId xmlns:a16="http://schemas.microsoft.com/office/drawing/2014/main" id="{E43882BD-EDE6-4CB1-A4A6-FFC17EC1AC31}"/>
              </a:ext>
            </a:extLst>
          </p:cNvPr>
          <p:cNvGrpSpPr/>
          <p:nvPr/>
        </p:nvGrpSpPr>
        <p:grpSpPr>
          <a:xfrm>
            <a:off x="7497038" y="5429182"/>
            <a:ext cx="418018" cy="418018"/>
            <a:chOff x="3924178" y="5229545"/>
            <a:chExt cx="822960" cy="822960"/>
          </a:xfrm>
        </p:grpSpPr>
        <p:sp>
          <p:nvSpPr>
            <p:cNvPr id="268" name="椭圆 267">
              <a:extLst>
                <a:ext uri="{FF2B5EF4-FFF2-40B4-BE49-F238E27FC236}">
                  <a16:creationId xmlns:a16="http://schemas.microsoft.com/office/drawing/2014/main" id="{CA6FAD25-C2CF-4917-A858-2AC52FC94FC2}"/>
                </a:ext>
              </a:extLst>
            </p:cNvPr>
            <p:cNvSpPr/>
            <p:nvPr/>
          </p:nvSpPr>
          <p:spPr>
            <a:xfrm>
              <a:off x="3924178" y="5229545"/>
              <a:ext cx="822960" cy="82296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269" name="任意多边形: 形状 268">
              <a:extLst>
                <a:ext uri="{FF2B5EF4-FFF2-40B4-BE49-F238E27FC236}">
                  <a16:creationId xmlns:a16="http://schemas.microsoft.com/office/drawing/2014/main" id="{3DC34547-688C-4D19-98B5-D823877EDB1F}"/>
                </a:ext>
              </a:extLst>
            </p:cNvPr>
            <p:cNvSpPr/>
            <p:nvPr/>
          </p:nvSpPr>
          <p:spPr>
            <a:xfrm>
              <a:off x="4219145" y="5302512"/>
              <a:ext cx="194720" cy="709909"/>
            </a:xfrm>
            <a:custGeom>
              <a:avLst/>
              <a:gdLst>
                <a:gd name="connsiteX0" fmla="*/ 446963 w 493504"/>
                <a:gd name="connsiteY0" fmla="*/ 0 h 1111827"/>
                <a:gd name="connsiteX1" fmla="*/ 154 w 493504"/>
                <a:gd name="connsiteY1" fmla="*/ 457200 h 1111827"/>
                <a:gd name="connsiteX2" fmla="*/ 488527 w 493504"/>
                <a:gd name="connsiteY2" fmla="*/ 529936 h 1111827"/>
                <a:gd name="connsiteX3" fmla="*/ 259927 w 493504"/>
                <a:gd name="connsiteY3" fmla="*/ 1111827 h 1111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504" h="1111827">
                  <a:moveTo>
                    <a:pt x="446963" y="0"/>
                  </a:moveTo>
                  <a:cubicBezTo>
                    <a:pt x="220095" y="184438"/>
                    <a:pt x="-6773" y="368877"/>
                    <a:pt x="154" y="457200"/>
                  </a:cubicBezTo>
                  <a:cubicBezTo>
                    <a:pt x="7081" y="545523"/>
                    <a:pt x="445231" y="420832"/>
                    <a:pt x="488527" y="529936"/>
                  </a:cubicBezTo>
                  <a:cubicBezTo>
                    <a:pt x="531823" y="639041"/>
                    <a:pt x="278977" y="950768"/>
                    <a:pt x="259927" y="1111827"/>
                  </a:cubicBezTo>
                </a:path>
              </a:pathLst>
            </a:custGeom>
            <a:ln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endParaRPr>
            </a:p>
          </p:txBody>
        </p:sp>
      </p:grpSp>
      <p:sp>
        <p:nvSpPr>
          <p:cNvPr id="279" name="矩形 278">
            <a:extLst>
              <a:ext uri="{FF2B5EF4-FFF2-40B4-BE49-F238E27FC236}">
                <a16:creationId xmlns:a16="http://schemas.microsoft.com/office/drawing/2014/main" id="{A2B22F00-8CA1-490D-A958-EEF762A665E1}"/>
              </a:ext>
            </a:extLst>
          </p:cNvPr>
          <p:cNvSpPr/>
          <p:nvPr/>
        </p:nvSpPr>
        <p:spPr>
          <a:xfrm>
            <a:off x="3075314" y="2352916"/>
            <a:ext cx="6393118" cy="2886946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0" name="文本框 279">
            <a:extLst>
              <a:ext uri="{FF2B5EF4-FFF2-40B4-BE49-F238E27FC236}">
                <a16:creationId xmlns:a16="http://schemas.microsoft.com/office/drawing/2014/main" id="{50F3A05C-8C03-472E-8DF9-5756BC9073D6}"/>
              </a:ext>
            </a:extLst>
          </p:cNvPr>
          <p:cNvSpPr txBox="1"/>
          <p:nvPr/>
        </p:nvSpPr>
        <p:spPr>
          <a:xfrm>
            <a:off x="4546658" y="1770198"/>
            <a:ext cx="31559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spawn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{ /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*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CJ threads 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*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/ }</a:t>
            </a:r>
          </a:p>
        </p:txBody>
      </p:sp>
      <p:sp>
        <p:nvSpPr>
          <p:cNvPr id="314" name="矩形: 圆角 313">
            <a:extLst>
              <a:ext uri="{FF2B5EF4-FFF2-40B4-BE49-F238E27FC236}">
                <a16:creationId xmlns:a16="http://schemas.microsoft.com/office/drawing/2014/main" id="{2D958FB7-9CCD-49B2-AD00-423F3990FB20}"/>
              </a:ext>
            </a:extLst>
          </p:cNvPr>
          <p:cNvSpPr/>
          <p:nvPr/>
        </p:nvSpPr>
        <p:spPr>
          <a:xfrm>
            <a:off x="10729608" y="862656"/>
            <a:ext cx="1143457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并发数据结构</a:t>
            </a:r>
          </a:p>
        </p:txBody>
      </p:sp>
      <p:sp>
        <p:nvSpPr>
          <p:cNvPr id="315" name="矩形: 圆角 314">
            <a:extLst>
              <a:ext uri="{FF2B5EF4-FFF2-40B4-BE49-F238E27FC236}">
                <a16:creationId xmlns:a16="http://schemas.microsoft.com/office/drawing/2014/main" id="{70B6FAD9-BDF2-44ED-9C65-BFE4BE7D48EE}"/>
              </a:ext>
            </a:extLst>
          </p:cNvPr>
          <p:cNvSpPr/>
          <p:nvPr/>
        </p:nvSpPr>
        <p:spPr>
          <a:xfrm>
            <a:off x="10729609" y="555838"/>
            <a:ext cx="1143457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可重入互斥锁</a:t>
            </a:r>
            <a:endParaRPr lang="en-US" altLang="zh-CN" sz="1000" kern="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316" name="矩形: 圆角 315">
            <a:extLst>
              <a:ext uri="{FF2B5EF4-FFF2-40B4-BE49-F238E27FC236}">
                <a16:creationId xmlns:a16="http://schemas.microsoft.com/office/drawing/2014/main" id="{8FD9955A-F11D-47B1-BC9F-584F515D5B93}"/>
              </a:ext>
            </a:extLst>
          </p:cNvPr>
          <p:cNvSpPr/>
          <p:nvPr/>
        </p:nvSpPr>
        <p:spPr>
          <a:xfrm>
            <a:off x="10729609" y="249020"/>
            <a:ext cx="1143456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线程使用</a:t>
            </a:r>
            <a:endParaRPr lang="en-US" sz="1000" kern="0" dirty="0"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pic>
        <p:nvPicPr>
          <p:cNvPr id="317" name="图形 316">
            <a:extLst>
              <a:ext uri="{FF2B5EF4-FFF2-40B4-BE49-F238E27FC236}">
                <a16:creationId xmlns:a16="http://schemas.microsoft.com/office/drawing/2014/main" id="{1452E0E3-AF15-4F1E-BC06-2924EEDA3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6667" y="249020"/>
            <a:ext cx="352942" cy="35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576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A77A4E-57DC-48EA-B4DF-BCC5C1836700}"/>
              </a:ext>
            </a:extLst>
          </p:cNvPr>
          <p:cNvSpPr txBox="1"/>
          <p:nvPr/>
        </p:nvSpPr>
        <p:spPr>
          <a:xfrm>
            <a:off x="572868" y="563153"/>
            <a:ext cx="6684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线程取消机制使用示例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E11EA08-377D-477B-8781-9C0AAEFCF4FC}"/>
              </a:ext>
            </a:extLst>
          </p:cNvPr>
          <p:cNvSpPr txBox="1"/>
          <p:nvPr/>
        </p:nvSpPr>
        <p:spPr>
          <a:xfrm>
            <a:off x="991875" y="2512142"/>
            <a:ext cx="607190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let future =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spawn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{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…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if (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Thread.currentThread.</a:t>
            </a:r>
            <a:r>
              <a:rPr lang="en-US" altLang="zh-CN" sz="1600" dirty="0" err="1">
                <a:solidFill>
                  <a:srgbClr val="C7000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hasPendingCancellation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) {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  return …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} 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…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}</a:t>
            </a: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  <a:p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future.</a:t>
            </a:r>
            <a:r>
              <a:rPr lang="en-US" altLang="zh-CN" sz="1600" dirty="0" err="1">
                <a:solidFill>
                  <a:srgbClr val="C7000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cancel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()</a:t>
            </a:r>
          </a:p>
          <a:p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future.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get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()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4B1A742-6B01-459D-9705-24AC1528F1C4}"/>
              </a:ext>
            </a:extLst>
          </p:cNvPr>
          <p:cNvSpPr txBox="1"/>
          <p:nvPr/>
        </p:nvSpPr>
        <p:spPr>
          <a:xfrm>
            <a:off x="2547410" y="4752617"/>
            <a:ext cx="1789340" cy="469278"/>
          </a:xfrm>
          <a:prstGeom prst="wedgeRoundRectCallout">
            <a:avLst>
              <a:gd name="adj1" fmla="val -32891"/>
              <a:gd name="adj2" fmla="val -79947"/>
              <a:gd name="adj3" fmla="val 16667"/>
            </a:avLst>
          </a:prstGeom>
          <a:solidFill>
            <a:schemeClr val="bg1"/>
          </a:solidFill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</a:rPr>
              <a:t>仅发送取消请求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BF8447A-F61B-40DE-8D41-899EBFD4E116}"/>
              </a:ext>
            </a:extLst>
          </p:cNvPr>
          <p:cNvSpPr txBox="1"/>
          <p:nvPr/>
        </p:nvSpPr>
        <p:spPr>
          <a:xfrm>
            <a:off x="3648680" y="3631115"/>
            <a:ext cx="3237274" cy="873076"/>
          </a:xfrm>
          <a:prstGeom prst="wedgeRoundRectCallout">
            <a:avLst>
              <a:gd name="adj1" fmla="val -33160"/>
              <a:gd name="adj2" fmla="val -86762"/>
              <a:gd name="adj3" fmla="val 16667"/>
            </a:avLst>
          </a:prstGeom>
          <a:solidFill>
            <a:schemeClr val="bg1"/>
          </a:solidFill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该属性检查线程存在取消请求；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业务代码检查并完成退出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2AEA934-69A2-4A2C-B806-92B67AB87704}"/>
              </a:ext>
            </a:extLst>
          </p:cNvPr>
          <p:cNvSpPr txBox="1"/>
          <p:nvPr/>
        </p:nvSpPr>
        <p:spPr>
          <a:xfrm>
            <a:off x="876372" y="1440529"/>
            <a:ext cx="5544616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ts val="344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1D1D1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关键点：线程的取消处理应该完全交由业务代码管理，才能正确地在线程退出前释放资源</a:t>
            </a:r>
            <a:endParaRPr lang="en-US" sz="1600" dirty="0">
              <a:solidFill>
                <a:srgbClr val="1D1D1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0" name="灯片编号占位符 49">
            <a:extLst>
              <a:ext uri="{FF2B5EF4-FFF2-40B4-BE49-F238E27FC236}">
                <a16:creationId xmlns:a16="http://schemas.microsoft.com/office/drawing/2014/main" id="{05A9A234-A36E-4DE5-959A-0BE20B64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2462-3951-534C-B2EB-31A3E742C104}" type="slidenum">
              <a:rPr kumimoji="1" lang="zh-CN" altLang="en-US" smtClean="0"/>
              <a:t>9</a:t>
            </a:fld>
            <a:endParaRPr kumimoji="1" lang="zh-CN" altLang="en-US"/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C7A4FBBA-451D-41DA-B79F-52D7FCB4E32D}"/>
              </a:ext>
            </a:extLst>
          </p:cNvPr>
          <p:cNvCxnSpPr>
            <a:cxnSpLocks/>
          </p:cNvCxnSpPr>
          <p:nvPr/>
        </p:nvCxnSpPr>
        <p:spPr>
          <a:xfrm>
            <a:off x="7941877" y="2570408"/>
            <a:ext cx="0" cy="2728483"/>
          </a:xfrm>
          <a:prstGeom prst="line">
            <a:avLst/>
          </a:prstGeom>
          <a:noFill/>
          <a:ln w="19050" cap="flat" cmpd="sng" algn="ctr">
            <a:solidFill>
              <a:srgbClr val="1D1D1A"/>
            </a:solidFill>
            <a:prstDash val="solid"/>
            <a:miter lim="800000"/>
          </a:ln>
          <a:effectLst/>
        </p:spPr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1CAE2BB9-423C-4684-ABE4-DD5785BA0F61}"/>
              </a:ext>
            </a:extLst>
          </p:cNvPr>
          <p:cNvSpPr/>
          <p:nvPr/>
        </p:nvSpPr>
        <p:spPr>
          <a:xfrm>
            <a:off x="7624073" y="2877618"/>
            <a:ext cx="681597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spawn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FrutigerNext LT Regular" pitchFamily="34" charset="0"/>
              <a:ea typeface="MS PGothic" pitchFamily="34" charset="-128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E06C709-95F2-49A9-AA7A-BC59720EFD6A}"/>
              </a:ext>
            </a:extLst>
          </p:cNvPr>
          <p:cNvSpPr/>
          <p:nvPr/>
        </p:nvSpPr>
        <p:spPr>
          <a:xfrm>
            <a:off x="9001194" y="3133029"/>
            <a:ext cx="13773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nsolas" panose="020B0609020204030204" pitchFamily="49" charset="0"/>
                <a:ea typeface="MS PGothic" pitchFamily="34" charset="-128"/>
              </a:rPr>
              <a:t>Thread start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onsolas" panose="020B0609020204030204" pitchFamily="49" charset="0"/>
              <a:ea typeface="MS PGothic" pitchFamily="34" charset="-128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D4FD374-6C43-4C29-BACE-50E7B6B009A6}"/>
              </a:ext>
            </a:extLst>
          </p:cNvPr>
          <p:cNvSpPr/>
          <p:nvPr/>
        </p:nvSpPr>
        <p:spPr>
          <a:xfrm>
            <a:off x="9079889" y="4409259"/>
            <a:ext cx="11785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nsolas" panose="020B0609020204030204" pitchFamily="49" charset="0"/>
                <a:ea typeface="MS PGothic" pitchFamily="34" charset="-128"/>
              </a:rPr>
              <a:t>Thread end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onsolas" panose="020B0609020204030204" pitchFamily="49" charset="0"/>
              <a:ea typeface="MS PGothic" pitchFamily="34" charset="-128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4292EB6-BA44-4538-A47C-99C7A5F03926}"/>
              </a:ext>
            </a:extLst>
          </p:cNvPr>
          <p:cNvSpPr/>
          <p:nvPr/>
        </p:nvSpPr>
        <p:spPr>
          <a:xfrm>
            <a:off x="7380042" y="4551873"/>
            <a:ext cx="1377300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future.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get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()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FrutigerNext LT Regular" pitchFamily="34" charset="0"/>
              <a:ea typeface="MS PGothic" pitchFamily="34" charset="-128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AE7CB2DF-9EC4-46BD-B37D-A84BC852F9FE}"/>
              </a:ext>
            </a:extLst>
          </p:cNvPr>
          <p:cNvCxnSpPr>
            <a:stCxn id="52" idx="3"/>
            <a:endCxn id="53" idx="1"/>
          </p:cNvCxnSpPr>
          <p:nvPr/>
        </p:nvCxnSpPr>
        <p:spPr>
          <a:xfrm>
            <a:off x="8305670" y="3031507"/>
            <a:ext cx="695524" cy="255411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1D6E743-9109-4696-9A48-69EBDC4040FB}"/>
              </a:ext>
            </a:extLst>
          </p:cNvPr>
          <p:cNvCxnSpPr>
            <a:cxnSpLocks/>
            <a:stCxn id="54" idx="1"/>
            <a:endCxn id="55" idx="3"/>
          </p:cNvCxnSpPr>
          <p:nvPr/>
        </p:nvCxnSpPr>
        <p:spPr>
          <a:xfrm flipH="1">
            <a:off x="8757342" y="4563148"/>
            <a:ext cx="322547" cy="142614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FE88F34-4D78-4D16-A71D-8FAFAC3FD6DE}"/>
              </a:ext>
            </a:extLst>
          </p:cNvPr>
          <p:cNvCxnSpPr>
            <a:cxnSpLocks/>
          </p:cNvCxnSpPr>
          <p:nvPr/>
        </p:nvCxnSpPr>
        <p:spPr>
          <a:xfrm>
            <a:off x="9500402" y="3415585"/>
            <a:ext cx="0" cy="993674"/>
          </a:xfrm>
          <a:prstGeom prst="line">
            <a:avLst/>
          </a:prstGeom>
          <a:noFill/>
          <a:ln w="19050" cap="flat" cmpd="sng" algn="ctr">
            <a:solidFill>
              <a:srgbClr val="1D1D1A"/>
            </a:solidFill>
            <a:prstDash val="solid"/>
            <a:miter lim="800000"/>
          </a:ln>
          <a:effectLst/>
        </p:spPr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CDF91E55-465C-4470-846C-681755220496}"/>
              </a:ext>
            </a:extLst>
          </p:cNvPr>
          <p:cNvSpPr/>
          <p:nvPr/>
        </p:nvSpPr>
        <p:spPr>
          <a:xfrm>
            <a:off x="9541501" y="3482012"/>
            <a:ext cx="161775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执行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</a:rPr>
              <a:t>lambda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函数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84AC506-FF04-4DD4-BE38-887BC5C91FB3}"/>
              </a:ext>
            </a:extLst>
          </p:cNvPr>
          <p:cNvSpPr txBox="1"/>
          <p:nvPr/>
        </p:nvSpPr>
        <p:spPr>
          <a:xfrm>
            <a:off x="8312626" y="5245766"/>
            <a:ext cx="1377297" cy="462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ts val="344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执行时序图示</a:t>
            </a:r>
            <a:endParaRPr lang="en-US" sz="1400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408E847-9C98-4D8B-875A-2384B875B9EA}"/>
              </a:ext>
            </a:extLst>
          </p:cNvPr>
          <p:cNvSpPr/>
          <p:nvPr/>
        </p:nvSpPr>
        <p:spPr>
          <a:xfrm>
            <a:off x="7317816" y="3726641"/>
            <a:ext cx="1675459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future.</a:t>
            </a:r>
            <a:r>
              <a:rPr lang="en-US" altLang="zh-CN" sz="1400" kern="0" dirty="0">
                <a:solidFill>
                  <a:srgbClr val="C00000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cancel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()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FrutigerNext LT Regular" pitchFamily="34" charset="0"/>
              <a:ea typeface="MS PGothic" pitchFamily="34" charset="-128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4776507F-BAE5-430F-8B2E-7D4DA0D48280}"/>
              </a:ext>
            </a:extLst>
          </p:cNvPr>
          <p:cNvSpPr/>
          <p:nvPr/>
        </p:nvSpPr>
        <p:spPr>
          <a:xfrm>
            <a:off x="9541501" y="4060276"/>
            <a:ext cx="215956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kern="0" dirty="0">
                <a:solidFill>
                  <a:srgbClr val="1D1D1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接收请求并执行退出代码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CF6D3A3F-FD62-4D3B-98CD-A42BE03A3B7C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8993275" y="3880530"/>
            <a:ext cx="505149" cy="284967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dash"/>
            <a:miter lim="800000"/>
            <a:tailEnd type="triangle"/>
          </a:ln>
          <a:effectLst/>
        </p:spPr>
      </p:cxn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16B4F995-D407-44D3-89BE-A51FDE32E417}"/>
              </a:ext>
            </a:extLst>
          </p:cNvPr>
          <p:cNvSpPr/>
          <p:nvPr/>
        </p:nvSpPr>
        <p:spPr>
          <a:xfrm>
            <a:off x="10729608" y="862656"/>
            <a:ext cx="1143457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并发数据结构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E7D570FA-929F-49FD-845D-E5B4190A88B0}"/>
              </a:ext>
            </a:extLst>
          </p:cNvPr>
          <p:cNvSpPr/>
          <p:nvPr/>
        </p:nvSpPr>
        <p:spPr>
          <a:xfrm>
            <a:off x="10729609" y="555838"/>
            <a:ext cx="1143457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可重入互斥锁</a:t>
            </a:r>
            <a:endParaRPr lang="en-US" altLang="zh-CN" sz="1000" kern="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5F36A928-9A95-419E-A0E2-AF63530364C5}"/>
              </a:ext>
            </a:extLst>
          </p:cNvPr>
          <p:cNvSpPr/>
          <p:nvPr/>
        </p:nvSpPr>
        <p:spPr>
          <a:xfrm>
            <a:off x="10729609" y="249020"/>
            <a:ext cx="1143456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线程使用</a:t>
            </a:r>
            <a:endParaRPr lang="en-US" sz="1000" kern="0" dirty="0"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pic>
        <p:nvPicPr>
          <p:cNvPr id="75" name="图形 74">
            <a:extLst>
              <a:ext uri="{FF2B5EF4-FFF2-40B4-BE49-F238E27FC236}">
                <a16:creationId xmlns:a16="http://schemas.microsoft.com/office/drawing/2014/main" id="{FE130325-EC43-4ACB-96C5-E78808E1F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6667" y="249020"/>
            <a:ext cx="352942" cy="35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156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A77A4E-57DC-48EA-B4DF-BCC5C1836700}"/>
              </a:ext>
            </a:extLst>
          </p:cNvPr>
          <p:cNvSpPr txBox="1"/>
          <p:nvPr/>
        </p:nvSpPr>
        <p:spPr>
          <a:xfrm>
            <a:off x="572868" y="563153"/>
            <a:ext cx="6684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协作式线程取消设计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7E02278-E4BD-494A-9775-A282B9B34398}"/>
              </a:ext>
            </a:extLst>
          </p:cNvPr>
          <p:cNvSpPr txBox="1"/>
          <p:nvPr/>
        </p:nvSpPr>
        <p:spPr>
          <a:xfrm>
            <a:off x="1445069" y="2295963"/>
            <a:ext cx="272032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let future =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spawn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{ 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let f = File(…)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process(f)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f.close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()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}</a:t>
            </a: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  <a:p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…</a:t>
            </a:r>
          </a:p>
          <a:p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future.</a:t>
            </a:r>
            <a:r>
              <a:rPr lang="en-US" sz="1600" i="1" dirty="0" err="1"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kill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()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E11EA08-377D-477B-8781-9C0AAEFCF4FC}"/>
              </a:ext>
            </a:extLst>
          </p:cNvPr>
          <p:cNvSpPr txBox="1"/>
          <p:nvPr/>
        </p:nvSpPr>
        <p:spPr>
          <a:xfrm>
            <a:off x="5969179" y="2006596"/>
            <a:ext cx="601529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let future =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spawn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{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let f = File(…)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process(f)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if (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Thread.currentThread.</a:t>
            </a:r>
            <a:r>
              <a:rPr lang="en-US" altLang="zh-CN" sz="1600" dirty="0" err="1">
                <a:solidFill>
                  <a:srgbClr val="C7000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hasPendingCancellation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) {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  …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} 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f.close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()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}</a:t>
            </a: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  <a:p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future.</a:t>
            </a:r>
            <a:r>
              <a:rPr lang="en-US" altLang="zh-CN" sz="1600" dirty="0" err="1">
                <a:solidFill>
                  <a:srgbClr val="C7000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cancel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()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EEA7DE5-2A13-47F1-8208-C5115822FF5A}"/>
              </a:ext>
            </a:extLst>
          </p:cNvPr>
          <p:cNvSpPr txBox="1"/>
          <p:nvPr/>
        </p:nvSpPr>
        <p:spPr>
          <a:xfrm>
            <a:off x="2877166" y="3223714"/>
            <a:ext cx="2576452" cy="873076"/>
          </a:xfrm>
          <a:prstGeom prst="wedgeRoundRectCallout">
            <a:avLst>
              <a:gd name="adj1" fmla="val -52597"/>
              <a:gd name="adj2" fmla="val -64894"/>
              <a:gd name="adj3" fmla="val 16667"/>
            </a:avLst>
          </a:prstGeom>
          <a:noFill/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线程此处自动终止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文件未关闭，资源泄露！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F847853-5EA3-4D46-A4B3-C70E5DF77801}"/>
              </a:ext>
            </a:extLst>
          </p:cNvPr>
          <p:cNvSpPr txBox="1"/>
          <p:nvPr/>
        </p:nvSpPr>
        <p:spPr>
          <a:xfrm>
            <a:off x="431260" y="5425053"/>
            <a:ext cx="5327514" cy="41819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C700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强制终止一个线程已在实践中被反复证明是一个不良设计</a:t>
            </a:r>
          </a:p>
        </p:txBody>
      </p:sp>
      <p:sp>
        <p:nvSpPr>
          <p:cNvPr id="50" name="灯片编号占位符 49">
            <a:extLst>
              <a:ext uri="{FF2B5EF4-FFF2-40B4-BE49-F238E27FC236}">
                <a16:creationId xmlns:a16="http://schemas.microsoft.com/office/drawing/2014/main" id="{05A9A234-A36E-4DE5-959A-0BE20B64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2462-3951-534C-B2EB-31A3E742C104}" type="slidenum">
              <a:rPr kumimoji="1" lang="zh-CN" altLang="en-US" smtClean="0"/>
              <a:t>10</a:t>
            </a:fld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747CFB3-4E29-4A03-BB3F-9A7FE9E8C5A6}"/>
              </a:ext>
            </a:extLst>
          </p:cNvPr>
          <p:cNvSpPr txBox="1"/>
          <p:nvPr/>
        </p:nvSpPr>
        <p:spPr>
          <a:xfrm>
            <a:off x="1092739" y="4431859"/>
            <a:ext cx="3595993" cy="919401"/>
          </a:xfrm>
          <a:prstGeom prst="roundRect">
            <a:avLst/>
          </a:prstGeom>
          <a:solidFill>
            <a:srgbClr val="FFFFFF"/>
          </a:solidFill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在预设的程序点上自动终止线程</a:t>
            </a:r>
            <a:endParaRPr lang="en-US" altLang="zh-CN" sz="1600" kern="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使用简单</a:t>
            </a:r>
            <a:endParaRPr lang="en-US" altLang="zh-CN" sz="1600" kern="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易导致程序错误</a:t>
            </a:r>
            <a:endParaRPr lang="en-US" altLang="zh-CN" sz="1600" kern="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3878D9-95C3-4B1F-8362-8C48A5708B72}"/>
              </a:ext>
            </a:extLst>
          </p:cNvPr>
          <p:cNvSpPr/>
          <p:nvPr/>
        </p:nvSpPr>
        <p:spPr>
          <a:xfrm>
            <a:off x="1950273" y="183007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自动取消方案</a:t>
            </a:r>
            <a:endParaRPr 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9D1D8CB-FFDB-4DEA-84DE-9D72E81EBE1E}"/>
              </a:ext>
            </a:extLst>
          </p:cNvPr>
          <p:cNvSpPr txBox="1"/>
          <p:nvPr/>
        </p:nvSpPr>
        <p:spPr>
          <a:xfrm>
            <a:off x="7069271" y="4629603"/>
            <a:ext cx="3595992" cy="919401"/>
          </a:xfrm>
          <a:prstGeom prst="roundRect">
            <a:avLst/>
          </a:prstGeom>
          <a:solidFill>
            <a:srgbClr val="FFFFFF"/>
          </a:solidFill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线程取消处理交由开发者管理</a:t>
            </a:r>
            <a:endParaRPr lang="en-US" altLang="zh-CN" sz="1600" kern="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使用繁琐</a:t>
            </a:r>
            <a:endParaRPr lang="en-US" altLang="zh-CN" sz="1600" kern="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安全！</a:t>
            </a:r>
            <a:endParaRPr lang="en-US" altLang="zh-CN" sz="1600" kern="0" dirty="0">
              <a:solidFill>
                <a:prstClr val="black"/>
              </a:solidFill>
              <a:latin typeface="Consolas" panose="020B0609020204030204" pitchFamily="49" charset="0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D1CB2D-52A5-49DD-84B2-5A7751373EF2}"/>
              </a:ext>
            </a:extLst>
          </p:cNvPr>
          <p:cNvSpPr/>
          <p:nvPr/>
        </p:nvSpPr>
        <p:spPr>
          <a:xfrm>
            <a:off x="7952592" y="156880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协作式取消方案</a:t>
            </a:r>
            <a:endParaRPr 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8DD57B0-3924-4BF9-AC57-EA0EA3A390A7}"/>
              </a:ext>
            </a:extLst>
          </p:cNvPr>
          <p:cNvSpPr txBox="1"/>
          <p:nvPr/>
        </p:nvSpPr>
        <p:spPr>
          <a:xfrm>
            <a:off x="7694580" y="3283868"/>
            <a:ext cx="4387174" cy="1000416"/>
          </a:xfrm>
          <a:prstGeom prst="wedgeRoundRectCallout">
            <a:avLst>
              <a:gd name="adj1" fmla="val -33131"/>
              <a:gd name="adj2" fmla="val -73645"/>
              <a:gd name="adj3" fmla="val 16667"/>
            </a:avLst>
          </a:prstGeom>
          <a:noFill/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fontAlgn="base">
              <a:lnSpc>
                <a:spcPts val="344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关键点：线程取消处理应完全交由业务代码管理，才能正确地在线程退出前释放资源</a:t>
            </a:r>
            <a:endParaRPr lang="en-US" sz="1600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132C317-61BC-44F0-B82A-D77F9C8E0823}"/>
              </a:ext>
            </a:extLst>
          </p:cNvPr>
          <p:cNvSpPr/>
          <p:nvPr/>
        </p:nvSpPr>
        <p:spPr>
          <a:xfrm>
            <a:off x="10729608" y="862656"/>
            <a:ext cx="1143457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并发数据结构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E10978B-4452-47E8-A502-A707B66DA87F}"/>
              </a:ext>
            </a:extLst>
          </p:cNvPr>
          <p:cNvSpPr/>
          <p:nvPr/>
        </p:nvSpPr>
        <p:spPr>
          <a:xfrm>
            <a:off x="10729609" y="555838"/>
            <a:ext cx="1143457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可重入互斥锁</a:t>
            </a:r>
            <a:endParaRPr lang="en-US" altLang="zh-CN" sz="1000" kern="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E293109-BCA5-4D23-9B1F-7B272C94FA9A}"/>
              </a:ext>
            </a:extLst>
          </p:cNvPr>
          <p:cNvSpPr/>
          <p:nvPr/>
        </p:nvSpPr>
        <p:spPr>
          <a:xfrm>
            <a:off x="10729609" y="249020"/>
            <a:ext cx="1143456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线程使用</a:t>
            </a:r>
            <a:endParaRPr lang="en-US" sz="1000" kern="0" dirty="0"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pic>
        <p:nvPicPr>
          <p:cNvPr id="22" name="图形 21">
            <a:extLst>
              <a:ext uri="{FF2B5EF4-FFF2-40B4-BE49-F238E27FC236}">
                <a16:creationId xmlns:a16="http://schemas.microsoft.com/office/drawing/2014/main" id="{345A3963-A384-4588-8822-DFC66B732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6667" y="249020"/>
            <a:ext cx="352942" cy="35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973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A77A4E-57DC-48EA-B4DF-BCC5C1836700}"/>
              </a:ext>
            </a:extLst>
          </p:cNvPr>
          <p:cNvSpPr txBox="1"/>
          <p:nvPr/>
        </p:nvSpPr>
        <p:spPr>
          <a:xfrm>
            <a:off x="572868" y="563153"/>
            <a:ext cx="6684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可重入互斥锁使用示例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99DD740-E147-426A-B5DB-B875EF23B93C}"/>
              </a:ext>
            </a:extLst>
          </p:cNvPr>
          <p:cNvSpPr txBox="1"/>
          <p:nvPr/>
        </p:nvSpPr>
        <p:spPr>
          <a:xfrm>
            <a:off x="3488369" y="2880219"/>
            <a:ext cx="345638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1D1D1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var a = 0</a:t>
            </a:r>
          </a:p>
          <a:p>
            <a:r>
              <a:rPr lang="en-US" altLang="zh-CN" sz="1600" dirty="0">
                <a:solidFill>
                  <a:srgbClr val="1D1D1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let mutex = </a:t>
            </a:r>
            <a:r>
              <a:rPr lang="en-US" altLang="zh-CN" sz="1600" dirty="0" err="1">
                <a:solidFill>
                  <a:srgbClr val="1D1D1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ReentrantMutex</a:t>
            </a:r>
            <a:r>
              <a:rPr lang="en-US" altLang="zh-CN" sz="1600" dirty="0">
                <a:solidFill>
                  <a:srgbClr val="1D1D1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()</a:t>
            </a:r>
          </a:p>
          <a:p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spawn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{ 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C7000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synchronized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(mutex) {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  …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  a += 1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}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}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E2717D0-6A65-4BD6-B3AD-6032A1DFF89B}"/>
              </a:ext>
            </a:extLst>
          </p:cNvPr>
          <p:cNvSpPr txBox="1"/>
          <p:nvPr/>
        </p:nvSpPr>
        <p:spPr>
          <a:xfrm>
            <a:off x="251585" y="3199114"/>
            <a:ext cx="3236784" cy="873076"/>
          </a:xfrm>
          <a:prstGeom prst="wedgeRoundRectCallout">
            <a:avLst>
              <a:gd name="adj1" fmla="val 56797"/>
              <a:gd name="adj2" fmla="val 25317"/>
              <a:gd name="adj3" fmla="val 16667"/>
            </a:avLst>
          </a:prstGeom>
          <a:solidFill>
            <a:schemeClr val="bg1"/>
          </a:solidFill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Consolas" panose="020B0609020204030204" pitchFamily="49" charset="0"/>
                <a:ea typeface="微软雅黑 Light" panose="020B0502040204020203" pitchFamily="34" charset="-122"/>
              </a:rPr>
              <a:t>synchronized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关键字简化互斥锁的使用，减少漏释放锁的风险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3" name="灯片编号占位符 32">
            <a:extLst>
              <a:ext uri="{FF2B5EF4-FFF2-40B4-BE49-F238E27FC236}">
                <a16:creationId xmlns:a16="http://schemas.microsoft.com/office/drawing/2014/main" id="{772D3C2B-EF05-44C9-83C2-EAE397F59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2462-3951-534C-B2EB-31A3E742C104}" type="slidenum">
              <a:rPr kumimoji="1" lang="zh-CN" altLang="en-US" smtClean="0"/>
              <a:t>11</a:t>
            </a:fld>
            <a:endParaRPr kumimoji="1"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2128E89-16BB-40C6-98D5-6FDAEFF4EF5B}"/>
              </a:ext>
            </a:extLst>
          </p:cNvPr>
          <p:cNvSpPr/>
          <p:nvPr/>
        </p:nvSpPr>
        <p:spPr>
          <a:xfrm>
            <a:off x="3863082" y="3923846"/>
            <a:ext cx="2199999" cy="468205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069A71D-377C-412C-9FDB-28219BC83A40}"/>
              </a:ext>
            </a:extLst>
          </p:cNvPr>
          <p:cNvSpPr/>
          <p:nvPr/>
        </p:nvSpPr>
        <p:spPr>
          <a:xfrm>
            <a:off x="4083701" y="4398911"/>
            <a:ext cx="32367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临界区保护，仅有唯一线程可进入执行</a:t>
            </a:r>
            <a:endParaRPr lang="en-US" sz="14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6857766-0382-4CE2-83DC-66088226F283}"/>
              </a:ext>
            </a:extLst>
          </p:cNvPr>
          <p:cNvSpPr txBox="1"/>
          <p:nvPr/>
        </p:nvSpPr>
        <p:spPr>
          <a:xfrm>
            <a:off x="7320485" y="1433571"/>
            <a:ext cx="33174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1D1D1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let m = </a:t>
            </a:r>
            <a:r>
              <a:rPr lang="en-US" altLang="zh-CN" sz="1600" dirty="0" err="1">
                <a:solidFill>
                  <a:srgbClr val="1D1D1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ReentrantMutex</a:t>
            </a:r>
            <a:r>
              <a:rPr lang="en-US" altLang="zh-CN" sz="1600" dirty="0">
                <a:solidFill>
                  <a:srgbClr val="1D1D1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()</a:t>
            </a:r>
          </a:p>
          <a:p>
            <a:r>
              <a:rPr lang="en-US" altLang="zh-CN" sz="1600" dirty="0" err="1"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func</a:t>
            </a:r>
            <a:r>
              <a:rPr lang="en-US" altLang="zh-CN" sz="1600" dirty="0">
                <a:solidFill>
                  <a:srgbClr val="1D1D1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foo() {</a:t>
            </a:r>
          </a:p>
          <a:p>
            <a:r>
              <a:rPr lang="en-US" altLang="zh-CN" sz="1600" dirty="0">
                <a:solidFill>
                  <a:srgbClr val="1D1D1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synchronized</a:t>
            </a:r>
            <a:r>
              <a:rPr lang="en-US" altLang="zh-CN" sz="1600" dirty="0">
                <a:solidFill>
                  <a:srgbClr val="1D1D1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(m) { bar() }</a:t>
            </a:r>
          </a:p>
          <a:p>
            <a:r>
              <a:rPr lang="en-US" altLang="zh-CN" sz="1600" dirty="0">
                <a:solidFill>
                  <a:srgbClr val="1D1D1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}</a:t>
            </a:r>
          </a:p>
          <a:p>
            <a:r>
              <a:rPr lang="en-US" altLang="zh-CN" sz="1600" dirty="0" err="1"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func</a:t>
            </a:r>
            <a:r>
              <a:rPr lang="en-US" altLang="zh-CN" sz="1600" dirty="0">
                <a:solidFill>
                  <a:srgbClr val="1D1D1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bar() {</a:t>
            </a:r>
          </a:p>
          <a:p>
            <a:r>
              <a:rPr lang="en-US" altLang="zh-CN" sz="1600" dirty="0">
                <a:solidFill>
                  <a:srgbClr val="1D1D1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synchronized</a:t>
            </a:r>
            <a:r>
              <a:rPr lang="en-US" altLang="zh-CN" sz="1600" dirty="0">
                <a:solidFill>
                  <a:srgbClr val="1D1D1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(m) { … }</a:t>
            </a:r>
          </a:p>
          <a:p>
            <a:r>
              <a:rPr lang="en-US" altLang="zh-CN" sz="1600" dirty="0">
                <a:solidFill>
                  <a:srgbClr val="1D1D1A"/>
                </a:solidFill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rPr>
              <a:t>}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37DB1BB-A14E-4423-93E8-E10C8B814C5E}"/>
              </a:ext>
            </a:extLst>
          </p:cNvPr>
          <p:cNvSpPr txBox="1"/>
          <p:nvPr/>
        </p:nvSpPr>
        <p:spPr>
          <a:xfrm>
            <a:off x="4627653" y="1961899"/>
            <a:ext cx="2323585" cy="873076"/>
          </a:xfrm>
          <a:prstGeom prst="wedgeRoundRectCallout">
            <a:avLst>
              <a:gd name="adj1" fmla="val -14374"/>
              <a:gd name="adj2" fmla="val 93282"/>
              <a:gd name="adj3" fmla="val 16667"/>
            </a:avLst>
          </a:prstGeom>
          <a:solidFill>
            <a:schemeClr val="bg1"/>
          </a:solidFill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kern="0" dirty="0">
                <a:latin typeface="Consolas" panose="020B0609020204030204" pitchFamily="49" charset="0"/>
                <a:ea typeface="微软雅黑 Light" panose="020B0502040204020203" pitchFamily="34" charset="-122"/>
              </a:rPr>
              <a:t>可重入性帮助开发者减少引入死锁风险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4F32723E-0B5E-4A36-9A39-971B19CAB5E0}"/>
              </a:ext>
            </a:extLst>
          </p:cNvPr>
          <p:cNvCxnSpPr>
            <a:cxnSpLocks/>
          </p:cNvCxnSpPr>
          <p:nvPr/>
        </p:nvCxnSpPr>
        <p:spPr>
          <a:xfrm flipV="1">
            <a:off x="6896100" y="1556427"/>
            <a:ext cx="424385" cy="4390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2EDEA983-3266-4F0E-AA8F-D5B5C302C804}"/>
              </a:ext>
            </a:extLst>
          </p:cNvPr>
          <p:cNvCxnSpPr>
            <a:cxnSpLocks/>
          </p:cNvCxnSpPr>
          <p:nvPr/>
        </p:nvCxnSpPr>
        <p:spPr>
          <a:xfrm>
            <a:off x="6944753" y="2731623"/>
            <a:ext cx="432360" cy="4429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5" name="图形 44">
            <a:extLst>
              <a:ext uri="{FF2B5EF4-FFF2-40B4-BE49-F238E27FC236}">
                <a16:creationId xmlns:a16="http://schemas.microsoft.com/office/drawing/2014/main" id="{E90E33A6-2F09-4840-85BE-600B7BB7A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1958" y="4077788"/>
            <a:ext cx="321123" cy="321123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3463069-4CA9-4E54-961D-170391DCC229}"/>
              </a:ext>
            </a:extLst>
          </p:cNvPr>
          <p:cNvSpPr/>
          <p:nvPr/>
        </p:nvSpPr>
        <p:spPr>
          <a:xfrm>
            <a:off x="10729608" y="862656"/>
            <a:ext cx="1143457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并发数据结构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BF60D534-4128-4EAA-93FA-1F7C9C063A5C}"/>
              </a:ext>
            </a:extLst>
          </p:cNvPr>
          <p:cNvSpPr/>
          <p:nvPr/>
        </p:nvSpPr>
        <p:spPr>
          <a:xfrm>
            <a:off x="10729609" y="555838"/>
            <a:ext cx="1143457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可重入互斥锁</a:t>
            </a:r>
            <a:endParaRPr lang="en-US" altLang="zh-CN" sz="1000" kern="0" dirty="0"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D7D9F9D0-33C7-48D3-AF52-DA535E1042EB}"/>
              </a:ext>
            </a:extLst>
          </p:cNvPr>
          <p:cNvSpPr/>
          <p:nvPr/>
        </p:nvSpPr>
        <p:spPr>
          <a:xfrm>
            <a:off x="10729609" y="249020"/>
            <a:ext cx="1143456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线程使用</a:t>
            </a:r>
            <a:endParaRPr lang="en-US" sz="1000" kern="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pic>
        <p:nvPicPr>
          <p:cNvPr id="49" name="图形 48">
            <a:extLst>
              <a:ext uri="{FF2B5EF4-FFF2-40B4-BE49-F238E27FC236}">
                <a16:creationId xmlns:a16="http://schemas.microsoft.com/office/drawing/2014/main" id="{904F7142-74BF-4AA7-A800-5211EFC458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39232" y="555838"/>
            <a:ext cx="352942" cy="35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348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A77A4E-57DC-48EA-B4DF-BCC5C1836700}"/>
              </a:ext>
            </a:extLst>
          </p:cNvPr>
          <p:cNvSpPr txBox="1"/>
          <p:nvPr/>
        </p:nvSpPr>
        <p:spPr>
          <a:xfrm>
            <a:off x="572868" y="563153"/>
            <a:ext cx="6684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可重入互斥锁实现概览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1EE63F-6746-419D-A5CE-E5DF18692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2462-3951-534C-B2EB-31A3E742C104}" type="slidenum">
              <a:rPr kumimoji="1" lang="zh-CN" altLang="en-US" smtClean="0"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12</a:t>
            </a:fld>
            <a:endParaRPr kumimoji="1" lang="zh-CN" altLang="en-US"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A5865E-CA18-412C-863C-9C754D4D0A89}"/>
              </a:ext>
            </a:extLst>
          </p:cNvPr>
          <p:cNvSpPr/>
          <p:nvPr/>
        </p:nvSpPr>
        <p:spPr>
          <a:xfrm>
            <a:off x="708596" y="4162059"/>
            <a:ext cx="2199999" cy="468205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</p:txBody>
      </p:sp>
      <p:pic>
        <p:nvPicPr>
          <p:cNvPr id="15" name="图形 14">
            <a:extLst>
              <a:ext uri="{FF2B5EF4-FFF2-40B4-BE49-F238E27FC236}">
                <a16:creationId xmlns:a16="http://schemas.microsoft.com/office/drawing/2014/main" id="{EE003D47-14D1-4052-B723-C9BDDD80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7472" y="4316001"/>
            <a:ext cx="321123" cy="321123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1641902C-4594-4EF8-9CB1-842BF69EB2C4}"/>
              </a:ext>
            </a:extLst>
          </p:cNvPr>
          <p:cNvSpPr/>
          <p:nvPr/>
        </p:nvSpPr>
        <p:spPr>
          <a:xfrm>
            <a:off x="2334175" y="2945694"/>
            <a:ext cx="35779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ea typeface="Microsoft YaHei Light" panose="020B0502040204020203" pitchFamily="34" charset="-122"/>
                <a:cs typeface="+mn-ea"/>
                <a:sym typeface="Calibri" panose="020F0502020204030204" pitchFamily="34" charset="0"/>
              </a:rPr>
              <a:t>...</a:t>
            </a: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EF542884-3FF8-46B4-B257-26A916893845}"/>
              </a:ext>
            </a:extLst>
          </p:cNvPr>
          <p:cNvSpPr/>
          <p:nvPr/>
        </p:nvSpPr>
        <p:spPr>
          <a:xfrm>
            <a:off x="1061516" y="2665270"/>
            <a:ext cx="194720" cy="709909"/>
          </a:xfrm>
          <a:custGeom>
            <a:avLst/>
            <a:gdLst>
              <a:gd name="connsiteX0" fmla="*/ 446963 w 493504"/>
              <a:gd name="connsiteY0" fmla="*/ 0 h 1111827"/>
              <a:gd name="connsiteX1" fmla="*/ 154 w 493504"/>
              <a:gd name="connsiteY1" fmla="*/ 457200 h 1111827"/>
              <a:gd name="connsiteX2" fmla="*/ 488527 w 493504"/>
              <a:gd name="connsiteY2" fmla="*/ 529936 h 1111827"/>
              <a:gd name="connsiteX3" fmla="*/ 259927 w 493504"/>
              <a:gd name="connsiteY3" fmla="*/ 1111827 h 111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504" h="1111827">
                <a:moveTo>
                  <a:pt x="446963" y="0"/>
                </a:moveTo>
                <a:cubicBezTo>
                  <a:pt x="220095" y="184438"/>
                  <a:pt x="-6773" y="368877"/>
                  <a:pt x="154" y="457200"/>
                </a:cubicBezTo>
                <a:cubicBezTo>
                  <a:pt x="7081" y="545523"/>
                  <a:pt x="445231" y="420832"/>
                  <a:pt x="488527" y="529936"/>
                </a:cubicBezTo>
                <a:cubicBezTo>
                  <a:pt x="531823" y="639041"/>
                  <a:pt x="278977" y="950768"/>
                  <a:pt x="259927" y="1111827"/>
                </a:cubicBezTo>
              </a:path>
            </a:pathLst>
          </a:cu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F51F31F0-1DD2-4BC5-AD16-234A94B76AF0}"/>
              </a:ext>
            </a:extLst>
          </p:cNvPr>
          <p:cNvSpPr/>
          <p:nvPr/>
        </p:nvSpPr>
        <p:spPr>
          <a:xfrm>
            <a:off x="1711236" y="2665270"/>
            <a:ext cx="194720" cy="709909"/>
          </a:xfrm>
          <a:custGeom>
            <a:avLst/>
            <a:gdLst>
              <a:gd name="connsiteX0" fmla="*/ 446963 w 493504"/>
              <a:gd name="connsiteY0" fmla="*/ 0 h 1111827"/>
              <a:gd name="connsiteX1" fmla="*/ 154 w 493504"/>
              <a:gd name="connsiteY1" fmla="*/ 457200 h 1111827"/>
              <a:gd name="connsiteX2" fmla="*/ 488527 w 493504"/>
              <a:gd name="connsiteY2" fmla="*/ 529936 h 1111827"/>
              <a:gd name="connsiteX3" fmla="*/ 259927 w 493504"/>
              <a:gd name="connsiteY3" fmla="*/ 1111827 h 111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504" h="1111827">
                <a:moveTo>
                  <a:pt x="446963" y="0"/>
                </a:moveTo>
                <a:cubicBezTo>
                  <a:pt x="220095" y="184438"/>
                  <a:pt x="-6773" y="368877"/>
                  <a:pt x="154" y="457200"/>
                </a:cubicBezTo>
                <a:cubicBezTo>
                  <a:pt x="7081" y="545523"/>
                  <a:pt x="445231" y="420832"/>
                  <a:pt x="488527" y="529936"/>
                </a:cubicBezTo>
                <a:cubicBezTo>
                  <a:pt x="531823" y="639041"/>
                  <a:pt x="278977" y="950768"/>
                  <a:pt x="259927" y="1111827"/>
                </a:cubicBezTo>
              </a:path>
            </a:pathLst>
          </a:cu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57DB93D-14EA-4207-8EC5-8402E0044E86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808596" y="3405817"/>
            <a:ext cx="0" cy="7562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E50D01B-7466-485E-9AAD-0D49BFD6331C}"/>
              </a:ext>
            </a:extLst>
          </p:cNvPr>
          <p:cNvCxnSpPr>
            <a:cxnSpLocks/>
          </p:cNvCxnSpPr>
          <p:nvPr/>
        </p:nvCxnSpPr>
        <p:spPr>
          <a:xfrm>
            <a:off x="1171080" y="3443314"/>
            <a:ext cx="637516" cy="438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029132E9-DCE8-4C28-A7FF-62D58B4EC407}"/>
              </a:ext>
            </a:extLst>
          </p:cNvPr>
          <p:cNvCxnSpPr>
            <a:cxnSpLocks/>
          </p:cNvCxnSpPr>
          <p:nvPr/>
        </p:nvCxnSpPr>
        <p:spPr>
          <a:xfrm flipH="1">
            <a:off x="1808597" y="3436454"/>
            <a:ext cx="637515" cy="445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2596D705-7E66-40D4-B8D1-A2845407C155}"/>
              </a:ext>
            </a:extLst>
          </p:cNvPr>
          <p:cNvSpPr txBox="1"/>
          <p:nvPr/>
        </p:nvSpPr>
        <p:spPr>
          <a:xfrm>
            <a:off x="2767845" y="3150917"/>
            <a:ext cx="2674946" cy="779504"/>
          </a:xfrm>
          <a:prstGeom prst="roundRect">
            <a:avLst/>
          </a:prstGeom>
          <a:solidFill>
            <a:schemeClr val="bg1"/>
          </a:solidFill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假设互斥锁竞争激烈，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如何确保快速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&amp;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公平地获取锁？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5383580B-958C-4C0C-BE4D-B6549A3E3AE2}"/>
              </a:ext>
            </a:extLst>
          </p:cNvPr>
          <p:cNvSpPr/>
          <p:nvPr/>
        </p:nvSpPr>
        <p:spPr>
          <a:xfrm>
            <a:off x="6506433" y="2747838"/>
            <a:ext cx="1395680" cy="77673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空闲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B6D5673C-4315-4843-AF5A-1A080D2CC158}"/>
              </a:ext>
            </a:extLst>
          </p:cNvPr>
          <p:cNvSpPr/>
          <p:nvPr/>
        </p:nvSpPr>
        <p:spPr>
          <a:xfrm>
            <a:off x="9018820" y="2659260"/>
            <a:ext cx="1657723" cy="77673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占有中</a:t>
            </a: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竞争一般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5AE05963-445B-4486-A19D-870DC2430FA6}"/>
              </a:ext>
            </a:extLst>
          </p:cNvPr>
          <p:cNvSpPr/>
          <p:nvPr/>
        </p:nvSpPr>
        <p:spPr>
          <a:xfrm>
            <a:off x="9011156" y="4451445"/>
            <a:ext cx="1657723" cy="77673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占有中</a:t>
            </a: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竞争激烈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65F04FA2-1452-442E-9EDD-7011C0668382}"/>
              </a:ext>
            </a:extLst>
          </p:cNvPr>
          <p:cNvSpPr/>
          <p:nvPr/>
        </p:nvSpPr>
        <p:spPr>
          <a:xfrm>
            <a:off x="6447103" y="4451445"/>
            <a:ext cx="1657723" cy="77673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占有中</a:t>
            </a: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发生饥饿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</p:txBody>
      </p:sp>
      <p:sp>
        <p:nvSpPr>
          <p:cNvPr id="52" name="箭头: 上下 51">
            <a:extLst>
              <a:ext uri="{FF2B5EF4-FFF2-40B4-BE49-F238E27FC236}">
                <a16:creationId xmlns:a16="http://schemas.microsoft.com/office/drawing/2014/main" id="{8897CECD-092F-45A1-8244-88195AAB1A53}"/>
              </a:ext>
            </a:extLst>
          </p:cNvPr>
          <p:cNvSpPr/>
          <p:nvPr/>
        </p:nvSpPr>
        <p:spPr>
          <a:xfrm>
            <a:off x="9820591" y="3555352"/>
            <a:ext cx="243173" cy="776738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</p:txBody>
      </p:sp>
      <p:sp>
        <p:nvSpPr>
          <p:cNvPr id="53" name="箭头: 上下 52">
            <a:extLst>
              <a:ext uri="{FF2B5EF4-FFF2-40B4-BE49-F238E27FC236}">
                <a16:creationId xmlns:a16="http://schemas.microsoft.com/office/drawing/2014/main" id="{07E224C0-9C8C-4F37-9367-F347D964C1AA}"/>
              </a:ext>
            </a:extLst>
          </p:cNvPr>
          <p:cNvSpPr/>
          <p:nvPr/>
        </p:nvSpPr>
        <p:spPr>
          <a:xfrm rot="5400000">
            <a:off x="8435947" y="4490994"/>
            <a:ext cx="243173" cy="776738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</p:txBody>
      </p:sp>
      <p:sp>
        <p:nvSpPr>
          <p:cNvPr id="54" name="箭头: 上下 53">
            <a:extLst>
              <a:ext uri="{FF2B5EF4-FFF2-40B4-BE49-F238E27FC236}">
                <a16:creationId xmlns:a16="http://schemas.microsoft.com/office/drawing/2014/main" id="{EF27BDFE-F2CC-4AE7-80CB-5487780ADACF}"/>
              </a:ext>
            </a:extLst>
          </p:cNvPr>
          <p:cNvSpPr/>
          <p:nvPr/>
        </p:nvSpPr>
        <p:spPr>
          <a:xfrm rot="5400000">
            <a:off x="8435946" y="2719819"/>
            <a:ext cx="243173" cy="776738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7CB43FD-9C96-4161-AE65-2DA178EEC6A0}"/>
              </a:ext>
            </a:extLst>
          </p:cNvPr>
          <p:cNvSpPr txBox="1"/>
          <p:nvPr/>
        </p:nvSpPr>
        <p:spPr>
          <a:xfrm>
            <a:off x="5981021" y="2110591"/>
            <a:ext cx="2576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一条 </a:t>
            </a:r>
            <a:r>
              <a:rPr lang="en-US" altLang="zh-CN" sz="1600" dirty="0"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CAS </a:t>
            </a:r>
            <a:r>
              <a:rPr lang="zh-CN" altLang="en-US" sz="1600" dirty="0"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指令即可获得锁，实现快速路径</a:t>
            </a:r>
            <a:endParaRPr lang="en-US" sz="1600" dirty="0"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37C947F-C21E-4816-BCAA-1AA2A55B2EF7}"/>
              </a:ext>
            </a:extLst>
          </p:cNvPr>
          <p:cNvSpPr txBox="1"/>
          <p:nvPr/>
        </p:nvSpPr>
        <p:spPr>
          <a:xfrm>
            <a:off x="9011156" y="2110592"/>
            <a:ext cx="176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自旋方式获取锁，加快锁获取效率</a:t>
            </a:r>
            <a:endParaRPr lang="en-US" sz="1600" dirty="0"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8490786-10CF-4835-8029-EA93DE143ED9}"/>
              </a:ext>
            </a:extLst>
          </p:cNvPr>
          <p:cNvSpPr txBox="1"/>
          <p:nvPr/>
        </p:nvSpPr>
        <p:spPr>
          <a:xfrm>
            <a:off x="8842917" y="5389210"/>
            <a:ext cx="24832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进入等待队列依次获取锁，减少竞争</a:t>
            </a:r>
            <a:endParaRPr lang="en-US" sz="1600" dirty="0"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A15C965-0E0E-4912-9205-06D3C7CD8DDA}"/>
              </a:ext>
            </a:extLst>
          </p:cNvPr>
          <p:cNvSpPr txBox="1"/>
          <p:nvPr/>
        </p:nvSpPr>
        <p:spPr>
          <a:xfrm>
            <a:off x="6260301" y="5372333"/>
            <a:ext cx="2167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饥饿线程优先获取锁，保证公平性</a:t>
            </a:r>
            <a:endParaRPr lang="en-US" sz="1600" dirty="0"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4EEB578-D01D-4C96-A53F-8B3FA1808704}"/>
              </a:ext>
            </a:extLst>
          </p:cNvPr>
          <p:cNvSpPr txBox="1"/>
          <p:nvPr/>
        </p:nvSpPr>
        <p:spPr>
          <a:xfrm>
            <a:off x="5981021" y="1314907"/>
            <a:ext cx="4781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Calibri" panose="020F0502020204030204" pitchFamily="34" charset="0"/>
                <a:ea typeface="Microsoft YaHei Light" panose="020B0502040204020203" pitchFamily="34" charset="-122"/>
                <a:sym typeface="Calibri" panose="020F0502020204030204" pitchFamily="34" charset="0"/>
              </a:rPr>
              <a:t>互斥锁被设计为状态机，在每个状态下使用不同的锁获取方式，以达到更高效率</a:t>
            </a:r>
            <a:endParaRPr lang="en-US" b="1" dirty="0">
              <a:latin typeface="Calibri" panose="020F0502020204030204" pitchFamily="34" charset="0"/>
              <a:ea typeface="Microsoft YaHei Light" panose="020B0502040204020203" pitchFamily="34" charset="-122"/>
              <a:sym typeface="Calibri" panose="020F0502020204030204" pitchFamily="34" charset="0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8EACB877-E54B-429C-BA80-BB749C7B8B5E}"/>
              </a:ext>
            </a:extLst>
          </p:cNvPr>
          <p:cNvSpPr/>
          <p:nvPr/>
        </p:nvSpPr>
        <p:spPr>
          <a:xfrm>
            <a:off x="10729608" y="862656"/>
            <a:ext cx="1143457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并发数据结构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E90DE6C3-6F93-41E6-BA6B-A562C4E35A60}"/>
              </a:ext>
            </a:extLst>
          </p:cNvPr>
          <p:cNvSpPr/>
          <p:nvPr/>
        </p:nvSpPr>
        <p:spPr>
          <a:xfrm>
            <a:off x="10729609" y="555838"/>
            <a:ext cx="1143457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可重入互斥锁</a:t>
            </a:r>
            <a:endParaRPr lang="en-US" altLang="zh-CN" sz="1000" kern="0" dirty="0"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FC2F49FE-0387-471B-9120-34CEC00C1E24}"/>
              </a:ext>
            </a:extLst>
          </p:cNvPr>
          <p:cNvSpPr/>
          <p:nvPr/>
        </p:nvSpPr>
        <p:spPr>
          <a:xfrm>
            <a:off x="10729609" y="249020"/>
            <a:ext cx="1143456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线程使用</a:t>
            </a:r>
            <a:endParaRPr lang="en-US" sz="1000" kern="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pic>
        <p:nvPicPr>
          <p:cNvPr id="63" name="图形 62">
            <a:extLst>
              <a:ext uri="{FF2B5EF4-FFF2-40B4-BE49-F238E27FC236}">
                <a16:creationId xmlns:a16="http://schemas.microsoft.com/office/drawing/2014/main" id="{596C601C-A297-4021-833B-297B81EECF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39232" y="555838"/>
            <a:ext cx="352942" cy="35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279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A77A4E-57DC-48EA-B4DF-BCC5C1836700}"/>
              </a:ext>
            </a:extLst>
          </p:cNvPr>
          <p:cNvSpPr txBox="1"/>
          <p:nvPr/>
        </p:nvSpPr>
        <p:spPr>
          <a:xfrm>
            <a:off x="572868" y="563153"/>
            <a:ext cx="6684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并发数据结构使用示例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209B93C7-9803-47FE-A2C8-2B9C3678B256}"/>
              </a:ext>
            </a:extLst>
          </p:cNvPr>
          <p:cNvSpPr txBox="1"/>
          <p:nvPr/>
        </p:nvSpPr>
        <p:spPr>
          <a:xfrm>
            <a:off x="831021" y="1852946"/>
            <a:ext cx="4824536" cy="1620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1D1D1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应用场景：并发数据结构在多线程系统中很常见</a:t>
            </a:r>
            <a:endParaRPr lang="en-US" altLang="zh-CN" dirty="0">
              <a:solidFill>
                <a:srgbClr val="1D1D1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1D1D1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并发哈希表：实现数据库缓存（</a:t>
            </a:r>
            <a:r>
              <a:rPr lang="en-US" altLang="zh-CN" sz="1600" dirty="0">
                <a:solidFill>
                  <a:srgbClr val="1D1D1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cache</a:t>
            </a:r>
            <a:r>
              <a:rPr lang="zh-CN" altLang="en-US" sz="1600" dirty="0">
                <a:solidFill>
                  <a:srgbClr val="1D1D1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  <a:r>
              <a:rPr lang="en-US" altLang="zh-CN" sz="1600" dirty="0">
                <a:solidFill>
                  <a:srgbClr val="1D1D1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···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1D1D1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并发队列：作为多线程通讯的缓冲区 </a:t>
            </a:r>
            <a:r>
              <a:rPr lang="en-US" altLang="zh-CN" sz="1600" dirty="0">
                <a:solidFill>
                  <a:srgbClr val="1D1D1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···</a:t>
            </a:r>
            <a:endParaRPr lang="zh-CN" altLang="en-US" sz="1600" dirty="0">
              <a:solidFill>
                <a:srgbClr val="1D1D1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27" name="图片 126">
            <a:extLst>
              <a:ext uri="{FF2B5EF4-FFF2-40B4-BE49-F238E27FC236}">
                <a16:creationId xmlns:a16="http://schemas.microsoft.com/office/drawing/2014/main" id="{3C0D25E3-B902-4741-87DD-5D2F7D4D76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2027"/>
          <a:stretch/>
        </p:blipFill>
        <p:spPr>
          <a:xfrm>
            <a:off x="1757804" y="3969708"/>
            <a:ext cx="2572740" cy="1376171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AB6DDA8-F0FF-4707-B41B-10B868A2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61" y="6355346"/>
            <a:ext cx="2119009" cy="365125"/>
          </a:xfrm>
        </p:spPr>
        <p:txBody>
          <a:bodyPr/>
          <a:lstStyle/>
          <a:p>
            <a:fld id="{D1412462-3951-534C-B2EB-31A3E742C104}" type="slidenum">
              <a:rPr kumimoji="1" lang="zh-CN" altLang="en-US" smtClean="0"/>
              <a:t>13</a:t>
            </a:fld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425246-8EB9-4CD3-B5A2-76CE2E97E21C}"/>
              </a:ext>
            </a:extLst>
          </p:cNvPr>
          <p:cNvSpPr/>
          <p:nvPr/>
        </p:nvSpPr>
        <p:spPr>
          <a:xfrm>
            <a:off x="5791121" y="1907605"/>
            <a:ext cx="506835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let conn</a:t>
            </a:r>
            <a:r>
              <a:rPr lang="en-US" altLang="zh-CN" sz="1600" dirty="0">
                <a:latin typeface="Consolas" panose="020B0609020204030204" pitchFamily="49" charset="0"/>
              </a:rPr>
              <a:t>ection</a:t>
            </a:r>
            <a:r>
              <a:rPr lang="en-US" sz="1600" dirty="0">
                <a:latin typeface="Consolas" panose="020B0609020204030204" pitchFamily="49" charset="0"/>
              </a:rPr>
              <a:t>s: HashMap&lt;String, Client&gt;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let mutex: </a:t>
            </a:r>
            <a:r>
              <a:rPr lang="en-US" sz="1600" dirty="0" err="1">
                <a:latin typeface="Consolas" panose="020B0609020204030204" pitchFamily="49" charset="0"/>
              </a:rPr>
              <a:t>ReentrantMutex</a:t>
            </a:r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func</a:t>
            </a:r>
            <a:r>
              <a:rPr lang="en-US" sz="1600" dirty="0">
                <a:latin typeface="Consolas" panose="020B0609020204030204" pitchFamily="49" charset="0"/>
              </a:rPr>
              <a:t> record(</a:t>
            </a:r>
            <a:r>
              <a:rPr lang="en-US" sz="1600" dirty="0" err="1">
                <a:latin typeface="Consolas" panose="020B0609020204030204" pitchFamily="49" charset="0"/>
              </a:rPr>
              <a:t>ip</a:t>
            </a:r>
            <a:r>
              <a:rPr lang="en-US" sz="1600" dirty="0">
                <a:latin typeface="Consolas" panose="020B0609020204030204" pitchFamily="49" charset="0"/>
              </a:rPr>
              <a:t>: String, client: Client)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synchronized</a:t>
            </a:r>
            <a:r>
              <a:rPr lang="en-US" sz="1600" dirty="0">
                <a:latin typeface="Consolas" panose="020B0609020204030204" pitchFamily="49" charset="0"/>
              </a:rPr>
              <a:t>(mutex)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</a:rPr>
              <a:t>connections</a:t>
            </a:r>
            <a:r>
              <a:rPr lang="en-US" sz="1600" dirty="0" err="1">
                <a:latin typeface="Consolas" panose="020B0609020204030204" pitchFamily="49" charset="0"/>
              </a:rPr>
              <a:t>.putIfAbsent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ip</a:t>
            </a:r>
            <a:r>
              <a:rPr lang="en-US" sz="1600" dirty="0">
                <a:latin typeface="Consolas" panose="020B0609020204030204" pitchFamily="49" charset="0"/>
              </a:rPr>
              <a:t>, client)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C2D37D81-AAE9-4A76-8D75-A27C5E9405CF}"/>
              </a:ext>
            </a:extLst>
          </p:cNvPr>
          <p:cNvSpPr txBox="1"/>
          <p:nvPr/>
        </p:nvSpPr>
        <p:spPr>
          <a:xfrm>
            <a:off x="5791121" y="1076208"/>
            <a:ext cx="4643075" cy="776738"/>
          </a:xfrm>
          <a:prstGeom prst="roundRect">
            <a:avLst/>
          </a:prstGeom>
          <a:solidFill>
            <a:schemeClr val="bg1"/>
          </a:solidFill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使用互斥锁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sz="1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在任意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程序点</a:t>
            </a:r>
            <a:r>
              <a:rPr lang="en-US" sz="1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使用哈希表，开发者都需要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手动</a:t>
            </a:r>
            <a:r>
              <a:rPr lang="en-US" sz="1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添加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互斥锁保护，大大增加</a:t>
            </a:r>
            <a:r>
              <a:rPr lang="en-US" sz="1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编程复杂度</a:t>
            </a:r>
            <a:endParaRPr lang="en-US" sz="1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18C1FF-475A-4DA9-A48A-CBAB9DF062B3}"/>
              </a:ext>
            </a:extLst>
          </p:cNvPr>
          <p:cNvSpPr/>
          <p:nvPr/>
        </p:nvSpPr>
        <p:spPr>
          <a:xfrm>
            <a:off x="5676820" y="5011222"/>
            <a:ext cx="577293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let conn</a:t>
            </a:r>
            <a:r>
              <a:rPr lang="en-US" altLang="zh-CN" sz="1600" dirty="0">
                <a:latin typeface="Consolas" panose="020B0609020204030204" pitchFamily="49" charset="0"/>
              </a:rPr>
              <a:t>ection</a:t>
            </a:r>
            <a:r>
              <a:rPr lang="en-US" sz="1600" dirty="0">
                <a:latin typeface="Consolas" panose="020B0609020204030204" pitchFamily="49" charset="0"/>
              </a:rPr>
              <a:t>s: </a:t>
            </a:r>
            <a:r>
              <a:rPr lang="en-US" sz="1600" dirty="0" err="1">
                <a:latin typeface="Consolas" panose="020B0609020204030204" pitchFamily="49" charset="0"/>
              </a:rPr>
              <a:t>ConcurrentHashMap</a:t>
            </a:r>
            <a:r>
              <a:rPr lang="en-US" sz="1600" dirty="0">
                <a:latin typeface="Consolas" panose="020B0609020204030204" pitchFamily="49" charset="0"/>
              </a:rPr>
              <a:t>&lt;String, Client&gt;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func</a:t>
            </a:r>
            <a:r>
              <a:rPr lang="en-US" sz="1600" dirty="0">
                <a:latin typeface="Consolas" panose="020B0609020204030204" pitchFamily="49" charset="0"/>
              </a:rPr>
              <a:t> record (</a:t>
            </a:r>
            <a:r>
              <a:rPr lang="en-US" sz="1600" dirty="0" err="1">
                <a:latin typeface="Consolas" panose="020B0609020204030204" pitchFamily="49" charset="0"/>
              </a:rPr>
              <a:t>ip</a:t>
            </a:r>
            <a:r>
              <a:rPr lang="en-US" sz="1600" dirty="0">
                <a:latin typeface="Consolas" panose="020B0609020204030204" pitchFamily="49" charset="0"/>
              </a:rPr>
              <a:t>: String, client: Client)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altLang="zh-CN" sz="1600" dirty="0">
                <a:latin typeface="Consolas" panose="020B0609020204030204" pitchFamily="49" charset="0"/>
              </a:rPr>
              <a:t>connections</a:t>
            </a:r>
            <a:r>
              <a:rPr lang="en-US" sz="1600" dirty="0">
                <a:latin typeface="Consolas" panose="020B0609020204030204" pitchFamily="49" charset="0"/>
              </a:rPr>
              <a:t>.putIfAbsent(</a:t>
            </a:r>
            <a:r>
              <a:rPr lang="en-US" sz="1600" dirty="0" err="1">
                <a:latin typeface="Consolas" panose="020B0609020204030204" pitchFamily="49" charset="0"/>
              </a:rPr>
              <a:t>ip</a:t>
            </a:r>
            <a:r>
              <a:rPr lang="en-US" sz="1600" dirty="0">
                <a:latin typeface="Consolas" panose="020B0609020204030204" pitchFamily="49" charset="0"/>
              </a:rPr>
              <a:t>, client)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DF847946-4C3B-474F-AD8C-464706401EF2}"/>
              </a:ext>
            </a:extLst>
          </p:cNvPr>
          <p:cNvCxnSpPr>
            <a:cxnSpLocks/>
          </p:cNvCxnSpPr>
          <p:nvPr/>
        </p:nvCxnSpPr>
        <p:spPr>
          <a:xfrm flipH="1">
            <a:off x="6234242" y="4056434"/>
            <a:ext cx="5544333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18231DD5-C0BF-4A35-8C48-72F42E84D546}"/>
              </a:ext>
            </a:extLst>
          </p:cNvPr>
          <p:cNvSpPr txBox="1"/>
          <p:nvPr/>
        </p:nvSpPr>
        <p:spPr>
          <a:xfrm>
            <a:off x="5791121" y="4147757"/>
            <a:ext cx="4643075" cy="776738"/>
          </a:xfrm>
          <a:prstGeom prst="roundRect">
            <a:avLst/>
          </a:prstGeom>
          <a:solidFill>
            <a:schemeClr val="bg1"/>
          </a:solidFill>
          <a:ln>
            <a:solidFill>
              <a:srgbClr val="232323"/>
            </a:solidFill>
          </a:ln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使用并发哈希表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：并发数据结构的内部实现保证了方法执行具有原子性，无需互斥锁</a:t>
            </a:r>
            <a:endParaRPr lang="en-US" sz="1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36" name="图形 135">
            <a:extLst>
              <a:ext uri="{FF2B5EF4-FFF2-40B4-BE49-F238E27FC236}">
                <a16:creationId xmlns:a16="http://schemas.microsoft.com/office/drawing/2014/main" id="{1A7A63EE-A01C-47D6-B25D-78E8DB9575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93530" y="4370556"/>
            <a:ext cx="640666" cy="640666"/>
          </a:xfrm>
          <a:prstGeom prst="rect">
            <a:avLst/>
          </a:prstGeom>
        </p:spPr>
      </p:pic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E14D9BE0-E608-4B19-9FFC-ADBB1D3FBE75}"/>
              </a:ext>
            </a:extLst>
          </p:cNvPr>
          <p:cNvSpPr/>
          <p:nvPr/>
        </p:nvSpPr>
        <p:spPr>
          <a:xfrm>
            <a:off x="10729608" y="862656"/>
            <a:ext cx="1143457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并发数据结构</a:t>
            </a: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A3DEFF4D-8FA7-4D8E-AC70-B2D40601EFC0}"/>
              </a:ext>
            </a:extLst>
          </p:cNvPr>
          <p:cNvSpPr/>
          <p:nvPr/>
        </p:nvSpPr>
        <p:spPr>
          <a:xfrm>
            <a:off x="10729609" y="555838"/>
            <a:ext cx="1143457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可重入互斥锁</a:t>
            </a:r>
            <a:endParaRPr lang="en-US" altLang="zh-CN" sz="1000" kern="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DA710E9C-42D0-409F-9E07-B23FF71F699A}"/>
              </a:ext>
            </a:extLst>
          </p:cNvPr>
          <p:cNvSpPr/>
          <p:nvPr/>
        </p:nvSpPr>
        <p:spPr>
          <a:xfrm>
            <a:off x="10729609" y="249020"/>
            <a:ext cx="1143456" cy="3077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zh-CN" altLang="en-US" sz="1000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rPr>
              <a:t>线程使用</a:t>
            </a:r>
            <a:endParaRPr lang="en-US" sz="1000" kern="0" dirty="0">
              <a:solidFill>
                <a:schemeClr val="bg2">
                  <a:lumMod val="9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Consolas" panose="020B0609020204030204" pitchFamily="49" charset="0"/>
            </a:endParaRPr>
          </a:p>
        </p:txBody>
      </p:sp>
      <p:pic>
        <p:nvPicPr>
          <p:cNvPr id="140" name="图形 139">
            <a:extLst>
              <a:ext uri="{FF2B5EF4-FFF2-40B4-BE49-F238E27FC236}">
                <a16:creationId xmlns:a16="http://schemas.microsoft.com/office/drawing/2014/main" id="{9E922D7B-FC10-4395-B5CB-39F55F4F42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5431" y="854076"/>
            <a:ext cx="352942" cy="35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714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A77A4E-57DC-48EA-B4DF-BCC5C1836700}"/>
              </a:ext>
            </a:extLst>
          </p:cNvPr>
          <p:cNvSpPr txBox="1"/>
          <p:nvPr/>
        </p:nvSpPr>
        <p:spPr>
          <a:xfrm>
            <a:off x="572868" y="563153"/>
            <a:ext cx="6684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并发哈希表</a:t>
            </a:r>
            <a:r>
              <a:rPr kumimoji="1" lang="zh-CN" altLang="en-US" sz="4000" b="1" dirty="0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实现概览</a:t>
            </a:r>
            <a:endParaRPr kumimoji="1"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灯片编号占位符 100">
            <a:extLst>
              <a:ext uri="{FF2B5EF4-FFF2-40B4-BE49-F238E27FC236}">
                <a16:creationId xmlns:a16="http://schemas.microsoft.com/office/drawing/2014/main" id="{B7472298-830B-4A39-A9F5-2D4446B5D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2462-3951-534C-B2EB-31A3E742C104}" type="slidenum">
              <a:rPr kumimoji="1" lang="zh-CN" altLang="en-US" smtClean="0"/>
              <a:t>14</a:t>
            </a:fld>
            <a:endParaRPr kumimoji="1" lang="zh-CN" altLang="en-US"/>
          </a:p>
        </p:txBody>
      </p: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C96B4BD6-8614-429C-9634-B601F1C55AA6}"/>
              </a:ext>
            </a:extLst>
          </p:cNvPr>
          <p:cNvGrpSpPr/>
          <p:nvPr/>
        </p:nvGrpSpPr>
        <p:grpSpPr>
          <a:xfrm>
            <a:off x="10405431" y="249020"/>
            <a:ext cx="1467635" cy="957998"/>
            <a:chOff x="10405431" y="249020"/>
            <a:chExt cx="1467635" cy="957998"/>
          </a:xfrm>
        </p:grpSpPr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144F163F-0B7B-4DCA-9E52-C1456E041665}"/>
                </a:ext>
              </a:extLst>
            </p:cNvPr>
            <p:cNvSpPr/>
            <p:nvPr/>
          </p:nvSpPr>
          <p:spPr>
            <a:xfrm>
              <a:off x="10729608" y="862656"/>
              <a:ext cx="1143457" cy="307777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zh-CN" altLang="en-US" sz="1000" kern="0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并发数据结构</a:t>
              </a:r>
            </a:p>
          </p:txBody>
        </p:sp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6522678F-D90A-442F-BB9C-76028807D0ED}"/>
                </a:ext>
              </a:extLst>
            </p:cNvPr>
            <p:cNvSpPr/>
            <p:nvPr/>
          </p:nvSpPr>
          <p:spPr>
            <a:xfrm>
              <a:off x="10729609" y="555838"/>
              <a:ext cx="1143457" cy="307777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zh-CN" altLang="en-US" sz="1000" kern="0" dirty="0">
                  <a:solidFill>
                    <a:schemeClr val="bg2">
                      <a:lumMod val="9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可重入互斥锁</a:t>
              </a:r>
              <a:endParaRPr lang="en-US" altLang="zh-CN" sz="1000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endParaRPr>
            </a:p>
          </p:txBody>
        </p:sp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DF45107A-ED0C-428F-AD2C-D6EC3D9FEBEF}"/>
                </a:ext>
              </a:extLst>
            </p:cNvPr>
            <p:cNvSpPr/>
            <p:nvPr/>
          </p:nvSpPr>
          <p:spPr>
            <a:xfrm>
              <a:off x="10729609" y="249020"/>
              <a:ext cx="1143456" cy="307777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zh-CN" altLang="en-US" sz="1000" kern="0" dirty="0">
                  <a:solidFill>
                    <a:schemeClr val="bg2">
                      <a:lumMod val="9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线程使用</a:t>
              </a:r>
              <a:endParaRPr lang="en-US" sz="1000" kern="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endParaRPr>
            </a:p>
          </p:txBody>
        </p:sp>
        <p:pic>
          <p:nvPicPr>
            <p:cNvPr id="110" name="图形 109">
              <a:extLst>
                <a:ext uri="{FF2B5EF4-FFF2-40B4-BE49-F238E27FC236}">
                  <a16:creationId xmlns:a16="http://schemas.microsoft.com/office/drawing/2014/main" id="{186CAE67-8622-458C-B2D9-AD3BDDF06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405431" y="854076"/>
              <a:ext cx="352942" cy="352942"/>
            </a:xfrm>
            <a:prstGeom prst="rect">
              <a:avLst/>
            </a:prstGeom>
          </p:spPr>
        </p:pic>
      </p:grpSp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38F29292-1182-444D-98F9-0EDF08725DFB}"/>
              </a:ext>
            </a:extLst>
          </p:cNvPr>
          <p:cNvGrpSpPr/>
          <p:nvPr/>
        </p:nvGrpSpPr>
        <p:grpSpPr>
          <a:xfrm>
            <a:off x="6896708" y="1462599"/>
            <a:ext cx="4809453" cy="2656943"/>
            <a:chOff x="7257339" y="1776627"/>
            <a:chExt cx="4809453" cy="2656943"/>
          </a:xfrm>
        </p:grpSpPr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9E0EE203-F2D3-4BF1-8D94-12276E6AAAF3}"/>
                </a:ext>
              </a:extLst>
            </p:cNvPr>
            <p:cNvSpPr/>
            <p:nvPr/>
          </p:nvSpPr>
          <p:spPr>
            <a:xfrm>
              <a:off x="9123890" y="2535832"/>
              <a:ext cx="389579" cy="296881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kern="0" dirty="0">
                  <a:solidFill>
                    <a:srgbClr val="666666"/>
                  </a:solidFill>
                  <a:latin typeface="Calibri" panose="020F0502020204030204"/>
                </a:rPr>
                <a:t>0</a:t>
              </a:r>
              <a:endParaRPr lang="zh-CN" altLang="en-US" sz="1600" kern="0" dirty="0">
                <a:solidFill>
                  <a:srgbClr val="666666"/>
                </a:solidFill>
                <a:latin typeface="Calibri" panose="020F0502020204030204"/>
              </a:endParaRPr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DFA28A92-EEEB-4B57-AEDA-FCF7A757EAEC}"/>
                </a:ext>
              </a:extLst>
            </p:cNvPr>
            <p:cNvSpPr/>
            <p:nvPr/>
          </p:nvSpPr>
          <p:spPr>
            <a:xfrm>
              <a:off x="9123890" y="2832713"/>
              <a:ext cx="389579" cy="296881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kern="0" dirty="0">
                  <a:solidFill>
                    <a:srgbClr val="666666"/>
                  </a:solidFill>
                  <a:latin typeface="Calibri" panose="020F0502020204030204"/>
                </a:rPr>
                <a:t>1</a:t>
              </a:r>
              <a:endParaRPr lang="zh-CN" altLang="en-US" sz="1600" kern="0" dirty="0">
                <a:solidFill>
                  <a:srgbClr val="666666"/>
                </a:solidFill>
                <a:latin typeface="Calibri" panose="020F0502020204030204"/>
              </a:endParaRPr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1E272F3B-D330-4E4B-B310-E80F18E32322}"/>
                </a:ext>
              </a:extLst>
            </p:cNvPr>
            <p:cNvSpPr/>
            <p:nvPr/>
          </p:nvSpPr>
          <p:spPr>
            <a:xfrm>
              <a:off x="9123890" y="3129594"/>
              <a:ext cx="389579" cy="296881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kern="0" dirty="0">
                  <a:solidFill>
                    <a:srgbClr val="666666"/>
                  </a:solidFill>
                  <a:latin typeface="Calibri" panose="020F0502020204030204"/>
                </a:rPr>
                <a:t>2</a:t>
              </a:r>
              <a:endParaRPr lang="zh-CN" altLang="en-US" sz="1600" kern="0" dirty="0">
                <a:solidFill>
                  <a:srgbClr val="666666"/>
                </a:solidFill>
                <a:latin typeface="Calibri" panose="020F0502020204030204"/>
              </a:endParaRPr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2C53345D-D315-42F7-AC79-8766A4FAD295}"/>
                </a:ext>
              </a:extLst>
            </p:cNvPr>
            <p:cNvSpPr/>
            <p:nvPr/>
          </p:nvSpPr>
          <p:spPr>
            <a:xfrm>
              <a:off x="9123890" y="3426474"/>
              <a:ext cx="389579" cy="296881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kern="0" dirty="0">
                  <a:solidFill>
                    <a:srgbClr val="666666"/>
                  </a:solidFill>
                  <a:latin typeface="Calibri" panose="020F0502020204030204"/>
                </a:rPr>
                <a:t>3</a:t>
              </a:r>
              <a:endParaRPr lang="zh-CN" altLang="en-US" sz="1600" kern="0" dirty="0">
                <a:solidFill>
                  <a:srgbClr val="666666"/>
                </a:solidFill>
                <a:latin typeface="Calibri" panose="020F0502020204030204"/>
              </a:endParaRPr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3347C87C-1E55-41BD-8B76-AC934BE84DE0}"/>
                </a:ext>
              </a:extLst>
            </p:cNvPr>
            <p:cNvSpPr txBox="1"/>
            <p:nvPr/>
          </p:nvSpPr>
          <p:spPr>
            <a:xfrm>
              <a:off x="8863845" y="3547845"/>
              <a:ext cx="1201625" cy="468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lnSpc>
                  <a:spcPts val="344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66666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buckets</a:t>
              </a:r>
              <a:endParaRPr lang="zh-CN" altLang="en-US" sz="16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149" name="直接箭头连接符 148">
              <a:extLst>
                <a:ext uri="{FF2B5EF4-FFF2-40B4-BE49-F238E27FC236}">
                  <a16:creationId xmlns:a16="http://schemas.microsoft.com/office/drawing/2014/main" id="{8DFFC96F-CF00-4D3D-A5B1-B3B1B7EC1ECF}"/>
                </a:ext>
              </a:extLst>
            </p:cNvPr>
            <p:cNvCxnSpPr>
              <a:cxnSpLocks/>
              <a:stCxn id="144" idx="3"/>
            </p:cNvCxnSpPr>
            <p:nvPr/>
          </p:nvCxnSpPr>
          <p:spPr>
            <a:xfrm>
              <a:off x="9513469" y="2684273"/>
              <a:ext cx="552001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232323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9DA743B6-1A9F-4F9B-8FA3-1AABAAD89B4E}"/>
                </a:ext>
              </a:extLst>
            </p:cNvPr>
            <p:cNvCxnSpPr>
              <a:cxnSpLocks/>
              <a:stCxn id="146" idx="3"/>
            </p:cNvCxnSpPr>
            <p:nvPr/>
          </p:nvCxnSpPr>
          <p:spPr>
            <a:xfrm>
              <a:off x="9513469" y="3278034"/>
              <a:ext cx="552001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232323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D183ED82-ABB7-43E7-A6AE-915FB2DBA4EB}"/>
                </a:ext>
              </a:extLst>
            </p:cNvPr>
            <p:cNvCxnSpPr>
              <a:cxnSpLocks/>
              <a:stCxn id="147" idx="3"/>
            </p:cNvCxnSpPr>
            <p:nvPr/>
          </p:nvCxnSpPr>
          <p:spPr>
            <a:xfrm>
              <a:off x="9513469" y="3574915"/>
              <a:ext cx="552001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232323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矩形 151">
                  <a:extLst>
                    <a:ext uri="{FF2B5EF4-FFF2-40B4-BE49-F238E27FC236}">
                      <a16:creationId xmlns:a16="http://schemas.microsoft.com/office/drawing/2014/main" id="{5C53C3D2-0B14-4BAF-919C-78AFA04EE59D}"/>
                    </a:ext>
                  </a:extLst>
                </p:cNvPr>
                <p:cNvSpPr/>
                <p:nvPr/>
              </p:nvSpPr>
              <p:spPr>
                <a:xfrm>
                  <a:off x="10722931" y="2574337"/>
                  <a:ext cx="649299" cy="219871"/>
                </a:xfrm>
                <a:prstGeom prst="rect">
                  <a:avLst/>
                </a:prstGeom>
                <a:solidFill>
                  <a:srgbClr val="FFFF00">
                    <a:lumMod val="20000"/>
                    <a:lumOff val="80000"/>
                  </a:srgbClr>
                </a:solidFill>
                <a:ln w="19050" cap="flat" cmpd="sng" algn="ctr">
                  <a:solidFill>
                    <a:srgbClr val="1D1D1A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1400" kern="0" dirty="0">
                      <a:solidFill>
                        <a:srgbClr val="1D1D1A"/>
                      </a:solidFill>
                      <a:latin typeface="Calibri" panose="020F0502020204030204"/>
                    </a:rPr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zh-CN" altLang="en-US" sz="1400" kern="0" dirty="0">
                    <a:solidFill>
                      <a:srgbClr val="1D1D1A"/>
                    </a:solidFill>
                    <a:latin typeface="Calibri" panose="020F0502020204030204"/>
                  </a:endParaRPr>
                </a:p>
              </p:txBody>
            </p:sp>
          </mc:Choice>
          <mc:Fallback xmlns="">
            <p:sp>
              <p:nvSpPr>
                <p:cNvPr id="152" name="矩形 151">
                  <a:extLst>
                    <a:ext uri="{FF2B5EF4-FFF2-40B4-BE49-F238E27FC236}">
                      <a16:creationId xmlns:a16="http://schemas.microsoft.com/office/drawing/2014/main" id="{5C53C3D2-0B14-4BAF-919C-78AFA04EE5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2931" y="2574337"/>
                  <a:ext cx="649299" cy="219871"/>
                </a:xfrm>
                <a:prstGeom prst="rect">
                  <a:avLst/>
                </a:prstGeom>
                <a:blipFill>
                  <a:blip r:embed="rId4"/>
                  <a:stretch>
                    <a:fillRect t="-20513" b="-38462"/>
                  </a:stretch>
                </a:blipFill>
                <a:ln w="19050" cap="flat" cmpd="sng" algn="ctr">
                  <a:solidFill>
                    <a:srgbClr val="1D1D1A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矩形 152">
                  <a:extLst>
                    <a:ext uri="{FF2B5EF4-FFF2-40B4-BE49-F238E27FC236}">
                      <a16:creationId xmlns:a16="http://schemas.microsoft.com/office/drawing/2014/main" id="{2560FBF3-007D-415D-B2B9-275742BA159D}"/>
                    </a:ext>
                  </a:extLst>
                </p:cNvPr>
                <p:cNvSpPr/>
                <p:nvPr/>
              </p:nvSpPr>
              <p:spPr>
                <a:xfrm>
                  <a:off x="10073632" y="2574337"/>
                  <a:ext cx="649299" cy="219871"/>
                </a:xfrm>
                <a:prstGeom prst="rect">
                  <a:avLst/>
                </a:prstGeom>
                <a:solidFill>
                  <a:srgbClr val="FFFF00">
                    <a:lumMod val="20000"/>
                    <a:lumOff val="80000"/>
                  </a:srgbClr>
                </a:solidFill>
                <a:ln w="19050" cap="flat" cmpd="sng" algn="ctr">
                  <a:solidFill>
                    <a:srgbClr val="1D1D1A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1400" kern="0" dirty="0">
                      <a:solidFill>
                        <a:srgbClr val="1D1D1A"/>
                      </a:solidFill>
                      <a:latin typeface="Calibri" panose="020F0502020204030204"/>
                    </a:rPr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sz="1400" kern="0" dirty="0">
                    <a:solidFill>
                      <a:srgbClr val="1D1D1A"/>
                    </a:solidFill>
                    <a:latin typeface="Calibri" panose="020F0502020204030204"/>
                  </a:endParaRPr>
                </a:p>
              </p:txBody>
            </p:sp>
          </mc:Choice>
          <mc:Fallback xmlns="">
            <p:sp>
              <p:nvSpPr>
                <p:cNvPr id="153" name="矩形 152">
                  <a:extLst>
                    <a:ext uri="{FF2B5EF4-FFF2-40B4-BE49-F238E27FC236}">
                      <a16:creationId xmlns:a16="http://schemas.microsoft.com/office/drawing/2014/main" id="{2560FBF3-007D-415D-B2B9-275742BA15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73632" y="2574337"/>
                  <a:ext cx="649299" cy="219871"/>
                </a:xfrm>
                <a:prstGeom prst="rect">
                  <a:avLst/>
                </a:prstGeom>
                <a:blipFill>
                  <a:blip r:embed="rId5"/>
                  <a:stretch>
                    <a:fillRect t="-20513" b="-38462"/>
                  </a:stretch>
                </a:blipFill>
                <a:ln w="19050" cap="flat" cmpd="sng" algn="ctr">
                  <a:solidFill>
                    <a:srgbClr val="1D1D1A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矩形 153">
                  <a:extLst>
                    <a:ext uri="{FF2B5EF4-FFF2-40B4-BE49-F238E27FC236}">
                      <a16:creationId xmlns:a16="http://schemas.microsoft.com/office/drawing/2014/main" id="{D43D3DC2-A57B-496C-B866-72B63EA9AC61}"/>
                    </a:ext>
                  </a:extLst>
                </p:cNvPr>
                <p:cNvSpPr/>
                <p:nvPr/>
              </p:nvSpPr>
              <p:spPr>
                <a:xfrm>
                  <a:off x="10073632" y="3168098"/>
                  <a:ext cx="649299" cy="219871"/>
                </a:xfrm>
                <a:prstGeom prst="rect">
                  <a:avLst/>
                </a:prstGeom>
                <a:solidFill>
                  <a:srgbClr val="FFFF00">
                    <a:lumMod val="20000"/>
                    <a:lumOff val="80000"/>
                  </a:srgbClr>
                </a:solidFill>
                <a:ln w="19050" cap="flat" cmpd="sng" algn="ctr">
                  <a:solidFill>
                    <a:srgbClr val="1D1D1A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altLang="zh-CN" sz="1400" kern="0" dirty="0">
                      <a:solidFill>
                        <a:srgbClr val="1D1D1A"/>
                      </a:solidFill>
                      <a:latin typeface="Calibri" panose="020F0502020204030204"/>
                    </a:rPr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endParaRPr lang="zh-CN" altLang="en-US" sz="1400" kern="0" dirty="0">
                    <a:solidFill>
                      <a:srgbClr val="1D1D1A"/>
                    </a:solidFill>
                    <a:latin typeface="Calibri" panose="020F0502020204030204"/>
                  </a:endParaRPr>
                </a:p>
              </p:txBody>
            </p:sp>
          </mc:Choice>
          <mc:Fallback xmlns="">
            <p:sp>
              <p:nvSpPr>
                <p:cNvPr id="154" name="矩形 153">
                  <a:extLst>
                    <a:ext uri="{FF2B5EF4-FFF2-40B4-BE49-F238E27FC236}">
                      <a16:creationId xmlns:a16="http://schemas.microsoft.com/office/drawing/2014/main" id="{D43D3DC2-A57B-496C-B866-72B63EA9AC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73632" y="3168098"/>
                  <a:ext cx="649299" cy="219871"/>
                </a:xfrm>
                <a:prstGeom prst="rect">
                  <a:avLst/>
                </a:prstGeom>
                <a:blipFill>
                  <a:blip r:embed="rId6"/>
                  <a:stretch>
                    <a:fillRect t="-20513" b="-41026"/>
                  </a:stretch>
                </a:blipFill>
                <a:ln w="19050" cap="flat" cmpd="sng" algn="ctr">
                  <a:solidFill>
                    <a:srgbClr val="1D1D1A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矩形 154">
                  <a:extLst>
                    <a:ext uri="{FF2B5EF4-FFF2-40B4-BE49-F238E27FC236}">
                      <a16:creationId xmlns:a16="http://schemas.microsoft.com/office/drawing/2014/main" id="{F3B2EB7A-271A-4D4F-B043-4E7E29ACB5C4}"/>
                    </a:ext>
                  </a:extLst>
                </p:cNvPr>
                <p:cNvSpPr/>
                <p:nvPr/>
              </p:nvSpPr>
              <p:spPr>
                <a:xfrm>
                  <a:off x="10073632" y="3464979"/>
                  <a:ext cx="649299" cy="219871"/>
                </a:xfrm>
                <a:prstGeom prst="rect">
                  <a:avLst/>
                </a:prstGeom>
                <a:solidFill>
                  <a:srgbClr val="FFFF00">
                    <a:lumMod val="20000"/>
                    <a:lumOff val="80000"/>
                  </a:srgbClr>
                </a:solidFill>
                <a:ln w="19050" cap="flat" cmpd="sng" algn="ctr">
                  <a:solidFill>
                    <a:srgbClr val="1D1D1A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en-US" altLang="zh-CN" sz="1400" kern="0" dirty="0">
                      <a:solidFill>
                        <a:srgbClr val="1D1D1A"/>
                      </a:solidFill>
                      <a:latin typeface="Calibri" panose="020F0502020204030204"/>
                    </a:rPr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CN" sz="1400" i="1" kern="0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endParaRPr lang="zh-CN" altLang="en-US" sz="1400" kern="0" dirty="0">
                    <a:solidFill>
                      <a:srgbClr val="1D1D1A"/>
                    </a:solidFill>
                    <a:latin typeface="Calibri" panose="020F0502020204030204"/>
                  </a:endParaRPr>
                </a:p>
              </p:txBody>
            </p:sp>
          </mc:Choice>
          <mc:Fallback xmlns="">
            <p:sp>
              <p:nvSpPr>
                <p:cNvPr id="155" name="矩形 154">
                  <a:extLst>
                    <a:ext uri="{FF2B5EF4-FFF2-40B4-BE49-F238E27FC236}">
                      <a16:creationId xmlns:a16="http://schemas.microsoft.com/office/drawing/2014/main" id="{F3B2EB7A-271A-4D4F-B043-4E7E29ACB5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73632" y="3464979"/>
                  <a:ext cx="649299" cy="219871"/>
                </a:xfrm>
                <a:prstGeom prst="rect">
                  <a:avLst/>
                </a:prstGeom>
                <a:blipFill>
                  <a:blip r:embed="rId7"/>
                  <a:stretch>
                    <a:fillRect t="-20513" b="-38462"/>
                  </a:stretch>
                </a:blipFill>
                <a:ln w="19050" cap="flat" cmpd="sng" algn="ctr">
                  <a:solidFill>
                    <a:srgbClr val="1D1D1A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D4236557-986E-4819-96B6-40C045FFA20D}"/>
                    </a:ext>
                  </a:extLst>
                </p:cNvPr>
                <p:cNvSpPr txBox="1"/>
                <p:nvPr/>
              </p:nvSpPr>
              <p:spPr>
                <a:xfrm>
                  <a:off x="10510738" y="1797382"/>
                  <a:ext cx="1362327" cy="4620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fontAlgn="base">
                    <a:lnSpc>
                      <a:spcPts val="344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1400" i="1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altLang="zh-CN" sz="1200" dirty="0">
                      <a:solidFill>
                        <a:srgbClr val="1D1D1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: </a:t>
                  </a:r>
                  <a:r>
                    <a:rPr lang="en-US" altLang="zh-CN" sz="1400" dirty="0">
                      <a:solidFill>
                        <a:srgbClr val="C7000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get(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CN" sz="1400" i="1" smtClean="0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1400" dirty="0">
                      <a:solidFill>
                        <a:srgbClr val="C7000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)</a:t>
                  </a:r>
                  <a:endParaRPr lang="zh-CN" altLang="en-US" sz="1400" dirty="0">
                    <a:solidFill>
                      <a:srgbClr val="66666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D4236557-986E-4819-96B6-40C045FFA2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10738" y="1797382"/>
                  <a:ext cx="1362327" cy="462050"/>
                </a:xfrm>
                <a:prstGeom prst="rect">
                  <a:avLst/>
                </a:prstGeom>
                <a:blipFill>
                  <a:blip r:embed="rId8"/>
                  <a:stretch>
                    <a:fillRect b="-131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0BDD9230-8E64-414E-9CEA-C722319EA318}"/>
                    </a:ext>
                  </a:extLst>
                </p:cNvPr>
                <p:cNvSpPr txBox="1"/>
                <p:nvPr/>
              </p:nvSpPr>
              <p:spPr>
                <a:xfrm>
                  <a:off x="7476284" y="3971520"/>
                  <a:ext cx="1472125" cy="4620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fontAlgn="base">
                    <a:lnSpc>
                      <a:spcPts val="344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1400" i="1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en-US" altLang="zh-CN" sz="1200" dirty="0">
                      <a:solidFill>
                        <a:srgbClr val="1D1D1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: </a:t>
                  </a:r>
                  <a:r>
                    <a:rPr lang="en-US" altLang="zh-CN" sz="1400" dirty="0">
                      <a:solidFill>
                        <a:srgbClr val="C7000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put(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CN" sz="1400" i="1" smtClean="0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a14:m>
                  <a:r>
                    <a:rPr lang="en-US" altLang="zh-CN" sz="1400" dirty="0">
                      <a:solidFill>
                        <a:srgbClr val="C7000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smtClean="0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CN" sz="1400" smtClean="0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a14:m>
                  <a:r>
                    <a:rPr lang="en-US" altLang="zh-CN" sz="1400" dirty="0">
                      <a:solidFill>
                        <a:srgbClr val="C7000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)</a:t>
                  </a:r>
                  <a:endParaRPr lang="zh-CN" altLang="en-US" sz="1400" dirty="0">
                    <a:solidFill>
                      <a:srgbClr val="66666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0BDD9230-8E64-414E-9CEA-C722319EA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284" y="3971520"/>
                  <a:ext cx="1472125" cy="462050"/>
                </a:xfrm>
                <a:prstGeom prst="rect">
                  <a:avLst/>
                </a:prstGeom>
                <a:blipFill>
                  <a:blip r:embed="rId9"/>
                  <a:stretch>
                    <a:fillRect b="-118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FD43C195-254D-4C2B-B03E-7770CA751FC3}"/>
                    </a:ext>
                  </a:extLst>
                </p:cNvPr>
                <p:cNvSpPr txBox="1"/>
                <p:nvPr/>
              </p:nvSpPr>
              <p:spPr>
                <a:xfrm>
                  <a:off x="8773913" y="3964657"/>
                  <a:ext cx="1598053" cy="4620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fontAlgn="base">
                    <a:lnSpc>
                      <a:spcPts val="344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1400" i="1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a14:m>
                  <a:r>
                    <a:rPr lang="en-US" altLang="zh-CN" sz="1200" dirty="0">
                      <a:solidFill>
                        <a:srgbClr val="1D1D1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: </a:t>
                  </a:r>
                  <a:r>
                    <a:rPr lang="en-US" altLang="zh-CN" sz="1400" dirty="0">
                      <a:solidFill>
                        <a:srgbClr val="C7000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remove(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CN" sz="1400" i="1" smtClean="0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1400" dirty="0">
                      <a:solidFill>
                        <a:srgbClr val="C7000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)</a:t>
                  </a:r>
                  <a:endParaRPr lang="zh-CN" altLang="en-US" sz="1400" dirty="0">
                    <a:solidFill>
                      <a:srgbClr val="66666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FD43C195-254D-4C2B-B03E-7770CA751F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3913" y="3964657"/>
                  <a:ext cx="1598053" cy="462050"/>
                </a:xfrm>
                <a:prstGeom prst="rect">
                  <a:avLst/>
                </a:prstGeom>
                <a:blipFill>
                  <a:blip r:embed="rId10"/>
                  <a:stretch>
                    <a:fillRect b="-118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CB3F6619-1B6C-4D67-B455-616D7F01EF7A}"/>
                    </a:ext>
                  </a:extLst>
                </p:cNvPr>
                <p:cNvSpPr txBox="1"/>
                <p:nvPr/>
              </p:nvSpPr>
              <p:spPr>
                <a:xfrm>
                  <a:off x="7366130" y="1782043"/>
                  <a:ext cx="1063081" cy="4620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fontAlgn="base">
                    <a:lnSpc>
                      <a:spcPts val="344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1400" i="1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1200" dirty="0">
                      <a:solidFill>
                        <a:srgbClr val="1D1D1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: </a:t>
                  </a:r>
                  <a:r>
                    <a:rPr lang="en-US" altLang="zh-CN" sz="1400" dirty="0">
                      <a:solidFill>
                        <a:srgbClr val="C7000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get(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CN" sz="1400" i="1" smtClean="0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altLang="zh-CN" sz="1400" dirty="0">
                      <a:solidFill>
                        <a:srgbClr val="C7000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)</a:t>
                  </a:r>
                  <a:endParaRPr lang="zh-CN" altLang="en-US" sz="1400" dirty="0">
                    <a:solidFill>
                      <a:srgbClr val="66666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CB3F6619-1B6C-4D67-B455-616D7F01EF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6130" y="1782043"/>
                  <a:ext cx="1063081" cy="462050"/>
                </a:xfrm>
                <a:prstGeom prst="rect">
                  <a:avLst/>
                </a:prstGeom>
                <a:blipFill>
                  <a:blip r:embed="rId11"/>
                  <a:stretch>
                    <a:fillRect b="-118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06444892-45AC-42FC-8676-B9C90CB4E448}"/>
                    </a:ext>
                  </a:extLst>
                </p:cNvPr>
                <p:cNvSpPr txBox="1"/>
                <p:nvPr/>
              </p:nvSpPr>
              <p:spPr>
                <a:xfrm>
                  <a:off x="8850727" y="1776627"/>
                  <a:ext cx="1214743" cy="4620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fontAlgn="base">
                    <a:lnSpc>
                      <a:spcPts val="344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1400" i="1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1200" dirty="0">
                      <a:solidFill>
                        <a:srgbClr val="1D1D1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: </a:t>
                  </a:r>
                  <a:r>
                    <a:rPr lang="en-US" altLang="zh-CN" sz="1400" dirty="0">
                      <a:solidFill>
                        <a:srgbClr val="C7000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get(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CN" sz="1400" i="1" smtClean="0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altLang="zh-CN" sz="1400" dirty="0">
                      <a:solidFill>
                        <a:srgbClr val="C7000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)</a:t>
                  </a:r>
                  <a:endParaRPr lang="zh-CN" altLang="en-US" sz="1400" dirty="0">
                    <a:solidFill>
                      <a:srgbClr val="66666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06444892-45AC-42FC-8676-B9C90CB4E4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0727" y="1776627"/>
                  <a:ext cx="1214743" cy="462050"/>
                </a:xfrm>
                <a:prstGeom prst="rect">
                  <a:avLst/>
                </a:prstGeom>
                <a:blipFill>
                  <a:blip r:embed="rId12"/>
                  <a:stretch>
                    <a:fillRect b="-118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8AE73C4E-A633-4DAC-B177-F8F764DB1AE0}"/>
                    </a:ext>
                  </a:extLst>
                </p:cNvPr>
                <p:cNvSpPr txBox="1"/>
                <p:nvPr/>
              </p:nvSpPr>
              <p:spPr>
                <a:xfrm>
                  <a:off x="10468745" y="3952398"/>
                  <a:ext cx="1598047" cy="4620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fontAlgn="base">
                    <a:lnSpc>
                      <a:spcPts val="344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1400" i="1" smtClean="0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a14:m>
                  <a:r>
                    <a:rPr lang="en-US" altLang="zh-CN" sz="1200" dirty="0">
                      <a:solidFill>
                        <a:srgbClr val="1D1D1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: </a:t>
                  </a:r>
                  <a:r>
                    <a:rPr lang="en-US" altLang="zh-CN" sz="1400" dirty="0">
                      <a:solidFill>
                        <a:srgbClr val="C7000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remove(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CN" sz="1400" i="1" smtClean="0">
                              <a:solidFill>
                                <a:srgbClr val="C7000A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en-US" altLang="zh-CN" sz="1400" dirty="0">
                      <a:solidFill>
                        <a:srgbClr val="C7000A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)</a:t>
                  </a:r>
                  <a:endParaRPr lang="zh-CN" altLang="en-US" sz="1400" dirty="0">
                    <a:solidFill>
                      <a:srgbClr val="66666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8AE73C4E-A633-4DAC-B177-F8F764DB1A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68745" y="3952398"/>
                  <a:ext cx="1598047" cy="462050"/>
                </a:xfrm>
                <a:prstGeom prst="rect">
                  <a:avLst/>
                </a:prstGeom>
                <a:blipFill>
                  <a:blip r:embed="rId13"/>
                  <a:stretch>
                    <a:fillRect b="-118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A2301E20-1D8E-4351-BDAB-1E9CA4574971}"/>
                </a:ext>
              </a:extLst>
            </p:cNvPr>
            <p:cNvSpPr/>
            <p:nvPr/>
          </p:nvSpPr>
          <p:spPr>
            <a:xfrm>
              <a:off x="7658652" y="3020116"/>
              <a:ext cx="393406" cy="203327"/>
            </a:xfrm>
            <a:prstGeom prst="rect">
              <a:avLst/>
            </a:prstGeom>
            <a:solidFill>
              <a:srgbClr val="30B5C5">
                <a:lumMod val="20000"/>
                <a:lumOff val="80000"/>
              </a:srgbClr>
            </a:solidFill>
            <a:ln w="190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0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E0ED90FF-5BAE-4B74-BF7E-8843E28F7A4D}"/>
                </a:ext>
              </a:extLst>
            </p:cNvPr>
            <p:cNvSpPr/>
            <p:nvPr/>
          </p:nvSpPr>
          <p:spPr>
            <a:xfrm>
              <a:off x="7658652" y="3223515"/>
              <a:ext cx="393406" cy="203327"/>
            </a:xfrm>
            <a:prstGeom prst="rect">
              <a:avLst/>
            </a:prstGeom>
            <a:solidFill>
              <a:srgbClr val="30B5C5">
                <a:lumMod val="20000"/>
                <a:lumOff val="80000"/>
              </a:srgbClr>
            </a:solidFill>
            <a:ln w="190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1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D5695DF7-E93A-4153-8758-C93B707980C1}"/>
                </a:ext>
              </a:extLst>
            </p:cNvPr>
            <p:cNvSpPr/>
            <p:nvPr/>
          </p:nvSpPr>
          <p:spPr>
            <a:xfrm>
              <a:off x="7475260" y="2640172"/>
              <a:ext cx="84481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478"/>
              <a:r>
                <a:rPr lang="en-US" altLang="zh-CN" sz="1600" dirty="0">
                  <a:solidFill>
                    <a:srgbClr val="1D1D1A"/>
                  </a:solidFill>
                  <a:latin typeface="Calibri" panose="020F0502020204030204"/>
                </a:rPr>
                <a:t> Mutex</a:t>
              </a:r>
              <a:endParaRPr lang="zh-CN" altLang="en-US" sz="1400" dirty="0">
                <a:solidFill>
                  <a:srgbClr val="1D1D1A"/>
                </a:solidFill>
                <a:latin typeface="Calibri" panose="020F0502020204030204"/>
              </a:endParaRPr>
            </a:p>
          </p:txBody>
        </p:sp>
        <p:cxnSp>
          <p:nvCxnSpPr>
            <p:cNvPr id="165" name="连接符: 曲线 164">
              <a:extLst>
                <a:ext uri="{FF2B5EF4-FFF2-40B4-BE49-F238E27FC236}">
                  <a16:creationId xmlns:a16="http://schemas.microsoft.com/office/drawing/2014/main" id="{EFCFBD82-895A-4C8A-BFA4-1384C586CF2C}"/>
                </a:ext>
              </a:extLst>
            </p:cNvPr>
            <p:cNvCxnSpPr>
              <a:stCxn id="162" idx="3"/>
            </p:cNvCxnSpPr>
            <p:nvPr/>
          </p:nvCxnSpPr>
          <p:spPr>
            <a:xfrm flipV="1">
              <a:off x="8052058" y="2689688"/>
              <a:ext cx="1071832" cy="432092"/>
            </a:xfrm>
            <a:prstGeom prst="curvedConnector3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66" name="连接符: 曲线 165">
              <a:extLst>
                <a:ext uri="{FF2B5EF4-FFF2-40B4-BE49-F238E27FC236}">
                  <a16:creationId xmlns:a16="http://schemas.microsoft.com/office/drawing/2014/main" id="{0B6DAFF1-BB96-475F-98A8-FBBC0C2D72C2}"/>
                </a:ext>
              </a:extLst>
            </p:cNvPr>
            <p:cNvCxnSpPr>
              <a:cxnSpLocks/>
              <a:stCxn id="162" idx="3"/>
            </p:cNvCxnSpPr>
            <p:nvPr/>
          </p:nvCxnSpPr>
          <p:spPr>
            <a:xfrm>
              <a:off x="8052058" y="3121780"/>
              <a:ext cx="1071832" cy="174994"/>
            </a:xfrm>
            <a:prstGeom prst="curvedConnector3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67" name="连接符: 曲线 166">
              <a:extLst>
                <a:ext uri="{FF2B5EF4-FFF2-40B4-BE49-F238E27FC236}">
                  <a16:creationId xmlns:a16="http://schemas.microsoft.com/office/drawing/2014/main" id="{52E53AC9-AEA9-4260-BBEE-7D8F3A6F739B}"/>
                </a:ext>
              </a:extLst>
            </p:cNvPr>
            <p:cNvCxnSpPr>
              <a:cxnSpLocks/>
              <a:stCxn id="163" idx="3"/>
            </p:cNvCxnSpPr>
            <p:nvPr/>
          </p:nvCxnSpPr>
          <p:spPr>
            <a:xfrm flipV="1">
              <a:off x="8052058" y="2993232"/>
              <a:ext cx="1071832" cy="331947"/>
            </a:xfrm>
            <a:prstGeom prst="curvedConnector3">
              <a:avLst/>
            </a:prstGeom>
            <a:noFill/>
            <a:ln w="19050" cap="flat" cmpd="sng" algn="ctr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68" name="连接符: 曲线 167">
              <a:extLst>
                <a:ext uri="{FF2B5EF4-FFF2-40B4-BE49-F238E27FC236}">
                  <a16:creationId xmlns:a16="http://schemas.microsoft.com/office/drawing/2014/main" id="{BE09D7FC-AB5A-4B89-894C-5017DF6EA1C2}"/>
                </a:ext>
              </a:extLst>
            </p:cNvPr>
            <p:cNvCxnSpPr>
              <a:cxnSpLocks/>
              <a:stCxn id="163" idx="3"/>
            </p:cNvCxnSpPr>
            <p:nvPr/>
          </p:nvCxnSpPr>
          <p:spPr>
            <a:xfrm>
              <a:off x="8052058" y="3325179"/>
              <a:ext cx="1071832" cy="275139"/>
            </a:xfrm>
            <a:prstGeom prst="curvedConnector3">
              <a:avLst/>
            </a:prstGeom>
            <a:noFill/>
            <a:ln w="19050" cap="flat" cmpd="sng" algn="ctr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712E54D9-D9D3-4268-8201-23AC9107FEBA}"/>
                </a:ext>
              </a:extLst>
            </p:cNvPr>
            <p:cNvSpPr/>
            <p:nvPr/>
          </p:nvSpPr>
          <p:spPr>
            <a:xfrm>
              <a:off x="7257339" y="2436012"/>
              <a:ext cx="4347891" cy="1540903"/>
            </a:xfrm>
            <a:prstGeom prst="rect">
              <a:avLst/>
            </a:prstGeom>
            <a:noFill/>
            <a:ln w="19050" cap="flat" cmpd="sng" algn="ctr">
              <a:solidFill>
                <a:srgbClr val="DDDDDD">
                  <a:lumMod val="50000"/>
                </a:srgbClr>
              </a:solidFill>
              <a:prstDash val="dash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21BFDA2D-851B-4C2A-BF4D-D41759870417}"/>
                </a:ext>
              </a:extLst>
            </p:cNvPr>
            <p:cNvCxnSpPr>
              <a:cxnSpLocks/>
            </p:cNvCxnSpPr>
            <p:nvPr/>
          </p:nvCxnSpPr>
          <p:spPr>
            <a:xfrm>
              <a:off x="7870287" y="2235384"/>
              <a:ext cx="0" cy="174070"/>
            </a:xfrm>
            <a:prstGeom prst="straightConnector1">
              <a:avLst/>
            </a:prstGeom>
            <a:noFill/>
            <a:ln w="28575" cap="flat" cmpd="sng" algn="ctr">
              <a:solidFill>
                <a:srgbClr val="E9002F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71" name="直接箭头连接符 170">
              <a:extLst>
                <a:ext uri="{FF2B5EF4-FFF2-40B4-BE49-F238E27FC236}">
                  <a16:creationId xmlns:a16="http://schemas.microsoft.com/office/drawing/2014/main" id="{7EF2FBD8-24F1-4AFA-B583-1A9CEB02D9B1}"/>
                </a:ext>
              </a:extLst>
            </p:cNvPr>
            <p:cNvCxnSpPr/>
            <p:nvPr/>
          </p:nvCxnSpPr>
          <p:spPr>
            <a:xfrm>
              <a:off x="9383967" y="2264913"/>
              <a:ext cx="683" cy="171099"/>
            </a:xfrm>
            <a:prstGeom prst="straightConnector1">
              <a:avLst/>
            </a:prstGeom>
            <a:noFill/>
            <a:ln w="28575" cap="flat" cmpd="sng" algn="ctr">
              <a:solidFill>
                <a:srgbClr val="E9002F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72" name="直接箭头连接符 171">
              <a:extLst>
                <a:ext uri="{FF2B5EF4-FFF2-40B4-BE49-F238E27FC236}">
                  <a16:creationId xmlns:a16="http://schemas.microsoft.com/office/drawing/2014/main" id="{FE562629-40F8-4441-80CD-38B575CC59B6}"/>
                </a:ext>
              </a:extLst>
            </p:cNvPr>
            <p:cNvCxnSpPr/>
            <p:nvPr/>
          </p:nvCxnSpPr>
          <p:spPr>
            <a:xfrm>
              <a:off x="11120210" y="2265365"/>
              <a:ext cx="683" cy="171099"/>
            </a:xfrm>
            <a:prstGeom prst="straightConnector1">
              <a:avLst/>
            </a:prstGeom>
            <a:noFill/>
            <a:ln w="28575" cap="flat" cmpd="sng" algn="ctr">
              <a:solidFill>
                <a:srgbClr val="E9002F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73" name="直接箭头连接符 172">
              <a:extLst>
                <a:ext uri="{FF2B5EF4-FFF2-40B4-BE49-F238E27FC236}">
                  <a16:creationId xmlns:a16="http://schemas.microsoft.com/office/drawing/2014/main" id="{464A4A4D-F945-4185-A53F-9B1D7FAEE6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6736" y="3981401"/>
              <a:ext cx="0" cy="202022"/>
            </a:xfrm>
            <a:prstGeom prst="straightConnector1">
              <a:avLst/>
            </a:prstGeom>
            <a:noFill/>
            <a:ln w="28575" cap="flat" cmpd="sng" algn="ctr">
              <a:solidFill>
                <a:srgbClr val="E9002F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AAF6F82D-3083-48CD-BB4E-F046996594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86576" y="3981399"/>
              <a:ext cx="0" cy="170928"/>
            </a:xfrm>
            <a:prstGeom prst="straightConnector1">
              <a:avLst/>
            </a:prstGeom>
            <a:noFill/>
            <a:ln w="28575" cap="flat" cmpd="sng" algn="ctr">
              <a:solidFill>
                <a:srgbClr val="E9002F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75" name="直接箭头连接符 174">
              <a:extLst>
                <a:ext uri="{FF2B5EF4-FFF2-40B4-BE49-F238E27FC236}">
                  <a16:creationId xmlns:a16="http://schemas.microsoft.com/office/drawing/2014/main" id="{20359A33-A306-4E75-A691-520E275E02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29401" y="3981399"/>
              <a:ext cx="0" cy="170928"/>
            </a:xfrm>
            <a:prstGeom prst="straightConnector1">
              <a:avLst/>
            </a:prstGeom>
            <a:noFill/>
            <a:ln w="28575" cap="flat" cmpd="sng" algn="ctr">
              <a:solidFill>
                <a:srgbClr val="E9002F"/>
              </a:solidFill>
              <a:prstDash val="solid"/>
              <a:miter lim="800000"/>
              <a:tailEnd type="triangle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FDF8B9F9-E636-4DA1-8824-BD859599F6D5}"/>
                  </a:ext>
                </a:extLst>
              </p:cNvPr>
              <p:cNvSpPr txBox="1"/>
              <p:nvPr/>
            </p:nvSpPr>
            <p:spPr>
              <a:xfrm>
                <a:off x="701894" y="1797382"/>
                <a:ext cx="5709480" cy="34412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solidFill>
                      <a:prstClr val="black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查询表数据操作（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get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）可并行</a:t>
                </a:r>
                <a:endParaRPr lang="en-US" altLang="zh-CN" sz="1600" dirty="0">
                  <a:solidFill>
                    <a:prstClr val="black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 marL="648000" lvl="1" indent="-28575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14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线程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T</m:t>
                        </m:r>
                      </m:e>
                      <m:sub>
                        <m:r>
                          <a:rPr lang="en-US" altLang="zh-CN" sz="1400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T</m:t>
                        </m:r>
                      </m:e>
                      <m:sub>
                        <m:r>
                          <a:rPr lang="en-US" altLang="zh-CN" sz="1400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T</m:t>
                        </m:r>
                      </m:e>
                      <m:sub>
                        <m:r>
                          <a:rPr lang="en-US" altLang="zh-CN" sz="1400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并发执行不会互相阻塞</a:t>
                </a:r>
                <a:endParaRPr lang="en-US" altLang="zh-CN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 marL="285750" lvl="0" indent="-28575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修改（</a:t>
                </a:r>
                <a:r>
                  <a:rPr lang="en-US" altLang="zh-CN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put</a:t>
                </a:r>
                <a:r>
                  <a: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，</a:t>
                </a:r>
                <a:r>
                  <a:rPr lang="en-US" altLang="zh-CN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remove</a:t>
                </a:r>
                <a:r>
                  <a: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等）和查询</a:t>
                </a:r>
                <a:r>
                  <a:rPr lang="zh-CN" altLang="en-US" sz="16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表数据可并行，例如：</a:t>
                </a:r>
                <a:endParaRPr lang="en-US" altLang="zh-CN" sz="1600" dirty="0">
                  <a:solidFill>
                    <a:srgbClr val="1D1D1A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 marL="64800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14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线程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和</a:t>
                </a:r>
                <a14:m>
                  <m:oMath xmlns:m="http://schemas.openxmlformats.org/officeDocument/2006/math">
                    <m:r>
                      <a:rPr lang="en-US" altLang="zh-CN" sz="1400">
                        <a:solidFill>
                          <a:srgbClr val="1D1D1A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并发执行无需同步</a:t>
                </a:r>
                <a:endParaRPr lang="en-US" altLang="zh-CN" sz="1400" dirty="0">
                  <a:solidFill>
                    <a:srgbClr val="1D1D1A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 marL="285750" lvl="0" indent="-28575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修改不同 </a:t>
                </a:r>
                <a:r>
                  <a:rPr lang="en-US" altLang="zh-CN" sz="16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Mutex </a:t>
                </a:r>
                <a:r>
                  <a:rPr lang="zh-CN" altLang="en-US" sz="16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保护的 </a:t>
                </a:r>
                <a:r>
                  <a:rPr lang="en-US" altLang="zh-CN" sz="16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Bucket </a:t>
                </a:r>
                <a:r>
                  <a:rPr lang="zh-CN" altLang="en-US" sz="16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无需同步，例如：</a:t>
                </a:r>
                <a:endParaRPr lang="en-US" altLang="zh-CN" sz="1600" dirty="0">
                  <a:solidFill>
                    <a:srgbClr val="1D1D1A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 marL="648000" lvl="1" indent="-28575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14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线程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和</a:t>
                </a:r>
                <a14:m>
                  <m:oMath xmlns:m="http://schemas.openxmlformats.org/officeDocument/2006/math">
                    <m:r>
                      <a:rPr lang="en-US" altLang="zh-CN" sz="1400">
                        <a:solidFill>
                          <a:srgbClr val="1D1D1A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并发执行需同步</a:t>
                </a:r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 marL="285750" lvl="0" indent="-28575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修改相同 </a:t>
                </a:r>
                <a:r>
                  <a:rPr lang="en-US" altLang="zh-CN" sz="16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Mutex </a:t>
                </a:r>
                <a:r>
                  <a:rPr lang="zh-CN" altLang="en-US" sz="16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保护的 </a:t>
                </a:r>
                <a:r>
                  <a:rPr lang="en-US" altLang="zh-CN" sz="16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Bucket </a:t>
                </a:r>
                <a:r>
                  <a:rPr lang="zh-CN" altLang="en-US" sz="16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需要同步，例如：</a:t>
                </a:r>
                <a:endParaRPr lang="en-US" altLang="zh-CN" sz="1600" dirty="0">
                  <a:solidFill>
                    <a:srgbClr val="1D1D1A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 marL="648000" lvl="1" indent="-28575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14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线程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（假设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1400" i="1">
                        <a:solidFill>
                          <a:srgbClr val="1D1D1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4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插入 </a:t>
                </a:r>
                <a:r>
                  <a:rPr lang="en-US" altLang="zh-CN" sz="14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bucket[1]</a:t>
                </a:r>
                <a:r>
                  <a:rPr lang="zh-CN" altLang="en-US" sz="14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）和</a:t>
                </a:r>
                <a14:m>
                  <m:oMath xmlns:m="http://schemas.openxmlformats.org/officeDocument/2006/math">
                    <m:r>
                      <a:rPr lang="en-US" altLang="zh-CN" sz="1400">
                        <a:solidFill>
                          <a:srgbClr val="1D1D1A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rgbClr val="1D1D1A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rgbClr val="1D1D1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并发执行需同步</a:t>
                </a:r>
                <a:endParaRPr lang="en-US" altLang="zh-CN" sz="1400" dirty="0">
                  <a:solidFill>
                    <a:srgbClr val="1D1D1A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FDF8B9F9-E636-4DA1-8824-BD859599F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94" y="1797382"/>
                <a:ext cx="5709480" cy="3441263"/>
              </a:xfrm>
              <a:prstGeom prst="rect">
                <a:avLst/>
              </a:prstGeom>
              <a:blipFill>
                <a:blip r:embed="rId14"/>
                <a:stretch>
                  <a:fillRect l="-427" b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矩形 177">
            <a:extLst>
              <a:ext uri="{FF2B5EF4-FFF2-40B4-BE49-F238E27FC236}">
                <a16:creationId xmlns:a16="http://schemas.microsoft.com/office/drawing/2014/main" id="{49304F4A-9CFD-4DBB-8537-11A8C4CA015F}"/>
              </a:ext>
            </a:extLst>
          </p:cNvPr>
          <p:cNvSpPr/>
          <p:nvPr/>
        </p:nvSpPr>
        <p:spPr>
          <a:xfrm>
            <a:off x="485839" y="1339908"/>
            <a:ext cx="6214715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仓颉 </a:t>
            </a:r>
            <a:r>
              <a:rPr lang="en-US" altLang="zh-CN" sz="20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ConcurrentHashMap</a:t>
            </a:r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</a:t>
            </a:r>
            <a:r>
              <a:rPr lang="zh-CN" altLang="en-US" sz="20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细粒度并发算法</a:t>
            </a:r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实现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62" name="组合 261">
            <a:extLst>
              <a:ext uri="{FF2B5EF4-FFF2-40B4-BE49-F238E27FC236}">
                <a16:creationId xmlns:a16="http://schemas.microsoft.com/office/drawing/2014/main" id="{221E8C2C-E157-45B6-96CA-0A8ADD94058F}"/>
              </a:ext>
            </a:extLst>
          </p:cNvPr>
          <p:cNvGrpSpPr/>
          <p:nvPr/>
        </p:nvGrpSpPr>
        <p:grpSpPr>
          <a:xfrm>
            <a:off x="6756781" y="4725320"/>
            <a:ext cx="4270689" cy="1743672"/>
            <a:chOff x="7329826" y="4812110"/>
            <a:chExt cx="4270689" cy="1743672"/>
          </a:xfrm>
        </p:grpSpPr>
        <p:grpSp>
          <p:nvGrpSpPr>
            <p:cNvPr id="259" name="组合 258">
              <a:extLst>
                <a:ext uri="{FF2B5EF4-FFF2-40B4-BE49-F238E27FC236}">
                  <a16:creationId xmlns:a16="http://schemas.microsoft.com/office/drawing/2014/main" id="{65036293-3131-4AB2-B825-A3F9892FF438}"/>
                </a:ext>
              </a:extLst>
            </p:cNvPr>
            <p:cNvGrpSpPr/>
            <p:nvPr/>
          </p:nvGrpSpPr>
          <p:grpSpPr>
            <a:xfrm>
              <a:off x="8670957" y="6075207"/>
              <a:ext cx="1332271" cy="480575"/>
              <a:chOff x="10110977" y="6281582"/>
              <a:chExt cx="1332271" cy="48057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矩形 218">
                    <a:extLst>
                      <a:ext uri="{FF2B5EF4-FFF2-40B4-BE49-F238E27FC236}">
                        <a16:creationId xmlns:a16="http://schemas.microsoft.com/office/drawing/2014/main" id="{88355A2F-AE8C-47C8-AD51-21F1C82BCB90}"/>
                      </a:ext>
                    </a:extLst>
                  </p:cNvPr>
                  <p:cNvSpPr/>
                  <p:nvPr/>
                </p:nvSpPr>
                <p:spPr>
                  <a:xfrm>
                    <a:off x="10110978" y="6281582"/>
                    <a:ext cx="801653" cy="21222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defTabSz="914478"/>
                    <a:r>
                      <a:rPr lang="zh-CN" altLang="en-US" sz="1200" dirty="0">
                        <a:solidFill>
                          <a:srgbClr val="0000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rPr>
                      <a:t>线程</a:t>
                    </a:r>
                    <a:r>
                      <a:rPr lang="zh-CN" altLang="en-US" sz="1200" dirty="0">
                        <a:solidFill>
                          <a:srgbClr val="0000FF"/>
                        </a:solidFill>
                        <a:latin typeface="Calibri" panose="020F0502020204030204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zh-CN" sz="1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lang="en-US" altLang="zh-CN" sz="1200" dirty="0">
                        <a:solidFill>
                          <a:srgbClr val="0000FF"/>
                        </a:solidFill>
                        <a:latin typeface="Calibri" panose="020F0502020204030204"/>
                      </a:rPr>
                      <a:t> </a:t>
                    </a:r>
                    <a:r>
                      <a:rPr lang="zh-CN" altLang="en-US" sz="1200" dirty="0">
                        <a:solidFill>
                          <a:srgbClr val="0000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rPr>
                      <a:t>迁移</a:t>
                    </a:r>
                    <a:r>
                      <a:rPr lang="en-US" altLang="zh-CN" sz="1200" dirty="0">
                        <a:solidFill>
                          <a:srgbClr val="1D1D1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rPr>
                      <a:t> </a:t>
                    </a:r>
                    <a:endParaRPr lang="zh-CN" altLang="en-US" sz="1200" dirty="0">
                      <a:solidFill>
                        <a:srgbClr val="1D1D1A"/>
                      </a:solidFill>
                      <a:latin typeface="Calibri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219" name="矩形 218">
                    <a:extLst>
                      <a:ext uri="{FF2B5EF4-FFF2-40B4-BE49-F238E27FC236}">
                        <a16:creationId xmlns:a16="http://schemas.microsoft.com/office/drawing/2014/main" id="{88355A2F-AE8C-47C8-AD51-21F1C82BCB9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10978" y="6281582"/>
                    <a:ext cx="801653" cy="21222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25758" b="-5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0" name="直接箭头连接符 219">
                <a:extLst>
                  <a:ext uri="{FF2B5EF4-FFF2-40B4-BE49-F238E27FC236}">
                    <a16:creationId xmlns:a16="http://schemas.microsoft.com/office/drawing/2014/main" id="{E1C79D03-B8A2-4FA6-A82C-0B77A744A8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32554" y="6372909"/>
                <a:ext cx="310694" cy="0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00FF"/>
                </a:solidFill>
                <a:prstDash val="dash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1" name="矩形 220">
                    <a:extLst>
                      <a:ext uri="{FF2B5EF4-FFF2-40B4-BE49-F238E27FC236}">
                        <a16:creationId xmlns:a16="http://schemas.microsoft.com/office/drawing/2014/main" id="{CA4E1926-586E-4C61-B41C-EC8A4D6C3943}"/>
                      </a:ext>
                    </a:extLst>
                  </p:cNvPr>
                  <p:cNvSpPr/>
                  <p:nvPr/>
                </p:nvSpPr>
                <p:spPr>
                  <a:xfrm>
                    <a:off x="10110977" y="6549930"/>
                    <a:ext cx="818898" cy="21222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defTabSz="914478"/>
                    <a:r>
                      <a:rPr lang="zh-CN" altLang="en-US" sz="1200" dirty="0">
                        <a:solidFill>
                          <a:srgbClr val="C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rPr>
                      <a:t>线程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zh-CN" sz="1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r>
                      <a:rPr lang="zh-CN" altLang="en-US" sz="1200" dirty="0">
                        <a:solidFill>
                          <a:srgbClr val="C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rPr>
                      <a:t> 迁移</a:t>
                    </a:r>
                    <a:r>
                      <a:rPr lang="en-US" altLang="zh-CN" sz="1200" dirty="0">
                        <a:solidFill>
                          <a:srgbClr val="C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rPr>
                      <a:t> </a:t>
                    </a:r>
                    <a:endParaRPr lang="zh-CN" altLang="en-US" sz="1200" dirty="0">
                      <a:solidFill>
                        <a:srgbClr val="C00000"/>
                      </a:solidFill>
                      <a:latin typeface="Calibri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221" name="矩形 220">
                    <a:extLst>
                      <a:ext uri="{FF2B5EF4-FFF2-40B4-BE49-F238E27FC236}">
                        <a16:creationId xmlns:a16="http://schemas.microsoft.com/office/drawing/2014/main" id="{CA4E1926-586E-4C61-B41C-EC8A4D6C394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10977" y="6549930"/>
                    <a:ext cx="818898" cy="21222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r="-25926" b="-5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2" name="直接箭头连接符 221">
                <a:extLst>
                  <a:ext uri="{FF2B5EF4-FFF2-40B4-BE49-F238E27FC236}">
                    <a16:creationId xmlns:a16="http://schemas.microsoft.com/office/drawing/2014/main" id="{8BA9374A-E832-45A2-A271-8E98B2CC71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32554" y="6638702"/>
                <a:ext cx="310694" cy="0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C00000"/>
                </a:solidFill>
                <a:prstDash val="dash"/>
                <a:miter lim="800000"/>
                <a:tailEnd type="triangle"/>
              </a:ln>
              <a:effectLst/>
            </p:spPr>
          </p:cxnSp>
        </p:grpSp>
        <p:sp>
          <p:nvSpPr>
            <p:cNvPr id="223" name="文本框 222">
              <a:extLst>
                <a:ext uri="{FF2B5EF4-FFF2-40B4-BE49-F238E27FC236}">
                  <a16:creationId xmlns:a16="http://schemas.microsoft.com/office/drawing/2014/main" id="{BBDBE768-C42F-4557-8166-714D0E465EBB}"/>
                </a:ext>
              </a:extLst>
            </p:cNvPr>
            <p:cNvSpPr txBox="1"/>
            <p:nvPr/>
          </p:nvSpPr>
          <p:spPr>
            <a:xfrm>
              <a:off x="9998539" y="5797648"/>
              <a:ext cx="1601976" cy="462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lnSpc>
                  <a:spcPts val="344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66666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(new) buckets</a:t>
              </a:r>
              <a:endParaRPr lang="zh-CN" altLang="en-US" sz="14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24" name="文本框 223">
              <a:extLst>
                <a:ext uri="{FF2B5EF4-FFF2-40B4-BE49-F238E27FC236}">
                  <a16:creationId xmlns:a16="http://schemas.microsoft.com/office/drawing/2014/main" id="{0311CA78-CC98-4A92-8771-34D38B476DD6}"/>
                </a:ext>
              </a:extLst>
            </p:cNvPr>
            <p:cNvSpPr txBox="1"/>
            <p:nvPr/>
          </p:nvSpPr>
          <p:spPr>
            <a:xfrm>
              <a:off x="7329826" y="5778850"/>
              <a:ext cx="1301259" cy="462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lnSpc>
                  <a:spcPts val="344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66666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(old) buckets</a:t>
              </a:r>
              <a:endParaRPr lang="zh-CN" altLang="en-US" sz="14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grpSp>
          <p:nvGrpSpPr>
            <p:cNvPr id="260" name="组合 259">
              <a:extLst>
                <a:ext uri="{FF2B5EF4-FFF2-40B4-BE49-F238E27FC236}">
                  <a16:creationId xmlns:a16="http://schemas.microsoft.com/office/drawing/2014/main" id="{08A22FC9-0581-4D03-9D46-6C871E81AC85}"/>
                </a:ext>
              </a:extLst>
            </p:cNvPr>
            <p:cNvGrpSpPr/>
            <p:nvPr/>
          </p:nvGrpSpPr>
          <p:grpSpPr>
            <a:xfrm>
              <a:off x="7878752" y="4812110"/>
              <a:ext cx="3078601" cy="1158837"/>
              <a:chOff x="7837317" y="5088156"/>
              <a:chExt cx="3078601" cy="1158837"/>
            </a:xfrm>
          </p:grpSpPr>
          <p:grpSp>
            <p:nvGrpSpPr>
              <p:cNvPr id="250" name="组合 249">
                <a:extLst>
                  <a:ext uri="{FF2B5EF4-FFF2-40B4-BE49-F238E27FC236}">
                    <a16:creationId xmlns:a16="http://schemas.microsoft.com/office/drawing/2014/main" id="{4DCCA5EF-46B2-448F-A582-8EA5A1930190}"/>
                  </a:ext>
                </a:extLst>
              </p:cNvPr>
              <p:cNvGrpSpPr/>
              <p:nvPr/>
            </p:nvGrpSpPr>
            <p:grpSpPr>
              <a:xfrm>
                <a:off x="10600827" y="5088156"/>
                <a:ext cx="315091" cy="1158837"/>
                <a:chOff x="7493223" y="5054830"/>
                <a:chExt cx="315091" cy="1158837"/>
              </a:xfrm>
            </p:grpSpPr>
            <p:sp>
              <p:nvSpPr>
                <p:cNvPr id="208" name="矩形 207">
                  <a:extLst>
                    <a:ext uri="{FF2B5EF4-FFF2-40B4-BE49-F238E27FC236}">
                      <a16:creationId xmlns:a16="http://schemas.microsoft.com/office/drawing/2014/main" id="{F8F9067E-8A28-4ECB-9A93-67B92C9294CC}"/>
                    </a:ext>
                  </a:extLst>
                </p:cNvPr>
                <p:cNvSpPr/>
                <p:nvPr/>
              </p:nvSpPr>
              <p:spPr>
                <a:xfrm>
                  <a:off x="7493223" y="5054830"/>
                  <a:ext cx="315091" cy="289709"/>
                </a:xfrm>
                <a:prstGeom prst="rect">
                  <a:avLst/>
                </a:prstGeom>
                <a:solidFill>
                  <a:srgbClr val="FFFFFF"/>
                </a:solidFill>
                <a:ln w="19050" cap="flat" cmpd="sng" algn="ctr">
                  <a:solidFill>
                    <a:srgbClr val="1D1D1A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kern="0" dirty="0">
                      <a:solidFill>
                        <a:srgbClr val="666666"/>
                      </a:solidFill>
                      <a:latin typeface="Calibri" panose="020F0502020204030204"/>
                    </a:rPr>
                    <a:t>0</a:t>
                  </a:r>
                  <a:endParaRPr lang="zh-CN" altLang="en-US" kern="0" dirty="0">
                    <a:solidFill>
                      <a:srgbClr val="666666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09" name="矩形 208">
                  <a:extLst>
                    <a:ext uri="{FF2B5EF4-FFF2-40B4-BE49-F238E27FC236}">
                      <a16:creationId xmlns:a16="http://schemas.microsoft.com/office/drawing/2014/main" id="{0A6D07B7-370F-486D-A3F1-68EAB0E6CE73}"/>
                    </a:ext>
                  </a:extLst>
                </p:cNvPr>
                <p:cNvSpPr/>
                <p:nvPr/>
              </p:nvSpPr>
              <p:spPr>
                <a:xfrm>
                  <a:off x="7493784" y="5344539"/>
                  <a:ext cx="314530" cy="289709"/>
                </a:xfrm>
                <a:prstGeom prst="rect">
                  <a:avLst/>
                </a:prstGeom>
                <a:solidFill>
                  <a:srgbClr val="FFFFFF"/>
                </a:solidFill>
                <a:ln w="19050" cap="flat" cmpd="sng" algn="ctr">
                  <a:solidFill>
                    <a:srgbClr val="1D1D1A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kern="0" dirty="0">
                      <a:solidFill>
                        <a:srgbClr val="666666"/>
                      </a:solidFill>
                      <a:latin typeface="Calibri" panose="020F0502020204030204"/>
                    </a:rPr>
                    <a:t>1</a:t>
                  </a:r>
                  <a:endParaRPr lang="zh-CN" altLang="en-US" kern="0" dirty="0">
                    <a:solidFill>
                      <a:srgbClr val="666666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10" name="矩形 209">
                  <a:extLst>
                    <a:ext uri="{FF2B5EF4-FFF2-40B4-BE49-F238E27FC236}">
                      <a16:creationId xmlns:a16="http://schemas.microsoft.com/office/drawing/2014/main" id="{6620BCBC-C2D2-4509-92DF-3227B82697B1}"/>
                    </a:ext>
                  </a:extLst>
                </p:cNvPr>
                <p:cNvSpPr/>
                <p:nvPr/>
              </p:nvSpPr>
              <p:spPr>
                <a:xfrm>
                  <a:off x="7493784" y="5634249"/>
                  <a:ext cx="314530" cy="289709"/>
                </a:xfrm>
                <a:prstGeom prst="rect">
                  <a:avLst/>
                </a:prstGeom>
                <a:solidFill>
                  <a:srgbClr val="FFFFFF"/>
                </a:solidFill>
                <a:ln w="19050" cap="flat" cmpd="sng" algn="ctr">
                  <a:solidFill>
                    <a:srgbClr val="1D1D1A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kern="0" dirty="0">
                      <a:solidFill>
                        <a:srgbClr val="666666"/>
                      </a:solidFill>
                      <a:latin typeface="Calibri" panose="020F0502020204030204"/>
                    </a:rPr>
                    <a:t>2</a:t>
                  </a:r>
                  <a:endParaRPr lang="zh-CN" altLang="en-US" kern="0" dirty="0">
                    <a:solidFill>
                      <a:srgbClr val="666666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11" name="矩形 210">
                  <a:extLst>
                    <a:ext uri="{FF2B5EF4-FFF2-40B4-BE49-F238E27FC236}">
                      <a16:creationId xmlns:a16="http://schemas.microsoft.com/office/drawing/2014/main" id="{9C6F3DE2-9E08-4AAA-95A7-C73F7CFAB73B}"/>
                    </a:ext>
                  </a:extLst>
                </p:cNvPr>
                <p:cNvSpPr/>
                <p:nvPr/>
              </p:nvSpPr>
              <p:spPr>
                <a:xfrm>
                  <a:off x="7493223" y="5923958"/>
                  <a:ext cx="314530" cy="289709"/>
                </a:xfrm>
                <a:prstGeom prst="rect">
                  <a:avLst/>
                </a:prstGeom>
                <a:solidFill>
                  <a:srgbClr val="FFFFFF"/>
                </a:solidFill>
                <a:ln w="19050" cap="flat" cmpd="sng" algn="ctr">
                  <a:solidFill>
                    <a:srgbClr val="1D1D1A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kern="0" dirty="0">
                      <a:solidFill>
                        <a:srgbClr val="666666"/>
                      </a:solidFill>
                      <a:latin typeface="Calibri" panose="020F0502020204030204"/>
                    </a:rPr>
                    <a:t>3</a:t>
                  </a:r>
                  <a:endParaRPr lang="zh-CN" altLang="en-US" kern="0" dirty="0">
                    <a:solidFill>
                      <a:srgbClr val="666666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49F08E9A-76DC-4AD6-822A-4740AB1650DF}"/>
                  </a:ext>
                </a:extLst>
              </p:cNvPr>
              <p:cNvSpPr/>
              <p:nvPr/>
            </p:nvSpPr>
            <p:spPr>
              <a:xfrm>
                <a:off x="7837317" y="5335468"/>
                <a:ext cx="314530" cy="289709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1D1D1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kern="0" dirty="0">
                    <a:solidFill>
                      <a:srgbClr val="666666"/>
                    </a:solidFill>
                    <a:latin typeface="Calibri" panose="020F0502020204030204"/>
                  </a:rPr>
                  <a:t>0</a:t>
                </a:r>
                <a:endParaRPr lang="zh-CN" altLang="en-US" kern="0" dirty="0">
                  <a:solidFill>
                    <a:srgbClr val="666666"/>
                  </a:solidFill>
                  <a:latin typeface="Calibri" panose="020F0502020204030204"/>
                </a:endParaRPr>
              </a:p>
            </p:txBody>
          </p:sp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279FC344-C25D-4FA1-A729-A35D86EEF819}"/>
                  </a:ext>
                </a:extLst>
              </p:cNvPr>
              <p:cNvSpPr/>
              <p:nvPr/>
            </p:nvSpPr>
            <p:spPr>
              <a:xfrm>
                <a:off x="7837317" y="5625177"/>
                <a:ext cx="314530" cy="289709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1D1D1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kern="0" dirty="0">
                    <a:solidFill>
                      <a:srgbClr val="666666"/>
                    </a:solidFill>
                    <a:latin typeface="Calibri" panose="020F0502020204030204"/>
                  </a:rPr>
                  <a:t>1</a:t>
                </a:r>
                <a:endParaRPr lang="zh-CN" altLang="en-US" kern="0" dirty="0">
                  <a:solidFill>
                    <a:srgbClr val="666666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214" name="直接箭头连接符 213">
                <a:extLst>
                  <a:ext uri="{FF2B5EF4-FFF2-40B4-BE49-F238E27FC236}">
                    <a16:creationId xmlns:a16="http://schemas.microsoft.com/office/drawing/2014/main" id="{3C4A6812-9A2B-4A61-8152-FED60115900A}"/>
                  </a:ext>
                </a:extLst>
              </p:cNvPr>
              <p:cNvCxnSpPr>
                <a:cxnSpLocks/>
                <a:stCxn id="212" idx="3"/>
                <a:endCxn id="215" idx="1"/>
              </p:cNvCxnSpPr>
              <p:nvPr/>
            </p:nvCxnSpPr>
            <p:spPr>
              <a:xfrm flipV="1">
                <a:off x="8151847" y="5478664"/>
                <a:ext cx="261918" cy="1659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232323"/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" name="矩形 214">
                    <a:extLst>
                      <a:ext uri="{FF2B5EF4-FFF2-40B4-BE49-F238E27FC236}">
                        <a16:creationId xmlns:a16="http://schemas.microsoft.com/office/drawing/2014/main" id="{6EE258D5-74C8-4517-9986-CB14790082DF}"/>
                      </a:ext>
                    </a:extLst>
                  </p:cNvPr>
                  <p:cNvSpPr/>
                  <p:nvPr/>
                </p:nvSpPr>
                <p:spPr>
                  <a:xfrm>
                    <a:off x="8413765" y="5380921"/>
                    <a:ext cx="587929" cy="195487"/>
                  </a:xfrm>
                  <a:prstGeom prst="rect">
                    <a:avLst/>
                  </a:prstGeom>
                  <a:solidFill>
                    <a:srgbClr val="FFFF00">
                      <a:lumMod val="20000"/>
                      <a:lumOff val="80000"/>
                    </a:srgbClr>
                  </a:solidFill>
                  <a:ln w="19050" cap="flat" cmpd="sng" algn="ctr">
                    <a:solidFill>
                      <a:srgbClr val="1D1D1A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a14:m>
                    <a:r>
                      <a:rPr lang="en-US" altLang="zh-CN" sz="1200" kern="0" dirty="0">
                        <a:solidFill>
                          <a:srgbClr val="1D1D1A"/>
                        </a:solidFill>
                        <a:latin typeface="Calibri" panose="020F0502020204030204"/>
                      </a:rPr>
                      <a:t>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a14:m>
                    <a:endParaRPr lang="zh-CN" altLang="en-US" sz="1200" kern="0" dirty="0">
                      <a:solidFill>
                        <a:srgbClr val="1D1D1A"/>
                      </a:solidFill>
                      <a:latin typeface="Calibri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215" name="矩形 214">
                    <a:extLst>
                      <a:ext uri="{FF2B5EF4-FFF2-40B4-BE49-F238E27FC236}">
                        <a16:creationId xmlns:a16="http://schemas.microsoft.com/office/drawing/2014/main" id="{6EE258D5-74C8-4517-9986-CB14790082D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13765" y="5380921"/>
                    <a:ext cx="587929" cy="19548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t="-17143" b="-37143"/>
                    </a:stretch>
                  </a:blipFill>
                  <a:ln w="19050" cap="flat" cmpd="sng" algn="ctr">
                    <a:solidFill>
                      <a:srgbClr val="1D1D1A"/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6" name="矩形 215">
                    <a:extLst>
                      <a:ext uri="{FF2B5EF4-FFF2-40B4-BE49-F238E27FC236}">
                        <a16:creationId xmlns:a16="http://schemas.microsoft.com/office/drawing/2014/main" id="{08BB2AE9-789C-4CD3-AC5E-FA7DF797477D}"/>
                      </a:ext>
                    </a:extLst>
                  </p:cNvPr>
                  <p:cNvSpPr/>
                  <p:nvPr/>
                </p:nvSpPr>
                <p:spPr>
                  <a:xfrm>
                    <a:off x="9001694" y="5380921"/>
                    <a:ext cx="587929" cy="195487"/>
                  </a:xfrm>
                  <a:prstGeom prst="rect">
                    <a:avLst/>
                  </a:prstGeom>
                  <a:solidFill>
                    <a:srgbClr val="FFFF00">
                      <a:lumMod val="20000"/>
                      <a:lumOff val="80000"/>
                    </a:srgbClr>
                  </a:solidFill>
                  <a:ln w="19050" cap="flat" cmpd="sng" algn="ctr">
                    <a:solidFill>
                      <a:srgbClr val="1D1D1A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r>
                      <a:rPr lang="en-US" altLang="zh-CN" sz="1200" kern="0" dirty="0">
                        <a:solidFill>
                          <a:srgbClr val="1D1D1A"/>
                        </a:solidFill>
                        <a:latin typeface="Calibri" panose="020F0502020204030204"/>
                      </a:rPr>
                      <a:t>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zh-CN" altLang="en-US" sz="1200" kern="0" dirty="0">
                      <a:solidFill>
                        <a:srgbClr val="1D1D1A"/>
                      </a:solidFill>
                      <a:latin typeface="Calibri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216" name="矩形 215">
                    <a:extLst>
                      <a:ext uri="{FF2B5EF4-FFF2-40B4-BE49-F238E27FC236}">
                        <a16:creationId xmlns:a16="http://schemas.microsoft.com/office/drawing/2014/main" id="{08BB2AE9-789C-4CD3-AC5E-FA7DF797477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01694" y="5380921"/>
                    <a:ext cx="587929" cy="19548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t="-17143" b="-37143"/>
                    </a:stretch>
                  </a:blipFill>
                  <a:ln w="19050" cap="flat" cmpd="sng" algn="ctr">
                    <a:solidFill>
                      <a:srgbClr val="1D1D1A"/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7" name="直接箭头连接符 216">
                <a:extLst>
                  <a:ext uri="{FF2B5EF4-FFF2-40B4-BE49-F238E27FC236}">
                    <a16:creationId xmlns:a16="http://schemas.microsoft.com/office/drawing/2014/main" id="{461E3F49-81BA-43DC-B885-E08B2867A5DA}"/>
                  </a:ext>
                </a:extLst>
              </p:cNvPr>
              <p:cNvCxnSpPr>
                <a:cxnSpLocks/>
                <a:stCxn id="213" idx="3"/>
                <a:endCxn id="218" idx="1"/>
              </p:cNvCxnSpPr>
              <p:nvPr/>
            </p:nvCxnSpPr>
            <p:spPr>
              <a:xfrm flipV="1">
                <a:off x="8151847" y="5769080"/>
                <a:ext cx="261918" cy="952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232323"/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8" name="矩形 217">
                    <a:extLst>
                      <a:ext uri="{FF2B5EF4-FFF2-40B4-BE49-F238E27FC236}">
                        <a16:creationId xmlns:a16="http://schemas.microsoft.com/office/drawing/2014/main" id="{1961F462-8D2D-41C1-9226-1A9F94A857D3}"/>
                      </a:ext>
                    </a:extLst>
                  </p:cNvPr>
                  <p:cNvSpPr/>
                  <p:nvPr/>
                </p:nvSpPr>
                <p:spPr>
                  <a:xfrm>
                    <a:off x="8413765" y="5671336"/>
                    <a:ext cx="587929" cy="195487"/>
                  </a:xfrm>
                  <a:prstGeom prst="rect">
                    <a:avLst/>
                  </a:prstGeom>
                  <a:solidFill>
                    <a:srgbClr val="FFFF00">
                      <a:lumMod val="20000"/>
                      <a:lumOff val="80000"/>
                    </a:srgbClr>
                  </a:solidFill>
                  <a:ln w="19050" cap="flat" cmpd="sng" algn="ctr">
                    <a:solidFill>
                      <a:srgbClr val="1D1D1A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lang="en-US" altLang="zh-CN" sz="1200" kern="0" dirty="0">
                        <a:solidFill>
                          <a:srgbClr val="1D1D1A"/>
                        </a:solidFill>
                        <a:latin typeface="Calibri" panose="020F0502020204030204"/>
                      </a:rPr>
                      <a:t>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zh-CN" altLang="en-US" sz="1200" kern="0" dirty="0">
                      <a:solidFill>
                        <a:srgbClr val="1D1D1A"/>
                      </a:solidFill>
                      <a:latin typeface="Calibri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218" name="矩形 217">
                    <a:extLst>
                      <a:ext uri="{FF2B5EF4-FFF2-40B4-BE49-F238E27FC236}">
                        <a16:creationId xmlns:a16="http://schemas.microsoft.com/office/drawing/2014/main" id="{1961F462-8D2D-41C1-9226-1A9F94A857D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13765" y="5671336"/>
                    <a:ext cx="587929" cy="19548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t="-17143" b="-34286"/>
                    </a:stretch>
                  </a:blipFill>
                  <a:ln w="19050" cap="flat" cmpd="sng" algn="ctr">
                    <a:solidFill>
                      <a:srgbClr val="1D1D1A"/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5" name="矩形 224">
                    <a:extLst>
                      <a:ext uri="{FF2B5EF4-FFF2-40B4-BE49-F238E27FC236}">
                        <a16:creationId xmlns:a16="http://schemas.microsoft.com/office/drawing/2014/main" id="{5B1FC829-9DD0-4D6C-9094-5E9CDA2D6E39}"/>
                      </a:ext>
                    </a:extLst>
                  </p:cNvPr>
                  <p:cNvSpPr/>
                  <p:nvPr/>
                </p:nvSpPr>
                <p:spPr>
                  <a:xfrm>
                    <a:off x="9001694" y="5671336"/>
                    <a:ext cx="587929" cy="195487"/>
                  </a:xfrm>
                  <a:prstGeom prst="rect">
                    <a:avLst/>
                  </a:prstGeom>
                  <a:solidFill>
                    <a:srgbClr val="FFFF00">
                      <a:lumMod val="20000"/>
                      <a:lumOff val="80000"/>
                    </a:srgbClr>
                  </a:solidFill>
                  <a:ln w="19050" cap="flat" cmpd="sng" algn="ctr">
                    <a:solidFill>
                      <a:srgbClr val="1D1D1A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r>
                      <a:rPr lang="en-US" altLang="zh-CN" sz="1200" kern="0" dirty="0">
                        <a:solidFill>
                          <a:srgbClr val="1D1D1A"/>
                        </a:solidFill>
                        <a:latin typeface="Calibri" panose="020F0502020204030204"/>
                      </a:rPr>
                      <a:t>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CN" sz="1200" i="1" kern="0" smtClean="0">
                                <a:solidFill>
                                  <a:srgbClr val="1D1D1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endParaRPr lang="zh-CN" altLang="en-US" sz="1200" kern="0" dirty="0">
                      <a:solidFill>
                        <a:srgbClr val="1D1D1A"/>
                      </a:solidFill>
                      <a:latin typeface="Calibri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225" name="矩形 224">
                    <a:extLst>
                      <a:ext uri="{FF2B5EF4-FFF2-40B4-BE49-F238E27FC236}">
                        <a16:creationId xmlns:a16="http://schemas.microsoft.com/office/drawing/2014/main" id="{5B1FC829-9DD0-4D6C-9094-5E9CDA2D6E3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01694" y="5671336"/>
                    <a:ext cx="587929" cy="195487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t="-17143" b="-34286"/>
                    </a:stretch>
                  </a:blipFill>
                  <a:ln w="19050" cap="flat" cmpd="sng" algn="ctr">
                    <a:solidFill>
                      <a:srgbClr val="1D1D1A"/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6" name="连接符: 曲线 225">
                <a:extLst>
                  <a:ext uri="{FF2B5EF4-FFF2-40B4-BE49-F238E27FC236}">
                    <a16:creationId xmlns:a16="http://schemas.microsoft.com/office/drawing/2014/main" id="{508AA5EF-6A51-4FEE-8A1E-2D39A25AD680}"/>
                  </a:ext>
                </a:extLst>
              </p:cNvPr>
              <p:cNvCxnSpPr>
                <a:cxnSpLocks/>
                <a:stCxn id="216" idx="3"/>
                <a:endCxn id="210" idx="1"/>
              </p:cNvCxnSpPr>
              <p:nvPr/>
            </p:nvCxnSpPr>
            <p:spPr>
              <a:xfrm>
                <a:off x="9589623" y="5478665"/>
                <a:ext cx="1011765" cy="333765"/>
              </a:xfrm>
              <a:prstGeom prst="curvedConnector3">
                <a:avLst>
                  <a:gd name="adj1" fmla="val 50000"/>
                </a:avLst>
              </a:prstGeom>
              <a:noFill/>
              <a:ln w="28575" cap="flat" cmpd="sng" algn="ctr">
                <a:solidFill>
                  <a:srgbClr val="C00000"/>
                </a:solidFill>
                <a:prstDash val="dash"/>
                <a:miter lim="800000"/>
                <a:tailEnd type="triangle"/>
              </a:ln>
              <a:effectLst/>
            </p:spPr>
          </p:cxnSp>
          <p:cxnSp>
            <p:nvCxnSpPr>
              <p:cNvPr id="227" name="连接符: 曲线 226">
                <a:extLst>
                  <a:ext uri="{FF2B5EF4-FFF2-40B4-BE49-F238E27FC236}">
                    <a16:creationId xmlns:a16="http://schemas.microsoft.com/office/drawing/2014/main" id="{EF50A782-4DA4-495F-A33D-17E45F853101}"/>
                  </a:ext>
                </a:extLst>
              </p:cNvPr>
              <p:cNvCxnSpPr>
                <a:cxnSpLocks/>
                <a:stCxn id="225" idx="3"/>
                <a:endCxn id="211" idx="1"/>
              </p:cNvCxnSpPr>
              <p:nvPr/>
            </p:nvCxnSpPr>
            <p:spPr>
              <a:xfrm>
                <a:off x="9589623" y="5769080"/>
                <a:ext cx="1011204" cy="333059"/>
              </a:xfrm>
              <a:prstGeom prst="curvedConnector3">
                <a:avLst>
                  <a:gd name="adj1" fmla="val 50000"/>
                </a:avLst>
              </a:prstGeom>
              <a:noFill/>
              <a:ln w="28575" cap="flat" cmpd="sng" algn="ctr">
                <a:solidFill>
                  <a:srgbClr val="C00000"/>
                </a:solidFill>
                <a:prstDash val="dash"/>
                <a:miter lim="800000"/>
                <a:tailEnd type="triangle"/>
              </a:ln>
              <a:effectLst/>
            </p:spPr>
          </p:cxnSp>
          <p:cxnSp>
            <p:nvCxnSpPr>
              <p:cNvPr id="228" name="连接符: 曲线 227">
                <a:extLst>
                  <a:ext uri="{FF2B5EF4-FFF2-40B4-BE49-F238E27FC236}">
                    <a16:creationId xmlns:a16="http://schemas.microsoft.com/office/drawing/2014/main" id="{079BCD09-6BD0-4FE1-86E6-9BC6953D04ED}"/>
                  </a:ext>
                </a:extLst>
              </p:cNvPr>
              <p:cNvCxnSpPr>
                <a:cxnSpLocks/>
                <a:stCxn id="218" idx="2"/>
                <a:endCxn id="209" idx="1"/>
              </p:cNvCxnSpPr>
              <p:nvPr/>
            </p:nvCxnSpPr>
            <p:spPr>
              <a:xfrm rot="5400000" flipH="1" flipV="1">
                <a:off x="9482507" y="4747943"/>
                <a:ext cx="344103" cy="1893658"/>
              </a:xfrm>
              <a:prstGeom prst="curvedConnector4">
                <a:avLst>
                  <a:gd name="adj1" fmla="val -66434"/>
                  <a:gd name="adj2" fmla="val 57762"/>
                </a:avLst>
              </a:prstGeom>
              <a:noFill/>
              <a:ln w="28575" cap="flat" cmpd="sng" algn="ctr">
                <a:solidFill>
                  <a:srgbClr val="0000FF"/>
                </a:solidFill>
                <a:prstDash val="dash"/>
                <a:miter lim="800000"/>
                <a:tailEnd type="triangle"/>
              </a:ln>
              <a:effectLst/>
            </p:spPr>
          </p:cxnSp>
          <p:cxnSp>
            <p:nvCxnSpPr>
              <p:cNvPr id="229" name="连接符: 曲线 228">
                <a:extLst>
                  <a:ext uri="{FF2B5EF4-FFF2-40B4-BE49-F238E27FC236}">
                    <a16:creationId xmlns:a16="http://schemas.microsoft.com/office/drawing/2014/main" id="{57C63047-3C60-4B4E-BCD7-8B023720C88E}"/>
                  </a:ext>
                </a:extLst>
              </p:cNvPr>
              <p:cNvCxnSpPr>
                <a:cxnSpLocks/>
                <a:stCxn id="215" idx="0"/>
                <a:endCxn id="208" idx="1"/>
              </p:cNvCxnSpPr>
              <p:nvPr/>
            </p:nvCxnSpPr>
            <p:spPr>
              <a:xfrm rot="5400000" flipH="1" flipV="1">
                <a:off x="9580323" y="4360418"/>
                <a:ext cx="147910" cy="1893097"/>
              </a:xfrm>
              <a:prstGeom prst="curvedConnector2">
                <a:avLst/>
              </a:prstGeom>
              <a:noFill/>
              <a:ln w="28575" cap="flat" cmpd="sng" algn="ctr">
                <a:solidFill>
                  <a:srgbClr val="0000FF"/>
                </a:solidFill>
                <a:prstDash val="dash"/>
                <a:miter lim="800000"/>
                <a:tailEnd type="triangle"/>
              </a:ln>
              <a:effectLst/>
            </p:spPr>
          </p:cxnSp>
        </p:grpSp>
      </p:grpSp>
      <p:sp>
        <p:nvSpPr>
          <p:cNvPr id="261" name="矩形 260">
            <a:extLst>
              <a:ext uri="{FF2B5EF4-FFF2-40B4-BE49-F238E27FC236}">
                <a16:creationId xmlns:a16="http://schemas.microsoft.com/office/drawing/2014/main" id="{5F8B4FBC-1704-48A9-AA18-C91882A0BA0A}"/>
              </a:ext>
            </a:extLst>
          </p:cNvPr>
          <p:cNvSpPr/>
          <p:nvPr/>
        </p:nvSpPr>
        <p:spPr>
          <a:xfrm>
            <a:off x="567238" y="5409465"/>
            <a:ext cx="6297522" cy="460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多线程数据迁移：不同线程负责不同 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bucket 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中键值对的迁移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6767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84BDCD4-338C-47AE-9382-16EF9E2A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2462-3951-534C-B2EB-31A3E742C104}" type="slidenum">
              <a:rPr kumimoji="1" lang="zh-CN" altLang="en-US" smtClean="0"/>
              <a:pPr/>
              <a:t>15</a:t>
            </a:fld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EFBF56-4AF0-4903-9734-572CAF956112}"/>
              </a:ext>
            </a:extLst>
          </p:cNvPr>
          <p:cNvSpPr txBox="1"/>
          <p:nvPr/>
        </p:nvSpPr>
        <p:spPr>
          <a:xfrm>
            <a:off x="572868" y="563153"/>
            <a:ext cx="6684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小结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D19152-4A92-42BC-B1A9-457C0E584C6C}"/>
              </a:ext>
            </a:extLst>
          </p:cNvPr>
          <p:cNvSpPr txBox="1"/>
          <p:nvPr/>
        </p:nvSpPr>
        <p:spPr>
          <a:xfrm>
            <a:off x="703678" y="2362170"/>
            <a:ext cx="57024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200" b="1" dirty="0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仓颉语言使用 用户态 有栈协程 模型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669A796E-634D-4884-8EA7-6269A48FA8B5}"/>
              </a:ext>
            </a:extLst>
          </p:cNvPr>
          <p:cNvGrpSpPr/>
          <p:nvPr/>
        </p:nvGrpSpPr>
        <p:grpSpPr>
          <a:xfrm>
            <a:off x="5794061" y="2042348"/>
            <a:ext cx="6047160" cy="3372960"/>
            <a:chOff x="1787612" y="2468677"/>
            <a:chExt cx="8259150" cy="3965695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3D1BB88-7F54-4A38-BD16-40CD17763468}"/>
                </a:ext>
              </a:extLst>
            </p:cNvPr>
            <p:cNvSpPr/>
            <p:nvPr/>
          </p:nvSpPr>
          <p:spPr>
            <a:xfrm>
              <a:off x="2243789" y="5625121"/>
              <a:ext cx="1511670" cy="43603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rgbClr val="2F528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zh-CN" altLang="en-US" sz="1600" kern="0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线程间通信</a:t>
              </a: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4EC09D1-9D81-4522-A59A-71FC063D423E}"/>
                </a:ext>
              </a:extLst>
            </p:cNvPr>
            <p:cNvSpPr/>
            <p:nvPr/>
          </p:nvSpPr>
          <p:spPr>
            <a:xfrm>
              <a:off x="6453040" y="5221442"/>
              <a:ext cx="1793407" cy="4285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rgbClr val="2F528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913668">
                <a:defRPr/>
              </a:pPr>
              <a:r>
                <a:rPr lang="zh-CN" altLang="en-US" sz="1200" kern="0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原子类型 </a:t>
              </a:r>
              <a:r>
                <a:rPr lang="en-US" altLang="zh-CN" sz="1200" kern="0" dirty="0" err="1">
                  <a:latin typeface="Consolas" panose="020B0609020204030204" pitchFamily="49" charset="0"/>
                  <a:ea typeface="微软雅黑 Light" panose="020B0502040204020203" pitchFamily="34" charset="-122"/>
                  <a:sym typeface="Consolas" panose="020B0609020204030204" pitchFamily="49" charset="0"/>
                </a:rPr>
                <a:t>AtomicX</a:t>
              </a:r>
              <a:endParaRPr lang="en-US" altLang="zh-CN" sz="1200" kern="0" dirty="0">
                <a:latin typeface="Consolas" panose="020B0609020204030204" pitchFamily="49" charset="0"/>
                <a:ea typeface="微软雅黑 Light" panose="020B0502040204020203" pitchFamily="34" charset="-122"/>
                <a:sym typeface="Consolas" panose="020B0609020204030204" pitchFamily="49" charset="0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931A99A3-D8FB-450D-99C9-20B1FC77DEFF}"/>
                </a:ext>
              </a:extLst>
            </p:cNvPr>
            <p:cNvSpPr/>
            <p:nvPr/>
          </p:nvSpPr>
          <p:spPr>
            <a:xfrm>
              <a:off x="6445427" y="4472250"/>
              <a:ext cx="3420253" cy="43211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rgbClr val="2F528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zh-CN" altLang="en-US" sz="1200" kern="0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并发控制组件 </a:t>
              </a:r>
              <a:r>
                <a:rPr lang="en-US" altLang="zh-CN" sz="1200" kern="0" dirty="0">
                  <a:latin typeface="Consolas" panose="020B0609020204030204" pitchFamily="49" charset="0"/>
                  <a:ea typeface="微软雅黑 Light" panose="020B0502040204020203" pitchFamily="34" charset="-122"/>
                  <a:sym typeface="Consolas" panose="020B0609020204030204" pitchFamily="49" charset="0"/>
                </a:rPr>
                <a:t>Monitor</a:t>
              </a:r>
              <a:r>
                <a:rPr lang="zh-CN" altLang="en-US" sz="1200" kern="0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、</a:t>
              </a:r>
              <a:r>
                <a:rPr lang="en-US" altLang="zh-CN" sz="1200" kern="0" dirty="0">
                  <a:latin typeface="Consolas" panose="020B0609020204030204" pitchFamily="49" charset="0"/>
                  <a:ea typeface="微软雅黑 Light" panose="020B0502040204020203" pitchFamily="34" charset="-122"/>
                  <a:sym typeface="Consolas" panose="020B0609020204030204" pitchFamily="49" charset="0"/>
                </a:rPr>
                <a:t>Semaphore</a:t>
              </a:r>
              <a:r>
                <a:rPr lang="zh-CN" altLang="en-US" sz="1200" kern="0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 等</a:t>
              </a:r>
              <a:endParaRPr lang="en-US" altLang="zh-CN" sz="1200" kern="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endParaRP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5C3441D-38AC-4E23-9371-8415CCF39C0C}"/>
                </a:ext>
              </a:extLst>
            </p:cNvPr>
            <p:cNvSpPr/>
            <p:nvPr/>
          </p:nvSpPr>
          <p:spPr>
            <a:xfrm>
              <a:off x="7927053" y="3831070"/>
              <a:ext cx="1361481" cy="4285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rgbClr val="2F528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zh-CN" altLang="en-US" sz="1200" kern="0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可重入读写锁</a:t>
              </a:r>
              <a:endParaRPr lang="en-US" altLang="zh-CN" sz="1200" kern="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835E87BE-5D4F-47AB-A16C-345D3E7353D1}"/>
                </a:ext>
              </a:extLst>
            </p:cNvPr>
            <p:cNvSpPr/>
            <p:nvPr/>
          </p:nvSpPr>
          <p:spPr>
            <a:xfrm>
              <a:off x="2243789" y="4085253"/>
              <a:ext cx="1511670" cy="43603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rgbClr val="2F528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zh-CN" altLang="en-US" sz="1600" kern="0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线程同步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1102F58A-B29F-4EF4-8367-C3CC2F723FEB}"/>
                </a:ext>
              </a:extLst>
            </p:cNvPr>
            <p:cNvSpPr/>
            <p:nvPr/>
          </p:nvSpPr>
          <p:spPr>
            <a:xfrm>
              <a:off x="2240437" y="2803711"/>
              <a:ext cx="1511669" cy="43603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rgbClr val="2F528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zh-CN" altLang="en-US" sz="1600" kern="0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线程模型</a:t>
              </a:r>
              <a:endParaRPr lang="en-US" sz="1600" kern="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endParaRP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F968635A-A18B-4ABB-AA60-12E58F972894}"/>
                </a:ext>
              </a:extLst>
            </p:cNvPr>
            <p:cNvSpPr/>
            <p:nvPr/>
          </p:nvSpPr>
          <p:spPr>
            <a:xfrm>
              <a:off x="6438705" y="3090950"/>
              <a:ext cx="1169845" cy="41951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rgbClr val="2F528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en-US" altLang="zh-CN" sz="1200" kern="0" dirty="0">
                  <a:latin typeface="Consolas" panose="020B0609020204030204" pitchFamily="49" charset="0"/>
                  <a:ea typeface="微软雅黑 Light" panose="020B0502040204020203" pitchFamily="34" charset="-122"/>
                  <a:sym typeface="Consolas" panose="020B0609020204030204" pitchFamily="49" charset="0"/>
                </a:rPr>
                <a:t>Thread</a:t>
              </a:r>
              <a:r>
                <a:rPr lang="en-US" altLang="zh-CN" sz="1200" kern="0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 </a:t>
              </a:r>
              <a:r>
                <a:rPr lang="zh-CN" altLang="en-US" sz="1200" kern="0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类</a:t>
              </a:r>
              <a:endParaRPr lang="en-US" altLang="zh-CN" sz="1200" kern="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76B85735-AC94-4405-BE37-1EB1CF601F1B}"/>
                </a:ext>
              </a:extLst>
            </p:cNvPr>
            <p:cNvSpPr/>
            <p:nvPr/>
          </p:nvSpPr>
          <p:spPr>
            <a:xfrm>
              <a:off x="8850814" y="2507437"/>
              <a:ext cx="955796" cy="419510"/>
            </a:xfrm>
            <a:prstGeom prst="roundRect">
              <a:avLst/>
            </a:prstGeom>
            <a:solidFill>
              <a:srgbClr val="F5F9FD"/>
            </a:solidFill>
            <a:ln w="12700" cap="flat" cmpd="sng" algn="ctr">
              <a:solidFill>
                <a:srgbClr val="2F528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zh-CN" altLang="en-US" sz="1200" kern="0" dirty="0">
                  <a:solidFill>
                    <a:prstClr val="black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线程取消机制</a:t>
              </a:r>
              <a:endParaRPr lang="en-US" altLang="zh-CN" sz="1200" kern="0" dirty="0">
                <a:solidFill>
                  <a:prstClr val="black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7FC741ED-EA27-4C5F-BFA2-6AD273994E85}"/>
                </a:ext>
              </a:extLst>
            </p:cNvPr>
            <p:cNvSpPr/>
            <p:nvPr/>
          </p:nvSpPr>
          <p:spPr>
            <a:xfrm>
              <a:off x="7801841" y="3103979"/>
              <a:ext cx="1402520" cy="43211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rgbClr val="2F528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/>
              <a:r>
                <a:rPr lang="en-US" altLang="zh-CN" sz="1200" kern="0" dirty="0" err="1">
                  <a:latin typeface="Consolas" panose="020B0609020204030204" pitchFamily="49" charset="0"/>
                  <a:ea typeface="微软雅黑 Light" panose="020B0502040204020203" pitchFamily="34" charset="-122"/>
                  <a:sym typeface="Consolas" panose="020B0609020204030204" pitchFamily="49" charset="0"/>
                </a:rPr>
                <a:t>ThreadLocal</a:t>
              </a:r>
              <a:r>
                <a:rPr lang="en-US" altLang="zh-CN" sz="1200" kern="0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 </a:t>
              </a:r>
              <a:r>
                <a:rPr lang="zh-CN" altLang="en-US" sz="1200" kern="0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类型</a:t>
              </a:r>
              <a:endParaRPr lang="en-US" altLang="zh-CN" sz="1200" kern="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AD74B529-4318-4EB1-83C2-2F3F1E6BDBDC}"/>
                </a:ext>
              </a:extLst>
            </p:cNvPr>
            <p:cNvSpPr/>
            <p:nvPr/>
          </p:nvSpPr>
          <p:spPr>
            <a:xfrm>
              <a:off x="6438705" y="2507437"/>
              <a:ext cx="1169846" cy="419510"/>
            </a:xfrm>
            <a:prstGeom prst="roundRect">
              <a:avLst/>
            </a:prstGeom>
            <a:solidFill>
              <a:srgbClr val="F5F9FD"/>
            </a:solidFill>
            <a:ln w="12700" cap="flat" cmpd="sng" algn="ctr">
              <a:solidFill>
                <a:srgbClr val="2F528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zh-CN" altLang="en-US" sz="1200" kern="0" dirty="0">
                  <a:solidFill>
                    <a:prstClr val="black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关键字 </a:t>
              </a:r>
              <a:r>
                <a:rPr lang="en-US" altLang="zh-CN" sz="1200" kern="0" dirty="0">
                  <a:solidFill>
                    <a:prstClr val="black"/>
                  </a:solidFill>
                  <a:latin typeface="Consolas" panose="020B0609020204030204" pitchFamily="49" charset="0"/>
                  <a:ea typeface="微软雅黑 Light" panose="020B0502040204020203" pitchFamily="34" charset="-122"/>
                  <a:sym typeface="Consolas" panose="020B0609020204030204" pitchFamily="49" charset="0"/>
                </a:rPr>
                <a:t>spawn</a:t>
              </a:r>
              <a:r>
                <a:rPr lang="en-US" altLang="zh-CN" sz="1200" kern="0" dirty="0">
                  <a:solidFill>
                    <a:prstClr val="black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 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50AB85E0-EC6D-4225-B97B-EE8717801CEB}"/>
                </a:ext>
              </a:extLst>
            </p:cNvPr>
            <p:cNvSpPr/>
            <p:nvPr/>
          </p:nvSpPr>
          <p:spPr>
            <a:xfrm>
              <a:off x="7798472" y="2512167"/>
              <a:ext cx="955796" cy="419510"/>
            </a:xfrm>
            <a:prstGeom prst="roundRect">
              <a:avLst/>
            </a:prstGeom>
            <a:solidFill>
              <a:srgbClr val="F5F9FD"/>
            </a:solidFill>
            <a:ln w="12700" cap="flat" cmpd="sng" algn="ctr">
              <a:solidFill>
                <a:srgbClr val="2F528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en-US" altLang="zh-CN" sz="1200" kern="0" dirty="0">
                  <a:solidFill>
                    <a:prstClr val="black"/>
                  </a:solidFill>
                  <a:latin typeface="Consolas" panose="020B0609020204030204" pitchFamily="49" charset="0"/>
                  <a:ea typeface="微软雅黑 Light" panose="020B0502040204020203" pitchFamily="34" charset="-122"/>
                  <a:sym typeface="Consolas" panose="020B0609020204030204" pitchFamily="49" charset="0"/>
                </a:rPr>
                <a:t>Future</a:t>
              </a:r>
              <a:r>
                <a:rPr lang="en-US" altLang="zh-CN" sz="1200" kern="0" dirty="0">
                  <a:solidFill>
                    <a:prstClr val="black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 </a:t>
              </a:r>
              <a:r>
                <a:rPr lang="zh-CN" altLang="en-US" sz="1200" kern="0" dirty="0">
                  <a:solidFill>
                    <a:prstClr val="black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类型</a:t>
              </a:r>
              <a:endParaRPr lang="en-US" altLang="zh-CN" sz="1200" kern="0" dirty="0">
                <a:solidFill>
                  <a:prstClr val="black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F5F69FC8-6103-4419-9203-AA40B5B802DC}"/>
                </a:ext>
              </a:extLst>
            </p:cNvPr>
            <p:cNvSpPr/>
            <p:nvPr/>
          </p:nvSpPr>
          <p:spPr>
            <a:xfrm>
              <a:off x="6443713" y="3827578"/>
              <a:ext cx="1361481" cy="428500"/>
            </a:xfrm>
            <a:prstGeom prst="roundRect">
              <a:avLst/>
            </a:prstGeom>
            <a:solidFill>
              <a:srgbClr val="F5F9FD"/>
            </a:solidFill>
            <a:ln w="12700" cap="flat" cmpd="sng" algn="ctr">
              <a:solidFill>
                <a:srgbClr val="2F528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zh-CN" altLang="en-US" sz="1200" kern="0" dirty="0">
                  <a:solidFill>
                    <a:prstClr val="black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可重入互斥锁</a:t>
              </a:r>
              <a:endParaRPr lang="en-US" altLang="zh-CN" sz="1200" kern="0" dirty="0">
                <a:solidFill>
                  <a:prstClr val="black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5F83E8D8-39B9-4B0B-AF90-18D93429ECCE}"/>
                </a:ext>
              </a:extLst>
            </p:cNvPr>
            <p:cNvSpPr/>
            <p:nvPr/>
          </p:nvSpPr>
          <p:spPr>
            <a:xfrm>
              <a:off x="4400846" y="5246711"/>
              <a:ext cx="1404114" cy="4285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共享内存通信</a:t>
              </a:r>
              <a:endParaRPr lang="en-US" altLang="zh-CN" sz="1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FD0BBD75-63A4-4C0E-80A4-1B379AE8FFF4}"/>
                </a:ext>
              </a:extLst>
            </p:cNvPr>
            <p:cNvSpPr/>
            <p:nvPr/>
          </p:nvSpPr>
          <p:spPr>
            <a:xfrm>
              <a:off x="4400846" y="5985920"/>
              <a:ext cx="1404114" cy="4285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消息传递通信</a:t>
              </a:r>
              <a:endParaRPr lang="en-US" altLang="zh-CN" sz="1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endParaRP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57773AE9-DCCC-4208-96E2-25E49048D0F6}"/>
                </a:ext>
              </a:extLst>
            </p:cNvPr>
            <p:cNvSpPr/>
            <p:nvPr/>
          </p:nvSpPr>
          <p:spPr>
            <a:xfrm>
              <a:off x="8346396" y="5214328"/>
              <a:ext cx="1331158" cy="428500"/>
            </a:xfrm>
            <a:prstGeom prst="roundRect">
              <a:avLst/>
            </a:prstGeom>
            <a:solidFill>
              <a:srgbClr val="F5F9FD"/>
            </a:solidFill>
            <a:ln w="12700" cap="flat" cmpd="sng" algn="ctr">
              <a:solidFill>
                <a:srgbClr val="2F528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913668">
                <a:defRPr/>
              </a:pPr>
              <a:r>
                <a:rPr lang="zh-CN" altLang="en-US" sz="1200" kern="0" dirty="0">
                  <a:solidFill>
                    <a:prstClr val="black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并发 </a:t>
              </a:r>
              <a:r>
                <a:rPr lang="en-US" altLang="zh-CN" sz="1200" kern="0" dirty="0">
                  <a:solidFill>
                    <a:prstClr val="black"/>
                  </a:solidFill>
                  <a:latin typeface="Consolas" panose="020B0609020204030204" pitchFamily="49" charset="0"/>
                  <a:ea typeface="微软雅黑 Light" panose="020B0502040204020203" pitchFamily="34" charset="-122"/>
                  <a:sym typeface="Consolas" panose="020B0609020204030204" pitchFamily="49" charset="0"/>
                </a:rPr>
                <a:t>HashMap</a:t>
              </a: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D2739F06-9DB9-4DC1-AFE9-0C51FB624EF9}"/>
                </a:ext>
              </a:extLst>
            </p:cNvPr>
            <p:cNvSpPr/>
            <p:nvPr/>
          </p:nvSpPr>
          <p:spPr>
            <a:xfrm>
              <a:off x="6451326" y="5978806"/>
              <a:ext cx="1098541" cy="43603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rgbClr val="2F528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913668">
                <a:defRPr/>
              </a:pPr>
              <a:r>
                <a:rPr lang="zh-CN" altLang="en-US" sz="1200" kern="0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Consolas" panose="020B0609020204030204" pitchFamily="49" charset="0"/>
                </a:rPr>
                <a:t>共享队列</a:t>
              </a:r>
              <a:endParaRPr lang="en-US" altLang="zh-CN" sz="1200" kern="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Consolas" panose="020B0609020204030204" pitchFamily="49" charset="0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5236E3F2-0E0C-4EF5-B15F-2D64865E12D3}"/>
                </a:ext>
              </a:extLst>
            </p:cNvPr>
            <p:cNvCxnSpPr>
              <a:stCxn id="10" idx="3"/>
            </p:cNvCxnSpPr>
            <p:nvPr/>
          </p:nvCxnSpPr>
          <p:spPr>
            <a:xfrm>
              <a:off x="3752106" y="3021726"/>
              <a:ext cx="28767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90EB4A15-AD88-42C3-A2A4-0AA484ECC356}"/>
                </a:ext>
              </a:extLst>
            </p:cNvPr>
            <p:cNvSpPr/>
            <p:nvPr/>
          </p:nvSpPr>
          <p:spPr>
            <a:xfrm>
              <a:off x="4397488" y="2507437"/>
              <a:ext cx="1404121" cy="36244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线程使用</a:t>
              </a:r>
              <a:endParaRPr lang="en-US" sz="1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42E7D12D-54BC-4AEE-A6CC-5EC7871C427F}"/>
                </a:ext>
              </a:extLst>
            </p:cNvPr>
            <p:cNvSpPr/>
            <p:nvPr/>
          </p:nvSpPr>
          <p:spPr>
            <a:xfrm>
              <a:off x="4391039" y="3130007"/>
              <a:ext cx="1410575" cy="36244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线程信息访问</a:t>
              </a:r>
              <a:endParaRPr lang="en-US" sz="1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61DA0C5C-8AC5-4D4A-B6A8-B305FB2D55E3}"/>
                </a:ext>
              </a:extLst>
            </p:cNvPr>
            <p:cNvSpPr/>
            <p:nvPr/>
          </p:nvSpPr>
          <p:spPr>
            <a:xfrm>
              <a:off x="4392280" y="3893638"/>
              <a:ext cx="1412689" cy="36244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临界区互斥</a:t>
              </a:r>
              <a:endParaRPr lang="en-US" sz="1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4D890768-7BF1-41A8-8178-5E5A6FBE6AAB}"/>
                </a:ext>
              </a:extLst>
            </p:cNvPr>
            <p:cNvSpPr/>
            <p:nvPr/>
          </p:nvSpPr>
          <p:spPr>
            <a:xfrm>
              <a:off x="4388918" y="4464917"/>
              <a:ext cx="1416055" cy="36244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等待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-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唤醒同步</a:t>
              </a:r>
              <a:endParaRPr lang="en-US" sz="1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B6CC127-D609-45EB-BCEE-E410B2B797A9}"/>
                </a:ext>
              </a:extLst>
            </p:cNvPr>
            <p:cNvCxnSpPr/>
            <p:nvPr/>
          </p:nvCxnSpPr>
          <p:spPr>
            <a:xfrm>
              <a:off x="4039782" y="2688657"/>
              <a:ext cx="0" cy="62257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661333E9-6BC3-40A1-AF24-F4D0E95BCFD5}"/>
                </a:ext>
              </a:extLst>
            </p:cNvPr>
            <p:cNvGrpSpPr/>
            <p:nvPr/>
          </p:nvGrpSpPr>
          <p:grpSpPr>
            <a:xfrm>
              <a:off x="3755459" y="3982255"/>
              <a:ext cx="287676" cy="622570"/>
              <a:chOff x="5611578" y="1786647"/>
              <a:chExt cx="287676" cy="622570"/>
            </a:xfrm>
          </p:grpSpPr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6E73FD5A-BE33-4872-90FD-40E46AA962EB}"/>
                  </a:ext>
                </a:extLst>
              </p:cNvPr>
              <p:cNvCxnSpPr/>
              <p:nvPr/>
            </p:nvCxnSpPr>
            <p:spPr>
              <a:xfrm>
                <a:off x="5611578" y="2119716"/>
                <a:ext cx="287676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5BD60381-DE04-4EFC-8289-458BE907185B}"/>
                  </a:ext>
                </a:extLst>
              </p:cNvPr>
              <p:cNvCxnSpPr/>
              <p:nvPr/>
            </p:nvCxnSpPr>
            <p:spPr>
              <a:xfrm>
                <a:off x="5899254" y="1786647"/>
                <a:ext cx="0" cy="62257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B896878F-5650-4678-86BC-4823D37E5F03}"/>
                </a:ext>
              </a:extLst>
            </p:cNvPr>
            <p:cNvGrpSpPr/>
            <p:nvPr/>
          </p:nvGrpSpPr>
          <p:grpSpPr>
            <a:xfrm>
              <a:off x="3764021" y="5508568"/>
              <a:ext cx="287676" cy="622570"/>
              <a:chOff x="5611578" y="1786647"/>
              <a:chExt cx="287676" cy="622570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E6105824-6F28-47B9-94DB-BF440CDDF8D0}"/>
                  </a:ext>
                </a:extLst>
              </p:cNvPr>
              <p:cNvCxnSpPr/>
              <p:nvPr/>
            </p:nvCxnSpPr>
            <p:spPr>
              <a:xfrm>
                <a:off x="5611578" y="2119716"/>
                <a:ext cx="287676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68897E0A-2A76-4A47-88B8-62547FDC00B1}"/>
                  </a:ext>
                </a:extLst>
              </p:cNvPr>
              <p:cNvCxnSpPr/>
              <p:nvPr/>
            </p:nvCxnSpPr>
            <p:spPr>
              <a:xfrm>
                <a:off x="5899254" y="1786647"/>
                <a:ext cx="0" cy="62257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1EE4C664-CF59-4D2B-9914-98ADA2D1BB6A}"/>
                </a:ext>
              </a:extLst>
            </p:cNvPr>
            <p:cNvCxnSpPr/>
            <p:nvPr/>
          </p:nvCxnSpPr>
          <p:spPr>
            <a:xfrm>
              <a:off x="4048344" y="2688657"/>
              <a:ext cx="34058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67A20F1F-7BAD-4098-AADA-6851D1695694}"/>
                </a:ext>
              </a:extLst>
            </p:cNvPr>
            <p:cNvCxnSpPr/>
            <p:nvPr/>
          </p:nvCxnSpPr>
          <p:spPr>
            <a:xfrm>
              <a:off x="4039782" y="3311227"/>
              <a:ext cx="34058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79C126CF-326F-42A0-B3FA-FE145BB80F51}"/>
                </a:ext>
              </a:extLst>
            </p:cNvPr>
            <p:cNvCxnSpPr/>
            <p:nvPr/>
          </p:nvCxnSpPr>
          <p:spPr>
            <a:xfrm>
              <a:off x="4043135" y="3982255"/>
              <a:ext cx="34058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06689692-FE9A-4F9F-87AE-13BB6BEC1699}"/>
                </a:ext>
              </a:extLst>
            </p:cNvPr>
            <p:cNvCxnSpPr/>
            <p:nvPr/>
          </p:nvCxnSpPr>
          <p:spPr>
            <a:xfrm>
              <a:off x="4043135" y="4604825"/>
              <a:ext cx="34058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C9D315E1-0616-410E-80DB-89C0C70DD90C}"/>
                </a:ext>
              </a:extLst>
            </p:cNvPr>
            <p:cNvCxnSpPr/>
            <p:nvPr/>
          </p:nvCxnSpPr>
          <p:spPr>
            <a:xfrm>
              <a:off x="4043135" y="5513109"/>
              <a:ext cx="34058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6B1A96BE-140E-49E3-836E-F812373449B9}"/>
                </a:ext>
              </a:extLst>
            </p:cNvPr>
            <p:cNvCxnSpPr/>
            <p:nvPr/>
          </p:nvCxnSpPr>
          <p:spPr>
            <a:xfrm>
              <a:off x="4043135" y="6140867"/>
              <a:ext cx="34058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双大括号 38">
              <a:extLst>
                <a:ext uri="{FF2B5EF4-FFF2-40B4-BE49-F238E27FC236}">
                  <a16:creationId xmlns:a16="http://schemas.microsoft.com/office/drawing/2014/main" id="{F4C0B557-5B2C-4467-A92D-517C9A2723D8}"/>
                </a:ext>
              </a:extLst>
            </p:cNvPr>
            <p:cNvSpPr/>
            <p:nvPr/>
          </p:nvSpPr>
          <p:spPr>
            <a:xfrm>
              <a:off x="6293630" y="2468677"/>
              <a:ext cx="3753132" cy="463000"/>
            </a:xfrm>
            <a:prstGeom prst="bracePair">
              <a:avLst/>
            </a:prstGeom>
            <a:ln w="1905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0" name="双大括号 39">
              <a:extLst>
                <a:ext uri="{FF2B5EF4-FFF2-40B4-BE49-F238E27FC236}">
                  <a16:creationId xmlns:a16="http://schemas.microsoft.com/office/drawing/2014/main" id="{D420BB51-A37F-45E8-960B-F7613DD2DCFE}"/>
                </a:ext>
              </a:extLst>
            </p:cNvPr>
            <p:cNvSpPr/>
            <p:nvPr/>
          </p:nvSpPr>
          <p:spPr>
            <a:xfrm>
              <a:off x="6275634" y="3087186"/>
              <a:ext cx="3190117" cy="463000"/>
            </a:xfrm>
            <a:prstGeom prst="bracePair">
              <a:avLst/>
            </a:prstGeom>
            <a:ln w="1905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1" name="双大括号 40">
              <a:extLst>
                <a:ext uri="{FF2B5EF4-FFF2-40B4-BE49-F238E27FC236}">
                  <a16:creationId xmlns:a16="http://schemas.microsoft.com/office/drawing/2014/main" id="{DE5A28D2-A2F0-4DC4-892D-ACF31DE11550}"/>
                </a:ext>
              </a:extLst>
            </p:cNvPr>
            <p:cNvSpPr/>
            <p:nvPr/>
          </p:nvSpPr>
          <p:spPr>
            <a:xfrm>
              <a:off x="6296983" y="3805689"/>
              <a:ext cx="3190117" cy="463000"/>
            </a:xfrm>
            <a:prstGeom prst="bracePair">
              <a:avLst/>
            </a:prstGeom>
            <a:ln w="1905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2" name="双大括号 41">
              <a:extLst>
                <a:ext uri="{FF2B5EF4-FFF2-40B4-BE49-F238E27FC236}">
                  <a16:creationId xmlns:a16="http://schemas.microsoft.com/office/drawing/2014/main" id="{925B0F98-6F0C-4D0D-9F00-840046BECF2C}"/>
                </a:ext>
              </a:extLst>
            </p:cNvPr>
            <p:cNvSpPr/>
            <p:nvPr/>
          </p:nvSpPr>
          <p:spPr>
            <a:xfrm>
              <a:off x="6293630" y="4453869"/>
              <a:ext cx="3753132" cy="463000"/>
            </a:xfrm>
            <a:prstGeom prst="bracePair">
              <a:avLst/>
            </a:prstGeom>
            <a:ln w="1905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3" name="双大括号 42">
              <a:extLst>
                <a:ext uri="{FF2B5EF4-FFF2-40B4-BE49-F238E27FC236}">
                  <a16:creationId xmlns:a16="http://schemas.microsoft.com/office/drawing/2014/main" id="{FD58E694-F2F4-455D-9CEB-DAA2B26AFCE4}"/>
                </a:ext>
              </a:extLst>
            </p:cNvPr>
            <p:cNvSpPr/>
            <p:nvPr/>
          </p:nvSpPr>
          <p:spPr>
            <a:xfrm>
              <a:off x="6293630" y="5210411"/>
              <a:ext cx="3516329" cy="463000"/>
            </a:xfrm>
            <a:prstGeom prst="bracePair">
              <a:avLst/>
            </a:prstGeom>
            <a:ln w="1905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4" name="双大括号 43">
              <a:extLst>
                <a:ext uri="{FF2B5EF4-FFF2-40B4-BE49-F238E27FC236}">
                  <a16:creationId xmlns:a16="http://schemas.microsoft.com/office/drawing/2014/main" id="{61E55CB9-D667-461A-A949-9F2B69CE2A16}"/>
                </a:ext>
              </a:extLst>
            </p:cNvPr>
            <p:cNvSpPr/>
            <p:nvPr/>
          </p:nvSpPr>
          <p:spPr>
            <a:xfrm>
              <a:off x="6293631" y="5971372"/>
              <a:ext cx="1404114" cy="463000"/>
            </a:xfrm>
            <a:prstGeom prst="bracePair">
              <a:avLst/>
            </a:prstGeom>
            <a:ln w="1905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276284FC-EE35-4F9F-86F1-B943D18D8CE7}"/>
                </a:ext>
              </a:extLst>
            </p:cNvPr>
            <p:cNvCxnSpPr>
              <a:cxnSpLocks/>
            </p:cNvCxnSpPr>
            <p:nvPr/>
          </p:nvCxnSpPr>
          <p:spPr>
            <a:xfrm>
              <a:off x="5854632" y="2700177"/>
              <a:ext cx="27861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69BFFA27-3E09-4E15-B5D3-9008A8F3FF8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726" y="3318686"/>
              <a:ext cx="27861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69A9C56F-AFF2-472E-B1F9-41D32D645C67}"/>
                </a:ext>
              </a:extLst>
            </p:cNvPr>
            <p:cNvCxnSpPr>
              <a:cxnSpLocks/>
            </p:cNvCxnSpPr>
            <p:nvPr/>
          </p:nvCxnSpPr>
          <p:spPr>
            <a:xfrm>
              <a:off x="5873743" y="4060407"/>
              <a:ext cx="27861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25D44324-4C20-4866-9643-4D922478C35F}"/>
                </a:ext>
              </a:extLst>
            </p:cNvPr>
            <p:cNvCxnSpPr>
              <a:cxnSpLocks/>
            </p:cNvCxnSpPr>
            <p:nvPr/>
          </p:nvCxnSpPr>
          <p:spPr>
            <a:xfrm>
              <a:off x="5886837" y="4678916"/>
              <a:ext cx="27861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088EB8F8-046E-43C5-B7F0-19D792D37F55}"/>
                </a:ext>
              </a:extLst>
            </p:cNvPr>
            <p:cNvCxnSpPr>
              <a:cxnSpLocks/>
            </p:cNvCxnSpPr>
            <p:nvPr/>
          </p:nvCxnSpPr>
          <p:spPr>
            <a:xfrm>
              <a:off x="5857985" y="5460961"/>
              <a:ext cx="27861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507EA4FC-CB0A-480F-99E0-77F73BFAD49E}"/>
                </a:ext>
              </a:extLst>
            </p:cNvPr>
            <p:cNvCxnSpPr>
              <a:cxnSpLocks/>
            </p:cNvCxnSpPr>
            <p:nvPr/>
          </p:nvCxnSpPr>
          <p:spPr>
            <a:xfrm>
              <a:off x="5857985" y="6196821"/>
              <a:ext cx="27861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7B53509E-F010-4B30-893D-8BCD2FC08D1B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1787612" y="3021726"/>
              <a:ext cx="452825" cy="132185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A3C73A64-7758-42FE-9F01-977DA941B03B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 flipV="1">
              <a:off x="1787612" y="4303267"/>
              <a:ext cx="456177" cy="153986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55C4F32D-05E8-4958-8650-D8A4F319160E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>
              <a:off x="1789288" y="4303268"/>
              <a:ext cx="45450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0" name="文本框 59">
            <a:extLst>
              <a:ext uri="{FF2B5EF4-FFF2-40B4-BE49-F238E27FC236}">
                <a16:creationId xmlns:a16="http://schemas.microsoft.com/office/drawing/2014/main" id="{105BF0C5-2B89-49EF-A822-C4F6B6E4932C}"/>
              </a:ext>
            </a:extLst>
          </p:cNvPr>
          <p:cNvSpPr txBox="1"/>
          <p:nvPr/>
        </p:nvSpPr>
        <p:spPr>
          <a:xfrm>
            <a:off x="703721" y="3245340"/>
            <a:ext cx="4879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200" b="1" dirty="0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为开发者提供完善的并发编程机制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1660850-D58C-47CB-B027-2CB5A9DEF103}"/>
              </a:ext>
            </a:extLst>
          </p:cNvPr>
          <p:cNvSpPr txBox="1"/>
          <p:nvPr/>
        </p:nvSpPr>
        <p:spPr>
          <a:xfrm>
            <a:off x="726855" y="4214721"/>
            <a:ext cx="4879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200" b="1" dirty="0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采用高性能、高可用的实现方案</a:t>
            </a:r>
          </a:p>
        </p:txBody>
      </p:sp>
    </p:spTree>
    <p:extLst>
      <p:ext uri="{BB962C8B-B14F-4D97-AF65-F5344CB8AC3E}">
        <p14:creationId xmlns:p14="http://schemas.microsoft.com/office/powerpoint/2010/main" val="1692321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04" y="4069170"/>
            <a:ext cx="1949953" cy="195363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2486149" y="2361010"/>
            <a:ext cx="357935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/>
              <a:t>分享正文标题：</a:t>
            </a:r>
            <a:endParaRPr lang="en-US" altLang="zh-C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</a:t>
            </a:r>
            <a:r>
              <a:rPr lang="zh-CN" altLang="en-US" dirty="0"/>
              <a:t>：</a:t>
            </a:r>
            <a:r>
              <a:rPr lang="zh-CN" altLang="zh-CN" dirty="0"/>
              <a:t>等线</a:t>
            </a:r>
            <a:r>
              <a:rPr lang="zh-CN" altLang="en-US" dirty="0"/>
              <a:t>、微软雅黑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字号</a:t>
            </a:r>
            <a:r>
              <a:rPr lang="zh-CN" altLang="en-US" dirty="0"/>
              <a:t>：</a:t>
            </a:r>
            <a:r>
              <a:rPr lang="en-US" altLang="zh-CN" dirty="0"/>
              <a:t>40</a:t>
            </a:r>
            <a:r>
              <a:rPr lang="zh-CN" altLang="en-US" dirty="0"/>
              <a:t> 、加粗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字体颜色</a:t>
            </a:r>
            <a:r>
              <a:rPr lang="zh-CN" altLang="en-US" dirty="0"/>
              <a:t>：</a:t>
            </a:r>
            <a:r>
              <a:rPr lang="zh-CN" altLang="zh-CN" dirty="0"/>
              <a:t>蓝色</a:t>
            </a:r>
          </a:p>
          <a:p>
            <a:r>
              <a:rPr lang="zh-CN" altLang="zh-CN" b="1" dirty="0"/>
              <a:t>分享内容：</a:t>
            </a:r>
            <a:endParaRPr lang="en-US" altLang="zh-C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字体颜色</a:t>
            </a:r>
            <a:r>
              <a:rPr lang="zh-CN" altLang="en-US" dirty="0"/>
              <a:t>：</a:t>
            </a:r>
            <a:r>
              <a:rPr lang="zh-CN" altLang="zh-CN" dirty="0"/>
              <a:t>以黑色为主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36" name="文本框 35"/>
          <p:cNvSpPr txBox="1"/>
          <p:nvPr/>
        </p:nvSpPr>
        <p:spPr>
          <a:xfrm>
            <a:off x="795373" y="2817338"/>
            <a:ext cx="6097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感谢您的观看</a:t>
            </a:r>
            <a:r>
              <a:rPr kumimoji="1"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kumimoji="1" lang="zh-CN" altLang="en-US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192615" y="4607755"/>
            <a:ext cx="420634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关注“仓颉编程语言”公众号，获取最新官方资讯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</a:p>
          <a:p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您也可以替换为自己的二维码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联系方式，邀请社区开发者共建项目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26F1FD-B4C1-4DC4-B758-CA0ABC9D5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082223" y="4266832"/>
            <a:ext cx="1558314" cy="155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5196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2245</TotalTime>
  <Words>1554</Words>
  <Application>Microsoft Office PowerPoint</Application>
  <PresentationFormat>宽屏</PresentationFormat>
  <Paragraphs>344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FrutigerNext LT Regular</vt:lpstr>
      <vt:lpstr>Microsoft YaHei Light</vt:lpstr>
      <vt:lpstr>MS PGothic</vt:lpstr>
      <vt:lpstr>Source Han Serif SC</vt:lpstr>
      <vt:lpstr>微软雅黑</vt:lpstr>
      <vt:lpstr>微软雅黑</vt:lpstr>
      <vt:lpstr>微软雅黑 Light</vt:lpstr>
      <vt:lpstr>等线</vt:lpstr>
      <vt:lpstr>等线</vt:lpstr>
      <vt:lpstr>等线 Light</vt:lpstr>
      <vt:lpstr>Arial</vt:lpstr>
      <vt:lpstr>Calibri</vt:lpstr>
      <vt:lpstr>Cambria Math</vt:lpstr>
      <vt:lpstr>Consolas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 jingqiao</dc:creator>
  <cp:lastModifiedBy>chendongjie</cp:lastModifiedBy>
  <cp:revision>153</cp:revision>
  <dcterms:created xsi:type="dcterms:W3CDTF">2022-07-15T02:23:02Z</dcterms:created>
  <dcterms:modified xsi:type="dcterms:W3CDTF">2024-11-28T02:22:23Z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(3)f2yP13Qp3vic5XTALCocdDa8Px+yleI4f76Gfge9UvbMH273pVNhawcQ/lv953a4ZCXEI+2I
UcgYWoqOm6AdCvcd/fd+0kya/SnjosPZOGpp42imUR/apPlX9FRnMOsULDMkUDtSFqQPxPBp
YEC5rZQjCgPbxx35AH1G98OLgLdk7GPnsKJ9m0Il9g7gam7lHBITNicZe7BgllxOCyi6zK2L
WUfNmT6TNlNs1xgT+5</vt:lpwstr>
  </property>
  <property fmtid="{D5CDD505-2E9C-101B-9397-08002B2CF9AE}" pid="3" name="_2015_ms_pID_7253431">
    <vt:lpwstr>JthLT77aSDy8Cp1Bp9hPlbkN8hzuD6oHLTAT60DJcx7cOGX5mrUyQK
jL5xEeqP01ct2Ack6dvSsYMT1P4YPSkyAM77DcJD68Bq3hdAGfUiyC8T+bPpdwvN1TS4f4+p
mupzp0lJoiQnz5y/HckxVo42iO1+J34VMQv8zLJc35OPsrlA2GaQX1m5tn2PC6Ku1skxNaOs
6X83iKXXnXqmCq8LjP0ZMbZveAcq6Az1Cttq</vt:lpwstr>
  </property>
  <property fmtid="{D5CDD505-2E9C-101B-9397-08002B2CF9AE}" pid="4" name="_2015_ms_pID_7253432">
    <vt:lpwstr>pw==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1677296177</vt:lpwstr>
  </property>
</Properties>
</file>