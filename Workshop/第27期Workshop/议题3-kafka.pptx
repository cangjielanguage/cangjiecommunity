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82" r:id="rId2"/>
    <p:sldId id="290" r:id="rId3"/>
    <p:sldId id="293" r:id="rId4"/>
    <p:sldId id="284" r:id="rId5"/>
    <p:sldId id="294" r:id="rId6"/>
    <p:sldId id="295" r:id="rId7"/>
    <p:sldId id="296" r:id="rId8"/>
    <p:sldId id="297" r:id="rId9"/>
    <p:sldId id="298" r:id="rId10"/>
    <p:sldId id="299" r:id="rId11"/>
    <p:sldId id="303" r:id="rId12"/>
    <p:sldId id="304" r:id="rId13"/>
    <p:sldId id="305" r:id="rId14"/>
    <p:sldId id="301" r:id="rId15"/>
    <p:sldId id="306" r:id="rId16"/>
    <p:sldId id="307" r:id="rId17"/>
    <p:sldId id="28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290"/>
            <p14:sldId id="293"/>
            <p14:sldId id="284"/>
            <p14:sldId id="294"/>
            <p14:sldId id="295"/>
            <p14:sldId id="296"/>
            <p14:sldId id="297"/>
            <p14:sldId id="298"/>
            <p14:sldId id="299"/>
            <p14:sldId id="303"/>
            <p14:sldId id="304"/>
            <p14:sldId id="305"/>
            <p14:sldId id="301"/>
            <p14:sldId id="306"/>
            <p14:sldId id="307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5F3"/>
    <a:srgbClr val="FFFFFF"/>
    <a:srgbClr val="CC99FF"/>
    <a:srgbClr val="E5F5FF"/>
    <a:srgbClr val="A2E0EE"/>
    <a:srgbClr val="2D77EE"/>
    <a:srgbClr val="01DFC0"/>
    <a:srgbClr val="91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988"/>
  </p:normalViewPr>
  <p:slideViewPr>
    <p:cSldViewPr snapToGrid="0" snapToObjects="1">
      <p:cViewPr>
        <p:scale>
          <a:sx n="132" d="100"/>
          <a:sy n="132" d="100"/>
        </p:scale>
        <p:origin x="14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  <a:t>2024/11/29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1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2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4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3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2024/11/29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419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2024/11/29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51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06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  <p:sldLayoutId id="2147483658" r:id="rId4"/>
    <p:sldLayoutId id="2147483657" r:id="rId5"/>
    <p:sldLayoutId id="2147483650" r:id="rId6"/>
    <p:sldLayoutId id="214748365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FBB337-4DA7-4097-9230-BA1003605E51}"/>
              </a:ext>
            </a:extLst>
          </p:cNvPr>
          <p:cNvSpPr txBox="1"/>
          <p:nvPr/>
        </p:nvSpPr>
        <p:spPr>
          <a:xfrm>
            <a:off x="732448" y="2206429"/>
            <a:ext cx="74609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仓颉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Kafka</a:t>
            </a:r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客户端示例展示与开发心得</a:t>
            </a:r>
            <a:endParaRPr kumimoji="1"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FC9F5C-A5D4-4D13-B164-8CD1D088364A}"/>
              </a:ext>
            </a:extLst>
          </p:cNvPr>
          <p:cNvSpPr txBox="1"/>
          <p:nvPr/>
        </p:nvSpPr>
        <p:spPr>
          <a:xfrm>
            <a:off x="756420" y="3807041"/>
            <a:ext cx="48455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主讲人：蔡学文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54F8BF-753F-4421-AB3E-AE22A11120FB}"/>
              </a:ext>
            </a:extLst>
          </p:cNvPr>
          <p:cNvSpPr txBox="1"/>
          <p:nvPr/>
        </p:nvSpPr>
        <p:spPr>
          <a:xfrm>
            <a:off x="678226" y="4636347"/>
            <a:ext cx="2800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01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开发背景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1DBA46-611A-4973-8AF1-A6CDDEA1F945}"/>
              </a:ext>
            </a:extLst>
          </p:cNvPr>
          <p:cNvSpPr txBox="1"/>
          <p:nvPr/>
        </p:nvSpPr>
        <p:spPr>
          <a:xfrm>
            <a:off x="3573934" y="4636347"/>
            <a:ext cx="33157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02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仓颉</a:t>
            </a:r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Kafka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客户端展示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57F3A3-FF39-4DAD-9A6D-DAEE42716B77}"/>
              </a:ext>
            </a:extLst>
          </p:cNvPr>
          <p:cNvSpPr txBox="1"/>
          <p:nvPr/>
        </p:nvSpPr>
        <p:spPr>
          <a:xfrm>
            <a:off x="685733" y="5297117"/>
            <a:ext cx="2800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03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关键问题及解决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DE14A0-6868-4EEF-B43D-62B5673F4DDA}"/>
              </a:ext>
            </a:extLst>
          </p:cNvPr>
          <p:cNvSpPr txBox="1"/>
          <p:nvPr/>
        </p:nvSpPr>
        <p:spPr>
          <a:xfrm>
            <a:off x="3573934" y="5303531"/>
            <a:ext cx="28001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 04 </a:t>
            </a:r>
            <a:r>
              <a:rPr kumimoji="1" lang="zh-CN" altLang="en-US" sz="22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心得体会</a:t>
            </a:r>
          </a:p>
        </p:txBody>
      </p:sp>
    </p:spTree>
    <p:extLst>
      <p:ext uri="{BB962C8B-B14F-4D97-AF65-F5344CB8AC3E}">
        <p14:creationId xmlns:p14="http://schemas.microsoft.com/office/powerpoint/2010/main" val="317294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2471399" y="2340429"/>
            <a:ext cx="332014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小</a:t>
            </a:r>
            <a:r>
              <a:rPr lang="zh-CN" altLang="zh-CN" sz="1600" b="1" dirty="0"/>
              <a:t>标题：</a:t>
            </a:r>
            <a:endParaRPr lang="en-US" altLang="zh-CN" sz="16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72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字体颜色</a:t>
            </a:r>
            <a:r>
              <a:rPr lang="zh-CN" altLang="en-US" sz="1600" dirty="0"/>
              <a:t>：</a:t>
            </a:r>
            <a:r>
              <a:rPr lang="zh-CN" altLang="zh-CN" sz="1600" dirty="0"/>
              <a:t>黑色</a:t>
            </a:r>
          </a:p>
          <a:p>
            <a:r>
              <a:rPr lang="zh-CN" altLang="zh-CN" sz="1600" b="1" dirty="0"/>
              <a:t>分享内容关键词</a:t>
            </a:r>
            <a:r>
              <a:rPr lang="zh-CN" altLang="zh-CN" sz="1600" dirty="0"/>
              <a:t>：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</a:t>
            </a:r>
            <a:r>
              <a:rPr lang="zh-CN" altLang="en-US" sz="1600" dirty="0"/>
              <a:t>：</a:t>
            </a:r>
            <a:r>
              <a:rPr lang="zh-CN" altLang="zh-CN" sz="1600" dirty="0"/>
              <a:t>等线</a:t>
            </a:r>
            <a:r>
              <a:rPr lang="zh-CN" altLang="en-US" sz="1600" dirty="0"/>
              <a:t>、微软雅黑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字号</a:t>
            </a:r>
            <a:r>
              <a:rPr lang="zh-CN" altLang="en-US" sz="1600" dirty="0"/>
              <a:t>：</a:t>
            </a:r>
            <a:r>
              <a:rPr lang="en-US" altLang="zh-CN" sz="1600" dirty="0"/>
              <a:t>22</a:t>
            </a:r>
            <a:r>
              <a:rPr lang="zh-CN" altLang="en-US" sz="1600" dirty="0"/>
              <a:t>、加粗</a:t>
            </a:r>
            <a:endParaRPr lang="en-US" altLang="zh-C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dirty="0"/>
              <a:t>字体颜</a:t>
            </a:r>
            <a:r>
              <a:rPr lang="zh-CN" altLang="en-US" sz="1600" dirty="0"/>
              <a:t>色：黑色</a:t>
            </a:r>
            <a:endParaRPr lang="zh-CN" altLang="zh-CN" sz="160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816710" y="2940593"/>
            <a:ext cx="9884486" cy="1200329"/>
            <a:chOff x="816710" y="2940593"/>
            <a:chExt cx="9884486" cy="1200329"/>
          </a:xfrm>
        </p:grpSpPr>
        <p:sp>
          <p:nvSpPr>
            <p:cNvPr id="52" name="文本框 51"/>
            <p:cNvSpPr txBox="1"/>
            <p:nvPr/>
          </p:nvSpPr>
          <p:spPr>
            <a:xfrm>
              <a:off x="816710" y="2940593"/>
              <a:ext cx="391825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7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开发背景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378424" y="3109870"/>
              <a:ext cx="532277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01 Apache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Kafka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介绍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4388663-8147-4E57-90AE-3A6FAD8EC768}"/>
                </a:ext>
              </a:extLst>
            </p:cNvPr>
            <p:cNvSpPr txBox="1"/>
            <p:nvPr/>
          </p:nvSpPr>
          <p:spPr>
            <a:xfrm>
              <a:off x="5378424" y="3710035"/>
              <a:ext cx="34034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02 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开发仓颉</a:t>
              </a:r>
              <a:r>
                <a:rPr kumimoji="1" lang="en-US" altLang="zh-CN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Kafka</a:t>
              </a:r>
              <a:r>
                <a:rPr kumimoji="1" lang="zh-CN" altLang="en-US" sz="2200" b="1" dirty="0"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客户端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4654067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5D2938-5D5F-47E3-B843-5365C27F1D4F}"/>
              </a:ext>
            </a:extLst>
          </p:cNvPr>
          <p:cNvGrpSpPr/>
          <p:nvPr/>
        </p:nvGrpSpPr>
        <p:grpSpPr>
          <a:xfrm>
            <a:off x="888630" y="1688138"/>
            <a:ext cx="9809850" cy="3785405"/>
            <a:chOff x="4564518" y="2571698"/>
            <a:chExt cx="9809850" cy="3785405"/>
          </a:xfrm>
        </p:grpSpPr>
        <p:grpSp>
          <p:nvGrpSpPr>
            <p:cNvPr id="13" name="组 38">
              <a:extLst>
                <a:ext uri="{FF2B5EF4-FFF2-40B4-BE49-F238E27FC236}">
                  <a16:creationId xmlns:a16="http://schemas.microsoft.com/office/drawing/2014/main" id="{4FF58387-6AAE-4149-BABD-2E6F8A24B2CC}"/>
                </a:ext>
              </a:extLst>
            </p:cNvPr>
            <p:cNvGrpSpPr/>
            <p:nvPr/>
          </p:nvGrpSpPr>
          <p:grpSpPr>
            <a:xfrm>
              <a:off x="4564518" y="5895438"/>
              <a:ext cx="9809380" cy="461665"/>
              <a:chOff x="674914" y="6391142"/>
              <a:chExt cx="9809380" cy="461665"/>
            </a:xfrm>
          </p:grpSpPr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ACC969A-23BC-447C-8330-8DD9EE81ED12}"/>
                  </a:ext>
                </a:extLst>
              </p:cNvPr>
              <p:cNvSpPr txBox="1"/>
              <p:nvPr/>
            </p:nvSpPr>
            <p:spPr>
              <a:xfrm>
                <a:off x="770521" y="6391142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400" dirty="0">
                    <a:solidFill>
                      <a:srgbClr val="05073B"/>
                    </a:solidFill>
                    <a:effectLst/>
                    <a:highlight>
                      <a:srgbClr val="FDFDFE"/>
                    </a:highlight>
                    <a:latin typeface="Arial" panose="020B0604020202020204" pitchFamily="34" charset="0"/>
                  </a:rPr>
                  <a:t>现阶段仓颉语言不断完善，所以我们开发了</a:t>
                </a:r>
                <a:r>
                  <a:rPr lang="en" altLang="zh-CN" sz="2400" dirty="0">
                    <a:solidFill>
                      <a:srgbClr val="05073B"/>
                    </a:solidFill>
                    <a:effectLst/>
                    <a:highlight>
                      <a:srgbClr val="FDFDFE"/>
                    </a:highlight>
                    <a:latin typeface="Arial" panose="020B0604020202020204" pitchFamily="34" charset="0"/>
                  </a:rPr>
                  <a:t>Kafka</a:t>
                </a:r>
                <a:r>
                  <a:rPr lang="zh-CN" altLang="en-US" sz="2400" dirty="0">
                    <a:solidFill>
                      <a:srgbClr val="05073B"/>
                    </a:solidFill>
                    <a:effectLst/>
                    <a:highlight>
                      <a:srgbClr val="FDFDFE"/>
                    </a:highlight>
                    <a:latin typeface="Arial" panose="020B0604020202020204" pitchFamily="34" charset="0"/>
                  </a:rPr>
                  <a:t>仓颉客户端。</a:t>
                </a:r>
                <a:endParaRPr lang="zh-CN" altLang="en-US" sz="2400" dirty="0">
                  <a:effectLst/>
                </a:endParaRPr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813F40F6-5DE1-48FF-BF29-863EE5331636}"/>
                  </a:ext>
                </a:extLst>
              </p:cNvPr>
              <p:cNvSpPr/>
              <p:nvPr/>
            </p:nvSpPr>
            <p:spPr>
              <a:xfrm>
                <a:off x="674914" y="6546374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7276F09-4CEB-42AF-A504-3FFC74C07F57}"/>
                </a:ext>
              </a:extLst>
            </p:cNvPr>
            <p:cNvGrpSpPr/>
            <p:nvPr/>
          </p:nvGrpSpPr>
          <p:grpSpPr>
            <a:xfrm>
              <a:off x="4564518" y="2571698"/>
              <a:ext cx="9809850" cy="3011065"/>
              <a:chOff x="4564518" y="2571698"/>
              <a:chExt cx="9809850" cy="3011065"/>
            </a:xfrm>
          </p:grpSpPr>
          <p:grpSp>
            <p:nvGrpSpPr>
              <p:cNvPr id="19" name="组 29">
                <a:extLst>
                  <a:ext uri="{FF2B5EF4-FFF2-40B4-BE49-F238E27FC236}">
                    <a16:creationId xmlns:a16="http://schemas.microsoft.com/office/drawing/2014/main" id="{01C141CD-AA3E-472A-93F6-11FC15745FE6}"/>
                  </a:ext>
                </a:extLst>
              </p:cNvPr>
              <p:cNvGrpSpPr/>
              <p:nvPr/>
            </p:nvGrpSpPr>
            <p:grpSpPr>
              <a:xfrm>
                <a:off x="4564988" y="2571698"/>
                <a:ext cx="9809380" cy="1569660"/>
                <a:chOff x="674914" y="4918958"/>
                <a:chExt cx="9809380" cy="1569660"/>
              </a:xfrm>
            </p:grpSpPr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20720A18-FEFD-4956-B02B-07FB368B2ADF}"/>
                    </a:ext>
                  </a:extLst>
                </p:cNvPr>
                <p:cNvSpPr txBox="1"/>
                <p:nvPr/>
              </p:nvSpPr>
              <p:spPr>
                <a:xfrm>
                  <a:off x="770521" y="4918958"/>
                  <a:ext cx="9713773" cy="15696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" altLang="zh-C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Apache Kafka</a:t>
                  </a:r>
                  <a:r>
                    <a:rPr lang="zh-CN" altLang="en-US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是一个分布式事件流平台，凭借其高吞吐量、可扩展性、持久性和容错性等优势，已成为现代大数据和实时数据处理领域不可或缺的一部分。无论是作为消息系统、日志收集平台，还是实时数据分析的基石，</a:t>
                  </a:r>
                  <a:r>
                    <a:rPr lang="en" altLang="zh-C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Kafka</a:t>
                  </a:r>
                  <a:r>
                    <a:rPr lang="zh-CN" altLang="en-US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都展现出了其卓越的性能和灵活性。</a:t>
                  </a:r>
                  <a:endParaRPr lang="zh-CN" altLang="en-US" sz="2400" dirty="0">
                    <a:effectLst/>
                  </a:endParaRPr>
                </a:p>
              </p:txBody>
            </p:sp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7AB1DF57-B20A-40FD-8DB2-9CDBE160FF72}"/>
                    </a:ext>
                  </a:extLst>
                </p:cNvPr>
                <p:cNvSpPr/>
                <p:nvPr/>
              </p:nvSpPr>
              <p:spPr>
                <a:xfrm>
                  <a:off x="674914" y="5092478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20" name="组 32">
                <a:extLst>
                  <a:ext uri="{FF2B5EF4-FFF2-40B4-BE49-F238E27FC236}">
                    <a16:creationId xmlns:a16="http://schemas.microsoft.com/office/drawing/2014/main" id="{C797F230-9123-4F2C-9A75-A4A92FFF6560}"/>
                  </a:ext>
                </a:extLst>
              </p:cNvPr>
              <p:cNvGrpSpPr/>
              <p:nvPr/>
            </p:nvGrpSpPr>
            <p:grpSpPr>
              <a:xfrm>
                <a:off x="4564518" y="4382434"/>
                <a:ext cx="9809380" cy="1200329"/>
                <a:chOff x="674914" y="6098534"/>
                <a:chExt cx="9809380" cy="1200329"/>
              </a:xfrm>
            </p:grpSpPr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E9C98CBB-12EF-46AF-AF30-9C52F64523AB}"/>
                    </a:ext>
                  </a:extLst>
                </p:cNvPr>
                <p:cNvSpPr txBox="1"/>
                <p:nvPr/>
              </p:nvSpPr>
              <p:spPr>
                <a:xfrm>
                  <a:off x="770521" y="6098534"/>
                  <a:ext cx="9713773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zh-CN" altLang="en-US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目前无论是</a:t>
                  </a:r>
                  <a:r>
                    <a:rPr lang="en" altLang="zh-C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Java</a:t>
                  </a:r>
                  <a:r>
                    <a:rPr lang="zh-CN" altLang="e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、</a:t>
                  </a:r>
                  <a:r>
                    <a:rPr lang="en" altLang="zh-C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Python</a:t>
                  </a:r>
                  <a:r>
                    <a:rPr lang="zh-CN" altLang="e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、</a:t>
                  </a:r>
                  <a:r>
                    <a:rPr lang="en" altLang="zh-C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C/C++</a:t>
                  </a:r>
                  <a:r>
                    <a:rPr lang="zh-CN" altLang="en-US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还是</a:t>
                  </a:r>
                  <a:r>
                    <a:rPr lang="en" altLang="zh-C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Go</a:t>
                  </a:r>
                  <a:r>
                    <a:rPr lang="zh-CN" altLang="en-US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等语言，都有相应的</a:t>
                  </a:r>
                  <a:r>
                    <a:rPr lang="en" altLang="zh-C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Kafka</a:t>
                  </a:r>
                  <a:r>
                    <a:rPr lang="zh-CN" altLang="en-US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客户端库可供使用。这些客户端库提供了与</a:t>
                  </a:r>
                  <a:r>
                    <a:rPr lang="en" altLang="zh-CN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Kafka</a:t>
                  </a:r>
                  <a:r>
                    <a:rPr lang="zh-CN" altLang="en-US" sz="2400" dirty="0">
                      <a:solidFill>
                        <a:srgbClr val="05073B"/>
                      </a:solidFill>
                      <a:effectLst/>
                      <a:highlight>
                        <a:srgbClr val="FDFDFE"/>
                      </a:highlight>
                      <a:latin typeface="Arial" panose="020B0604020202020204" pitchFamily="34" charset="0"/>
                    </a:rPr>
                    <a:t>交互的完整功能，并允许开发人员根据需要进行定制和优化。</a:t>
                  </a:r>
                  <a:endParaRPr lang="zh-CN" altLang="en-US" sz="2400" dirty="0">
                    <a:effectLst/>
                  </a:endParaRPr>
                </a:p>
              </p:txBody>
            </p:sp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1EE55838-E24D-43F6-BDE5-0F2D11EFC70D}"/>
                    </a:ext>
                  </a:extLst>
                </p:cNvPr>
                <p:cNvSpPr/>
                <p:nvPr/>
              </p:nvSpPr>
              <p:spPr>
                <a:xfrm>
                  <a:off x="674914" y="6253766"/>
                  <a:ext cx="95607" cy="95607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870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5F348215-ECA3-4D11-978A-6D7D0C17C691}"/>
              </a:ext>
            </a:extLst>
          </p:cNvPr>
          <p:cNvGrpSpPr/>
          <p:nvPr/>
        </p:nvGrpSpPr>
        <p:grpSpPr>
          <a:xfrm>
            <a:off x="816710" y="2940593"/>
            <a:ext cx="9462754" cy="1062047"/>
            <a:chOff x="816710" y="2940593"/>
            <a:chExt cx="9462754" cy="1062047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97C2D08-2F0D-4B64-8CEC-97EA770BAD6B}"/>
                </a:ext>
              </a:extLst>
            </p:cNvPr>
            <p:cNvSpPr txBox="1"/>
            <p:nvPr/>
          </p:nvSpPr>
          <p:spPr>
            <a:xfrm>
              <a:off x="816710" y="3061169"/>
              <a:ext cx="50213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4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客户端展示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269C77E-2C8D-417F-94F5-1EBCAC0E734E}"/>
                </a:ext>
              </a:extLst>
            </p:cNvPr>
            <p:cNvSpPr txBox="1"/>
            <p:nvPr/>
          </p:nvSpPr>
          <p:spPr>
            <a:xfrm>
              <a:off x="5016883" y="2940593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目录结构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432D6ED-4E4C-4C04-8A89-433F50935B16}"/>
                </a:ext>
              </a:extLst>
            </p:cNvPr>
            <p:cNvSpPr/>
            <p:nvPr/>
          </p:nvSpPr>
          <p:spPr>
            <a:xfrm>
              <a:off x="4903724" y="3114967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58B1360-323E-4FCD-BC4C-0A86369AC44E}"/>
                </a:ext>
              </a:extLst>
            </p:cNvPr>
            <p:cNvSpPr txBox="1"/>
            <p:nvPr/>
          </p:nvSpPr>
          <p:spPr>
            <a:xfrm>
              <a:off x="5016882" y="3571753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封装接口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3918F0B-4995-4EA8-9060-64C1778934F1}"/>
                </a:ext>
              </a:extLst>
            </p:cNvPr>
            <p:cNvSpPr/>
            <p:nvPr/>
          </p:nvSpPr>
          <p:spPr>
            <a:xfrm>
              <a:off x="4903724" y="374527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DB0C5E12-C9A3-48AC-A1DD-E1C7435912BE}"/>
                </a:ext>
              </a:extLst>
            </p:cNvPr>
            <p:cNvSpPr txBox="1"/>
            <p:nvPr/>
          </p:nvSpPr>
          <p:spPr>
            <a:xfrm>
              <a:off x="7513932" y="2940593"/>
              <a:ext cx="25146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声明函数</a:t>
              </a: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95D59769-4683-464D-AE3B-2D401C6B3CEC}"/>
                </a:ext>
              </a:extLst>
            </p:cNvPr>
            <p:cNvSpPr/>
            <p:nvPr/>
          </p:nvSpPr>
          <p:spPr>
            <a:xfrm>
              <a:off x="7418795" y="311411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ECC77E4-8F19-40C9-828D-CBF91B6948DC}"/>
                </a:ext>
              </a:extLst>
            </p:cNvPr>
            <p:cNvSpPr txBox="1"/>
            <p:nvPr/>
          </p:nvSpPr>
          <p:spPr>
            <a:xfrm>
              <a:off x="7513932" y="3571753"/>
              <a:ext cx="276553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22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创建主题及发送消息</a:t>
              </a: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AFA49B82-4037-4661-82CA-756DF800DD15}"/>
                </a:ext>
              </a:extLst>
            </p:cNvPr>
            <p:cNvSpPr/>
            <p:nvPr/>
          </p:nvSpPr>
          <p:spPr>
            <a:xfrm>
              <a:off x="7418325" y="374527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7829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5D2938-5D5F-47E3-B843-5365C27F1D4F}"/>
              </a:ext>
            </a:extLst>
          </p:cNvPr>
          <p:cNvGrpSpPr/>
          <p:nvPr/>
        </p:nvGrpSpPr>
        <p:grpSpPr>
          <a:xfrm>
            <a:off x="984237" y="1258260"/>
            <a:ext cx="9714243" cy="4215283"/>
            <a:chOff x="4660125" y="2571698"/>
            <a:chExt cx="9714243" cy="3785405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ACC969A-23BC-447C-8330-8DD9EE81ED12}"/>
                </a:ext>
              </a:extLst>
            </p:cNvPr>
            <p:cNvSpPr txBox="1"/>
            <p:nvPr/>
          </p:nvSpPr>
          <p:spPr>
            <a:xfrm>
              <a:off x="4660125" y="5895438"/>
              <a:ext cx="97137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2400" dirty="0">
                <a:effectLst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7276F09-4CEB-42AF-A504-3FFC74C07F57}"/>
                </a:ext>
              </a:extLst>
            </p:cNvPr>
            <p:cNvGrpSpPr/>
            <p:nvPr/>
          </p:nvGrpSpPr>
          <p:grpSpPr>
            <a:xfrm>
              <a:off x="4660125" y="2571698"/>
              <a:ext cx="9714243" cy="2272401"/>
              <a:chOff x="4660125" y="2571698"/>
              <a:chExt cx="9714243" cy="2272401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4660595" y="2571698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9C98CBB-12EF-46AF-AF30-9C52F64523AB}"/>
                  </a:ext>
                </a:extLst>
              </p:cNvPr>
              <p:cNvSpPr txBox="1"/>
              <p:nvPr/>
            </p:nvSpPr>
            <p:spPr>
              <a:xfrm>
                <a:off x="4660125" y="4382434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</p:grpSp>
      </p:grpSp>
      <p:pic>
        <p:nvPicPr>
          <p:cNvPr id="5" name="图片 4" descr="图形用户界面, 文本&#10;&#10;描述已自动生成">
            <a:extLst>
              <a:ext uri="{FF2B5EF4-FFF2-40B4-BE49-F238E27FC236}">
                <a16:creationId xmlns:a16="http://schemas.microsoft.com/office/drawing/2014/main" id="{730F39B3-AF0A-45CF-9A6B-C8C3B74738A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155" y="1140720"/>
            <a:ext cx="2745936" cy="45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167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5D2938-5D5F-47E3-B843-5365C27F1D4F}"/>
              </a:ext>
            </a:extLst>
          </p:cNvPr>
          <p:cNvGrpSpPr/>
          <p:nvPr/>
        </p:nvGrpSpPr>
        <p:grpSpPr>
          <a:xfrm>
            <a:off x="984237" y="1258260"/>
            <a:ext cx="9714243" cy="4215283"/>
            <a:chOff x="4660125" y="2571698"/>
            <a:chExt cx="9714243" cy="3785405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ACC969A-23BC-447C-8330-8DD9EE81ED12}"/>
                </a:ext>
              </a:extLst>
            </p:cNvPr>
            <p:cNvSpPr txBox="1"/>
            <p:nvPr/>
          </p:nvSpPr>
          <p:spPr>
            <a:xfrm>
              <a:off x="4660125" y="5895438"/>
              <a:ext cx="97137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2400" dirty="0">
                <a:effectLst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7276F09-4CEB-42AF-A504-3FFC74C07F57}"/>
                </a:ext>
              </a:extLst>
            </p:cNvPr>
            <p:cNvGrpSpPr/>
            <p:nvPr/>
          </p:nvGrpSpPr>
          <p:grpSpPr>
            <a:xfrm>
              <a:off x="4660125" y="2571698"/>
              <a:ext cx="9714243" cy="2272401"/>
              <a:chOff x="4660125" y="2571698"/>
              <a:chExt cx="9714243" cy="2272401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4660595" y="2571698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9C98CBB-12EF-46AF-AF30-9C52F64523AB}"/>
                  </a:ext>
                </a:extLst>
              </p:cNvPr>
              <p:cNvSpPr txBox="1"/>
              <p:nvPr/>
            </p:nvSpPr>
            <p:spPr>
              <a:xfrm>
                <a:off x="4660125" y="4382434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</p:grpSp>
      </p:grpSp>
      <p:pic>
        <p:nvPicPr>
          <p:cNvPr id="3" name="图片 2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DA5ED1E9-09A1-DB54-8E74-A61BB0149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08992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73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5D2938-5D5F-47E3-B843-5365C27F1D4F}"/>
              </a:ext>
            </a:extLst>
          </p:cNvPr>
          <p:cNvGrpSpPr/>
          <p:nvPr/>
        </p:nvGrpSpPr>
        <p:grpSpPr>
          <a:xfrm>
            <a:off x="984237" y="1258260"/>
            <a:ext cx="9714243" cy="4215283"/>
            <a:chOff x="4660125" y="2571698"/>
            <a:chExt cx="9714243" cy="3785405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ACC969A-23BC-447C-8330-8DD9EE81ED12}"/>
                </a:ext>
              </a:extLst>
            </p:cNvPr>
            <p:cNvSpPr txBox="1"/>
            <p:nvPr/>
          </p:nvSpPr>
          <p:spPr>
            <a:xfrm>
              <a:off x="4660125" y="5895438"/>
              <a:ext cx="97137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2400" dirty="0">
                <a:effectLst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7276F09-4CEB-42AF-A504-3FFC74C07F57}"/>
                </a:ext>
              </a:extLst>
            </p:cNvPr>
            <p:cNvGrpSpPr/>
            <p:nvPr/>
          </p:nvGrpSpPr>
          <p:grpSpPr>
            <a:xfrm>
              <a:off x="4660125" y="2571698"/>
              <a:ext cx="9714243" cy="2272401"/>
              <a:chOff x="4660125" y="2571698"/>
              <a:chExt cx="9714243" cy="2272401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4660595" y="2571698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9C98CBB-12EF-46AF-AF30-9C52F64523AB}"/>
                  </a:ext>
                </a:extLst>
              </p:cNvPr>
              <p:cNvSpPr txBox="1"/>
              <p:nvPr/>
            </p:nvSpPr>
            <p:spPr>
              <a:xfrm>
                <a:off x="4660125" y="4382434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</p:grpSp>
      </p:grpSp>
      <p:pic>
        <p:nvPicPr>
          <p:cNvPr id="4" name="图片 3" descr="图形用户界面, 应用程序&#10;&#10;描述已自动生成">
            <a:extLst>
              <a:ext uri="{FF2B5EF4-FFF2-40B4-BE49-F238E27FC236}">
                <a16:creationId xmlns:a16="http://schemas.microsoft.com/office/drawing/2014/main" id="{73B0C087-E7D7-0A04-39C2-3ED08E12B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45684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2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5D2938-5D5F-47E3-B843-5365C27F1D4F}"/>
              </a:ext>
            </a:extLst>
          </p:cNvPr>
          <p:cNvGrpSpPr/>
          <p:nvPr/>
        </p:nvGrpSpPr>
        <p:grpSpPr>
          <a:xfrm>
            <a:off x="984237" y="1258260"/>
            <a:ext cx="9714243" cy="4215283"/>
            <a:chOff x="4660125" y="2571698"/>
            <a:chExt cx="9714243" cy="3785405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ACC969A-23BC-447C-8330-8DD9EE81ED12}"/>
                </a:ext>
              </a:extLst>
            </p:cNvPr>
            <p:cNvSpPr txBox="1"/>
            <p:nvPr/>
          </p:nvSpPr>
          <p:spPr>
            <a:xfrm>
              <a:off x="4660125" y="5895438"/>
              <a:ext cx="97137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2400" dirty="0">
                <a:effectLst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7276F09-4CEB-42AF-A504-3FFC74C07F57}"/>
                </a:ext>
              </a:extLst>
            </p:cNvPr>
            <p:cNvGrpSpPr/>
            <p:nvPr/>
          </p:nvGrpSpPr>
          <p:grpSpPr>
            <a:xfrm>
              <a:off x="4660125" y="2571698"/>
              <a:ext cx="9714243" cy="2272401"/>
              <a:chOff x="4660125" y="2571698"/>
              <a:chExt cx="9714243" cy="2272401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4660595" y="2571698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9C98CBB-12EF-46AF-AF30-9C52F64523AB}"/>
                  </a:ext>
                </a:extLst>
              </p:cNvPr>
              <p:cNvSpPr txBox="1"/>
              <p:nvPr/>
            </p:nvSpPr>
            <p:spPr>
              <a:xfrm>
                <a:off x="4660125" y="4382434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</p:grpSp>
      </p:grpSp>
      <p:pic>
        <p:nvPicPr>
          <p:cNvPr id="3" name="图片 2" descr="图形用户界面&#10;&#10;描述已自动生成">
            <a:extLst>
              <a:ext uri="{FF2B5EF4-FFF2-40B4-BE49-F238E27FC236}">
                <a16:creationId xmlns:a16="http://schemas.microsoft.com/office/drawing/2014/main" id="{282F88F8-CA91-6F69-7929-7E725C33D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923" y="1227765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36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195D2938-5D5F-47E3-B843-5365C27F1D4F}"/>
              </a:ext>
            </a:extLst>
          </p:cNvPr>
          <p:cNvGrpSpPr/>
          <p:nvPr/>
        </p:nvGrpSpPr>
        <p:grpSpPr>
          <a:xfrm>
            <a:off x="984237" y="1258260"/>
            <a:ext cx="9714243" cy="4215283"/>
            <a:chOff x="4660125" y="2571698"/>
            <a:chExt cx="9714243" cy="3785405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ACC969A-23BC-447C-8330-8DD9EE81ED12}"/>
                </a:ext>
              </a:extLst>
            </p:cNvPr>
            <p:cNvSpPr txBox="1"/>
            <p:nvPr/>
          </p:nvSpPr>
          <p:spPr>
            <a:xfrm>
              <a:off x="4660125" y="5895438"/>
              <a:ext cx="97137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endParaRPr lang="zh-CN" altLang="en-US" sz="2400" dirty="0">
                <a:effectLst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7276F09-4CEB-42AF-A504-3FFC74C07F57}"/>
                </a:ext>
              </a:extLst>
            </p:cNvPr>
            <p:cNvGrpSpPr/>
            <p:nvPr/>
          </p:nvGrpSpPr>
          <p:grpSpPr>
            <a:xfrm>
              <a:off x="4660125" y="2571698"/>
              <a:ext cx="9714243" cy="2272401"/>
              <a:chOff x="4660125" y="2571698"/>
              <a:chExt cx="9714243" cy="2272401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4660595" y="2571698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9C98CBB-12EF-46AF-AF30-9C52F64523AB}"/>
                  </a:ext>
                </a:extLst>
              </p:cNvPr>
              <p:cNvSpPr txBox="1"/>
              <p:nvPr/>
            </p:nvSpPr>
            <p:spPr>
              <a:xfrm>
                <a:off x="4660125" y="4382434"/>
                <a:ext cx="971377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endParaRPr lang="zh-CN" altLang="en-US" sz="2400" dirty="0">
                  <a:effectLst/>
                </a:endParaRPr>
              </a:p>
            </p:txBody>
          </p:sp>
        </p:grpSp>
      </p:grpSp>
      <p:pic>
        <p:nvPicPr>
          <p:cNvPr id="4" name="图片 3" descr="社交网站的手机截图&#10;&#10;描述已自动生成">
            <a:extLst>
              <a:ext uri="{FF2B5EF4-FFF2-40B4-BE49-F238E27FC236}">
                <a16:creationId xmlns:a16="http://schemas.microsoft.com/office/drawing/2014/main" id="{6EA177E6-582D-FEB8-8D45-B3682E8B3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84457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247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5F348215-ECA3-4D11-978A-6D7D0C17C691}"/>
              </a:ext>
            </a:extLst>
          </p:cNvPr>
          <p:cNvGrpSpPr/>
          <p:nvPr/>
        </p:nvGrpSpPr>
        <p:grpSpPr>
          <a:xfrm>
            <a:off x="1650724" y="2582396"/>
            <a:ext cx="7513373" cy="1723985"/>
            <a:chOff x="866952" y="2940593"/>
            <a:chExt cx="7513373" cy="1723985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97C2D08-2F0D-4B64-8CEC-97EA770BAD6B}"/>
                </a:ext>
              </a:extLst>
            </p:cNvPr>
            <p:cNvSpPr txBox="1"/>
            <p:nvPr/>
          </p:nvSpPr>
          <p:spPr>
            <a:xfrm>
              <a:off x="866952" y="3372704"/>
              <a:ext cx="50213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4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困难及问题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269C77E-2C8D-417F-94F5-1EBCAC0E734E}"/>
                </a:ext>
              </a:extLst>
            </p:cNvPr>
            <p:cNvSpPr txBox="1"/>
            <p:nvPr/>
          </p:nvSpPr>
          <p:spPr>
            <a:xfrm>
              <a:off x="5016883" y="2940593"/>
              <a:ext cx="25146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effectLst/>
                </a:defRPr>
              </a:lvl1pPr>
            </a:lstStyle>
            <a:p>
              <a:r>
                <a:rPr lang="zh-CN" altLang="en-US" dirty="0"/>
                <a:t>内存管理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432D6ED-4E4C-4C04-8A89-433F50935B16}"/>
                </a:ext>
              </a:extLst>
            </p:cNvPr>
            <p:cNvSpPr/>
            <p:nvPr/>
          </p:nvSpPr>
          <p:spPr>
            <a:xfrm>
              <a:off x="4903724" y="3114967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58B1360-323E-4FCD-BC4C-0A86369AC44E}"/>
                </a:ext>
              </a:extLst>
            </p:cNvPr>
            <p:cNvSpPr txBox="1"/>
            <p:nvPr/>
          </p:nvSpPr>
          <p:spPr>
            <a:xfrm>
              <a:off x="5016882" y="3571753"/>
              <a:ext cx="30318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dirty="0">
                  <a:effectLst/>
                </a:rPr>
                <a:t>错误处理和异常安全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3918F0B-4995-4EA8-9060-64C1778934F1}"/>
                </a:ext>
              </a:extLst>
            </p:cNvPr>
            <p:cNvSpPr/>
            <p:nvPr/>
          </p:nvSpPr>
          <p:spPr>
            <a:xfrm>
              <a:off x="4903724" y="374527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ECC77E4-8F19-40C9-828D-CBF91B6948DC}"/>
                </a:ext>
              </a:extLst>
            </p:cNvPr>
            <p:cNvSpPr txBox="1"/>
            <p:nvPr/>
          </p:nvSpPr>
          <p:spPr>
            <a:xfrm>
              <a:off x="5011892" y="4202913"/>
              <a:ext cx="3368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effectLst/>
                </a:defRPr>
              </a:lvl1pPr>
            </a:lstStyle>
            <a:p>
              <a:r>
                <a:rPr lang="zh-CN" altLang="en-US" dirty="0"/>
                <a:t>复杂的数据转换和解析</a:t>
              </a: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AFA49B82-4037-4661-82CA-756DF800DD15}"/>
                </a:ext>
              </a:extLst>
            </p:cNvPr>
            <p:cNvSpPr/>
            <p:nvPr/>
          </p:nvSpPr>
          <p:spPr>
            <a:xfrm>
              <a:off x="4916286" y="4388364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302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D7276F09-4CEB-42AF-A504-3FFC74C07F57}"/>
              </a:ext>
            </a:extLst>
          </p:cNvPr>
          <p:cNvGrpSpPr/>
          <p:nvPr/>
        </p:nvGrpSpPr>
        <p:grpSpPr>
          <a:xfrm>
            <a:off x="773691" y="2104543"/>
            <a:ext cx="9809380" cy="2648913"/>
            <a:chOff x="4564988" y="2571698"/>
            <a:chExt cx="9809380" cy="2648913"/>
          </a:xfrm>
        </p:grpSpPr>
        <p:grpSp>
          <p:nvGrpSpPr>
            <p:cNvPr id="19" name="组 29">
              <a:extLst>
                <a:ext uri="{FF2B5EF4-FFF2-40B4-BE49-F238E27FC236}">
                  <a16:creationId xmlns:a16="http://schemas.microsoft.com/office/drawing/2014/main" id="{01C141CD-AA3E-472A-93F6-11FC15745FE6}"/>
                </a:ext>
              </a:extLst>
            </p:cNvPr>
            <p:cNvGrpSpPr/>
            <p:nvPr/>
          </p:nvGrpSpPr>
          <p:grpSpPr>
            <a:xfrm>
              <a:off x="4564988" y="2571698"/>
              <a:ext cx="9809380" cy="830997"/>
              <a:chOff x="674914" y="4918958"/>
              <a:chExt cx="9809380" cy="830997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770521" y="4918958"/>
                <a:ext cx="97137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buFont typeface="+mj-lt"/>
                  <a:buAutoNum type="arabicPeriod"/>
                  <a:defRPr sz="2400" i="0" u="none" strike="noStrike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>
                  <a:buNone/>
                </a:pPr>
                <a:r>
                  <a:rPr lang="zh-CN" altLang="en-US" dirty="0"/>
                  <a:t>在代码中频繁使用了内存分配和释放操作，如</a:t>
                </a:r>
                <a:r>
                  <a:rPr lang="en" altLang="zh-CN" dirty="0"/>
                  <a:t>malloc</a:t>
                </a:r>
                <a:r>
                  <a:rPr lang="zh-CN" altLang="en-US" dirty="0"/>
                  <a:t>和</a:t>
                </a:r>
                <a:r>
                  <a:rPr lang="en" altLang="zh-CN" dirty="0"/>
                  <a:t>free</a:t>
                </a:r>
                <a:r>
                  <a:rPr lang="zh-CN" altLang="en" dirty="0"/>
                  <a:t>，</a:t>
                </a:r>
                <a:r>
                  <a:rPr lang="zh-CN" altLang="en-US" dirty="0"/>
                  <a:t>这可能会导致内存泄漏或未定义行为，特别是在异常处理不当的情况下。</a:t>
                </a:r>
                <a:endParaRPr lang="en-US" altLang="zh-CN" dirty="0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7AB1DF57-B20A-40FD-8DB2-9CDBE160FF72}"/>
                  </a:ext>
                </a:extLst>
              </p:cNvPr>
              <p:cNvSpPr/>
              <p:nvPr/>
            </p:nvSpPr>
            <p:spPr>
              <a:xfrm>
                <a:off x="674914" y="5092478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9C98CBB-12EF-46AF-AF30-9C52F64523AB}"/>
                </a:ext>
              </a:extLst>
            </p:cNvPr>
            <p:cNvSpPr txBox="1"/>
            <p:nvPr/>
          </p:nvSpPr>
          <p:spPr>
            <a:xfrm>
              <a:off x="4612321" y="3650951"/>
              <a:ext cx="971377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rgbClr val="05073B"/>
                  </a:solidFill>
                  <a:effectLst/>
                  <a:highlight>
                    <a:srgbClr val="FDFDFE"/>
                  </a:highlight>
                  <a:latin typeface="Arial" panose="020B0604020202020204" pitchFamily="34" charset="0"/>
                </a:defRPr>
              </a:lvl1pPr>
            </a:lstStyle>
            <a:p>
              <a:r>
                <a:rPr lang="en-US" altLang="zh-CN" dirty="0"/>
                <a:t>1.</a:t>
              </a:r>
              <a:r>
                <a:rPr lang="zh-CN" altLang="en-US" dirty="0"/>
                <a:t>使用智能指针：如果语言支持，使用智能指针来自动管理内存。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en-US" altLang="zh-CN" dirty="0"/>
                <a:t>2.</a:t>
              </a:r>
              <a:r>
                <a:rPr lang="zh-CN" altLang="en-US" dirty="0"/>
                <a:t>封装内存管理：创建一个内存管理模块，统一管理内存的分配和释放，确保在所有路径上都能正确释放内存。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8253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D7276F09-4CEB-42AF-A504-3FFC74C07F57}"/>
              </a:ext>
            </a:extLst>
          </p:cNvPr>
          <p:cNvGrpSpPr/>
          <p:nvPr/>
        </p:nvGrpSpPr>
        <p:grpSpPr>
          <a:xfrm>
            <a:off x="693792" y="1797275"/>
            <a:ext cx="9809380" cy="3263449"/>
            <a:chOff x="4564988" y="2571698"/>
            <a:chExt cx="9809380" cy="3263449"/>
          </a:xfrm>
        </p:grpSpPr>
        <p:grpSp>
          <p:nvGrpSpPr>
            <p:cNvPr id="19" name="组 29">
              <a:extLst>
                <a:ext uri="{FF2B5EF4-FFF2-40B4-BE49-F238E27FC236}">
                  <a16:creationId xmlns:a16="http://schemas.microsoft.com/office/drawing/2014/main" id="{01C141CD-AA3E-472A-93F6-11FC15745FE6}"/>
                </a:ext>
              </a:extLst>
            </p:cNvPr>
            <p:cNvGrpSpPr/>
            <p:nvPr/>
          </p:nvGrpSpPr>
          <p:grpSpPr>
            <a:xfrm>
              <a:off x="4564988" y="2571698"/>
              <a:ext cx="9809380" cy="1200329"/>
              <a:chOff x="674914" y="4918958"/>
              <a:chExt cx="9809380" cy="1200329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770521" y="4918958"/>
                <a:ext cx="971377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buFont typeface="+mj-lt"/>
                  <a:buAutoNum type="arabicPeriod"/>
                  <a:defRPr sz="2400" i="0" u="none" strike="noStrike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l">
                  <a:buNone/>
                </a:pPr>
                <a:r>
                  <a:rPr lang="zh-CN" altLang="en-US" dirty="0">
                    <a:effectLst/>
                  </a:rPr>
                  <a:t>代码中涉及到大量的外部函数调用和资源管理操作，如</a:t>
                </a:r>
                <a:r>
                  <a:rPr lang="en" altLang="zh-CN" dirty="0" err="1">
                    <a:effectLst/>
                  </a:rPr>
                  <a:t>TE_tpinit</a:t>
                </a:r>
                <a:r>
                  <a:rPr lang="zh-CN" altLang="en" dirty="0">
                    <a:effectLst/>
                  </a:rPr>
                  <a:t>、</a:t>
                </a:r>
                <a:r>
                  <a:rPr lang="en" altLang="zh-CN" dirty="0" err="1">
                    <a:effectLst/>
                  </a:rPr>
                  <a:t>TE_tpterm</a:t>
                </a:r>
                <a:r>
                  <a:rPr lang="zh-CN" altLang="en-US" dirty="0">
                    <a:effectLst/>
                  </a:rPr>
                  <a:t>等函数。如果这些操作失败，可能会导致资源泄漏或系统不稳定。</a:t>
                </a: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7AB1DF57-B20A-40FD-8DB2-9CDBE160FF72}"/>
                  </a:ext>
                </a:extLst>
              </p:cNvPr>
              <p:cNvSpPr/>
              <p:nvPr/>
            </p:nvSpPr>
            <p:spPr>
              <a:xfrm>
                <a:off x="674914" y="5092478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9C98CBB-12EF-46AF-AF30-9C52F64523AB}"/>
                </a:ext>
              </a:extLst>
            </p:cNvPr>
            <p:cNvSpPr txBox="1"/>
            <p:nvPr/>
          </p:nvSpPr>
          <p:spPr>
            <a:xfrm>
              <a:off x="4612791" y="3896155"/>
              <a:ext cx="971377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rgbClr val="05073B"/>
                  </a:solidFill>
                  <a:effectLst/>
                  <a:highlight>
                    <a:srgbClr val="FDFDFE"/>
                  </a:highlight>
                  <a:latin typeface="Arial" panose="020B0604020202020204" pitchFamily="34" charset="0"/>
                </a:defRPr>
              </a:lvl1pPr>
            </a:lstStyle>
            <a:p>
              <a:pPr algn="l"/>
              <a:r>
                <a:rPr lang="en-US" altLang="zh-CN" dirty="0"/>
                <a:t>1.</a:t>
              </a:r>
              <a:r>
                <a:rPr lang="zh-CN" altLang="en-US" dirty="0">
                  <a:effectLst/>
                </a:rPr>
                <a:t>统一错误处理机制：建立统一的错误处理机制，确保所有错误都能被捕获和处理。</a:t>
              </a:r>
            </a:p>
            <a:p>
              <a:endParaRPr lang="en-US" altLang="zh-CN" dirty="0"/>
            </a:p>
            <a:p>
              <a:r>
                <a:rPr lang="en-US" altLang="zh-CN" dirty="0"/>
                <a:t>2.</a:t>
              </a:r>
              <a:r>
                <a:rPr lang="zh-CN" altLang="en-US" dirty="0">
                  <a:effectLst/>
                </a:rPr>
                <a:t>资源清理：使用</a:t>
              </a:r>
              <a:r>
                <a:rPr lang="en" altLang="zh-CN" dirty="0">
                  <a:effectLst/>
                </a:rPr>
                <a:t>defer</a:t>
              </a:r>
              <a:r>
                <a:rPr lang="zh-CN" altLang="en-US" dirty="0">
                  <a:effectLst/>
                </a:rPr>
                <a:t>或类似机制，确保在函数退出时能够自动清理资源。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9814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D7276F09-4CEB-42AF-A504-3FFC74C07F57}"/>
              </a:ext>
            </a:extLst>
          </p:cNvPr>
          <p:cNvGrpSpPr/>
          <p:nvPr/>
        </p:nvGrpSpPr>
        <p:grpSpPr>
          <a:xfrm>
            <a:off x="693792" y="1797275"/>
            <a:ext cx="9809380" cy="3263449"/>
            <a:chOff x="4564988" y="2571698"/>
            <a:chExt cx="9809380" cy="3263449"/>
          </a:xfrm>
        </p:grpSpPr>
        <p:grpSp>
          <p:nvGrpSpPr>
            <p:cNvPr id="19" name="组 29">
              <a:extLst>
                <a:ext uri="{FF2B5EF4-FFF2-40B4-BE49-F238E27FC236}">
                  <a16:creationId xmlns:a16="http://schemas.microsoft.com/office/drawing/2014/main" id="{01C141CD-AA3E-472A-93F6-11FC15745FE6}"/>
                </a:ext>
              </a:extLst>
            </p:cNvPr>
            <p:cNvGrpSpPr/>
            <p:nvPr/>
          </p:nvGrpSpPr>
          <p:grpSpPr>
            <a:xfrm>
              <a:off x="4564988" y="2571698"/>
              <a:ext cx="9809380" cy="1200329"/>
              <a:chOff x="674914" y="4918958"/>
              <a:chExt cx="9809380" cy="1200329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770521" y="4918958"/>
                <a:ext cx="971377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buFont typeface="+mj-lt"/>
                  <a:buAutoNum type="arabicPeriod"/>
                  <a:defRPr sz="2400" i="0" u="none" strike="noStrike">
                    <a:solidFill>
                      <a:srgbClr val="000000"/>
                    </a:solidFill>
                    <a:effectLst/>
                    <a:latin typeface="Microsoft YaHei" panose="020B0503020204020204" pitchFamily="34" charset="-122"/>
                    <a:ea typeface="Microsoft YaHei" panose="020B0503020204020204" pitchFamily="34" charset="-122"/>
                  </a:defRPr>
                </a:lvl1pPr>
              </a:lstStyle>
              <a:p>
                <a:pPr algn="l">
                  <a:buNone/>
                </a:pPr>
                <a:r>
                  <a:rPr lang="zh-CN" altLang="en-US" dirty="0">
                    <a:effectLst/>
                  </a:rPr>
                  <a:t>代码中涉及到大量的数据转换和解析操作，如</a:t>
                </a:r>
                <a:r>
                  <a:rPr lang="en" altLang="zh-CN" dirty="0" err="1">
                    <a:effectLst/>
                  </a:rPr>
                  <a:t>TEDataPutInt</a:t>
                </a:r>
                <a:r>
                  <a:rPr lang="zh-CN" altLang="en" dirty="0">
                    <a:effectLst/>
                  </a:rPr>
                  <a:t>、</a:t>
                </a:r>
                <a:r>
                  <a:rPr lang="en" altLang="zh-CN" dirty="0" err="1">
                    <a:effectLst/>
                  </a:rPr>
                  <a:t>TEDataGetInt</a:t>
                </a:r>
                <a:r>
                  <a:rPr lang="zh-CN" altLang="en-US" dirty="0">
                    <a:effectLst/>
                  </a:rPr>
                  <a:t>等函数。这些操作需要处理不同的数据类型和内存布局，容易出错。</a:t>
                </a: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7AB1DF57-B20A-40FD-8DB2-9CDBE160FF72}"/>
                  </a:ext>
                </a:extLst>
              </p:cNvPr>
              <p:cNvSpPr/>
              <p:nvPr/>
            </p:nvSpPr>
            <p:spPr>
              <a:xfrm>
                <a:off x="674914" y="5092478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9C98CBB-12EF-46AF-AF30-9C52F64523AB}"/>
                </a:ext>
              </a:extLst>
            </p:cNvPr>
            <p:cNvSpPr txBox="1"/>
            <p:nvPr/>
          </p:nvSpPr>
          <p:spPr>
            <a:xfrm>
              <a:off x="4612791" y="3896155"/>
              <a:ext cx="971377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solidFill>
                    <a:srgbClr val="05073B"/>
                  </a:solidFill>
                  <a:effectLst/>
                  <a:highlight>
                    <a:srgbClr val="FDFDFE"/>
                  </a:highlight>
                  <a:latin typeface="Arial" panose="020B0604020202020204" pitchFamily="34" charset="0"/>
                </a:defRPr>
              </a:lvl1pPr>
            </a:lstStyle>
            <a:p>
              <a:endParaRPr lang="zh-CN" altLang="en-US" dirty="0"/>
            </a:p>
            <a:p>
              <a:r>
                <a:rPr lang="en-US" altLang="zh-CN" dirty="0"/>
                <a:t>1.</a:t>
              </a:r>
              <a:r>
                <a:rPr lang="zh-CN" altLang="en-US" dirty="0"/>
                <a:t>单元测试：为每个数据转换和解析函数编写单元测试，确保其正确性。</a:t>
              </a:r>
              <a:endParaRPr lang="en-US" altLang="zh-CN" dirty="0"/>
            </a:p>
            <a:p>
              <a:endParaRPr lang="zh-CN" altLang="en-US" dirty="0"/>
            </a:p>
            <a:p>
              <a:r>
                <a:rPr lang="en-US" altLang="zh-CN" dirty="0"/>
                <a:t>2.</a:t>
              </a:r>
              <a:r>
                <a:rPr lang="zh-CN" altLang="en-US" dirty="0"/>
                <a:t>类型安全：尽量使用类型安全的操作，避免类型转换错误。</a:t>
              </a:r>
            </a:p>
            <a:p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529693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5F348215-ECA3-4D11-978A-6D7D0C17C691}"/>
              </a:ext>
            </a:extLst>
          </p:cNvPr>
          <p:cNvGrpSpPr/>
          <p:nvPr/>
        </p:nvGrpSpPr>
        <p:grpSpPr>
          <a:xfrm>
            <a:off x="1650724" y="2582396"/>
            <a:ext cx="7513373" cy="1723985"/>
            <a:chOff x="866952" y="2940593"/>
            <a:chExt cx="7513373" cy="1723985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497C2D08-2F0D-4B64-8CEC-97EA770BAD6B}"/>
                </a:ext>
              </a:extLst>
            </p:cNvPr>
            <p:cNvSpPr txBox="1"/>
            <p:nvPr/>
          </p:nvSpPr>
          <p:spPr>
            <a:xfrm>
              <a:off x="866952" y="3372704"/>
              <a:ext cx="50213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4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心得体会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C269C77E-2C8D-417F-94F5-1EBCAC0E734E}"/>
                </a:ext>
              </a:extLst>
            </p:cNvPr>
            <p:cNvSpPr txBox="1"/>
            <p:nvPr/>
          </p:nvSpPr>
          <p:spPr>
            <a:xfrm>
              <a:off x="5016883" y="2940593"/>
              <a:ext cx="25146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effectLst/>
                </a:defRPr>
              </a:lvl1pPr>
            </a:lstStyle>
            <a:p>
              <a:r>
                <a:rPr lang="zh-CN" altLang="en-US" dirty="0"/>
                <a:t>内存管理</a:t>
              </a: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C432D6ED-4E4C-4C04-8A89-433F50935B16}"/>
                </a:ext>
              </a:extLst>
            </p:cNvPr>
            <p:cNvSpPr/>
            <p:nvPr/>
          </p:nvSpPr>
          <p:spPr>
            <a:xfrm>
              <a:off x="4903724" y="3114967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58B1360-323E-4FCD-BC4C-0A86369AC44E}"/>
                </a:ext>
              </a:extLst>
            </p:cNvPr>
            <p:cNvSpPr txBox="1"/>
            <p:nvPr/>
          </p:nvSpPr>
          <p:spPr>
            <a:xfrm>
              <a:off x="5016882" y="3571753"/>
              <a:ext cx="303184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dirty="0">
                  <a:effectLst/>
                </a:rPr>
                <a:t>错误处理和异常安全</a:t>
              </a:r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83918F0B-4995-4EA8-9060-64C1778934F1}"/>
                </a:ext>
              </a:extLst>
            </p:cNvPr>
            <p:cNvSpPr/>
            <p:nvPr/>
          </p:nvSpPr>
          <p:spPr>
            <a:xfrm>
              <a:off x="4903724" y="3745273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ECC77E4-8F19-40C9-828D-CBF91B6948DC}"/>
                </a:ext>
              </a:extLst>
            </p:cNvPr>
            <p:cNvSpPr txBox="1"/>
            <p:nvPr/>
          </p:nvSpPr>
          <p:spPr>
            <a:xfrm>
              <a:off x="5011892" y="4202913"/>
              <a:ext cx="3368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400">
                  <a:effectLst/>
                </a:defRPr>
              </a:lvl1pPr>
            </a:lstStyle>
            <a:p>
              <a:r>
                <a:rPr lang="zh-CN" altLang="en-US" dirty="0"/>
                <a:t>复杂的数据转换和解析</a:t>
              </a: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AFA49B82-4037-4661-82CA-756DF800DD15}"/>
                </a:ext>
              </a:extLst>
            </p:cNvPr>
            <p:cNvSpPr/>
            <p:nvPr/>
          </p:nvSpPr>
          <p:spPr>
            <a:xfrm>
              <a:off x="4916286" y="4388364"/>
              <a:ext cx="95607" cy="956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2550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D7276F09-4CEB-42AF-A504-3FFC74C07F57}"/>
              </a:ext>
            </a:extLst>
          </p:cNvPr>
          <p:cNvGrpSpPr/>
          <p:nvPr/>
        </p:nvGrpSpPr>
        <p:grpSpPr>
          <a:xfrm>
            <a:off x="888630" y="1688138"/>
            <a:ext cx="9809850" cy="3575323"/>
            <a:chOff x="4564518" y="2571698"/>
            <a:chExt cx="9809850" cy="3575323"/>
          </a:xfrm>
        </p:grpSpPr>
        <p:grpSp>
          <p:nvGrpSpPr>
            <p:cNvPr id="19" name="组 29">
              <a:extLst>
                <a:ext uri="{FF2B5EF4-FFF2-40B4-BE49-F238E27FC236}">
                  <a16:creationId xmlns:a16="http://schemas.microsoft.com/office/drawing/2014/main" id="{01C141CD-AA3E-472A-93F6-11FC15745FE6}"/>
                </a:ext>
              </a:extLst>
            </p:cNvPr>
            <p:cNvGrpSpPr/>
            <p:nvPr/>
          </p:nvGrpSpPr>
          <p:grpSpPr>
            <a:xfrm>
              <a:off x="4564988" y="2571698"/>
              <a:ext cx="9809380" cy="830997"/>
              <a:chOff x="674914" y="4918958"/>
              <a:chExt cx="9809380" cy="830997"/>
            </a:xfrm>
          </p:grpSpPr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0720A18-FEFD-4956-B02B-07FB368B2ADF}"/>
                  </a:ext>
                </a:extLst>
              </p:cNvPr>
              <p:cNvSpPr txBox="1"/>
              <p:nvPr/>
            </p:nvSpPr>
            <p:spPr>
              <a:xfrm>
                <a:off x="770521" y="4918958"/>
                <a:ext cx="971377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400" dirty="0">
                    <a:effectLst/>
                  </a:rPr>
                  <a:t>学习仓颉语言，对我而言，是一次既新奇又充满挑战的知识之旅。仓颉以其独特的语言特性和设计理念，为我打开了一个全新的编程世界。</a:t>
                </a: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7AB1DF57-B20A-40FD-8DB2-9CDBE160FF72}"/>
                  </a:ext>
                </a:extLst>
              </p:cNvPr>
              <p:cNvSpPr/>
              <p:nvPr/>
            </p:nvSpPr>
            <p:spPr>
              <a:xfrm>
                <a:off x="674914" y="5092478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20" name="组 32">
              <a:extLst>
                <a:ext uri="{FF2B5EF4-FFF2-40B4-BE49-F238E27FC236}">
                  <a16:creationId xmlns:a16="http://schemas.microsoft.com/office/drawing/2014/main" id="{C797F230-9123-4F2C-9A75-A4A92FFF6560}"/>
                </a:ext>
              </a:extLst>
            </p:cNvPr>
            <p:cNvGrpSpPr/>
            <p:nvPr/>
          </p:nvGrpSpPr>
          <p:grpSpPr>
            <a:xfrm>
              <a:off x="4564518" y="3838697"/>
              <a:ext cx="9809850" cy="2308324"/>
              <a:chOff x="674914" y="5554797"/>
              <a:chExt cx="9809850" cy="2308324"/>
            </a:xfrm>
          </p:grpSpPr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E9C98CBB-12EF-46AF-AF30-9C52F64523AB}"/>
                  </a:ext>
                </a:extLst>
              </p:cNvPr>
              <p:cNvSpPr txBox="1"/>
              <p:nvPr/>
            </p:nvSpPr>
            <p:spPr>
              <a:xfrm>
                <a:off x="770991" y="5554797"/>
                <a:ext cx="971377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400" dirty="0">
                    <a:effectLst/>
                  </a:rPr>
                  <a:t>学习的过程并非一帆风顺。仓颉语言作为一门全新的编程语言，其语法和特性与我之前熟悉的编程语言存在较大的差异。因此，在初期的学习中，我遇到了不少困难和挑战。但是，正是这些困难激发了我不断学习和探索的动力。通过查阅官方文档、参加线上课程、参与开发者社区讨论，我逐渐掌握了仓颉语言的核心概念和编程技巧，并在实践中不断巩固和提升了自己的编程能力。</a:t>
                </a:r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1EE55838-E24D-43F6-BDE5-0F2D11EFC70D}"/>
                  </a:ext>
                </a:extLst>
              </p:cNvPr>
              <p:cNvSpPr/>
              <p:nvPr/>
            </p:nvSpPr>
            <p:spPr>
              <a:xfrm>
                <a:off x="674914" y="5734017"/>
                <a:ext cx="95607" cy="95607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35342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文本框 32">
            <a:extLst>
              <a:ext uri="{FF2B5EF4-FFF2-40B4-BE49-F238E27FC236}">
                <a16:creationId xmlns:a16="http://schemas.microsoft.com/office/drawing/2014/main" id="{E9C98CBB-12EF-46AF-AF30-9C52F64523AB}"/>
              </a:ext>
            </a:extLst>
          </p:cNvPr>
          <p:cNvSpPr txBox="1"/>
          <p:nvPr/>
        </p:nvSpPr>
        <p:spPr>
          <a:xfrm>
            <a:off x="1287152" y="2204367"/>
            <a:ext cx="97137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effectLst/>
              </a:rPr>
              <a:t>总的来说，学习仓颉语言是一次充满收获和成长的经历。它不仅让我掌握了一门全新的编程语言，更让我在编程思维和技术能力上得到了全面的提升。</a:t>
            </a:r>
            <a:endParaRPr lang="en-US" altLang="zh-CN" sz="2400" dirty="0">
              <a:effectLst/>
            </a:endParaRPr>
          </a:p>
          <a:p>
            <a:pPr algn="l"/>
            <a:endParaRPr lang="en-US" altLang="zh-CN" sz="2400" dirty="0">
              <a:effectLst/>
            </a:endParaRPr>
          </a:p>
          <a:p>
            <a:pPr algn="l"/>
            <a:r>
              <a:rPr lang="zh-CN" altLang="en-US" sz="2400" dirty="0">
                <a:effectLst/>
              </a:rPr>
              <a:t>我相信，在未来的开发中，仓颉语言将会成为我不可或缺的工具之一，助力我在鸿蒙生态领域创造更多的价值和可能。</a:t>
            </a:r>
          </a:p>
        </p:txBody>
      </p:sp>
    </p:spTree>
    <p:extLst>
      <p:ext uri="{BB962C8B-B14F-4D97-AF65-F5344CB8AC3E}">
        <p14:creationId xmlns:p14="http://schemas.microsoft.com/office/powerpoint/2010/main" val="17277485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04" y="4069170"/>
            <a:ext cx="1949953" cy="195363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486149" y="2361010"/>
            <a:ext cx="3579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b="1" dirty="0"/>
              <a:t>分享正文标题：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</a:t>
            </a:r>
            <a:r>
              <a:rPr lang="zh-CN" altLang="en-US" dirty="0"/>
              <a:t>：</a:t>
            </a:r>
            <a:r>
              <a:rPr lang="zh-CN" altLang="zh-CN" dirty="0"/>
              <a:t>等线</a:t>
            </a:r>
            <a:r>
              <a:rPr lang="zh-CN" altLang="en-US" dirty="0"/>
              <a:t>、微软雅黑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字号</a:t>
            </a:r>
            <a:r>
              <a:rPr lang="zh-CN" altLang="en-US" dirty="0"/>
              <a:t>：</a:t>
            </a:r>
            <a:r>
              <a:rPr lang="en-US" altLang="zh-CN" dirty="0"/>
              <a:t>40</a:t>
            </a:r>
            <a:r>
              <a:rPr lang="zh-CN" altLang="en-US" dirty="0"/>
              <a:t> 、加粗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蓝色</a:t>
            </a:r>
          </a:p>
          <a:p>
            <a:r>
              <a:rPr lang="zh-CN" altLang="zh-CN" b="1" dirty="0"/>
              <a:t>分享内容：</a:t>
            </a:r>
            <a:endParaRPr lang="en-US" altLang="zh-CN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dirty="0"/>
              <a:t>字体颜色</a:t>
            </a:r>
            <a:r>
              <a:rPr lang="zh-CN" altLang="en-US" dirty="0"/>
              <a:t>：</a:t>
            </a:r>
            <a:r>
              <a:rPr lang="zh-CN" altLang="zh-CN" dirty="0"/>
              <a:t>以黑色为主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sp>
        <p:nvSpPr>
          <p:cNvPr id="36" name="文本框 35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感谢您的观看</a:t>
            </a:r>
            <a:r>
              <a:rPr kumimoji="1"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kumimoji="1"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192615" y="4607755"/>
            <a:ext cx="420634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关注“仓颉编程语言”公众号，获取最新官方资讯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</a:p>
          <a:p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您也可以替换为自己的二维码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联系方式，邀请社区开发者共建项目</a:t>
            </a:r>
            <a:r>
              <a:rPr kumimoji="1"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26F1FD-B4C1-4DC4-B758-CA0ABC9D5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1082223" y="4266832"/>
            <a:ext cx="1558314" cy="155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196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1719</TotalTime>
  <Words>799</Words>
  <Application>Microsoft Macintosh PowerPoint</Application>
  <PresentationFormat>宽屏</PresentationFormat>
  <Paragraphs>60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DengXian</vt:lpstr>
      <vt:lpstr>微软雅黑</vt:lpstr>
      <vt:lpstr>微软雅黑 Light</vt:lpstr>
      <vt:lpstr>Arial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od5282</cp:lastModifiedBy>
  <cp:revision>97</cp:revision>
  <dcterms:created xsi:type="dcterms:W3CDTF">2022-07-15T02:23:02Z</dcterms:created>
  <dcterms:modified xsi:type="dcterms:W3CDTF">2024-11-29T04:58:05Z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</Properties>
</file>