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82" r:id="rId2"/>
    <p:sldId id="281" r:id="rId3"/>
    <p:sldId id="283" r:id="rId4"/>
    <p:sldId id="288" r:id="rId5"/>
    <p:sldId id="284" r:id="rId6"/>
    <p:sldId id="290" r:id="rId7"/>
    <p:sldId id="292" r:id="rId8"/>
    <p:sldId id="280" r:id="rId9"/>
    <p:sldId id="291" r:id="rId10"/>
    <p:sldId id="293" r:id="rId11"/>
    <p:sldId id="295" r:id="rId12"/>
    <p:sldId id="28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FC2DFAE-FB83-48CB-9811-7C4E6F4F3F73}">
          <p14:sldIdLst>
            <p14:sldId id="282"/>
            <p14:sldId id="281"/>
            <p14:sldId id="283"/>
            <p14:sldId id="288"/>
            <p14:sldId id="284"/>
            <p14:sldId id="290"/>
            <p14:sldId id="292"/>
            <p14:sldId id="280"/>
            <p14:sldId id="291"/>
            <p14:sldId id="293"/>
            <p14:sldId id="295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5F3"/>
    <a:srgbClr val="FFFFFF"/>
    <a:srgbClr val="CC99FF"/>
    <a:srgbClr val="E5F5FF"/>
    <a:srgbClr val="A2E0EE"/>
    <a:srgbClr val="2D77EE"/>
    <a:srgbClr val="01DFC0"/>
    <a:srgbClr val="91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51" autoAdjust="0"/>
    <p:restoredTop sz="95988"/>
  </p:normalViewPr>
  <p:slideViewPr>
    <p:cSldViewPr snapToGrid="0" snapToObjects="1">
      <p:cViewPr varScale="1">
        <p:scale>
          <a:sx n="82" d="100"/>
          <a:sy n="82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75235-9A1A-D74C-B5F3-1C693EF9A0DE}" type="datetimeFigureOut">
              <a:rPr kumimoji="1" lang="zh-CN" altLang="en-US" smtClean="0"/>
              <a:t>2024/11/25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9C8D6-C46B-CF46-BEF0-81268CF6F7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717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23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24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3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92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2024/11/25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419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2024/11/25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851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0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17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  <p:sldLayoutId id="2147483658" r:id="rId4"/>
    <p:sldLayoutId id="2147483657" r:id="rId5"/>
    <p:sldLayoutId id="2147483650" r:id="rId6"/>
    <p:sldLayoutId id="214748365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FBB337-4DA7-4097-9230-BA1003605E51}"/>
              </a:ext>
            </a:extLst>
          </p:cNvPr>
          <p:cNvSpPr txBox="1"/>
          <p:nvPr/>
        </p:nvSpPr>
        <p:spPr>
          <a:xfrm>
            <a:off x="732448" y="2604771"/>
            <a:ext cx="96991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基于仓颉语言的三方库</a:t>
            </a:r>
            <a:r>
              <a:rPr kumimoji="1"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CJQT</a:t>
            </a:r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FC9F5C-A5D4-4D13-B164-8CD1D088364A}"/>
              </a:ext>
            </a:extLst>
          </p:cNvPr>
          <p:cNvSpPr txBox="1"/>
          <p:nvPr/>
        </p:nvSpPr>
        <p:spPr>
          <a:xfrm>
            <a:off x="736494" y="3702143"/>
            <a:ext cx="4845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主讲人：周丽波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54F8BF-753F-4421-AB3E-AE22A11120FB}"/>
              </a:ext>
            </a:extLst>
          </p:cNvPr>
          <p:cNvSpPr txBox="1"/>
          <p:nvPr/>
        </p:nvSpPr>
        <p:spPr>
          <a:xfrm>
            <a:off x="678226" y="5352156"/>
            <a:ext cx="34925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上海双洪资深软件设计师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57F3A3-FF39-4DAD-9A6D-DAEE42716B77}"/>
              </a:ext>
            </a:extLst>
          </p:cNvPr>
          <p:cNvSpPr txBox="1"/>
          <p:nvPr/>
        </p:nvSpPr>
        <p:spPr>
          <a:xfrm>
            <a:off x="802432" y="4613908"/>
            <a:ext cx="36762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zhoulibo@honhand.com</a:t>
            </a:r>
            <a:endParaRPr kumimoji="1" lang="zh-CN" altLang="en-US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294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5D2938-5D5F-47E3-B843-5365C27F1D4F}"/>
              </a:ext>
            </a:extLst>
          </p:cNvPr>
          <p:cNvGrpSpPr/>
          <p:nvPr/>
        </p:nvGrpSpPr>
        <p:grpSpPr>
          <a:xfrm>
            <a:off x="816710" y="2825654"/>
            <a:ext cx="9227792" cy="2028487"/>
            <a:chOff x="816710" y="2825654"/>
            <a:chExt cx="9227792" cy="2028487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ACC969A-23BC-447C-8330-8DD9EE81ED12}"/>
                </a:ext>
              </a:extLst>
            </p:cNvPr>
            <p:cNvSpPr txBox="1"/>
            <p:nvPr/>
          </p:nvSpPr>
          <p:spPr>
            <a:xfrm>
              <a:off x="4660125" y="4423254"/>
              <a:ext cx="25146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05 CJQT</a:t>
              </a:r>
              <a:r>
                <a:rPr kumimoji="1" lang="zh-CN" altLang="en-US" sz="2200" b="1" dirty="0"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使用</a:t>
              </a: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7276F09-4CEB-42AF-A504-3FFC74C07F57}"/>
                </a:ext>
              </a:extLst>
            </p:cNvPr>
            <p:cNvGrpSpPr/>
            <p:nvPr/>
          </p:nvGrpSpPr>
          <p:grpSpPr>
            <a:xfrm>
              <a:off x="816710" y="2825654"/>
              <a:ext cx="9227792" cy="1315268"/>
              <a:chOff x="816710" y="2825654"/>
              <a:chExt cx="9227792" cy="1315268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76123D8-3012-4574-B997-68841EB15CFF}"/>
                  </a:ext>
                </a:extLst>
              </p:cNvPr>
              <p:cNvSpPr txBox="1"/>
              <p:nvPr/>
            </p:nvSpPr>
            <p:spPr>
              <a:xfrm>
                <a:off x="816710" y="2940593"/>
                <a:ext cx="227874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7200" b="1" dirty="0">
                    <a:latin typeface="Microsoft YaHei Light" panose="020B0502040204020203" pitchFamily="34" charset="-122"/>
                    <a:ea typeface="Microsoft YaHei Light" panose="020B0502040204020203" pitchFamily="34" charset="-122"/>
                  </a:rPr>
                  <a:t>目录</a:t>
                </a:r>
              </a:p>
            </p:txBody>
          </p:sp>
          <p:grpSp>
            <p:nvGrpSpPr>
              <p:cNvPr id="19" name="组 29">
                <a:extLst>
                  <a:ext uri="{FF2B5EF4-FFF2-40B4-BE49-F238E27FC236}">
                    <a16:creationId xmlns:a16="http://schemas.microsoft.com/office/drawing/2014/main" id="{01C141CD-AA3E-472A-93F6-11FC15745FE6}"/>
                  </a:ext>
                </a:extLst>
              </p:cNvPr>
              <p:cNvGrpSpPr/>
              <p:nvPr/>
            </p:nvGrpSpPr>
            <p:grpSpPr>
              <a:xfrm>
                <a:off x="4564988" y="2830242"/>
                <a:ext cx="2609737" cy="430887"/>
                <a:chOff x="674914" y="5177502"/>
                <a:chExt cx="2609737" cy="430887"/>
              </a:xfrm>
            </p:grpSpPr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20720A18-FEFD-4956-B02B-07FB368B2ADF}"/>
                    </a:ext>
                  </a:extLst>
                </p:cNvPr>
                <p:cNvSpPr txBox="1"/>
                <p:nvPr/>
              </p:nvSpPr>
              <p:spPr>
                <a:xfrm>
                  <a:off x="770050" y="5177502"/>
                  <a:ext cx="251460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200" b="1" dirty="0">
                      <a:latin typeface="Microsoft YaHei Light" panose="020B0502040204020203" pitchFamily="34" charset="-122"/>
                      <a:ea typeface="Microsoft YaHei Light" panose="020B0502040204020203" pitchFamily="34" charset="-122"/>
                    </a:rPr>
                    <a:t>01 QT</a:t>
                  </a:r>
                  <a:r>
                    <a:rPr kumimoji="1" lang="zh-CN" altLang="en-US" sz="2200" b="1" dirty="0">
                      <a:latin typeface="Microsoft YaHei Light" panose="020B0502040204020203" pitchFamily="34" charset="-122"/>
                      <a:ea typeface="Microsoft YaHei Light" panose="020B0502040204020203" pitchFamily="34" charset="-122"/>
                    </a:rPr>
                    <a:t>介绍</a:t>
                  </a:r>
                </a:p>
              </p:txBody>
            </p:sp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7AB1DF57-B20A-40FD-8DB2-9CDBE160FF72}"/>
                    </a:ext>
                  </a:extLst>
                </p:cNvPr>
                <p:cNvSpPr/>
                <p:nvPr/>
              </p:nvSpPr>
              <p:spPr>
                <a:xfrm>
                  <a:off x="674914" y="5325750"/>
                  <a:ext cx="95607" cy="9560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0" name="组 32">
                <a:extLst>
                  <a:ext uri="{FF2B5EF4-FFF2-40B4-BE49-F238E27FC236}">
                    <a16:creationId xmlns:a16="http://schemas.microsoft.com/office/drawing/2014/main" id="{C797F230-9123-4F2C-9A75-A4A92FFF6560}"/>
                  </a:ext>
                </a:extLst>
              </p:cNvPr>
              <p:cNvGrpSpPr/>
              <p:nvPr/>
            </p:nvGrpSpPr>
            <p:grpSpPr>
              <a:xfrm>
                <a:off x="4564518" y="3617542"/>
                <a:ext cx="2610678" cy="430887"/>
                <a:chOff x="674914" y="5333642"/>
                <a:chExt cx="2610678" cy="430887"/>
              </a:xfrm>
            </p:grpSpPr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E9C98CBB-12EF-46AF-AF30-9C52F64523AB}"/>
                    </a:ext>
                  </a:extLst>
                </p:cNvPr>
                <p:cNvSpPr txBox="1"/>
                <p:nvPr/>
              </p:nvSpPr>
              <p:spPr>
                <a:xfrm>
                  <a:off x="770991" y="5333642"/>
                  <a:ext cx="251460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200" b="1" dirty="0">
                      <a:latin typeface="Microsoft YaHei Light" panose="020B0502040204020203" pitchFamily="34" charset="-122"/>
                      <a:ea typeface="Microsoft YaHei Light" panose="020B0502040204020203" pitchFamily="34" charset="-122"/>
                    </a:rPr>
                    <a:t>03</a:t>
                  </a:r>
                  <a:r>
                    <a:rPr kumimoji="1" lang="zh-CN" altLang="en-US" sz="2200" b="1" dirty="0">
                      <a:latin typeface="Microsoft YaHei Light" panose="020B0502040204020203" pitchFamily="34" charset="-122"/>
                      <a:ea typeface="Microsoft YaHei Light" panose="020B0502040204020203" pitchFamily="34" charset="-122"/>
                    </a:rPr>
                    <a:t> </a:t>
                  </a:r>
                  <a:r>
                    <a:rPr kumimoji="1" lang="en-US" altLang="zh-CN" sz="2200" b="1" dirty="0">
                      <a:latin typeface="Microsoft YaHei Light" panose="020B0502040204020203" pitchFamily="34" charset="-122"/>
                      <a:ea typeface="Microsoft YaHei Light" panose="020B0502040204020203" pitchFamily="34" charset="-122"/>
                    </a:rPr>
                    <a:t>CJQT</a:t>
                  </a:r>
                  <a:r>
                    <a:rPr kumimoji="1" lang="zh-CN" altLang="en-US" sz="2200" b="1" dirty="0">
                      <a:latin typeface="Microsoft YaHei Light" panose="020B0502040204020203" pitchFamily="34" charset="-122"/>
                      <a:ea typeface="Microsoft YaHei Light" panose="020B0502040204020203" pitchFamily="34" charset="-122"/>
                    </a:rPr>
                    <a:t>代码获取</a:t>
                  </a:r>
                </a:p>
              </p:txBody>
            </p:sp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1EE55838-E24D-43F6-BDE5-0F2D11EFC70D}"/>
                    </a:ext>
                  </a:extLst>
                </p:cNvPr>
                <p:cNvSpPr/>
                <p:nvPr/>
              </p:nvSpPr>
              <p:spPr>
                <a:xfrm>
                  <a:off x="674914" y="5503022"/>
                  <a:ext cx="95607" cy="9560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2" name="组 41">
                <a:extLst>
                  <a:ext uri="{FF2B5EF4-FFF2-40B4-BE49-F238E27FC236}">
                    <a16:creationId xmlns:a16="http://schemas.microsoft.com/office/drawing/2014/main" id="{93EDA450-B753-4E6D-BE27-F0D44A4E927A}"/>
                  </a:ext>
                </a:extLst>
              </p:cNvPr>
              <p:cNvGrpSpPr/>
              <p:nvPr/>
            </p:nvGrpSpPr>
            <p:grpSpPr>
              <a:xfrm>
                <a:off x="7434294" y="2825654"/>
                <a:ext cx="2610208" cy="430887"/>
                <a:chOff x="674914" y="5172914"/>
                <a:chExt cx="2610208" cy="430887"/>
              </a:xfrm>
            </p:grpSpPr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0040864-32A5-4DB2-A874-9FC62F27B93F}"/>
                    </a:ext>
                  </a:extLst>
                </p:cNvPr>
                <p:cNvSpPr txBox="1"/>
                <p:nvPr/>
              </p:nvSpPr>
              <p:spPr>
                <a:xfrm>
                  <a:off x="770521" y="5172914"/>
                  <a:ext cx="251460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200" b="1" dirty="0">
                      <a:latin typeface="Microsoft YaHei Light" panose="020B0502040204020203" pitchFamily="34" charset="-122"/>
                      <a:ea typeface="Microsoft YaHei Light" panose="020B0502040204020203" pitchFamily="34" charset="-122"/>
                    </a:rPr>
                    <a:t>02 </a:t>
                  </a:r>
                  <a:r>
                    <a:rPr kumimoji="1" lang="zh-CN" altLang="en-US" sz="2200" b="1" dirty="0">
                      <a:latin typeface="Microsoft YaHei Light" panose="020B0502040204020203" pitchFamily="34" charset="-122"/>
                      <a:ea typeface="Microsoft YaHei Light" panose="020B0502040204020203" pitchFamily="34" charset="-122"/>
                    </a:rPr>
                    <a:t>环境要求</a:t>
                  </a:r>
                </a:p>
              </p:txBody>
            </p:sp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D3BD8206-18BC-4AF3-9691-8184F69B9E3D}"/>
                    </a:ext>
                  </a:extLst>
                </p:cNvPr>
                <p:cNvSpPr/>
                <p:nvPr/>
              </p:nvSpPr>
              <p:spPr>
                <a:xfrm>
                  <a:off x="674914" y="5316419"/>
                  <a:ext cx="95607" cy="9560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3" name="组 44">
                <a:extLst>
                  <a:ext uri="{FF2B5EF4-FFF2-40B4-BE49-F238E27FC236}">
                    <a16:creationId xmlns:a16="http://schemas.microsoft.com/office/drawing/2014/main" id="{00B2DAF3-9BAF-4B25-8C63-5CD4108F50DA}"/>
                  </a:ext>
                </a:extLst>
              </p:cNvPr>
              <p:cNvGrpSpPr/>
              <p:nvPr/>
            </p:nvGrpSpPr>
            <p:grpSpPr>
              <a:xfrm>
                <a:off x="7433824" y="3613664"/>
                <a:ext cx="2610678" cy="430887"/>
                <a:chOff x="674914" y="5329764"/>
                <a:chExt cx="2610678" cy="430887"/>
              </a:xfrm>
            </p:grpSpPr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3CAFDE29-4F9A-402E-9F76-09B3F42038A0}"/>
                    </a:ext>
                  </a:extLst>
                </p:cNvPr>
                <p:cNvSpPr txBox="1"/>
                <p:nvPr/>
              </p:nvSpPr>
              <p:spPr>
                <a:xfrm>
                  <a:off x="770991" y="5329764"/>
                  <a:ext cx="251460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200" b="1" dirty="0">
                      <a:latin typeface="Microsoft YaHei Light" panose="020B0502040204020203" pitchFamily="34" charset="-122"/>
                      <a:ea typeface="Microsoft YaHei Light" panose="020B0502040204020203" pitchFamily="34" charset="-122"/>
                    </a:rPr>
                    <a:t>04CJQT</a:t>
                  </a:r>
                  <a:r>
                    <a:rPr kumimoji="1" lang="zh-CN" altLang="en-US" sz="2200" b="1" dirty="0">
                      <a:latin typeface="Microsoft YaHei Light" panose="020B0502040204020203" pitchFamily="34" charset="-122"/>
                      <a:ea typeface="Microsoft YaHei Light" panose="020B0502040204020203" pitchFamily="34" charset="-122"/>
                    </a:rPr>
                    <a:t>封装</a:t>
                  </a:r>
                </a:p>
              </p:txBody>
            </p:sp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EC2DB088-74E5-4F42-90D0-E09DF5A2D08E}"/>
                    </a:ext>
                  </a:extLst>
                </p:cNvPr>
                <p:cNvSpPr/>
                <p:nvPr/>
              </p:nvSpPr>
              <p:spPr>
                <a:xfrm>
                  <a:off x="674914" y="5493689"/>
                  <a:ext cx="95607" cy="9560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C30C4EB-733C-4A3E-BC0E-07DC0E62EAB6}"/>
                </a:ext>
              </a:extLst>
            </p:cNvPr>
            <p:cNvSpPr txBox="1"/>
            <p:nvPr/>
          </p:nvSpPr>
          <p:spPr>
            <a:xfrm>
              <a:off x="7529431" y="4423254"/>
              <a:ext cx="25146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06</a:t>
              </a:r>
              <a:r>
                <a:rPr kumimoji="1" lang="zh-CN" altLang="en-US" sz="2200" b="1" dirty="0"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示例展示</a:t>
              </a:r>
            </a:p>
          </p:txBody>
        </p: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7EFB908F-01CA-DB9B-4E93-0AAA1F61DF4B}"/>
              </a:ext>
            </a:extLst>
          </p:cNvPr>
          <p:cNvSpPr/>
          <p:nvPr/>
        </p:nvSpPr>
        <p:spPr>
          <a:xfrm>
            <a:off x="4595615" y="4601790"/>
            <a:ext cx="95607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45533526-B728-E7D2-8464-6B74C6CD7AC5}"/>
              </a:ext>
            </a:extLst>
          </p:cNvPr>
          <p:cNvSpPr/>
          <p:nvPr/>
        </p:nvSpPr>
        <p:spPr>
          <a:xfrm>
            <a:off x="7435240" y="4586232"/>
            <a:ext cx="95607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786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2471399" y="2340429"/>
            <a:ext cx="33201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小</a:t>
            </a:r>
            <a:r>
              <a:rPr lang="zh-CN" altLang="zh-CN" sz="1600" b="1" dirty="0"/>
              <a:t>标题：</a:t>
            </a:r>
            <a:endParaRPr lang="en-US" altLang="zh-CN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72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字体颜色</a:t>
            </a:r>
            <a:r>
              <a:rPr lang="zh-CN" altLang="en-US" sz="1600" dirty="0"/>
              <a:t>：</a:t>
            </a:r>
            <a:r>
              <a:rPr lang="zh-CN" altLang="zh-CN" sz="1600" dirty="0"/>
              <a:t>黑色</a:t>
            </a:r>
          </a:p>
          <a:p>
            <a:r>
              <a:rPr lang="zh-CN" altLang="zh-CN" sz="1600" b="1" dirty="0"/>
              <a:t>分享内容关键词</a:t>
            </a:r>
            <a:r>
              <a:rPr lang="zh-CN" altLang="zh-CN" sz="1600" dirty="0"/>
              <a:t>：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22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</a:t>
            </a:r>
            <a:r>
              <a:rPr lang="zh-CN" altLang="en-US" sz="1600" dirty="0"/>
              <a:t>色：黑色</a:t>
            </a:r>
            <a:endParaRPr lang="zh-CN" altLang="zh-CN" sz="160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702338" y="2381393"/>
            <a:ext cx="10187177" cy="3293209"/>
            <a:chOff x="816709" y="2940593"/>
            <a:chExt cx="10187177" cy="1350555"/>
          </a:xfrm>
        </p:grpSpPr>
        <p:sp>
          <p:nvSpPr>
            <p:cNvPr id="52" name="文本框 51"/>
            <p:cNvSpPr txBox="1"/>
            <p:nvPr/>
          </p:nvSpPr>
          <p:spPr>
            <a:xfrm>
              <a:off x="816709" y="2940593"/>
              <a:ext cx="332659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7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QT</a:t>
              </a:r>
              <a:r>
                <a:rPr kumimoji="1" lang="zh-CN" altLang="en-US" sz="7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介绍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4645096" y="2940593"/>
              <a:ext cx="6146729" cy="1350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‌</a:t>
              </a:r>
              <a:r>
                <a:rPr kumimoji="1" lang="en-US" altLang="zh-CN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Qt</a:t>
              </a:r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是一个跨平台的</a:t>
              </a:r>
              <a:r>
                <a:rPr kumimoji="1" lang="en-US" altLang="zh-CN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C++</a:t>
              </a:r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图形用户界面应用程序开发框架</a:t>
              </a:r>
              <a:endParaRPr kumimoji="1" lang="en-US" altLang="zh-CN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endParaRPr kumimoji="1" lang="en-US" altLang="zh-CN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r>
                <a:rPr lang="zh-CN" altLang="en-US" sz="2000" b="1" i="0" dirty="0">
                  <a:solidFill>
                    <a:srgbClr val="333333"/>
                  </a:solidFill>
                  <a:effectLst/>
                  <a:latin typeface="arial" panose="020B0604020202020204" pitchFamily="34" charset="0"/>
                </a:rPr>
                <a:t>可构建高性能的桌面、移动及</a:t>
              </a:r>
              <a:r>
                <a:rPr lang="en-US" altLang="zh-CN" sz="2000" b="1" i="0" dirty="0">
                  <a:solidFill>
                    <a:srgbClr val="333333"/>
                  </a:solidFill>
                  <a:effectLst/>
                  <a:latin typeface="arial" panose="020B0604020202020204" pitchFamily="34" charset="0"/>
                </a:rPr>
                <a:t>Web</a:t>
              </a:r>
              <a:r>
                <a:rPr lang="zh-CN" altLang="en-US" sz="2000" b="1" i="0" dirty="0">
                  <a:solidFill>
                    <a:srgbClr val="333333"/>
                  </a:solidFill>
                  <a:effectLst/>
                  <a:latin typeface="arial" panose="020B0604020202020204" pitchFamily="34" charset="0"/>
                </a:rPr>
                <a:t>应用程序。也可用于开发非</a:t>
              </a:r>
              <a:r>
                <a:rPr lang="en-US" altLang="zh-CN" sz="2000" b="1" i="0" dirty="0">
                  <a:solidFill>
                    <a:srgbClr val="333333"/>
                  </a:solidFill>
                  <a:effectLst/>
                  <a:latin typeface="arial" panose="020B0604020202020204" pitchFamily="34" charset="0"/>
                </a:rPr>
                <a:t>GUI</a:t>
              </a:r>
              <a:r>
                <a:rPr lang="zh-CN" altLang="en-US" sz="2000" b="1" i="0" dirty="0">
                  <a:solidFill>
                    <a:srgbClr val="333333"/>
                  </a:solidFill>
                  <a:effectLst/>
                  <a:latin typeface="arial" panose="020B0604020202020204" pitchFamily="34" charset="0"/>
                </a:rPr>
                <a:t>程序，比如控制台工具和服务器</a:t>
              </a:r>
              <a:endParaRPr lang="en-US" altLang="zh-CN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endParaRPr>
            </a:p>
            <a:p>
              <a:endPara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endParaRPr>
            </a:p>
            <a:p>
              <a:r>
                <a:rPr kumimoji="1"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支持</a:t>
              </a:r>
              <a:r>
                <a:rPr kumimoji="1" lang="en-US" altLang="zh-CN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Windows</a:t>
              </a:r>
              <a:r>
                <a:rPr kumimoji="1"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、</a:t>
              </a:r>
              <a:r>
                <a:rPr kumimoji="1" lang="en-US" altLang="zh-CN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Linux</a:t>
              </a:r>
              <a:r>
                <a:rPr kumimoji="1"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、</a:t>
              </a:r>
              <a:r>
                <a:rPr kumimoji="1" lang="en-US" altLang="zh-CN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macOS</a:t>
              </a:r>
              <a:r>
                <a:rPr kumimoji="1"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、</a:t>
              </a:r>
              <a:r>
                <a:rPr kumimoji="1" lang="en-US" altLang="zh-CN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Android</a:t>
              </a:r>
              <a:r>
                <a:rPr kumimoji="1"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、</a:t>
              </a:r>
              <a:r>
                <a:rPr kumimoji="1" lang="en-US" altLang="zh-CN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iOS</a:t>
              </a:r>
              <a:r>
                <a:rPr kumimoji="1"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等多种操作系统平台</a:t>
              </a:r>
            </a:p>
            <a:p>
              <a:endParaRPr kumimoji="1"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endParaRPr kumimoji="1" lang="zh-CN" altLang="en-US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4644625" y="3571753"/>
              <a:ext cx="6147199" cy="176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4388663-8147-4E57-90AE-3A6FAD8EC768}"/>
                </a:ext>
              </a:extLst>
            </p:cNvPr>
            <p:cNvSpPr txBox="1"/>
            <p:nvPr/>
          </p:nvSpPr>
          <p:spPr>
            <a:xfrm>
              <a:off x="8048696" y="2940593"/>
              <a:ext cx="29551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0AAB554-0B4D-4C62-8781-14B3F2D74142}"/>
                </a:ext>
              </a:extLst>
            </p:cNvPr>
            <p:cNvSpPr txBox="1"/>
            <p:nvPr/>
          </p:nvSpPr>
          <p:spPr>
            <a:xfrm>
              <a:off x="8048696" y="3577733"/>
              <a:ext cx="29551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6" name="椭圆 5">
            <a:extLst>
              <a:ext uri="{FF2B5EF4-FFF2-40B4-BE49-F238E27FC236}">
                <a16:creationId xmlns:a16="http://schemas.microsoft.com/office/drawing/2014/main" id="{F972F66E-ACBC-204E-AA8E-2841041DB9EC}"/>
              </a:ext>
            </a:extLst>
          </p:cNvPr>
          <p:cNvSpPr/>
          <p:nvPr/>
        </p:nvSpPr>
        <p:spPr>
          <a:xfrm>
            <a:off x="4459595" y="2542791"/>
            <a:ext cx="95607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D170048-FFA8-4F9D-562D-42FEFF5D38A0}"/>
              </a:ext>
            </a:extLst>
          </p:cNvPr>
          <p:cNvSpPr/>
          <p:nvPr/>
        </p:nvSpPr>
        <p:spPr>
          <a:xfrm>
            <a:off x="4411792" y="3536636"/>
            <a:ext cx="95607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694926E-B0EA-B273-8E4D-BF18DCCC0627}"/>
              </a:ext>
            </a:extLst>
          </p:cNvPr>
          <p:cNvSpPr/>
          <p:nvPr/>
        </p:nvSpPr>
        <p:spPr>
          <a:xfrm>
            <a:off x="4373513" y="4458996"/>
            <a:ext cx="95607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761783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2471400" y="2340429"/>
            <a:ext cx="3175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小</a:t>
            </a:r>
            <a:r>
              <a:rPr lang="zh-CN" altLang="zh-CN" sz="1600" b="1" dirty="0"/>
              <a:t>标题：</a:t>
            </a:r>
            <a:endParaRPr lang="en-US" altLang="zh-CN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：等线、微软雅黑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72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字体颜色</a:t>
            </a:r>
            <a:r>
              <a:rPr lang="zh-CN" altLang="en-US" sz="1600" dirty="0"/>
              <a:t>：</a:t>
            </a:r>
            <a:r>
              <a:rPr lang="zh-CN" altLang="zh-CN" sz="1600" dirty="0"/>
              <a:t>黑色</a:t>
            </a:r>
          </a:p>
          <a:p>
            <a:r>
              <a:rPr lang="zh-CN" altLang="zh-CN" sz="1600" b="1" dirty="0"/>
              <a:t>分享内容关键词</a:t>
            </a:r>
            <a:r>
              <a:rPr lang="zh-CN" altLang="zh-CN" sz="1600" dirty="0"/>
              <a:t>：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22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</a:t>
            </a:r>
            <a:r>
              <a:rPr lang="zh-CN" altLang="en-US" sz="1600" dirty="0"/>
              <a:t>色：黑色</a:t>
            </a:r>
            <a:endParaRPr lang="zh-CN" altLang="zh-CN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572868" y="563153"/>
            <a:ext cx="668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QT</a:t>
            </a:r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</a:t>
            </a:r>
          </a:p>
        </p:txBody>
      </p:sp>
      <p:grpSp>
        <p:nvGrpSpPr>
          <p:cNvPr id="18" name="组合 1"/>
          <p:cNvGrpSpPr/>
          <p:nvPr/>
        </p:nvGrpSpPr>
        <p:grpSpPr>
          <a:xfrm>
            <a:off x="1676232" y="1509650"/>
            <a:ext cx="2953924" cy="1078987"/>
            <a:chOff x="1768673" y="1716258"/>
            <a:chExt cx="2724752" cy="998803"/>
          </a:xfrm>
        </p:grpSpPr>
        <p:grpSp>
          <p:nvGrpSpPr>
            <p:cNvPr id="19" name="组合 2"/>
            <p:cNvGrpSpPr/>
            <p:nvPr/>
          </p:nvGrpSpPr>
          <p:grpSpPr>
            <a:xfrm>
              <a:off x="1768673" y="1716258"/>
              <a:ext cx="2724752" cy="998803"/>
              <a:chOff x="2208627" y="2757270"/>
              <a:chExt cx="2098475" cy="769231"/>
            </a:xfrm>
          </p:grpSpPr>
          <p:sp>
            <p:nvSpPr>
              <p:cNvPr id="21" name="任意多边形 4"/>
              <p:cNvSpPr/>
              <p:nvPr/>
            </p:nvSpPr>
            <p:spPr>
              <a:xfrm rot="428685">
                <a:off x="2267286" y="2880533"/>
                <a:ext cx="2039816" cy="645968"/>
              </a:xfrm>
              <a:custGeom>
                <a:avLst/>
                <a:gdLst>
                  <a:gd name="connsiteX0" fmla="*/ 1948193 w 2039816"/>
                  <a:gd name="connsiteY0" fmla="*/ 0 h 645968"/>
                  <a:gd name="connsiteX1" fmla="*/ 2039816 w 2039816"/>
                  <a:gd name="connsiteY1" fmla="*/ 0 h 645968"/>
                  <a:gd name="connsiteX2" fmla="*/ 2039816 w 2039816"/>
                  <a:gd name="connsiteY2" fmla="*/ 645968 h 645968"/>
                  <a:gd name="connsiteX3" fmla="*/ 0 w 2039816"/>
                  <a:gd name="connsiteY3" fmla="*/ 645968 h 645968"/>
                  <a:gd name="connsiteX4" fmla="*/ 0 w 2039816"/>
                  <a:gd name="connsiteY4" fmla="*/ 636726 h 645968"/>
                  <a:gd name="connsiteX5" fmla="*/ 1996635 w 2039816"/>
                  <a:gd name="connsiteY5" fmla="*/ 386448 h 645968"/>
                  <a:gd name="connsiteX6" fmla="*/ 0 w 2039816"/>
                  <a:gd name="connsiteY6" fmla="*/ 0 h 645968"/>
                  <a:gd name="connsiteX7" fmla="*/ 8681 w 2039816"/>
                  <a:gd name="connsiteY7" fmla="*/ 0 h 645968"/>
                  <a:gd name="connsiteX8" fmla="*/ 0 w 2039816"/>
                  <a:gd name="connsiteY8" fmla="*/ 1088 h 64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39816" h="645968">
                    <a:moveTo>
                      <a:pt x="1948193" y="0"/>
                    </a:moveTo>
                    <a:lnTo>
                      <a:pt x="2039816" y="0"/>
                    </a:lnTo>
                    <a:lnTo>
                      <a:pt x="2039816" y="645968"/>
                    </a:lnTo>
                    <a:lnTo>
                      <a:pt x="0" y="645968"/>
                    </a:lnTo>
                    <a:lnTo>
                      <a:pt x="0" y="636726"/>
                    </a:lnTo>
                    <a:lnTo>
                      <a:pt x="1996635" y="386448"/>
                    </a:lnTo>
                    <a:close/>
                    <a:moveTo>
                      <a:pt x="0" y="0"/>
                    </a:moveTo>
                    <a:lnTo>
                      <a:pt x="8681" y="0"/>
                    </a:lnTo>
                    <a:lnTo>
                      <a:pt x="0" y="1088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2208627" y="2757270"/>
                <a:ext cx="2039816" cy="630702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tx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2061273" y="1951992"/>
              <a:ext cx="1022035" cy="3418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i="0" dirty="0">
                  <a:solidFill>
                    <a:srgbClr val="333333"/>
                  </a:solidFill>
                  <a:effectLst/>
                  <a:latin typeface="-apple-system"/>
                </a:rPr>
                <a:t>跨平台性</a:t>
              </a:r>
              <a:r>
                <a:rPr lang="zh-CN" altLang="en-US" b="0" i="0" dirty="0">
                  <a:solidFill>
                    <a:srgbClr val="333333"/>
                  </a:solidFill>
                  <a:effectLst/>
                  <a:latin typeface="-apple-system"/>
                </a:rPr>
                <a:t>‌</a:t>
              </a:r>
              <a:endParaRPr lang="zh-CN" altLang="en-US" b="1" dirty="0">
                <a:effectLst>
                  <a:outerShdw blurRad="508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Microsoft YaHei Light" panose="020B0502040204020203" pitchFamily="34" charset="-122"/>
                <a:ea typeface="Microsoft YaHei Light" panose="020B0502040204020203" pitchFamily="34" charset="-122"/>
                <a:sym typeface="Source Han Serif SC" panose="02020400000000000000" pitchFamily="18" charset="-122"/>
              </a:endParaRPr>
            </a:p>
          </p:txBody>
        </p:sp>
      </p:grpSp>
      <p:sp>
        <p:nvSpPr>
          <p:cNvPr id="48" name="文本框 34"/>
          <p:cNvSpPr txBox="1"/>
          <p:nvPr/>
        </p:nvSpPr>
        <p:spPr>
          <a:xfrm>
            <a:off x="5562601" y="1280311"/>
            <a:ext cx="4713694" cy="51244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endParaRPr lang="en-US" altLang="zh-CN" b="1" dirty="0">
              <a:latin typeface="Source Han Serif SC" panose="02020400000000000000" pitchFamily="18" charset="-122"/>
              <a:ea typeface="Source Han Serif SC" panose="02020400000000000000" pitchFamily="18" charset="-122"/>
              <a:sym typeface="Source Han Serif SC" panose="02020400000000000000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Qt</a:t>
            </a:r>
            <a:r>
              <a:rPr lang="zh-CN" altLang="en-US" dirty="0"/>
              <a:t>允许开发者使用同一套代码在多个平台上开发应用程序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sz="1200" dirty="0">
              <a:latin typeface="Source Han Serif SC" panose="02020400000000000000" pitchFamily="18" charset="-122"/>
              <a:ea typeface="Source Han Serif SC" panose="02020400000000000000" pitchFamily="18" charset="-122"/>
              <a:sym typeface="Source Han Serif SC" panose="02020400000000000000" pitchFamily="18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latin typeface="Source Han Serif SC" panose="02020400000000000000" pitchFamily="18" charset="-122"/>
              <a:ea typeface="Source Han Serif SC" panose="02020400000000000000" pitchFamily="18" charset="-122"/>
              <a:sym typeface="Source Han Serif SC" panose="02020400000000000000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Qt</a:t>
            </a:r>
            <a:r>
              <a:rPr lang="zh-CN" altLang="en-US" dirty="0"/>
              <a:t>是一个面向对象的框架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sz="1200" dirty="0">
              <a:latin typeface="Source Han Serif SC" panose="02020400000000000000" pitchFamily="18" charset="-122"/>
              <a:ea typeface="Source Han Serif SC" panose="02020400000000000000" pitchFamily="18" charset="-122"/>
              <a:sym typeface="Source Han Serif SC" panose="02020400000000000000" pitchFamily="18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latin typeface="Source Han Serif SC" panose="02020400000000000000" pitchFamily="18" charset="-122"/>
              <a:ea typeface="Source Han Serif SC" panose="02020400000000000000" pitchFamily="18" charset="-122"/>
              <a:sym typeface="Source Han Serif SC" panose="02020400000000000000" pitchFamily="18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latin typeface="Source Han Serif SC" panose="02020400000000000000" pitchFamily="18" charset="-122"/>
              <a:ea typeface="Source Han Serif SC" panose="02020400000000000000" pitchFamily="18" charset="-122"/>
              <a:sym typeface="Source Han Serif SC" panose="02020400000000000000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Qt</a:t>
            </a:r>
            <a:r>
              <a:rPr lang="zh-CN" altLang="en-US" dirty="0"/>
              <a:t>提供了图形界面开发工具（</a:t>
            </a:r>
            <a:r>
              <a:rPr lang="en-US" altLang="zh-CN" dirty="0"/>
              <a:t>GUI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、多线程支持、网络通信、数据库访问等功能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Source Han Serif SC" panose="02020400000000000000" pitchFamily="18" charset="-122"/>
              <a:ea typeface="Source Han Serif SC" panose="02020400000000000000" pitchFamily="18" charset="-122"/>
              <a:sym typeface="Source Han Serif SC" panose="02020400000000000000" pitchFamily="18" charset="-122"/>
            </a:endParaRPr>
          </a:p>
          <a:p>
            <a:endParaRPr lang="en-US" altLang="zh-CN" sz="1200" dirty="0">
              <a:latin typeface="Source Han Serif SC" panose="02020400000000000000" pitchFamily="18" charset="-122"/>
              <a:ea typeface="Source Han Serif SC" panose="02020400000000000000" pitchFamily="18" charset="-122"/>
              <a:sym typeface="Source Han Serif SC" panose="02020400000000000000" pitchFamily="18" charset="-122"/>
            </a:endParaRPr>
          </a:p>
          <a:p>
            <a:endParaRPr lang="en-US" altLang="zh-CN" sz="1200" dirty="0">
              <a:latin typeface="Source Han Serif SC" panose="02020400000000000000" pitchFamily="18" charset="-122"/>
              <a:ea typeface="Source Han Serif SC" panose="02020400000000000000" pitchFamily="18" charset="-122"/>
              <a:sym typeface="Source Han Serif SC" panose="02020400000000000000" pitchFamily="18" charset="-122"/>
            </a:endParaRPr>
          </a:p>
          <a:p>
            <a:endParaRPr lang="en-US" altLang="zh-CN" sz="1200" dirty="0">
              <a:latin typeface="Source Han Serif SC" panose="02020400000000000000" pitchFamily="18" charset="-122"/>
              <a:ea typeface="Source Han Serif SC" panose="02020400000000000000" pitchFamily="18" charset="-122"/>
              <a:sym typeface="Source Han Serif SC" panose="02020400000000000000" pitchFamily="18" charset="-122"/>
            </a:endParaRPr>
          </a:p>
          <a:p>
            <a:r>
              <a:rPr lang="en-US" altLang="zh-CN" dirty="0"/>
              <a:t>Qt</a:t>
            </a:r>
            <a:r>
              <a:rPr lang="zh-CN" altLang="en-US" dirty="0"/>
              <a:t>在嵌入式系统上具有高运行时间性能，占用资源少，适用于各种设备</a:t>
            </a:r>
            <a:endParaRPr lang="en-US" altLang="zh-CN" sz="1200" dirty="0">
              <a:latin typeface="Source Han Serif SC" panose="02020400000000000000" pitchFamily="18" charset="-122"/>
              <a:ea typeface="Source Han Serif SC" panose="02020400000000000000" pitchFamily="18" charset="-122"/>
              <a:sym typeface="Source Han Serif SC" panose="02020400000000000000" pitchFamily="18" charset="-122"/>
            </a:endParaRPr>
          </a:p>
        </p:txBody>
      </p:sp>
      <p:sp>
        <p:nvSpPr>
          <p:cNvPr id="49" name="文本框 35"/>
          <p:cNvSpPr txBox="1"/>
          <p:nvPr/>
        </p:nvSpPr>
        <p:spPr>
          <a:xfrm>
            <a:off x="6405803" y="3388332"/>
            <a:ext cx="3870491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endParaRPr lang="en-US" altLang="zh-CN" sz="1200" dirty="0">
              <a:latin typeface="Source Han Serif SC" panose="02020400000000000000" pitchFamily="18" charset="-122"/>
              <a:ea typeface="Source Han Serif SC" panose="02020400000000000000" pitchFamily="18" charset="-122"/>
              <a:sym typeface="Source Han Serif SC" panose="02020400000000000000" pitchFamily="18" charset="-122"/>
            </a:endParaRPr>
          </a:p>
          <a:p>
            <a:endParaRPr lang="en-US" altLang="zh-CN" sz="1200" dirty="0">
              <a:latin typeface="Source Han Serif SC" panose="02020400000000000000" pitchFamily="18" charset="-122"/>
              <a:ea typeface="Source Han Serif SC" panose="02020400000000000000" pitchFamily="18" charset="-122"/>
              <a:sym typeface="Source Han Serif SC" panose="02020400000000000000" pitchFamily="18" charset="-122"/>
            </a:endParaRPr>
          </a:p>
        </p:txBody>
      </p:sp>
      <p:grpSp>
        <p:nvGrpSpPr>
          <p:cNvPr id="27" name="组合 1">
            <a:extLst>
              <a:ext uri="{FF2B5EF4-FFF2-40B4-BE49-F238E27FC236}">
                <a16:creationId xmlns:a16="http://schemas.microsoft.com/office/drawing/2014/main" id="{6E375137-E85E-41BF-B113-EC7731BCB612}"/>
              </a:ext>
            </a:extLst>
          </p:cNvPr>
          <p:cNvGrpSpPr/>
          <p:nvPr/>
        </p:nvGrpSpPr>
        <p:grpSpPr>
          <a:xfrm>
            <a:off x="1676232" y="2828172"/>
            <a:ext cx="2953924" cy="1078991"/>
            <a:chOff x="1768673" y="1716257"/>
            <a:chExt cx="2724752" cy="998806"/>
          </a:xfrm>
        </p:grpSpPr>
        <p:grpSp>
          <p:nvGrpSpPr>
            <p:cNvPr id="28" name="组合 2">
              <a:extLst>
                <a:ext uri="{FF2B5EF4-FFF2-40B4-BE49-F238E27FC236}">
                  <a16:creationId xmlns:a16="http://schemas.microsoft.com/office/drawing/2014/main" id="{A00873AE-5790-47DA-9314-DEEC58D2F8FA}"/>
                </a:ext>
              </a:extLst>
            </p:cNvPr>
            <p:cNvGrpSpPr/>
            <p:nvPr/>
          </p:nvGrpSpPr>
          <p:grpSpPr>
            <a:xfrm>
              <a:off x="1768673" y="1716257"/>
              <a:ext cx="2724752" cy="998806"/>
              <a:chOff x="2208627" y="2757268"/>
              <a:chExt cx="2098475" cy="769233"/>
            </a:xfrm>
          </p:grpSpPr>
          <p:sp>
            <p:nvSpPr>
              <p:cNvPr id="30" name="任意多边形 4">
                <a:extLst>
                  <a:ext uri="{FF2B5EF4-FFF2-40B4-BE49-F238E27FC236}">
                    <a16:creationId xmlns:a16="http://schemas.microsoft.com/office/drawing/2014/main" id="{0087E2CF-9E14-4C1A-A326-0A192E69A816}"/>
                  </a:ext>
                </a:extLst>
              </p:cNvPr>
              <p:cNvSpPr/>
              <p:nvPr/>
            </p:nvSpPr>
            <p:spPr>
              <a:xfrm rot="428685">
                <a:off x="2267286" y="2880533"/>
                <a:ext cx="2039816" cy="645968"/>
              </a:xfrm>
              <a:custGeom>
                <a:avLst/>
                <a:gdLst>
                  <a:gd name="connsiteX0" fmla="*/ 1948193 w 2039816"/>
                  <a:gd name="connsiteY0" fmla="*/ 0 h 645968"/>
                  <a:gd name="connsiteX1" fmla="*/ 2039816 w 2039816"/>
                  <a:gd name="connsiteY1" fmla="*/ 0 h 645968"/>
                  <a:gd name="connsiteX2" fmla="*/ 2039816 w 2039816"/>
                  <a:gd name="connsiteY2" fmla="*/ 645968 h 645968"/>
                  <a:gd name="connsiteX3" fmla="*/ 0 w 2039816"/>
                  <a:gd name="connsiteY3" fmla="*/ 645968 h 645968"/>
                  <a:gd name="connsiteX4" fmla="*/ 0 w 2039816"/>
                  <a:gd name="connsiteY4" fmla="*/ 636726 h 645968"/>
                  <a:gd name="connsiteX5" fmla="*/ 1996635 w 2039816"/>
                  <a:gd name="connsiteY5" fmla="*/ 386448 h 645968"/>
                  <a:gd name="connsiteX6" fmla="*/ 0 w 2039816"/>
                  <a:gd name="connsiteY6" fmla="*/ 0 h 645968"/>
                  <a:gd name="connsiteX7" fmla="*/ 8681 w 2039816"/>
                  <a:gd name="connsiteY7" fmla="*/ 0 h 645968"/>
                  <a:gd name="connsiteX8" fmla="*/ 0 w 2039816"/>
                  <a:gd name="connsiteY8" fmla="*/ 1088 h 64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39816" h="645968">
                    <a:moveTo>
                      <a:pt x="1948193" y="0"/>
                    </a:moveTo>
                    <a:lnTo>
                      <a:pt x="2039816" y="0"/>
                    </a:lnTo>
                    <a:lnTo>
                      <a:pt x="2039816" y="645968"/>
                    </a:lnTo>
                    <a:lnTo>
                      <a:pt x="0" y="645968"/>
                    </a:lnTo>
                    <a:lnTo>
                      <a:pt x="0" y="636726"/>
                    </a:lnTo>
                    <a:lnTo>
                      <a:pt x="1996635" y="386448"/>
                    </a:lnTo>
                    <a:close/>
                    <a:moveTo>
                      <a:pt x="0" y="0"/>
                    </a:moveTo>
                    <a:lnTo>
                      <a:pt x="8681" y="0"/>
                    </a:lnTo>
                    <a:lnTo>
                      <a:pt x="0" y="1088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1F16049B-D1EB-450E-82B6-30A2A44793A1}"/>
                  </a:ext>
                </a:extLst>
              </p:cNvPr>
              <p:cNvSpPr/>
              <p:nvPr/>
            </p:nvSpPr>
            <p:spPr>
              <a:xfrm>
                <a:off x="2208627" y="2757268"/>
                <a:ext cx="2039816" cy="630702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</p:grp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DC0B173-3774-4D0D-901A-A425BADB3D87}"/>
                </a:ext>
              </a:extLst>
            </p:cNvPr>
            <p:cNvSpPr/>
            <p:nvPr/>
          </p:nvSpPr>
          <p:spPr>
            <a:xfrm>
              <a:off x="2061273" y="1951992"/>
              <a:ext cx="1022035" cy="3418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i="0" dirty="0">
                  <a:solidFill>
                    <a:srgbClr val="333333"/>
                  </a:solidFill>
                  <a:effectLst/>
                  <a:latin typeface="-apple-system"/>
                </a:rPr>
                <a:t>面向对象</a:t>
              </a:r>
              <a:endParaRPr lang="zh-CN" altLang="en-US" b="1" dirty="0">
                <a:effectLst>
                  <a:outerShdw blurRad="508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Microsoft YaHei Light" panose="020B0502040204020203" pitchFamily="34" charset="-122"/>
                <a:ea typeface="Microsoft YaHei Light" panose="020B0502040204020203" pitchFamily="34" charset="-122"/>
                <a:sym typeface="Source Han Serif SC" panose="02020400000000000000" pitchFamily="18" charset="-122"/>
              </a:endParaRPr>
            </a:p>
          </p:txBody>
        </p:sp>
      </p:grpSp>
      <p:grpSp>
        <p:nvGrpSpPr>
          <p:cNvPr id="32" name="组合 1">
            <a:extLst>
              <a:ext uri="{FF2B5EF4-FFF2-40B4-BE49-F238E27FC236}">
                <a16:creationId xmlns:a16="http://schemas.microsoft.com/office/drawing/2014/main" id="{208843EC-B08F-426F-909C-EF3701E3A4FF}"/>
              </a:ext>
            </a:extLst>
          </p:cNvPr>
          <p:cNvGrpSpPr/>
          <p:nvPr/>
        </p:nvGrpSpPr>
        <p:grpSpPr>
          <a:xfrm>
            <a:off x="1676232" y="4144539"/>
            <a:ext cx="2953924" cy="1078991"/>
            <a:chOff x="1768673" y="1716257"/>
            <a:chExt cx="2724752" cy="998806"/>
          </a:xfrm>
        </p:grpSpPr>
        <p:grpSp>
          <p:nvGrpSpPr>
            <p:cNvPr id="33" name="组合 2">
              <a:extLst>
                <a:ext uri="{FF2B5EF4-FFF2-40B4-BE49-F238E27FC236}">
                  <a16:creationId xmlns:a16="http://schemas.microsoft.com/office/drawing/2014/main" id="{B6FAC0EF-ECF6-4C59-816E-532B43087003}"/>
                </a:ext>
              </a:extLst>
            </p:cNvPr>
            <p:cNvGrpSpPr/>
            <p:nvPr/>
          </p:nvGrpSpPr>
          <p:grpSpPr>
            <a:xfrm>
              <a:off x="1768673" y="1716257"/>
              <a:ext cx="2724752" cy="998806"/>
              <a:chOff x="2208627" y="2757268"/>
              <a:chExt cx="2098475" cy="769233"/>
            </a:xfrm>
          </p:grpSpPr>
          <p:sp>
            <p:nvSpPr>
              <p:cNvPr id="35" name="任意多边形 4">
                <a:extLst>
                  <a:ext uri="{FF2B5EF4-FFF2-40B4-BE49-F238E27FC236}">
                    <a16:creationId xmlns:a16="http://schemas.microsoft.com/office/drawing/2014/main" id="{340C99FC-C334-47C5-A65C-5D9CF9C88D12}"/>
                  </a:ext>
                </a:extLst>
              </p:cNvPr>
              <p:cNvSpPr/>
              <p:nvPr/>
            </p:nvSpPr>
            <p:spPr>
              <a:xfrm rot="428685">
                <a:off x="2267286" y="2880533"/>
                <a:ext cx="2039816" cy="645968"/>
              </a:xfrm>
              <a:custGeom>
                <a:avLst/>
                <a:gdLst>
                  <a:gd name="connsiteX0" fmla="*/ 1948193 w 2039816"/>
                  <a:gd name="connsiteY0" fmla="*/ 0 h 645968"/>
                  <a:gd name="connsiteX1" fmla="*/ 2039816 w 2039816"/>
                  <a:gd name="connsiteY1" fmla="*/ 0 h 645968"/>
                  <a:gd name="connsiteX2" fmla="*/ 2039816 w 2039816"/>
                  <a:gd name="connsiteY2" fmla="*/ 645968 h 645968"/>
                  <a:gd name="connsiteX3" fmla="*/ 0 w 2039816"/>
                  <a:gd name="connsiteY3" fmla="*/ 645968 h 645968"/>
                  <a:gd name="connsiteX4" fmla="*/ 0 w 2039816"/>
                  <a:gd name="connsiteY4" fmla="*/ 636726 h 645968"/>
                  <a:gd name="connsiteX5" fmla="*/ 1996635 w 2039816"/>
                  <a:gd name="connsiteY5" fmla="*/ 386448 h 645968"/>
                  <a:gd name="connsiteX6" fmla="*/ 0 w 2039816"/>
                  <a:gd name="connsiteY6" fmla="*/ 0 h 645968"/>
                  <a:gd name="connsiteX7" fmla="*/ 8681 w 2039816"/>
                  <a:gd name="connsiteY7" fmla="*/ 0 h 645968"/>
                  <a:gd name="connsiteX8" fmla="*/ 0 w 2039816"/>
                  <a:gd name="connsiteY8" fmla="*/ 1088 h 64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39816" h="645968">
                    <a:moveTo>
                      <a:pt x="1948193" y="0"/>
                    </a:moveTo>
                    <a:lnTo>
                      <a:pt x="2039816" y="0"/>
                    </a:lnTo>
                    <a:lnTo>
                      <a:pt x="2039816" y="645968"/>
                    </a:lnTo>
                    <a:lnTo>
                      <a:pt x="0" y="645968"/>
                    </a:lnTo>
                    <a:lnTo>
                      <a:pt x="0" y="636726"/>
                    </a:lnTo>
                    <a:lnTo>
                      <a:pt x="1996635" y="386448"/>
                    </a:lnTo>
                    <a:close/>
                    <a:moveTo>
                      <a:pt x="0" y="0"/>
                    </a:moveTo>
                    <a:lnTo>
                      <a:pt x="8681" y="0"/>
                    </a:lnTo>
                    <a:lnTo>
                      <a:pt x="0" y="1088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0C62924B-6FE3-4A60-9BE1-E9ED13FCECAD}"/>
                  </a:ext>
                </a:extLst>
              </p:cNvPr>
              <p:cNvSpPr/>
              <p:nvPr/>
            </p:nvSpPr>
            <p:spPr>
              <a:xfrm>
                <a:off x="2208627" y="2757268"/>
                <a:ext cx="2039816" cy="630702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</p:grp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C1AA268-A791-4A07-B20F-E7FBBCC1334F}"/>
                </a:ext>
              </a:extLst>
            </p:cNvPr>
            <p:cNvSpPr/>
            <p:nvPr/>
          </p:nvSpPr>
          <p:spPr>
            <a:xfrm>
              <a:off x="2061273" y="1951992"/>
              <a:ext cx="1660807" cy="3418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i="0" dirty="0">
                  <a:solidFill>
                    <a:srgbClr val="333333"/>
                  </a:solidFill>
                  <a:effectLst/>
                  <a:latin typeface="-apple-system"/>
                </a:rPr>
                <a:t>丰富的工具和库</a:t>
              </a:r>
              <a:endParaRPr lang="zh-CN" altLang="en-US" b="1" dirty="0">
                <a:effectLst>
                  <a:outerShdw blurRad="508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Microsoft YaHei Light" panose="020B0502040204020203" pitchFamily="34" charset="-122"/>
                <a:ea typeface="Microsoft YaHei Light" panose="020B0502040204020203" pitchFamily="34" charset="-122"/>
                <a:sym typeface="Source Han Serif SC" panose="02020400000000000000" pitchFamily="18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E43A971-353C-9652-4DEE-5A5EEBE8920E}"/>
              </a:ext>
            </a:extLst>
          </p:cNvPr>
          <p:cNvGrpSpPr/>
          <p:nvPr/>
        </p:nvGrpSpPr>
        <p:grpSpPr>
          <a:xfrm>
            <a:off x="1676232" y="5469254"/>
            <a:ext cx="2953924" cy="1078991"/>
            <a:chOff x="1768673" y="1716257"/>
            <a:chExt cx="2724752" cy="998806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B326B0F-F304-47F0-ED62-3A92FC15CAC2}"/>
                </a:ext>
              </a:extLst>
            </p:cNvPr>
            <p:cNvGrpSpPr/>
            <p:nvPr/>
          </p:nvGrpSpPr>
          <p:grpSpPr>
            <a:xfrm>
              <a:off x="1768673" y="1716257"/>
              <a:ext cx="2724752" cy="998806"/>
              <a:chOff x="2208627" y="2757268"/>
              <a:chExt cx="2098475" cy="769233"/>
            </a:xfrm>
          </p:grpSpPr>
          <p:sp>
            <p:nvSpPr>
              <p:cNvPr id="5" name="任意多边形 4">
                <a:extLst>
                  <a:ext uri="{FF2B5EF4-FFF2-40B4-BE49-F238E27FC236}">
                    <a16:creationId xmlns:a16="http://schemas.microsoft.com/office/drawing/2014/main" id="{F4082883-26BC-5697-2436-54B73E1D1AC3}"/>
                  </a:ext>
                </a:extLst>
              </p:cNvPr>
              <p:cNvSpPr/>
              <p:nvPr/>
            </p:nvSpPr>
            <p:spPr>
              <a:xfrm rot="428685">
                <a:off x="2267286" y="2880533"/>
                <a:ext cx="2039816" cy="645968"/>
              </a:xfrm>
              <a:custGeom>
                <a:avLst/>
                <a:gdLst>
                  <a:gd name="connsiteX0" fmla="*/ 1948193 w 2039816"/>
                  <a:gd name="connsiteY0" fmla="*/ 0 h 645968"/>
                  <a:gd name="connsiteX1" fmla="*/ 2039816 w 2039816"/>
                  <a:gd name="connsiteY1" fmla="*/ 0 h 645968"/>
                  <a:gd name="connsiteX2" fmla="*/ 2039816 w 2039816"/>
                  <a:gd name="connsiteY2" fmla="*/ 645968 h 645968"/>
                  <a:gd name="connsiteX3" fmla="*/ 0 w 2039816"/>
                  <a:gd name="connsiteY3" fmla="*/ 645968 h 645968"/>
                  <a:gd name="connsiteX4" fmla="*/ 0 w 2039816"/>
                  <a:gd name="connsiteY4" fmla="*/ 636726 h 645968"/>
                  <a:gd name="connsiteX5" fmla="*/ 1996635 w 2039816"/>
                  <a:gd name="connsiteY5" fmla="*/ 386448 h 645968"/>
                  <a:gd name="connsiteX6" fmla="*/ 0 w 2039816"/>
                  <a:gd name="connsiteY6" fmla="*/ 0 h 645968"/>
                  <a:gd name="connsiteX7" fmla="*/ 8681 w 2039816"/>
                  <a:gd name="connsiteY7" fmla="*/ 0 h 645968"/>
                  <a:gd name="connsiteX8" fmla="*/ 0 w 2039816"/>
                  <a:gd name="connsiteY8" fmla="*/ 1088 h 64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39816" h="645968">
                    <a:moveTo>
                      <a:pt x="1948193" y="0"/>
                    </a:moveTo>
                    <a:lnTo>
                      <a:pt x="2039816" y="0"/>
                    </a:lnTo>
                    <a:lnTo>
                      <a:pt x="2039816" y="645968"/>
                    </a:lnTo>
                    <a:lnTo>
                      <a:pt x="0" y="645968"/>
                    </a:lnTo>
                    <a:lnTo>
                      <a:pt x="0" y="636726"/>
                    </a:lnTo>
                    <a:lnTo>
                      <a:pt x="1996635" y="386448"/>
                    </a:lnTo>
                    <a:close/>
                    <a:moveTo>
                      <a:pt x="0" y="0"/>
                    </a:moveTo>
                    <a:lnTo>
                      <a:pt x="8681" y="0"/>
                    </a:lnTo>
                    <a:lnTo>
                      <a:pt x="0" y="1088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082E8FA-47AC-049E-967B-CC42BAA671F1}"/>
                  </a:ext>
                </a:extLst>
              </p:cNvPr>
              <p:cNvSpPr/>
              <p:nvPr/>
            </p:nvSpPr>
            <p:spPr>
              <a:xfrm>
                <a:off x="2208627" y="2757268"/>
                <a:ext cx="2039816" cy="630702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Source Han Serif SC" panose="02020400000000000000" pitchFamily="18" charset="-122"/>
                  <a:ea typeface="Source Han Serif SC" panose="02020400000000000000" pitchFamily="18" charset="-122"/>
                  <a:sym typeface="Source Han Serif SC" panose="02020400000000000000" pitchFamily="18" charset="-122"/>
                </a:endParaRPr>
              </a:p>
            </p:txBody>
          </p: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1306F33-5ED7-137A-AB54-3970977C5857}"/>
                </a:ext>
              </a:extLst>
            </p:cNvPr>
            <p:cNvSpPr/>
            <p:nvPr/>
          </p:nvSpPr>
          <p:spPr>
            <a:xfrm>
              <a:off x="2061273" y="1951992"/>
              <a:ext cx="809111" cy="3418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i="0" dirty="0">
                  <a:solidFill>
                    <a:srgbClr val="333333"/>
                  </a:solidFill>
                  <a:effectLst/>
                  <a:latin typeface="-apple-system"/>
                </a:rPr>
                <a:t>高性能</a:t>
              </a:r>
              <a:endParaRPr lang="zh-CN" altLang="en-US" b="1" dirty="0">
                <a:effectLst>
                  <a:outerShdw blurRad="508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Microsoft YaHei Light" panose="020B0502040204020203" pitchFamily="34" charset="-122"/>
                <a:ea typeface="Microsoft YaHei Light" panose="020B0502040204020203" pitchFamily="34" charset="-122"/>
                <a:sym typeface="Source Han Serif SC" panose="020204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9755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5F348215-ECA3-4D11-978A-6D7D0C17C691}"/>
              </a:ext>
            </a:extLst>
          </p:cNvPr>
          <p:cNvGrpSpPr/>
          <p:nvPr/>
        </p:nvGrpSpPr>
        <p:grpSpPr>
          <a:xfrm>
            <a:off x="429208" y="2940593"/>
            <a:ext cx="9599795" cy="1200329"/>
            <a:chOff x="816709" y="2940593"/>
            <a:chExt cx="9212294" cy="1200329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97C2D08-2F0D-4B64-8CEC-97EA770BAD6B}"/>
                </a:ext>
              </a:extLst>
            </p:cNvPr>
            <p:cNvSpPr txBox="1"/>
            <p:nvPr/>
          </p:nvSpPr>
          <p:spPr>
            <a:xfrm>
              <a:off x="816709" y="2940593"/>
              <a:ext cx="39605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7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环境要求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269C77E-2C8D-417F-94F5-1EBCAC0E734E}"/>
                </a:ext>
              </a:extLst>
            </p:cNvPr>
            <p:cNvSpPr txBox="1"/>
            <p:nvPr/>
          </p:nvSpPr>
          <p:spPr>
            <a:xfrm>
              <a:off x="5021161" y="2940593"/>
              <a:ext cx="25146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64</a:t>
              </a:r>
              <a:r>
                <a:rPr kumimoji="1"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位操作系统</a:t>
              </a: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C432D6ED-4E4C-4C04-8A89-433F50935B16}"/>
                </a:ext>
              </a:extLst>
            </p:cNvPr>
            <p:cNvSpPr/>
            <p:nvPr/>
          </p:nvSpPr>
          <p:spPr>
            <a:xfrm>
              <a:off x="4701714" y="3114113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58B1360-323E-4FCD-BC4C-0A86369AC44E}"/>
                </a:ext>
              </a:extLst>
            </p:cNvPr>
            <p:cNvSpPr txBox="1"/>
            <p:nvPr/>
          </p:nvSpPr>
          <p:spPr>
            <a:xfrm>
              <a:off x="5021161" y="3571753"/>
              <a:ext cx="25146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Qt V5.14.2</a:t>
              </a:r>
              <a:endParaRPr kumimoji="1"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83918F0B-4995-4EA8-9060-64C1778934F1}"/>
                </a:ext>
              </a:extLst>
            </p:cNvPr>
            <p:cNvSpPr/>
            <p:nvPr/>
          </p:nvSpPr>
          <p:spPr>
            <a:xfrm>
              <a:off x="4754962" y="3745273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B0C5E12-C9A3-48AC-A1DD-E1C7435912BE}"/>
                </a:ext>
              </a:extLst>
            </p:cNvPr>
            <p:cNvSpPr txBox="1"/>
            <p:nvPr/>
          </p:nvSpPr>
          <p:spPr>
            <a:xfrm>
              <a:off x="7514402" y="2940593"/>
              <a:ext cx="25146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C++ V14</a:t>
              </a:r>
              <a:endParaRPr kumimoji="1"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95D59769-4683-464D-AE3B-2D401C6B3CEC}"/>
                </a:ext>
              </a:extLst>
            </p:cNvPr>
            <p:cNvSpPr/>
            <p:nvPr/>
          </p:nvSpPr>
          <p:spPr>
            <a:xfrm>
              <a:off x="7418795" y="3114113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ECC77E4-8F19-40C9-828D-CBF91B6948DC}"/>
                </a:ext>
              </a:extLst>
            </p:cNvPr>
            <p:cNvSpPr txBox="1"/>
            <p:nvPr/>
          </p:nvSpPr>
          <p:spPr>
            <a:xfrm>
              <a:off x="7513932" y="3571753"/>
              <a:ext cx="25146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Cangjie</a:t>
              </a:r>
              <a:r>
                <a:rPr kumimoji="1"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V0.53.4</a:t>
              </a:r>
              <a:endParaRPr kumimoji="1"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AFA49B82-4037-4661-82CA-756DF800DD15}"/>
                </a:ext>
              </a:extLst>
            </p:cNvPr>
            <p:cNvSpPr/>
            <p:nvPr/>
          </p:nvSpPr>
          <p:spPr>
            <a:xfrm>
              <a:off x="7418325" y="3745273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8558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A026E-222E-5A40-342B-1FD52AA59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606CEC85-4861-E228-A7C8-9E5416DA40E6}"/>
              </a:ext>
            </a:extLst>
          </p:cNvPr>
          <p:cNvSpPr txBox="1"/>
          <p:nvPr/>
        </p:nvSpPr>
        <p:spPr>
          <a:xfrm>
            <a:off x="12471399" y="2340429"/>
            <a:ext cx="33201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小</a:t>
            </a:r>
            <a:r>
              <a:rPr lang="zh-CN" altLang="zh-CN" sz="1600" b="1" dirty="0"/>
              <a:t>标题：</a:t>
            </a:r>
            <a:endParaRPr lang="en-US" altLang="zh-CN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72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字体颜色</a:t>
            </a:r>
            <a:r>
              <a:rPr lang="zh-CN" altLang="en-US" sz="1600" dirty="0"/>
              <a:t>：</a:t>
            </a:r>
            <a:r>
              <a:rPr lang="zh-CN" altLang="zh-CN" sz="1600" dirty="0"/>
              <a:t>黑色</a:t>
            </a:r>
          </a:p>
          <a:p>
            <a:r>
              <a:rPr lang="zh-CN" altLang="zh-CN" sz="1600" b="1" dirty="0"/>
              <a:t>分享内容关键词</a:t>
            </a:r>
            <a:r>
              <a:rPr lang="zh-CN" altLang="zh-CN" sz="1600" dirty="0"/>
              <a:t>：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22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</a:t>
            </a:r>
            <a:r>
              <a:rPr lang="zh-CN" altLang="en-US" sz="1600" dirty="0"/>
              <a:t>色：黑色</a:t>
            </a:r>
            <a:endParaRPr lang="zh-CN" altLang="zh-CN" sz="1600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9285D713-04F5-C4C0-9DD1-00322155B994}"/>
              </a:ext>
            </a:extLst>
          </p:cNvPr>
          <p:cNvGrpSpPr/>
          <p:nvPr/>
        </p:nvGrpSpPr>
        <p:grpSpPr>
          <a:xfrm>
            <a:off x="323849" y="2381392"/>
            <a:ext cx="10869602" cy="2604289"/>
            <a:chOff x="816708" y="2940593"/>
            <a:chExt cx="10480226" cy="1068027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ADF3C371-2CC0-0156-DFFE-6486E81B70C2}"/>
                </a:ext>
              </a:extLst>
            </p:cNvPr>
            <p:cNvSpPr txBox="1"/>
            <p:nvPr/>
          </p:nvSpPr>
          <p:spPr>
            <a:xfrm>
              <a:off x="816708" y="2940593"/>
              <a:ext cx="4215360" cy="49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7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CJQT</a:t>
              </a:r>
              <a:r>
                <a:rPr kumimoji="1" lang="zh-CN" altLang="en-US" sz="7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9FF04C06-3D9D-7F8E-34E4-8F1F8AC89D3B}"/>
                </a:ext>
              </a:extLst>
            </p:cNvPr>
            <p:cNvSpPr txBox="1"/>
            <p:nvPr/>
          </p:nvSpPr>
          <p:spPr>
            <a:xfrm>
              <a:off x="5537176" y="2940593"/>
              <a:ext cx="5759758" cy="8456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‌</a:t>
              </a:r>
              <a:endParaRPr kumimoji="1" lang="en-US" altLang="zh-CN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r>
                <a:rPr kumimoji="1" lang="en-US" altLang="zh-CN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https://gitcode.com/Cangjie-TPC/CJQT.git</a:t>
              </a:r>
            </a:p>
            <a:p>
              <a:endParaRPr kumimoji="1" lang="en-US" altLang="zh-CN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br>
                <a:rPr lang="en-US" altLang="zh-CN" sz="2000" b="1" i="0" dirty="0">
                  <a:solidFill>
                    <a:srgbClr val="333333"/>
                  </a:solidFill>
                  <a:effectLst/>
                  <a:latin typeface="arial" panose="020B0604020202020204" pitchFamily="34" charset="0"/>
                </a:rPr>
              </a:br>
              <a:endParaRPr kumimoji="1"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endParaRPr kumimoji="1" lang="zh-CN" altLang="en-US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A85808C-848C-2765-7E58-6B4E17A51A8A}"/>
                </a:ext>
              </a:extLst>
            </p:cNvPr>
            <p:cNvSpPr txBox="1"/>
            <p:nvPr/>
          </p:nvSpPr>
          <p:spPr>
            <a:xfrm>
              <a:off x="8048696" y="3577733"/>
              <a:ext cx="29551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269221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45BEB-F520-DB82-C182-125E67175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E62C5919-CBFF-D3AE-1D95-22EA9B0F1B28}"/>
              </a:ext>
            </a:extLst>
          </p:cNvPr>
          <p:cNvSpPr txBox="1"/>
          <p:nvPr/>
        </p:nvSpPr>
        <p:spPr>
          <a:xfrm>
            <a:off x="12471399" y="2340429"/>
            <a:ext cx="33201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小</a:t>
            </a:r>
            <a:r>
              <a:rPr lang="zh-CN" altLang="zh-CN" sz="1600" b="1" dirty="0"/>
              <a:t>标题：</a:t>
            </a:r>
            <a:endParaRPr lang="en-US" altLang="zh-CN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72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字体颜色</a:t>
            </a:r>
            <a:r>
              <a:rPr lang="zh-CN" altLang="en-US" sz="1600" dirty="0"/>
              <a:t>：</a:t>
            </a:r>
            <a:r>
              <a:rPr lang="zh-CN" altLang="zh-CN" sz="1600" dirty="0"/>
              <a:t>黑色</a:t>
            </a:r>
          </a:p>
          <a:p>
            <a:r>
              <a:rPr lang="zh-CN" altLang="zh-CN" sz="1600" b="1" dirty="0"/>
              <a:t>分享内容关键词</a:t>
            </a:r>
            <a:r>
              <a:rPr lang="zh-CN" altLang="zh-CN" sz="1600" dirty="0"/>
              <a:t>：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22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</a:t>
            </a:r>
            <a:r>
              <a:rPr lang="zh-CN" altLang="en-US" sz="1600" dirty="0"/>
              <a:t>色：黑色</a:t>
            </a:r>
            <a:endParaRPr lang="zh-CN" altLang="zh-CN" sz="1600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C97A668-A4C5-2184-FB04-80FA1AF4B803}"/>
              </a:ext>
            </a:extLst>
          </p:cNvPr>
          <p:cNvGrpSpPr/>
          <p:nvPr/>
        </p:nvGrpSpPr>
        <p:grpSpPr>
          <a:xfrm>
            <a:off x="323849" y="2381389"/>
            <a:ext cx="10869602" cy="2616100"/>
            <a:chOff x="816708" y="2940593"/>
            <a:chExt cx="10480226" cy="1072871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2892730-763F-139C-1D9A-C890886C7CCA}"/>
                </a:ext>
              </a:extLst>
            </p:cNvPr>
            <p:cNvSpPr txBox="1"/>
            <p:nvPr/>
          </p:nvSpPr>
          <p:spPr>
            <a:xfrm>
              <a:off x="816708" y="2940593"/>
              <a:ext cx="4215360" cy="49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7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36A9DC0C-EC04-DB34-86B5-4A7A7BA00E76}"/>
                </a:ext>
              </a:extLst>
            </p:cNvPr>
            <p:cNvSpPr txBox="1"/>
            <p:nvPr/>
          </p:nvSpPr>
          <p:spPr>
            <a:xfrm>
              <a:off x="5537176" y="2940593"/>
              <a:ext cx="5759758" cy="1072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‌</a:t>
              </a:r>
              <a:endParaRPr kumimoji="1" lang="en-US" altLang="zh-CN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r>
                <a:rPr kumimoji="1" lang="en-US" altLang="zh-CN" sz="2000" b="1" dirty="0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doc	</a:t>
              </a:r>
              <a:r>
                <a:rPr kumimoji="1" lang="zh-CN" altLang="en-US" sz="2000" b="1" dirty="0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文档</a:t>
              </a:r>
              <a:endParaRPr kumimoji="1" lang="en-US" altLang="zh-CN" sz="2000" b="1" dirty="0">
                <a:solidFill>
                  <a:srgbClr val="333333"/>
                </a:solidFill>
                <a:latin typeface="arial" panose="020B0604020202020204" pitchFamily="34" charset="0"/>
                <a:ea typeface="微软雅黑 Light" panose="020B0502040204020203" pitchFamily="34" charset="-122"/>
              </a:endParaRPr>
            </a:p>
            <a:p>
              <a:endParaRPr kumimoji="1" lang="en-US" altLang="zh-CN" sz="2000" b="1" dirty="0">
                <a:solidFill>
                  <a:srgbClr val="333333"/>
                </a:solidFill>
                <a:latin typeface="arial" panose="020B0604020202020204" pitchFamily="34" charset="0"/>
                <a:ea typeface="微软雅黑 Light" panose="020B0502040204020203" pitchFamily="34" charset="-122"/>
              </a:endParaRPr>
            </a:p>
            <a:p>
              <a:r>
                <a:rPr kumimoji="1" lang="en-US" altLang="zh-CN" sz="2000" b="1" dirty="0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example  </a:t>
              </a:r>
              <a:r>
                <a:rPr kumimoji="1" lang="zh-CN" altLang="en-US" sz="2000" b="1" dirty="0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示例</a:t>
              </a:r>
              <a:endParaRPr kumimoji="1" lang="en-US" altLang="zh-CN" sz="2000" b="1" dirty="0">
                <a:solidFill>
                  <a:srgbClr val="333333"/>
                </a:solidFill>
                <a:latin typeface="arial" panose="020B0604020202020204" pitchFamily="34" charset="0"/>
                <a:ea typeface="微软雅黑 Light" panose="020B0502040204020203" pitchFamily="34" charset="-122"/>
              </a:endParaRPr>
            </a:p>
            <a:p>
              <a:endParaRPr kumimoji="1" lang="en-US" altLang="zh-CN" sz="2000" b="1" dirty="0">
                <a:solidFill>
                  <a:srgbClr val="333333"/>
                </a:solidFill>
                <a:latin typeface="arial" panose="020B0604020202020204" pitchFamily="34" charset="0"/>
                <a:ea typeface="微软雅黑 Light" panose="020B0502040204020203" pitchFamily="34" charset="-122"/>
              </a:endParaRPr>
            </a:p>
            <a:p>
              <a:r>
                <a:rPr kumimoji="1" lang="en-US" altLang="zh-CN" sz="2000" b="1" dirty="0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native  </a:t>
              </a:r>
              <a:r>
                <a:rPr kumimoji="1" lang="zh-CN" altLang="en-US" sz="2000" b="1" dirty="0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基于</a:t>
              </a:r>
              <a:r>
                <a:rPr kumimoji="1" lang="en-US" altLang="zh-CN" sz="2000" b="1" dirty="0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Qt</a:t>
              </a:r>
              <a:r>
                <a:rPr kumimoji="1" lang="zh-CN" altLang="en-US" sz="2000" b="1" dirty="0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的</a:t>
              </a:r>
              <a:r>
                <a:rPr kumimoji="1" lang="en-US" altLang="zh-CN" sz="2000" b="1" dirty="0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C</a:t>
              </a:r>
              <a:r>
                <a:rPr kumimoji="1" lang="zh-CN" altLang="en-US" sz="2000" b="1" dirty="0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项目</a:t>
              </a:r>
              <a:endParaRPr kumimoji="1" lang="en-US" altLang="zh-CN" sz="2000" b="1" dirty="0">
                <a:solidFill>
                  <a:srgbClr val="333333"/>
                </a:solidFill>
                <a:latin typeface="arial" panose="020B0604020202020204" pitchFamily="34" charset="0"/>
                <a:ea typeface="微软雅黑 Light" panose="020B0502040204020203" pitchFamily="34" charset="-122"/>
              </a:endParaRPr>
            </a:p>
            <a:p>
              <a:endParaRPr kumimoji="1" lang="en-US" altLang="zh-CN" sz="2000" b="1" dirty="0">
                <a:solidFill>
                  <a:srgbClr val="333333"/>
                </a:solidFill>
                <a:latin typeface="arial" panose="020B0604020202020204" pitchFamily="34" charset="0"/>
                <a:ea typeface="微软雅黑 Light" panose="020B0502040204020203" pitchFamily="34" charset="-122"/>
              </a:endParaRPr>
            </a:p>
            <a:p>
              <a:r>
                <a:rPr kumimoji="1" lang="en-US" altLang="zh-CN" sz="2000" b="1" dirty="0" err="1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src</a:t>
              </a:r>
              <a:r>
                <a:rPr kumimoji="1" lang="en-US" altLang="zh-CN" sz="2000" b="1" dirty="0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 </a:t>
              </a:r>
              <a:r>
                <a:rPr kumimoji="1" lang="zh-CN" altLang="en-US" sz="2000" b="1" dirty="0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源码目录，基于</a:t>
              </a:r>
              <a:r>
                <a:rPr kumimoji="1" lang="en-US" altLang="zh-CN" sz="2000" b="1" dirty="0">
                  <a:solidFill>
                    <a:srgbClr val="333333"/>
                  </a:solidFill>
                  <a:latin typeface="arial" panose="020B0604020202020204" pitchFamily="34" charset="0"/>
                  <a:ea typeface="微软雅黑 Light" panose="020B0502040204020203" pitchFamily="34" charset="-122"/>
                </a:rPr>
                <a:t>native</a:t>
              </a:r>
              <a:endParaRPr kumimoji="1"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C584B2D-D0F6-D9C2-4A11-9018AF74F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25" y="2327814"/>
            <a:ext cx="3562975" cy="405393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026583B-CCA3-C53B-D4A6-25313DB7CE4B}"/>
              </a:ext>
            </a:extLst>
          </p:cNvPr>
          <p:cNvSpPr txBox="1"/>
          <p:nvPr/>
        </p:nvSpPr>
        <p:spPr>
          <a:xfrm>
            <a:off x="323848" y="1149766"/>
            <a:ext cx="66008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CJQT</a:t>
            </a:r>
            <a:r>
              <a:rPr kumimoji="1" lang="zh-CN" altLang="en-US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目录介绍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16C0E6D-9956-3088-7610-1D4B12CDA39F}"/>
              </a:ext>
            </a:extLst>
          </p:cNvPr>
          <p:cNvSpPr/>
          <p:nvPr/>
        </p:nvSpPr>
        <p:spPr>
          <a:xfrm>
            <a:off x="4906255" y="2875988"/>
            <a:ext cx="99629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F268DF7-DD24-BCE8-2F49-3A0DFFDF936C}"/>
              </a:ext>
            </a:extLst>
          </p:cNvPr>
          <p:cNvSpPr/>
          <p:nvPr/>
        </p:nvSpPr>
        <p:spPr>
          <a:xfrm>
            <a:off x="4925305" y="3523688"/>
            <a:ext cx="99629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D8F264F-8B7F-B2A6-D342-4E0CBE03F3CE}"/>
              </a:ext>
            </a:extLst>
          </p:cNvPr>
          <p:cNvSpPr/>
          <p:nvPr/>
        </p:nvSpPr>
        <p:spPr>
          <a:xfrm>
            <a:off x="4944355" y="4133288"/>
            <a:ext cx="99629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83E9C1E-2BB3-33E5-C438-0B04EF1E7BFD}"/>
              </a:ext>
            </a:extLst>
          </p:cNvPr>
          <p:cNvSpPr/>
          <p:nvPr/>
        </p:nvSpPr>
        <p:spPr>
          <a:xfrm>
            <a:off x="4953880" y="4723838"/>
            <a:ext cx="99629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428446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>
            <a:extLst>
              <a:ext uri="{FF2B5EF4-FFF2-40B4-BE49-F238E27FC236}">
                <a16:creationId xmlns:a16="http://schemas.microsoft.com/office/drawing/2014/main" id="{852E3E65-C83E-9C5F-10DF-062699CC8E43}"/>
              </a:ext>
            </a:extLst>
          </p:cNvPr>
          <p:cNvGrpSpPr/>
          <p:nvPr/>
        </p:nvGrpSpPr>
        <p:grpSpPr>
          <a:xfrm>
            <a:off x="323849" y="2381393"/>
            <a:ext cx="10869602" cy="2369880"/>
            <a:chOff x="816708" y="2940593"/>
            <a:chExt cx="10480226" cy="971895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D188F3BC-6B46-9FC8-070B-C28CAE1EAC57}"/>
                </a:ext>
              </a:extLst>
            </p:cNvPr>
            <p:cNvSpPr txBox="1"/>
            <p:nvPr/>
          </p:nvSpPr>
          <p:spPr>
            <a:xfrm>
              <a:off x="816708" y="2940593"/>
              <a:ext cx="4215360" cy="49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7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CJQT</a:t>
              </a:r>
              <a:r>
                <a:rPr kumimoji="1" lang="zh-CN" altLang="en-US" sz="7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封装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DB0F9A8E-49FC-1847-C4A2-0CD599B59556}"/>
                </a:ext>
              </a:extLst>
            </p:cNvPr>
            <p:cNvSpPr txBox="1"/>
            <p:nvPr/>
          </p:nvSpPr>
          <p:spPr>
            <a:xfrm>
              <a:off x="5537176" y="2940593"/>
              <a:ext cx="5759758" cy="971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‌</a:t>
              </a:r>
              <a:r>
                <a:rPr kumimoji="1" lang="en-US" altLang="zh-CN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native</a:t>
              </a:r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下封装</a:t>
              </a:r>
              <a:r>
                <a:rPr kumimoji="1" lang="en-US" altLang="zh-CN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</a:t>
              </a:r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接口</a:t>
              </a:r>
              <a:endParaRPr kumimoji="1" lang="en-US" altLang="zh-CN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endParaRPr kumimoji="1" lang="en-US" altLang="zh-CN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构建</a:t>
              </a:r>
              <a:r>
                <a:rPr kumimoji="1" lang="en-US" altLang="zh-CN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native</a:t>
              </a:r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项目</a:t>
              </a:r>
              <a:r>
                <a:rPr kumimoji="1" lang="en-US" altLang="zh-CN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,</a:t>
              </a:r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建议使用</a:t>
              </a:r>
              <a:r>
                <a:rPr kumimoji="1" lang="en-US" altLang="zh-CN" sz="2200" b="1" dirty="0" err="1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QtCreator</a:t>
              </a:r>
              <a:br>
                <a:rPr lang="en-US" altLang="zh-CN" sz="2000" b="1" i="0" dirty="0">
                  <a:solidFill>
                    <a:srgbClr val="333333"/>
                  </a:solidFill>
                  <a:effectLst/>
                  <a:latin typeface="arial" panose="020B0604020202020204" pitchFamily="34" charset="0"/>
                </a:rPr>
              </a:br>
              <a:endPara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endParaRPr>
            </a:p>
            <a:p>
              <a:r>
                <a:rPr kumimoji="1" lang="en-US" altLang="zh-CN" sz="2000" b="1" dirty="0" err="1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Cjqt</a:t>
              </a:r>
              <a:r>
                <a:rPr kumimoji="1"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下封装</a:t>
              </a:r>
              <a:r>
                <a:rPr kumimoji="1" lang="en-US" altLang="zh-CN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Qt</a:t>
              </a:r>
              <a:r>
                <a:rPr kumimoji="1"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同名接口，调用</a:t>
              </a:r>
              <a:r>
                <a:rPr kumimoji="1" lang="en-US" altLang="zh-CN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native</a:t>
              </a:r>
              <a:r>
                <a:rPr kumimoji="1"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下的</a:t>
              </a:r>
              <a:r>
                <a:rPr kumimoji="1" lang="en-US" altLang="zh-CN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</a:t>
              </a:r>
              <a:r>
                <a:rPr kumimoji="1"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方法</a:t>
              </a:r>
            </a:p>
            <a:p>
              <a:endParaRPr kumimoji="1"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构建</a:t>
              </a:r>
              <a:r>
                <a:rPr kumimoji="1" lang="en-US" altLang="zh-CN" sz="2200" b="1" dirty="0" err="1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cjqt</a:t>
              </a:r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项目</a:t>
              </a:r>
            </a:p>
          </p:txBody>
        </p:sp>
      </p:grpSp>
      <p:sp>
        <p:nvSpPr>
          <p:cNvPr id="6" name="椭圆 5">
            <a:extLst>
              <a:ext uri="{FF2B5EF4-FFF2-40B4-BE49-F238E27FC236}">
                <a16:creationId xmlns:a16="http://schemas.microsoft.com/office/drawing/2014/main" id="{38A2FE7E-8D36-9086-B82C-0B4E19BCD0F4}"/>
              </a:ext>
            </a:extLst>
          </p:cNvPr>
          <p:cNvSpPr/>
          <p:nvPr/>
        </p:nvSpPr>
        <p:spPr>
          <a:xfrm>
            <a:off x="4964420" y="2542791"/>
            <a:ext cx="95607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BCD1CC8-2D0C-3D12-A76D-9FA6C2D28294}"/>
              </a:ext>
            </a:extLst>
          </p:cNvPr>
          <p:cNvSpPr/>
          <p:nvPr/>
        </p:nvSpPr>
        <p:spPr>
          <a:xfrm>
            <a:off x="4954717" y="3231836"/>
            <a:ext cx="95607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0C89EB1-DF93-6DB3-F261-86EA69886703}"/>
              </a:ext>
            </a:extLst>
          </p:cNvPr>
          <p:cNvSpPr/>
          <p:nvPr/>
        </p:nvSpPr>
        <p:spPr>
          <a:xfrm>
            <a:off x="4983113" y="3839483"/>
            <a:ext cx="95607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4D14911-6F33-10E1-AA68-4639FFD3F833}"/>
              </a:ext>
            </a:extLst>
          </p:cNvPr>
          <p:cNvSpPr/>
          <p:nvPr/>
        </p:nvSpPr>
        <p:spPr>
          <a:xfrm>
            <a:off x="5004879" y="4495737"/>
            <a:ext cx="95607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6771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5D59-E072-6BD2-A343-8D8AB7669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5194745C-D27E-3C2D-3779-ED09C7890112}"/>
              </a:ext>
            </a:extLst>
          </p:cNvPr>
          <p:cNvSpPr txBox="1"/>
          <p:nvPr/>
        </p:nvSpPr>
        <p:spPr>
          <a:xfrm>
            <a:off x="12471399" y="2340429"/>
            <a:ext cx="33201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小</a:t>
            </a:r>
            <a:r>
              <a:rPr lang="zh-CN" altLang="zh-CN" sz="1600" b="1" dirty="0"/>
              <a:t>标题：</a:t>
            </a:r>
            <a:endParaRPr lang="en-US" altLang="zh-CN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72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字体颜色</a:t>
            </a:r>
            <a:r>
              <a:rPr lang="zh-CN" altLang="en-US" sz="1600" dirty="0"/>
              <a:t>：</a:t>
            </a:r>
            <a:r>
              <a:rPr lang="zh-CN" altLang="zh-CN" sz="1600" dirty="0"/>
              <a:t>黑色</a:t>
            </a:r>
          </a:p>
          <a:p>
            <a:r>
              <a:rPr lang="zh-CN" altLang="zh-CN" sz="1600" b="1" dirty="0"/>
              <a:t>分享内容关键词</a:t>
            </a:r>
            <a:r>
              <a:rPr lang="zh-CN" altLang="zh-CN" sz="1600" dirty="0"/>
              <a:t>：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22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</a:t>
            </a:r>
            <a:r>
              <a:rPr lang="zh-CN" altLang="en-US" sz="1600" dirty="0"/>
              <a:t>色：黑色</a:t>
            </a:r>
            <a:endParaRPr lang="zh-CN" altLang="zh-CN" sz="16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01CAB7B-05E0-B4EE-46C1-8980CCFC567B}"/>
              </a:ext>
            </a:extLst>
          </p:cNvPr>
          <p:cNvGrpSpPr/>
          <p:nvPr/>
        </p:nvGrpSpPr>
        <p:grpSpPr>
          <a:xfrm>
            <a:off x="323849" y="1495568"/>
            <a:ext cx="10869602" cy="1415771"/>
            <a:chOff x="816708" y="2940593"/>
            <a:chExt cx="10480226" cy="580612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88ADFC31-AEF4-B393-EBA6-4A430BF9D17B}"/>
                </a:ext>
              </a:extLst>
            </p:cNvPr>
            <p:cNvSpPr txBox="1"/>
            <p:nvPr/>
          </p:nvSpPr>
          <p:spPr>
            <a:xfrm>
              <a:off x="816708" y="2940593"/>
              <a:ext cx="4215360" cy="49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7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CJQT</a:t>
              </a:r>
              <a:r>
                <a:rPr kumimoji="1" lang="zh-CN" altLang="en-US" sz="7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377BAD5-858F-475E-D5AD-56429E0E4A21}"/>
                </a:ext>
              </a:extLst>
            </p:cNvPr>
            <p:cNvSpPr txBox="1"/>
            <p:nvPr/>
          </p:nvSpPr>
          <p:spPr>
            <a:xfrm>
              <a:off x="5537176" y="2940593"/>
              <a:ext cx="5759758" cy="580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‌参见</a:t>
              </a:r>
              <a:r>
                <a:rPr kumimoji="1" lang="en-US" altLang="zh-CN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example</a:t>
              </a:r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下示例</a:t>
              </a:r>
              <a:endParaRPr kumimoji="1" lang="en-US" altLang="zh-CN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endParaRPr kumimoji="1" lang="en-US" altLang="zh-CN" sz="2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参见</a:t>
              </a:r>
              <a:r>
                <a:rPr kumimoji="1" lang="en-US" altLang="zh-CN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test/LLT</a:t>
              </a:r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下示例</a:t>
              </a:r>
              <a:br>
                <a:rPr lang="en-US" altLang="zh-CN" sz="2000" b="1" i="0" dirty="0">
                  <a:solidFill>
                    <a:srgbClr val="333333"/>
                  </a:solidFill>
                  <a:effectLst/>
                  <a:latin typeface="arial" panose="020B0604020202020204" pitchFamily="34" charset="0"/>
                </a:rPr>
              </a:br>
              <a:endPara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9B369ACB-D09E-0112-A2C7-2E90985AA1A8}"/>
              </a:ext>
            </a:extLst>
          </p:cNvPr>
          <p:cNvSpPr/>
          <p:nvPr/>
        </p:nvSpPr>
        <p:spPr>
          <a:xfrm>
            <a:off x="4964420" y="1656966"/>
            <a:ext cx="95607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801FD88-BBDE-04E7-C670-1BE1602D254B}"/>
              </a:ext>
            </a:extLst>
          </p:cNvPr>
          <p:cNvSpPr/>
          <p:nvPr/>
        </p:nvSpPr>
        <p:spPr>
          <a:xfrm>
            <a:off x="4954717" y="2346011"/>
            <a:ext cx="95607" cy="956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4C5C206-F2F5-4F69-70D3-B3D4BEDCE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36" y="2661113"/>
            <a:ext cx="7460627" cy="395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1699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65D40-3F9F-3DC1-4EC9-A78C6F6AE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51">
            <a:extLst>
              <a:ext uri="{FF2B5EF4-FFF2-40B4-BE49-F238E27FC236}">
                <a16:creationId xmlns:a16="http://schemas.microsoft.com/office/drawing/2014/main" id="{89530DB5-778B-21A2-FCF6-D25B734C1339}"/>
              </a:ext>
            </a:extLst>
          </p:cNvPr>
          <p:cNvSpPr txBox="1"/>
          <p:nvPr/>
        </p:nvSpPr>
        <p:spPr>
          <a:xfrm>
            <a:off x="323849" y="989045"/>
            <a:ext cx="5772151" cy="1200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kumimoji="1" lang="en-US" altLang="zh-CN" sz="7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lineEdit</a:t>
            </a:r>
            <a:endParaRPr kumimoji="1" lang="zh-CN" altLang="en-US" sz="7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C4C139-DE4A-60F0-F6C7-A8FA08DAF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888" y="2207609"/>
            <a:ext cx="4534293" cy="391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156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6464B-8920-2924-DDF3-2542B79E9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51">
            <a:extLst>
              <a:ext uri="{FF2B5EF4-FFF2-40B4-BE49-F238E27FC236}">
                <a16:creationId xmlns:a16="http://schemas.microsoft.com/office/drawing/2014/main" id="{7B630556-8DEE-2073-A84A-8C06B78DF9C7}"/>
              </a:ext>
            </a:extLst>
          </p:cNvPr>
          <p:cNvSpPr txBox="1"/>
          <p:nvPr/>
        </p:nvSpPr>
        <p:spPr>
          <a:xfrm>
            <a:off x="323849" y="989045"/>
            <a:ext cx="5772151" cy="1200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kumimoji="1" lang="en-US" altLang="zh-CN" sz="7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tetris</a:t>
            </a:r>
            <a:endParaRPr kumimoji="1" lang="zh-CN" altLang="en-US" sz="7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805A86-3D53-C6B6-6808-EFA811052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538" y="2291395"/>
            <a:ext cx="3256383" cy="416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370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04" y="4069170"/>
            <a:ext cx="1949953" cy="195363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2486149" y="2361010"/>
            <a:ext cx="35793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/>
              <a:t>分享正文标题：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</a:t>
            </a:r>
            <a:r>
              <a:rPr lang="zh-CN" altLang="en-US" dirty="0"/>
              <a:t>：</a:t>
            </a:r>
            <a:r>
              <a:rPr lang="zh-CN" altLang="zh-CN" dirty="0"/>
              <a:t>等线</a:t>
            </a:r>
            <a:r>
              <a:rPr lang="zh-CN" altLang="en-US" dirty="0"/>
              <a:t>、微软雅黑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字号</a:t>
            </a:r>
            <a:r>
              <a:rPr lang="zh-CN" altLang="en-US" dirty="0"/>
              <a:t>：</a:t>
            </a:r>
            <a:r>
              <a:rPr lang="en-US" altLang="zh-CN" dirty="0"/>
              <a:t>40</a:t>
            </a:r>
            <a:r>
              <a:rPr lang="zh-CN" altLang="en-US" dirty="0"/>
              <a:t> 、加粗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蓝色</a:t>
            </a:r>
          </a:p>
          <a:p>
            <a:r>
              <a:rPr lang="zh-CN" altLang="zh-CN" b="1" dirty="0"/>
              <a:t>分享内容：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以黑色为主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36" name="文本框 35"/>
          <p:cNvSpPr txBox="1"/>
          <p:nvPr/>
        </p:nvSpPr>
        <p:spPr>
          <a:xfrm>
            <a:off x="795373" y="2817338"/>
            <a:ext cx="6097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感谢您的观看</a:t>
            </a:r>
            <a:r>
              <a:rPr kumimoji="1"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kumimoji="1"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192615" y="4607755"/>
            <a:ext cx="420634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关注“仓颉编程语言”公众号，获取最新官方资讯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  <a:p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您也可以替换为自己的二维码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联系方式，邀请社区开发者共建项目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26F1FD-B4C1-4DC4-B758-CA0ABC9D5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082223" y="4266832"/>
            <a:ext cx="1558314" cy="155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5196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1741</TotalTime>
  <Words>553</Words>
  <Application>Microsoft Office PowerPoint</Application>
  <PresentationFormat>宽屏</PresentationFormat>
  <Paragraphs>116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-apple-system</vt:lpstr>
      <vt:lpstr>Microsoft YaHei Light</vt:lpstr>
      <vt:lpstr>Source Han Serif SC</vt:lpstr>
      <vt:lpstr>DengXian</vt:lpstr>
      <vt:lpstr>微软雅黑</vt:lpstr>
      <vt:lpstr>微软雅黑 Light</vt:lpstr>
      <vt:lpstr>Arial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 jingqiao</dc:creator>
  <cp:lastModifiedBy>丽波 周</cp:lastModifiedBy>
  <cp:revision>115</cp:revision>
  <dcterms:created xsi:type="dcterms:W3CDTF">2022-07-15T02:23:02Z</dcterms:created>
  <dcterms:modified xsi:type="dcterms:W3CDTF">2024-11-25T08:06:47Z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(3)f2yP13Qp3vic5XTALCocdDa8Px+yleI4f76Gfge9UvbMH273pVNhawcQ/lv953a4ZCXEI+2I
UcgYWoqOm6AdCvcd/fd+0kya/SnjosPZOGpp42imUR/apPlX9FRnMOsULDMkUDtSFqQPxPBp
YEC5rZQjCgPbxx35AH1G98OLgLdk7GPnsKJ9m0Il9g7gam7lHBITNicZe7BgllxOCyi6zK2L
WUfNmT6TNlNs1xgT+5</vt:lpwstr>
  </property>
  <property fmtid="{D5CDD505-2E9C-101B-9397-08002B2CF9AE}" pid="3" name="_2015_ms_pID_7253431">
    <vt:lpwstr>JthLT77aSDy8Cp1Bp9hPlbkN8hzuD6oHLTAT60DJcx7cOGX5mrUyQK
jL5xEeqP01ct2Ack6dvSsYMT1P4YPSkyAM77DcJD68Bq3hdAGfUiyC8T+bPpdwvN1TS4f4+p
mupzp0lJoiQnz5y/HckxVo42iO1+J34VMQv8zLJc35OPsrlA2GaQX1m5tn2PC6Ku1skxNaOs
6X83iKXXnXqmCq8LjP0ZMbZveAcq6Az1Cttq</vt:lpwstr>
  </property>
  <property fmtid="{D5CDD505-2E9C-101B-9397-08002B2CF9AE}" pid="4" name="_2015_ms_pID_7253432">
    <vt:lpwstr>pw==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1677296177</vt:lpwstr>
  </property>
</Properties>
</file>