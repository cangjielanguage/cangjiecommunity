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handoutMasterIdLst>
    <p:handoutMasterId r:id="rId15"/>
  </p:handoutMasterIdLst>
  <p:sldIdLst>
    <p:sldId id="282" r:id="rId3"/>
    <p:sldId id="283" r:id="rId4"/>
    <p:sldId id="293" r:id="rId5"/>
    <p:sldId id="288" r:id="rId6"/>
    <p:sldId id="284" r:id="rId7"/>
    <p:sldId id="297" r:id="rId8"/>
    <p:sldId id="294" r:id="rId9"/>
    <p:sldId id="298" r:id="rId10"/>
    <p:sldId id="299" r:id="rId11"/>
    <p:sldId id="296" r:id="rId12"/>
    <p:sldId id="289" r:id="rId13"/>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FC2DFAE-FB83-48CB-9811-7C4E6F4F3F73}">
          <p14:sldIdLst>
            <p14:sldId id="282"/>
            <p14:sldId id="283"/>
            <p14:sldId id="293"/>
            <p14:sldId id="288"/>
            <p14:sldId id="284"/>
            <p14:sldId id="297"/>
            <p14:sldId id="294"/>
            <p14:sldId id="298"/>
            <p14:sldId id="299"/>
            <p14:sldId id="296"/>
            <p14:sldId id="28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5F3"/>
    <a:srgbClr val="FFFFFF"/>
    <a:srgbClr val="CC99FF"/>
    <a:srgbClr val="E5F5FF"/>
    <a:srgbClr val="A2E0EE"/>
    <a:srgbClr val="2D77EE"/>
    <a:srgbClr val="01DFC0"/>
    <a:srgbClr val="91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51" autoAdjust="0"/>
    <p:restoredTop sz="95988"/>
  </p:normalViewPr>
  <p:slideViewPr>
    <p:cSldViewPr snapToGrid="0" snapToObjects="1">
      <p:cViewPr varScale="1">
        <p:scale>
          <a:sx n="78" d="100"/>
          <a:sy n="78" d="100"/>
        </p:scale>
        <p:origin x="-991"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65.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275235-9A1A-D74C-B5F3-1C693EF9A0D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9C8D6-C46B-CF46-BEF0-81268CF6F78A}"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4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9DB396C5-89CD-9B42-B4EE-53A9D47B098F}" type="datetimeFigureOut">
              <a:rPr kumimoji="1" lang="zh-CN" altLang="en-US" smtClean="0"/>
            </a:fld>
            <a:endParaRPr kumimoji="1"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幻灯片编号占位符 5"/>
          <p:cNvSpPr>
            <a:spLocks noGrp="1"/>
          </p:cNvSpPr>
          <p:nvPr>
            <p:ph type="sldNum" sz="quarter" idx="12"/>
          </p:nvPr>
        </p:nvSpPr>
        <p:spPr>
          <a:xfrm>
            <a:off x="8610600" y="6356350"/>
            <a:ext cx="2743200" cy="365125"/>
          </a:xfrm>
          <a:prstGeom prst="rect">
            <a:avLst/>
          </a:prstGeom>
        </p:spPr>
        <p:txBody>
          <a:bodyPr/>
          <a:lstStyle/>
          <a:p>
            <a:fld id="{D1412462-3951-534C-B2EB-31A3E742C104}"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9DB396C5-89CD-9B42-B4EE-53A9D47B098F}" type="datetimeFigureOut">
              <a:rPr kumimoji="1" lang="zh-CN" altLang="en-US" smtClean="0"/>
            </a:fld>
            <a:endParaRPr kumimoji="1"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kumimoji="1" lang="zh-CN" altLang="en-US"/>
          </a:p>
        </p:txBody>
      </p:sp>
      <p:sp>
        <p:nvSpPr>
          <p:cNvPr id="6" name="幻灯片编号占位符 5"/>
          <p:cNvSpPr>
            <a:spLocks noGrp="1"/>
          </p:cNvSpPr>
          <p:nvPr>
            <p:ph type="sldNum" sz="quarter" idx="12"/>
          </p:nvPr>
        </p:nvSpPr>
        <p:spPr>
          <a:xfrm>
            <a:off x="8610600" y="6356350"/>
            <a:ext cx="2743200" cy="365125"/>
          </a:xfrm>
          <a:prstGeom prst="rect">
            <a:avLst/>
          </a:prstGeom>
        </p:spPr>
        <p:txBody>
          <a:bodyPr/>
          <a:lstStyle/>
          <a:p>
            <a:fld id="{D1412462-3951-534C-B2EB-31A3E742C104}"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5.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7.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9" Type="http://schemas.openxmlformats.org/officeDocument/2006/relationships/slideLayout" Target="../slideLayouts/slideLayout5.xml"/><Relationship Id="rId18" Type="http://schemas.openxmlformats.org/officeDocument/2006/relationships/tags" Target="../tags/tag42.xml"/><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tags" Target="../tags/tag38.xml"/><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10.GIF"/></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GIF"/><Relationship Id="rId2" Type="http://schemas.openxmlformats.org/officeDocument/2006/relationships/tags" Target="../tags/tag46.xml"/><Relationship Id="rId1" Type="http://schemas.openxmlformats.org/officeDocument/2006/relationships/tags" Target="../tags/tag45.xml"/></Relationships>
</file>

<file path=ppt/slides/_rels/slide10.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9" Type="http://schemas.openxmlformats.org/officeDocument/2006/relationships/slideLayout" Target="../slideLayouts/slideLayout5.xml"/><Relationship Id="rId18" Type="http://schemas.openxmlformats.org/officeDocument/2006/relationships/tags" Target="../tags/tag64.xml"/><Relationship Id="rId17" Type="http://schemas.openxmlformats.org/officeDocument/2006/relationships/tags" Target="../tags/tag63.xml"/><Relationship Id="rId16" Type="http://schemas.openxmlformats.org/officeDocument/2006/relationships/tags" Target="../tags/tag62.xml"/><Relationship Id="rId15" Type="http://schemas.openxmlformats.org/officeDocument/2006/relationships/tags" Target="../tags/tag61.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tags" Target="../tags/tag4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jpe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8474" y="2399031"/>
            <a:ext cx="7319214" cy="1198880"/>
          </a:xfrm>
          <a:prstGeom prst="rect">
            <a:avLst/>
          </a:prstGeom>
          <a:noFill/>
        </p:spPr>
        <p:txBody>
          <a:bodyPr wrap="square" rtlCol="0">
            <a:spAutoFit/>
          </a:bodyPr>
          <a:lstStyle/>
          <a:p>
            <a:r>
              <a:rPr kumimoji="1" lang="zh-CN" altLang="en-US" sz="3600" b="1" dirty="0">
                <a:latin typeface="微软雅黑" panose="020B0503020204020204" pitchFamily="34" charset="-122"/>
                <a:ea typeface="微软雅黑" panose="020B0503020204020204" pitchFamily="34" charset="-122"/>
              </a:rPr>
              <a:t>仓颉在鸿蒙Next系统 AI 大模型端侧部署的实践与创新挑战</a:t>
            </a:r>
            <a:endParaRPr kumimoji="1" lang="zh-CN" altLang="en-US" sz="36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756420" y="3743670"/>
            <a:ext cx="4845541" cy="583565"/>
          </a:xfrm>
          <a:prstGeom prst="rect">
            <a:avLst/>
          </a:prstGeom>
          <a:noFill/>
        </p:spPr>
        <p:txBody>
          <a:bodyPr wrap="square" rtlCol="0">
            <a:spAutoFit/>
          </a:bodyPr>
          <a:lstStyle/>
          <a:p>
            <a:r>
              <a:rPr kumimoji="1" lang="zh-CN" altLang="en-US" sz="3200" b="1" dirty="0">
                <a:latin typeface="微软雅黑 Light" panose="020B0502040204020203" pitchFamily="34" charset="-122"/>
                <a:ea typeface="微软雅黑 Light" panose="020B0502040204020203" pitchFamily="34" charset="-122"/>
              </a:rPr>
              <a:t>主讲人：邓顺子</a:t>
            </a:r>
            <a:endParaRPr kumimoji="1" lang="zh-CN" altLang="en-US" sz="3200" b="1" dirty="0">
              <a:latin typeface="微软雅黑 Light" panose="020B0502040204020203" pitchFamily="34" charset="-122"/>
              <a:ea typeface="微软雅黑 Light" panose="020B0502040204020203" pitchFamily="34" charset="-122"/>
            </a:endParaRPr>
          </a:p>
        </p:txBody>
      </p:sp>
      <p:sp>
        <p:nvSpPr>
          <p:cNvPr id="4" name="文本框 3"/>
          <p:cNvSpPr txBox="1"/>
          <p:nvPr/>
        </p:nvSpPr>
        <p:spPr>
          <a:xfrm>
            <a:off x="678226" y="4636347"/>
            <a:ext cx="2800101" cy="429895"/>
          </a:xfrm>
          <a:prstGeom prst="rect">
            <a:avLst/>
          </a:prstGeom>
          <a:noFill/>
        </p:spPr>
        <p:txBody>
          <a:bodyPr wrap="square" rtlCol="0">
            <a:spAutoFit/>
          </a:bodyPr>
          <a:lstStyle/>
          <a:p>
            <a:r>
              <a:rPr kumimoji="1" lang="en-US" altLang="zh-CN" sz="2200" dirty="0">
                <a:latin typeface="微软雅黑 Light" panose="020B0502040204020203" pitchFamily="34" charset="-122"/>
                <a:ea typeface="微软雅黑 Light" panose="020B0502040204020203" pitchFamily="34" charset="-122"/>
              </a:rPr>
              <a:t> 01 </a:t>
            </a:r>
            <a:r>
              <a:rPr kumimoji="1" lang="zh-CN" altLang="en-US" sz="2200" dirty="0">
                <a:latin typeface="微软雅黑 Light" panose="020B0502040204020203" pitchFamily="34" charset="-122"/>
                <a:ea typeface="微软雅黑 Light" panose="020B0502040204020203" pitchFamily="34" charset="-122"/>
              </a:rPr>
              <a:t>个人介绍</a:t>
            </a:r>
            <a:endParaRPr kumimoji="1" lang="zh-CN" altLang="en-US" sz="2200" dirty="0">
              <a:latin typeface="微软雅黑 Light" panose="020B0502040204020203" pitchFamily="34" charset="-122"/>
              <a:ea typeface="微软雅黑 Light" panose="020B0502040204020203" pitchFamily="34" charset="-122"/>
            </a:endParaRPr>
          </a:p>
        </p:txBody>
      </p:sp>
      <p:sp>
        <p:nvSpPr>
          <p:cNvPr id="5" name="文本框 4"/>
          <p:cNvSpPr txBox="1"/>
          <p:nvPr/>
        </p:nvSpPr>
        <p:spPr>
          <a:xfrm>
            <a:off x="3573780" y="4636135"/>
            <a:ext cx="3540760" cy="429895"/>
          </a:xfrm>
          <a:prstGeom prst="rect">
            <a:avLst/>
          </a:prstGeom>
          <a:noFill/>
        </p:spPr>
        <p:txBody>
          <a:bodyPr wrap="square" rtlCol="0">
            <a:spAutoFit/>
          </a:bodyPr>
          <a:lstStyle/>
          <a:p>
            <a:r>
              <a:rPr kumimoji="1" lang="en-US" altLang="zh-CN" sz="2200" dirty="0">
                <a:latin typeface="微软雅黑 Light" panose="020B0502040204020203" pitchFamily="34" charset="-122"/>
                <a:ea typeface="微软雅黑 Light" panose="020B0502040204020203" pitchFamily="34" charset="-122"/>
              </a:rPr>
              <a:t> 02 </a:t>
            </a:r>
            <a:r>
              <a:rPr kumimoji="1" lang="zh-CN" altLang="en-US" sz="2200" dirty="0">
                <a:latin typeface="微软雅黑 Light" panose="020B0502040204020203" pitchFamily="34" charset="-122"/>
                <a:ea typeface="微软雅黑 Light" panose="020B0502040204020203" pitchFamily="34" charset="-122"/>
              </a:rPr>
              <a:t>使用仓颉的经历和感受</a:t>
            </a:r>
            <a:endParaRPr kumimoji="1" lang="zh-CN" altLang="en-US" sz="2200" dirty="0">
              <a:latin typeface="微软雅黑 Light" panose="020B0502040204020203" pitchFamily="34" charset="-122"/>
              <a:ea typeface="微软雅黑 Light" panose="020B0502040204020203" pitchFamily="34" charset="-122"/>
            </a:endParaRPr>
          </a:p>
        </p:txBody>
      </p:sp>
      <p:sp>
        <p:nvSpPr>
          <p:cNvPr id="6" name="文本框 5"/>
          <p:cNvSpPr txBox="1"/>
          <p:nvPr/>
        </p:nvSpPr>
        <p:spPr>
          <a:xfrm>
            <a:off x="685800" y="5297170"/>
            <a:ext cx="3040380" cy="429895"/>
          </a:xfrm>
          <a:prstGeom prst="rect">
            <a:avLst/>
          </a:prstGeom>
          <a:noFill/>
        </p:spPr>
        <p:txBody>
          <a:bodyPr wrap="square" rtlCol="0">
            <a:spAutoFit/>
          </a:bodyPr>
          <a:lstStyle/>
          <a:p>
            <a:r>
              <a:rPr kumimoji="1" lang="en-US" altLang="zh-CN" sz="2200" dirty="0">
                <a:latin typeface="微软雅黑 Light" panose="020B0502040204020203" pitchFamily="34" charset="-122"/>
                <a:ea typeface="微软雅黑 Light" panose="020B0502040204020203" pitchFamily="34" charset="-122"/>
              </a:rPr>
              <a:t> 03 </a:t>
            </a:r>
            <a:r>
              <a:rPr kumimoji="1" lang="zh-CN" altLang="en-US" sz="2200" dirty="0">
                <a:latin typeface="微软雅黑 Light" panose="020B0502040204020203" pitchFamily="34" charset="-122"/>
                <a:ea typeface="微软雅黑 Light" panose="020B0502040204020203" pitchFamily="34" charset="-122"/>
              </a:rPr>
              <a:t>实践</a:t>
            </a:r>
            <a:r>
              <a:rPr kumimoji="1" lang="zh-CN" altLang="en-US" sz="2200" dirty="0">
                <a:latin typeface="微软雅黑 Light" panose="020B0502040204020203" pitchFamily="34" charset="-122"/>
                <a:ea typeface="微软雅黑 Light" panose="020B0502040204020203" pitchFamily="34" charset="-122"/>
              </a:rPr>
              <a:t>分享</a:t>
            </a:r>
            <a:endParaRPr kumimoji="1" lang="zh-CN" altLang="en-US" sz="2200" dirty="0">
              <a:latin typeface="微软雅黑 Light" panose="020B0502040204020203" pitchFamily="34" charset="-122"/>
              <a:ea typeface="微软雅黑 Light" panose="020B0502040204020203" pitchFamily="34" charset="-122"/>
            </a:endParaRPr>
          </a:p>
        </p:txBody>
      </p:sp>
      <p:sp>
        <p:nvSpPr>
          <p:cNvPr id="7" name="文本框 6"/>
          <p:cNvSpPr txBox="1"/>
          <p:nvPr/>
        </p:nvSpPr>
        <p:spPr>
          <a:xfrm>
            <a:off x="3573934" y="5303531"/>
            <a:ext cx="2800101" cy="429895"/>
          </a:xfrm>
          <a:prstGeom prst="rect">
            <a:avLst/>
          </a:prstGeom>
          <a:noFill/>
        </p:spPr>
        <p:txBody>
          <a:bodyPr wrap="square" rtlCol="0">
            <a:spAutoFit/>
          </a:bodyPr>
          <a:lstStyle/>
          <a:p>
            <a:r>
              <a:rPr kumimoji="1" lang="en-US" altLang="zh-CN" sz="2200" dirty="0">
                <a:latin typeface="微软雅黑 Light" panose="020B0502040204020203" pitchFamily="34" charset="-122"/>
                <a:ea typeface="微软雅黑 Light" panose="020B0502040204020203" pitchFamily="34" charset="-122"/>
              </a:rPr>
              <a:t> 04 </a:t>
            </a:r>
            <a:r>
              <a:rPr kumimoji="1" lang="zh-CN" altLang="en-US" sz="2200" dirty="0">
                <a:latin typeface="微软雅黑 Light" panose="020B0502040204020203" pitchFamily="34" charset="-122"/>
                <a:ea typeface="微软雅黑 Light" panose="020B0502040204020203" pitchFamily="34" charset="-122"/>
              </a:rPr>
              <a:t>项目未来的规划</a:t>
            </a:r>
            <a:endParaRPr kumimoji="1" lang="zh-CN" altLang="en-US" sz="2200" dirty="0">
              <a:latin typeface="微软雅黑 Light" panose="020B0502040204020203" pitchFamily="34" charset="-122"/>
              <a:ea typeface="微软雅黑 Light" panose="020B0502040204020203"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2471399" y="2340429"/>
            <a:ext cx="3320143" cy="2062103"/>
          </a:xfrm>
          <a:prstGeom prst="rect">
            <a:avLst/>
          </a:prstGeom>
          <a:noFill/>
        </p:spPr>
        <p:txBody>
          <a:bodyPr wrap="square" rtlCol="0">
            <a:spAutoFit/>
          </a:bodyPr>
          <a:lstStyle/>
          <a:p>
            <a:r>
              <a:rPr lang="zh-CN" altLang="en-US" sz="1600" b="1" dirty="0"/>
              <a:t>小</a:t>
            </a:r>
            <a:r>
              <a:rPr lang="zh-CN" altLang="zh-CN" sz="1600" b="1" dirty="0"/>
              <a:t>标题：</a:t>
            </a:r>
            <a:endParaRPr lang="en-US" altLang="zh-CN" sz="1600" b="1"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72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字体颜色</a:t>
            </a:r>
            <a:r>
              <a:rPr lang="zh-CN" altLang="en-US" sz="1600" dirty="0"/>
              <a:t>：</a:t>
            </a:r>
            <a:r>
              <a:rPr lang="zh-CN" altLang="zh-CN" sz="1600" dirty="0"/>
              <a:t>黑色</a:t>
            </a:r>
            <a:endParaRPr lang="zh-CN" altLang="zh-CN" sz="1600" dirty="0"/>
          </a:p>
          <a:p>
            <a:r>
              <a:rPr lang="zh-CN" altLang="zh-CN" sz="1600" b="1" dirty="0"/>
              <a:t>分享内容关键词</a:t>
            </a:r>
            <a:r>
              <a:rPr lang="zh-CN" altLang="zh-CN" sz="1600" dirty="0"/>
              <a:t>：</a:t>
            </a:r>
            <a:endParaRPr lang="en-US" altLang="zh-CN" sz="1600"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22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a:t>
            </a:r>
            <a:r>
              <a:rPr lang="zh-CN" altLang="en-US" sz="1600" dirty="0"/>
              <a:t>色：黑色</a:t>
            </a:r>
            <a:endParaRPr lang="zh-CN" altLang="zh-CN" sz="1600" dirty="0"/>
          </a:p>
        </p:txBody>
      </p:sp>
      <p:grpSp>
        <p:nvGrpSpPr>
          <p:cNvPr id="51" name="组合 50"/>
          <p:cNvGrpSpPr/>
          <p:nvPr/>
        </p:nvGrpSpPr>
        <p:grpSpPr>
          <a:xfrm>
            <a:off x="445870" y="2888523"/>
            <a:ext cx="10558016" cy="1451610"/>
            <a:chOff x="445870" y="2888523"/>
            <a:chExt cx="10558016" cy="1451610"/>
          </a:xfrm>
        </p:grpSpPr>
        <p:sp>
          <p:nvSpPr>
            <p:cNvPr id="52" name="文本框 51"/>
            <p:cNvSpPr txBox="1"/>
            <p:nvPr/>
          </p:nvSpPr>
          <p:spPr>
            <a:xfrm>
              <a:off x="445870" y="2888523"/>
              <a:ext cx="4199255" cy="1198880"/>
            </a:xfrm>
            <a:prstGeom prst="rect">
              <a:avLst/>
            </a:prstGeom>
            <a:noFill/>
          </p:spPr>
          <p:txBody>
            <a:bodyPr wrap="square" rtlCol="0">
              <a:spAutoFit/>
            </a:bodyPr>
            <a:lstStyle/>
            <a:p>
              <a:r>
                <a:rPr kumimoji="1" lang="zh-CN" altLang="en-US" sz="7200" b="1" dirty="0">
                  <a:latin typeface="微软雅黑" panose="020B0503020204020204" pitchFamily="34" charset="-122"/>
                  <a:ea typeface="微软雅黑" panose="020B0503020204020204" pitchFamily="34" charset="-122"/>
                </a:rPr>
                <a:t>个人介绍</a:t>
              </a:r>
              <a:endParaRPr kumimoji="1" lang="zh-CN" altLang="en-US" sz="7200" b="1" dirty="0">
                <a:latin typeface="微软雅黑" panose="020B0503020204020204" pitchFamily="34" charset="-122"/>
                <a:ea typeface="微软雅黑" panose="020B0503020204020204" pitchFamily="34" charset="-122"/>
              </a:endParaRPr>
            </a:p>
          </p:txBody>
        </p:sp>
        <p:sp>
          <p:nvSpPr>
            <p:cNvPr id="53" name="文本框 52"/>
            <p:cNvSpPr txBox="1"/>
            <p:nvPr/>
          </p:nvSpPr>
          <p:spPr>
            <a:xfrm>
              <a:off x="4645125" y="2940593"/>
              <a:ext cx="3054350" cy="429895"/>
            </a:xfrm>
            <a:prstGeom prst="rect">
              <a:avLst/>
            </a:prstGeom>
            <a:noFill/>
          </p:spPr>
          <p:txBody>
            <a:bodyPr wrap="square" rtlCol="0">
              <a:spAutoFit/>
            </a:bodyPr>
            <a:lstStyle/>
            <a:p>
              <a:r>
                <a:rPr kumimoji="1" lang="en-US" altLang="zh-CN" sz="2200" b="1" dirty="0">
                  <a:latin typeface="微软雅黑 Light" panose="020B0502040204020203" pitchFamily="34" charset="-122"/>
                  <a:ea typeface="微软雅黑 Light" panose="020B0502040204020203" pitchFamily="34" charset="-122"/>
                  <a:sym typeface="+mn-ea"/>
                </a:rPr>
                <a:t>2018</a:t>
              </a:r>
              <a:r>
                <a:rPr kumimoji="1" lang="zh-CN" altLang="en-US" sz="2200" b="1" dirty="0">
                  <a:latin typeface="微软雅黑 Light" panose="020B0502040204020203" pitchFamily="34" charset="-122"/>
                  <a:ea typeface="微软雅黑 Light" panose="020B0502040204020203" pitchFamily="34" charset="-122"/>
                  <a:sym typeface="+mn-ea"/>
                </a:rPr>
                <a:t>年毕业于广州大学</a:t>
              </a:r>
              <a:endParaRPr kumimoji="1" lang="zh-CN" altLang="en-US" sz="2200" b="1" dirty="0">
                <a:latin typeface="微软雅黑 Light" panose="020B0502040204020203" pitchFamily="34" charset="-122"/>
                <a:ea typeface="微软雅黑 Light" panose="020B0502040204020203" pitchFamily="34" charset="-122"/>
              </a:endParaRPr>
            </a:p>
          </p:txBody>
        </p:sp>
        <p:sp>
          <p:nvSpPr>
            <p:cNvPr id="55" name="文本框 54"/>
            <p:cNvSpPr txBox="1"/>
            <p:nvPr/>
          </p:nvSpPr>
          <p:spPr>
            <a:xfrm>
              <a:off x="4644490" y="3571783"/>
              <a:ext cx="3018155" cy="768350"/>
            </a:xfrm>
            <a:prstGeom prst="rect">
              <a:avLst/>
            </a:prstGeom>
            <a:noFill/>
          </p:spPr>
          <p:txBody>
            <a:bodyPr wrap="square" rtlCol="0">
              <a:spAutoFit/>
            </a:bodyPr>
            <a:lstStyle/>
            <a:p>
              <a:r>
                <a:rPr kumimoji="1" lang="zh-CN" altLang="en-US" sz="2200" b="1" dirty="0">
                  <a:latin typeface="微软雅黑 Light" panose="020B0502040204020203" pitchFamily="34" charset="-122"/>
                  <a:ea typeface="微软雅黑 Light" panose="020B0502040204020203" pitchFamily="34" charset="-122"/>
                  <a:sym typeface="+mn-ea"/>
                </a:rPr>
                <a:t>本科工程管理专业</a:t>
              </a:r>
              <a:endParaRPr kumimoji="1" lang="zh-CN" altLang="en-US" sz="2200" b="1" dirty="0">
                <a:latin typeface="微软雅黑 Light" panose="020B0502040204020203" pitchFamily="34" charset="-122"/>
                <a:ea typeface="微软雅黑 Light" panose="020B0502040204020203" pitchFamily="34" charset="-122"/>
              </a:endParaRPr>
            </a:p>
            <a:p>
              <a:endParaRPr kumimoji="1" lang="zh-CN" altLang="en-US" sz="2200" b="1" dirty="0">
                <a:latin typeface="微软雅黑 Light" panose="020B0502040204020203" pitchFamily="34" charset="-122"/>
                <a:ea typeface="微软雅黑 Light" panose="020B0502040204020203" pitchFamily="34" charset="-122"/>
              </a:endParaRPr>
            </a:p>
          </p:txBody>
        </p:sp>
        <p:sp>
          <p:nvSpPr>
            <p:cNvPr id="13" name="文本框 12"/>
            <p:cNvSpPr txBox="1"/>
            <p:nvPr/>
          </p:nvSpPr>
          <p:spPr>
            <a:xfrm>
              <a:off x="8048696" y="2940593"/>
              <a:ext cx="2955190" cy="429895"/>
            </a:xfrm>
            <a:prstGeom prst="rect">
              <a:avLst/>
            </a:prstGeom>
            <a:noFill/>
          </p:spPr>
          <p:txBody>
            <a:bodyPr wrap="square" rtlCol="0">
              <a:spAutoFit/>
            </a:bodyPr>
            <a:lstStyle/>
            <a:p>
              <a:r>
                <a:rPr kumimoji="1" sz="2200" b="1" dirty="0">
                  <a:latin typeface="微软雅黑 Light" panose="020B0502040204020203" pitchFamily="34" charset="-122"/>
                  <a:ea typeface="微软雅黑 Light" panose="020B0502040204020203" pitchFamily="34" charset="-122"/>
                </a:rPr>
                <a:t>NLP 算法工程师</a:t>
              </a:r>
              <a:endParaRPr kumimoji="1" sz="2200" b="1" dirty="0">
                <a:latin typeface="微软雅黑 Light" panose="020B0502040204020203" pitchFamily="34" charset="-122"/>
                <a:ea typeface="微软雅黑 Light" panose="020B0502040204020203" pitchFamily="34" charset="-122"/>
              </a:endParaRPr>
            </a:p>
          </p:txBody>
        </p:sp>
        <p:sp>
          <p:nvSpPr>
            <p:cNvPr id="14" name="文本框 13"/>
            <p:cNvSpPr txBox="1"/>
            <p:nvPr/>
          </p:nvSpPr>
          <p:spPr>
            <a:xfrm>
              <a:off x="8048696" y="3577733"/>
              <a:ext cx="2955190" cy="429895"/>
            </a:xfrm>
            <a:prstGeom prst="rect">
              <a:avLst/>
            </a:prstGeom>
            <a:noFill/>
          </p:spPr>
          <p:txBody>
            <a:bodyPr wrap="square" rtlCol="0">
              <a:spAutoFit/>
            </a:bodyPr>
            <a:lstStyle/>
            <a:p>
              <a:r>
                <a:rPr kumimoji="1" sz="2200" b="1" dirty="0">
                  <a:latin typeface="微软雅黑 Light" panose="020B0502040204020203" pitchFamily="34" charset="-122"/>
                  <a:ea typeface="微软雅黑 Light" panose="020B0502040204020203" pitchFamily="34" charset="-122"/>
                  <a:sym typeface="+mn-ea"/>
                </a:rPr>
                <a:t>AI推理优化专家</a:t>
              </a:r>
              <a:endParaRPr kumimoji="1" lang="zh-CN" altLang="en-US" sz="2200" b="1" dirty="0">
                <a:latin typeface="微软雅黑 Light" panose="020B0502040204020203" pitchFamily="34" charset="-122"/>
                <a:ea typeface="微软雅黑 Light" panose="020B0502040204020203" pitchFamily="34" charset="-122"/>
              </a:endParaRPr>
            </a:p>
          </p:txBody>
        </p:sp>
      </p:gr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496035" y="2940593"/>
            <a:ext cx="9532968" cy="1198880"/>
            <a:chOff x="496035" y="2940593"/>
            <a:chExt cx="9532968" cy="1198880"/>
          </a:xfrm>
        </p:grpSpPr>
        <p:sp>
          <p:nvSpPr>
            <p:cNvPr id="40" name="文本框 39"/>
            <p:cNvSpPr txBox="1"/>
            <p:nvPr/>
          </p:nvSpPr>
          <p:spPr>
            <a:xfrm>
              <a:off x="496035" y="2940593"/>
              <a:ext cx="3976370" cy="1198880"/>
            </a:xfrm>
            <a:prstGeom prst="rect">
              <a:avLst/>
            </a:prstGeom>
            <a:noFill/>
          </p:spPr>
          <p:txBody>
            <a:bodyPr wrap="square" rtlCol="0">
              <a:spAutoFit/>
            </a:bodyPr>
            <a:lstStyle/>
            <a:p>
              <a:r>
                <a:rPr kumimoji="1" lang="zh-CN" altLang="en-US" sz="7200" b="1" dirty="0">
                  <a:latin typeface="微软雅黑" panose="020B0503020204020204" pitchFamily="34" charset="-122"/>
                  <a:ea typeface="微软雅黑" panose="020B0503020204020204" pitchFamily="34" charset="-122"/>
                </a:rPr>
                <a:t>过往</a:t>
              </a:r>
              <a:r>
                <a:rPr kumimoji="1" lang="zh-CN" altLang="en-US" sz="7200" b="1" dirty="0">
                  <a:latin typeface="微软雅黑" panose="020B0503020204020204" pitchFamily="34" charset="-122"/>
                  <a:ea typeface="微软雅黑" panose="020B0503020204020204" pitchFamily="34" charset="-122"/>
                </a:rPr>
                <a:t>荣誉</a:t>
              </a:r>
              <a:endParaRPr kumimoji="1" lang="zh-CN" altLang="en-US" sz="72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4645096" y="294059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航旅纵横杯三等奖</a:t>
              </a:r>
              <a:endParaRPr kumimoji="1" lang="zh-CN" altLang="en-US" sz="2200" b="1" dirty="0">
                <a:latin typeface="微软雅黑" panose="020B0503020204020204" pitchFamily="34" charset="-122"/>
                <a:ea typeface="微软雅黑" panose="020B0503020204020204" pitchFamily="34" charset="-122"/>
              </a:endParaRPr>
            </a:p>
          </p:txBody>
        </p:sp>
        <p:sp>
          <p:nvSpPr>
            <p:cNvPr id="42" name="椭圆 41"/>
            <p:cNvSpPr/>
            <p:nvPr/>
          </p:nvSpPr>
          <p:spPr>
            <a:xfrm>
              <a:off x="4549489" y="311411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43" name="文本框 42"/>
            <p:cNvSpPr txBox="1"/>
            <p:nvPr/>
          </p:nvSpPr>
          <p:spPr>
            <a:xfrm>
              <a:off x="4644626" y="357175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航旅纵横杯</a:t>
              </a:r>
              <a:r>
                <a:rPr kumimoji="1" lang="zh-CN" altLang="en-US" sz="2200" b="1" dirty="0">
                  <a:latin typeface="微软雅黑" panose="020B0503020204020204" pitchFamily="34" charset="-122"/>
                  <a:ea typeface="微软雅黑" panose="020B0503020204020204" pitchFamily="34" charset="-122"/>
                </a:rPr>
                <a:t>一等奖</a:t>
              </a:r>
              <a:endParaRPr kumimoji="1" lang="zh-CN" altLang="en-US" sz="2200" b="1" dirty="0">
                <a:latin typeface="微软雅黑" panose="020B0503020204020204" pitchFamily="34" charset="-122"/>
                <a:ea typeface="微软雅黑" panose="020B0503020204020204" pitchFamily="34" charset="-122"/>
              </a:endParaRPr>
            </a:p>
          </p:txBody>
        </p:sp>
        <p:sp>
          <p:nvSpPr>
            <p:cNvPr id="44" name="椭圆 43"/>
            <p:cNvSpPr/>
            <p:nvPr/>
          </p:nvSpPr>
          <p:spPr>
            <a:xfrm>
              <a:off x="4549019" y="374527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45" name="文本框 44"/>
            <p:cNvSpPr txBox="1"/>
            <p:nvPr/>
          </p:nvSpPr>
          <p:spPr>
            <a:xfrm>
              <a:off x="7514402" y="294059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AI模型优化赛冠军</a:t>
              </a:r>
              <a:endParaRPr kumimoji="1" lang="zh-CN" altLang="en-US" sz="2200" b="1" dirty="0">
                <a:latin typeface="微软雅黑" panose="020B0503020204020204" pitchFamily="34" charset="-122"/>
                <a:ea typeface="微软雅黑" panose="020B0503020204020204" pitchFamily="34" charset="-122"/>
              </a:endParaRPr>
            </a:p>
          </p:txBody>
        </p:sp>
        <p:sp>
          <p:nvSpPr>
            <p:cNvPr id="46" name="椭圆 45"/>
            <p:cNvSpPr/>
            <p:nvPr/>
          </p:nvSpPr>
          <p:spPr>
            <a:xfrm>
              <a:off x="7418795" y="311411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47" name="文本框 46"/>
            <p:cNvSpPr txBox="1"/>
            <p:nvPr/>
          </p:nvSpPr>
          <p:spPr>
            <a:xfrm>
              <a:off x="7513932" y="357175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魔搭最佳应⽤奖</a:t>
              </a:r>
              <a:endParaRPr kumimoji="1" lang="zh-CN" altLang="en-US" sz="2200" b="1" dirty="0">
                <a:latin typeface="微软雅黑" panose="020B0503020204020204" pitchFamily="34" charset="-122"/>
                <a:ea typeface="微软雅黑" panose="020B0503020204020204" pitchFamily="34" charset="-122"/>
              </a:endParaRPr>
            </a:p>
          </p:txBody>
        </p:sp>
        <p:sp>
          <p:nvSpPr>
            <p:cNvPr id="48" name="椭圆 47"/>
            <p:cNvSpPr/>
            <p:nvPr/>
          </p:nvSpPr>
          <p:spPr>
            <a:xfrm>
              <a:off x="7418325" y="374527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grpSp>
      <p:pic>
        <p:nvPicPr>
          <p:cNvPr id="10" name="图片 10" descr="CCL奖状扫描版_00"/>
          <p:cNvPicPr>
            <a:picLocks noChangeAspect="1"/>
          </p:cNvPicPr>
          <p:nvPr/>
        </p:nvPicPr>
        <p:blipFill>
          <a:blip r:embed="rId1"/>
          <a:stretch>
            <a:fillRect/>
          </a:stretch>
        </p:blipFill>
        <p:spPr>
          <a:xfrm>
            <a:off x="4675188" y="677545"/>
            <a:ext cx="5271135" cy="3726180"/>
          </a:xfrm>
          <a:prstGeom prst="rect">
            <a:avLst/>
          </a:prstGeom>
        </p:spPr>
      </p:pic>
      <p:pic>
        <p:nvPicPr>
          <p:cNvPr id="11" name="图片 11" descr="CCL奖状扫描版_01"/>
          <p:cNvPicPr>
            <a:picLocks noChangeAspect="1"/>
          </p:cNvPicPr>
          <p:nvPr/>
        </p:nvPicPr>
        <p:blipFill>
          <a:blip r:embed="rId2"/>
          <a:stretch>
            <a:fillRect/>
          </a:stretch>
        </p:blipFill>
        <p:spPr>
          <a:xfrm>
            <a:off x="4644073" y="1514475"/>
            <a:ext cx="5271135" cy="3726180"/>
          </a:xfrm>
          <a:prstGeom prst="rect">
            <a:avLst/>
          </a:prstGeom>
        </p:spPr>
      </p:pic>
      <p:pic>
        <p:nvPicPr>
          <p:cNvPr id="9" name="图片 9" descr="ce7d9bc0576077a9a190cf737123957"/>
          <p:cNvPicPr>
            <a:picLocks noChangeAspect="1"/>
          </p:cNvPicPr>
          <p:nvPr/>
        </p:nvPicPr>
        <p:blipFill>
          <a:blip r:embed="rId3"/>
          <a:stretch>
            <a:fillRect/>
          </a:stretch>
        </p:blipFill>
        <p:spPr>
          <a:xfrm>
            <a:off x="8247380" y="897890"/>
            <a:ext cx="3718560" cy="4958715"/>
          </a:xfrm>
          <a:prstGeom prst="rect">
            <a:avLst/>
          </a:prstGeom>
        </p:spPr>
      </p:pic>
      <p:pic>
        <p:nvPicPr>
          <p:cNvPr id="8" name="图片 8" descr="bfbbdf4e556b52f3085906bb14a8c33"/>
          <p:cNvPicPr>
            <a:picLocks noChangeAspect="1"/>
          </p:cNvPicPr>
          <p:nvPr/>
        </p:nvPicPr>
        <p:blipFill>
          <a:blip r:embed="rId4"/>
          <a:stretch>
            <a:fillRect/>
          </a:stretch>
        </p:blipFill>
        <p:spPr>
          <a:xfrm>
            <a:off x="4552315" y="965835"/>
            <a:ext cx="3695065" cy="49269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2471400" y="2340429"/>
            <a:ext cx="3175000" cy="2062103"/>
          </a:xfrm>
          <a:prstGeom prst="rect">
            <a:avLst/>
          </a:prstGeom>
          <a:noFill/>
        </p:spPr>
        <p:txBody>
          <a:bodyPr wrap="square" rtlCol="0">
            <a:spAutoFit/>
          </a:bodyPr>
          <a:lstStyle/>
          <a:p>
            <a:r>
              <a:rPr lang="zh-CN" altLang="en-US" sz="1600" b="1" dirty="0"/>
              <a:t>小</a:t>
            </a:r>
            <a:r>
              <a:rPr lang="zh-CN" altLang="zh-CN" sz="1600" b="1" dirty="0"/>
              <a:t>标题：</a:t>
            </a:r>
            <a:endParaRPr lang="en-US" altLang="zh-CN" sz="1600" b="1" dirty="0"/>
          </a:p>
          <a:p>
            <a:pPr marL="742950" lvl="1" indent="-285750">
              <a:buFont typeface="Arial" panose="020B0604020202020204" pitchFamily="34" charset="0"/>
              <a:buChar char="•"/>
            </a:pPr>
            <a:r>
              <a:rPr lang="zh-CN" altLang="zh-CN" sz="1600" dirty="0"/>
              <a:t>字体</a:t>
            </a:r>
            <a:r>
              <a:rPr lang="zh-CN" altLang="en-US" sz="1600" dirty="0"/>
              <a:t>：等线、微软雅黑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72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字体颜色</a:t>
            </a:r>
            <a:r>
              <a:rPr lang="zh-CN" altLang="en-US" sz="1600" dirty="0"/>
              <a:t>：</a:t>
            </a:r>
            <a:r>
              <a:rPr lang="zh-CN" altLang="zh-CN" sz="1600" dirty="0"/>
              <a:t>黑色</a:t>
            </a:r>
            <a:endParaRPr lang="zh-CN" altLang="zh-CN" sz="1600" dirty="0"/>
          </a:p>
          <a:p>
            <a:r>
              <a:rPr lang="zh-CN" altLang="zh-CN" sz="1600" b="1" dirty="0"/>
              <a:t>分享内容关键词</a:t>
            </a:r>
            <a:r>
              <a:rPr lang="zh-CN" altLang="zh-CN" sz="1600" dirty="0"/>
              <a:t>：</a:t>
            </a:r>
            <a:endParaRPr lang="en-US" altLang="zh-CN" sz="1600"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22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a:t>
            </a:r>
            <a:r>
              <a:rPr lang="zh-CN" altLang="en-US" sz="1600" dirty="0"/>
              <a:t>色：黑色</a:t>
            </a:r>
            <a:endParaRPr lang="zh-CN" altLang="zh-CN" sz="1600" dirty="0"/>
          </a:p>
        </p:txBody>
      </p:sp>
      <p:sp>
        <p:nvSpPr>
          <p:cNvPr id="17" name="文本框 16"/>
          <p:cNvSpPr txBox="1"/>
          <p:nvPr/>
        </p:nvSpPr>
        <p:spPr>
          <a:xfrm>
            <a:off x="572868" y="563153"/>
            <a:ext cx="6684471" cy="706755"/>
          </a:xfrm>
          <a:prstGeom prst="rect">
            <a:avLst/>
          </a:prstGeom>
          <a:noFill/>
        </p:spPr>
        <p:txBody>
          <a:bodyPr wrap="square" rtlCol="0">
            <a:spAutoFit/>
          </a:bodyPr>
          <a:lstStyle/>
          <a:p>
            <a:r>
              <a:rPr kumimoji="1" lang="zh-CN" altLang="en-US" sz="4000" b="1" dirty="0">
                <a:latin typeface="微软雅黑" panose="020B0503020204020204" pitchFamily="34" charset="-122"/>
                <a:ea typeface="微软雅黑" panose="020B0503020204020204" pitchFamily="34" charset="-122"/>
              </a:rPr>
              <a:t>使用仓颉的经历和感受</a:t>
            </a:r>
            <a:endParaRPr kumimoji="1" lang="zh-CN" altLang="en-US" sz="4000" b="1" dirty="0">
              <a:latin typeface="微软雅黑" panose="020B0503020204020204" pitchFamily="34" charset="-122"/>
              <a:ea typeface="微软雅黑" panose="020B0503020204020204" pitchFamily="34" charset="-122"/>
            </a:endParaRPr>
          </a:p>
        </p:txBody>
      </p:sp>
      <p:grpSp>
        <p:nvGrpSpPr>
          <p:cNvPr id="18" name="组合 1"/>
          <p:cNvGrpSpPr/>
          <p:nvPr>
            <p:custDataLst>
              <p:tags r:id="rId1"/>
            </p:custDataLst>
          </p:nvPr>
        </p:nvGrpSpPr>
        <p:grpSpPr>
          <a:xfrm>
            <a:off x="1676232" y="1662050"/>
            <a:ext cx="2953924" cy="1078991"/>
            <a:chOff x="1768673" y="1716257"/>
            <a:chExt cx="2724752" cy="998806"/>
          </a:xfrm>
        </p:grpSpPr>
        <p:grpSp>
          <p:nvGrpSpPr>
            <p:cNvPr id="19" name="组合 2"/>
            <p:cNvGrpSpPr/>
            <p:nvPr/>
          </p:nvGrpSpPr>
          <p:grpSpPr>
            <a:xfrm>
              <a:off x="1768673" y="1716257"/>
              <a:ext cx="2724752" cy="998806"/>
              <a:chOff x="2208627" y="2757268"/>
              <a:chExt cx="2098475" cy="769233"/>
            </a:xfrm>
          </p:grpSpPr>
          <p:sp>
            <p:nvSpPr>
              <p:cNvPr id="21" name="任意多边形 4"/>
              <p:cNvSpPr/>
              <p:nvPr>
                <p:custDataLst>
                  <p:tags r:id="rId2"/>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22" name="矩形 21"/>
              <p:cNvSpPr/>
              <p:nvPr>
                <p:custDataLst>
                  <p:tags r:id="rId3"/>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20" name="矩形 19"/>
            <p:cNvSpPr/>
            <p:nvPr>
              <p:custDataLst>
                <p:tags r:id="rId4"/>
              </p:custDataLst>
            </p:nvPr>
          </p:nvSpPr>
          <p:spPr>
            <a:xfrm>
              <a:off x="2061273" y="1951992"/>
              <a:ext cx="1014494" cy="340930"/>
            </a:xfrm>
            <a:prstGeom prst="rect">
              <a:avLst/>
            </a:prstGeom>
          </p:spPr>
          <p:txBody>
            <a:bodyPr wrap="none">
              <a:spAutoFit/>
            </a:bodyPr>
            <a:lstStyle/>
            <a:p>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文档齐全</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sp>
        <p:nvSpPr>
          <p:cNvPr id="45" name="矩形 44"/>
          <p:cNvSpPr/>
          <p:nvPr>
            <p:custDataLst>
              <p:tags r:id="rId5"/>
            </p:custDataLst>
          </p:nvPr>
        </p:nvSpPr>
        <p:spPr>
          <a:xfrm>
            <a:off x="5098159" y="1877209"/>
            <a:ext cx="1211664"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01</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6" name="矩形 45"/>
          <p:cNvSpPr/>
          <p:nvPr>
            <p:custDataLst>
              <p:tags r:id="rId6"/>
            </p:custDataLst>
          </p:nvPr>
        </p:nvSpPr>
        <p:spPr>
          <a:xfrm>
            <a:off x="5078720" y="3397832"/>
            <a:ext cx="1375076"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02</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7" name="矩形 46"/>
          <p:cNvSpPr/>
          <p:nvPr>
            <p:custDataLst>
              <p:tags r:id="rId7"/>
            </p:custDataLst>
          </p:nvPr>
        </p:nvSpPr>
        <p:spPr>
          <a:xfrm>
            <a:off x="5078720" y="4851561"/>
            <a:ext cx="1183113"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03</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8" name="文本框 34"/>
          <p:cNvSpPr txBox="1"/>
          <p:nvPr>
            <p:custDataLst>
              <p:tags r:id="rId8"/>
            </p:custDataLst>
          </p:nvPr>
        </p:nvSpPr>
        <p:spPr>
          <a:xfrm>
            <a:off x="6405880" y="1830705"/>
            <a:ext cx="3870325" cy="1523365"/>
          </a:xfrm>
          <a:prstGeom prst="rect">
            <a:avLst/>
          </a:prstGeom>
          <a:noFill/>
          <a:effectLst/>
        </p:spPr>
        <p:txBody>
          <a:bodyPr wrap="square" rtlCol="0">
            <a:noAutofit/>
          </a:bodyPr>
          <a:lstStyle/>
          <a:p>
            <a:r>
              <a:rPr lang="zh-CN" altLang="en-US" b="1" dirty="0">
                <a:latin typeface="Prima Serif Std Roman" panose="02010600010101010101" charset="-122"/>
                <a:ea typeface="Prima Serif Std Roman" panose="02010600010101010101" charset="-122"/>
                <a:sym typeface="Prima Serif Std Roman" panose="02010600010101010101" charset="-122"/>
              </a:rPr>
              <a:t>新手友好，老手高效</a:t>
            </a:r>
            <a:endParaRPr lang="en-US" altLang="zh-CN"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文档齐全，不仅提供了详尽的API文档，还有专门的开发指南，使得新手能够迅速上手。仓颉语言在设计上汲取了Rust和Node.js的精华，但摒弃了复杂的语法结构，因此经验丰富的开发者也能快速掌握。</a:t>
            </a:r>
            <a:endParaRPr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49" name="文本框 35"/>
          <p:cNvSpPr txBox="1"/>
          <p:nvPr>
            <p:custDataLst>
              <p:tags r:id="rId9"/>
            </p:custDataLst>
          </p:nvPr>
        </p:nvSpPr>
        <p:spPr>
          <a:xfrm>
            <a:off x="6405803" y="3397857"/>
            <a:ext cx="3870491" cy="1476375"/>
          </a:xfrm>
          <a:prstGeom prst="rect">
            <a:avLst/>
          </a:prstGeom>
          <a:noFill/>
          <a:effectLst/>
        </p:spPr>
        <p:txBody>
          <a:bodyPr wrap="square" rtlCol="0">
            <a:spAutoFit/>
          </a:bodyPr>
          <a:lstStyle/>
          <a:p>
            <a:r>
              <a:rPr lang="en-US" altLang="zh-CN" b="1" dirty="0">
                <a:latin typeface="Prima Serif Std Roman" panose="02010600010101010101" charset="-122"/>
                <a:ea typeface="Prima Serif Std Roman" panose="02010600010101010101" charset="-122"/>
                <a:sym typeface="Prima Serif Std Roman" panose="02010600010101010101" charset="-122"/>
              </a:rPr>
              <a:t>C</a:t>
            </a:r>
            <a:r>
              <a:rPr lang="zh-CN" altLang="en-US" b="1" dirty="0">
                <a:latin typeface="Prima Serif Std Roman" panose="02010600010101010101" charset="-122"/>
                <a:ea typeface="Prima Serif Std Roman" panose="02010600010101010101" charset="-122"/>
                <a:sym typeface="Prima Serif Std Roman" panose="02010600010101010101" charset="-122"/>
              </a:rPr>
              <a:t>与Python扩展无缝对接</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虽然仓颉作为一门新兴语言，其生态库尚不够丰富，但其卓越的扩展能力使其能够无缝接入庞大的C/Python库，从而弥补了这一不足。</a:t>
            </a:r>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50" name="文本框 36"/>
          <p:cNvSpPr txBox="1"/>
          <p:nvPr>
            <p:custDataLst>
              <p:tags r:id="rId10"/>
            </p:custDataLst>
          </p:nvPr>
        </p:nvSpPr>
        <p:spPr>
          <a:xfrm>
            <a:off x="6405803" y="4851655"/>
            <a:ext cx="3870491" cy="1383665"/>
          </a:xfrm>
          <a:prstGeom prst="rect">
            <a:avLst/>
          </a:prstGeom>
          <a:noFill/>
          <a:effectLst/>
        </p:spPr>
        <p:txBody>
          <a:bodyPr wrap="square" rtlCol="0">
            <a:spAutoFit/>
          </a:bodyPr>
          <a:lstStyle/>
          <a:p>
            <a:r>
              <a:rPr lang="zh-CN" altLang="en-US" b="1" dirty="0">
                <a:latin typeface="Prima Serif Std Roman" panose="02010600010101010101" charset="-122"/>
                <a:ea typeface="Prima Serif Std Roman" panose="02010600010101010101" charset="-122"/>
                <a:sym typeface="Prima Serif Std Roman" panose="02010600010101010101" charset="-122"/>
              </a:rPr>
              <a:t>前后端高效开发</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仓颉在助力鸿蒙Next App的开发过程中，引入了声明式UI框架</a:t>
            </a:r>
            <a:r>
              <a:rPr lang="zh-CN" sz="1200" dirty="0">
                <a:latin typeface="Prima Serif Std Roman" panose="02010600010101010101" charset="-122"/>
                <a:ea typeface="Prima Serif Std Roman" panose="02010600010101010101" charset="-122"/>
                <a:sym typeface="Prima Serif Std Roman" panose="02010600010101010101" charset="-122"/>
              </a:rPr>
              <a:t>（</a:t>
            </a:r>
            <a:r>
              <a:rPr lang="en-US" altLang="zh-CN" sz="1200" dirty="0">
                <a:latin typeface="Prima Serif Std Roman" panose="02010600010101010101" charset="-122"/>
                <a:ea typeface="Prima Serif Std Roman" panose="02010600010101010101" charset="-122"/>
                <a:sym typeface="Prima Serif Std Roman" panose="02010600010101010101" charset="-122"/>
              </a:rPr>
              <a:t>CangJie UI)</a:t>
            </a:r>
            <a:r>
              <a:rPr sz="1200" dirty="0">
                <a:latin typeface="Prima Serif Std Roman" panose="02010600010101010101" charset="-122"/>
                <a:ea typeface="Prima Serif Std Roman" panose="02010600010101010101" charset="-122"/>
                <a:sym typeface="Prima Serif Std Roman" panose="02010600010101010101" charset="-122"/>
              </a:rPr>
              <a:t>，这一创新设计使得前后端开发者都能迅速上手，从而实现高效开发。</a:t>
            </a:r>
            <a:endParaRPr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grpSp>
        <p:nvGrpSpPr>
          <p:cNvPr id="27" name="组合 1"/>
          <p:cNvGrpSpPr/>
          <p:nvPr>
            <p:custDataLst>
              <p:tags r:id="rId11"/>
            </p:custDataLst>
          </p:nvPr>
        </p:nvGrpSpPr>
        <p:grpSpPr>
          <a:xfrm>
            <a:off x="1676232" y="3278900"/>
            <a:ext cx="2953924" cy="1078991"/>
            <a:chOff x="1768673" y="1716257"/>
            <a:chExt cx="2724752" cy="998806"/>
          </a:xfrm>
        </p:grpSpPr>
        <p:grpSp>
          <p:nvGrpSpPr>
            <p:cNvPr id="28" name="组合 2"/>
            <p:cNvGrpSpPr/>
            <p:nvPr/>
          </p:nvGrpSpPr>
          <p:grpSpPr>
            <a:xfrm>
              <a:off x="1768673" y="1716257"/>
              <a:ext cx="2724752" cy="998806"/>
              <a:chOff x="2208627" y="2757268"/>
              <a:chExt cx="2098475" cy="769233"/>
            </a:xfrm>
          </p:grpSpPr>
          <p:sp>
            <p:nvSpPr>
              <p:cNvPr id="30" name="任意多边形 4"/>
              <p:cNvSpPr/>
              <p:nvPr>
                <p:custDataLst>
                  <p:tags r:id="rId12"/>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31" name="矩形 30"/>
              <p:cNvSpPr/>
              <p:nvPr>
                <p:custDataLst>
                  <p:tags r:id="rId13"/>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29" name="矩形 28"/>
            <p:cNvSpPr/>
            <p:nvPr>
              <p:custDataLst>
                <p:tags r:id="rId14"/>
              </p:custDataLst>
            </p:nvPr>
          </p:nvSpPr>
          <p:spPr>
            <a:xfrm>
              <a:off x="2061273" y="1951992"/>
              <a:ext cx="1225944" cy="340930"/>
            </a:xfrm>
            <a:prstGeom prst="rect">
              <a:avLst/>
            </a:prstGeom>
          </p:spPr>
          <p:txBody>
            <a:bodyPr wrap="none">
              <a:spAutoFit/>
            </a:bodyPr>
            <a:lstStyle/>
            <a:p>
              <a:pPr algn="l"/>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多语言融合</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grpSp>
        <p:nvGrpSpPr>
          <p:cNvPr id="32" name="组合 1"/>
          <p:cNvGrpSpPr/>
          <p:nvPr>
            <p:custDataLst>
              <p:tags r:id="rId15"/>
            </p:custDataLst>
          </p:nvPr>
        </p:nvGrpSpPr>
        <p:grpSpPr>
          <a:xfrm>
            <a:off x="1676232" y="4732629"/>
            <a:ext cx="2953924" cy="1078991"/>
            <a:chOff x="1768673" y="1716257"/>
            <a:chExt cx="2724752" cy="998806"/>
          </a:xfrm>
        </p:grpSpPr>
        <p:grpSp>
          <p:nvGrpSpPr>
            <p:cNvPr id="33" name="组合 2"/>
            <p:cNvGrpSpPr/>
            <p:nvPr/>
          </p:nvGrpSpPr>
          <p:grpSpPr>
            <a:xfrm>
              <a:off x="1768673" y="1716257"/>
              <a:ext cx="2724752" cy="998806"/>
              <a:chOff x="2208627" y="2757268"/>
              <a:chExt cx="2098475" cy="769233"/>
            </a:xfrm>
          </p:grpSpPr>
          <p:sp>
            <p:nvSpPr>
              <p:cNvPr id="35" name="任意多边形 4"/>
              <p:cNvSpPr/>
              <p:nvPr>
                <p:custDataLst>
                  <p:tags r:id="rId16"/>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36" name="矩形 35"/>
              <p:cNvSpPr/>
              <p:nvPr>
                <p:custDataLst>
                  <p:tags r:id="rId17"/>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34" name="矩形 33"/>
            <p:cNvSpPr/>
            <p:nvPr>
              <p:custDataLst>
                <p:tags r:id="rId18"/>
              </p:custDataLst>
            </p:nvPr>
          </p:nvSpPr>
          <p:spPr>
            <a:xfrm>
              <a:off x="2061273" y="1951992"/>
              <a:ext cx="1014494" cy="340930"/>
            </a:xfrm>
            <a:prstGeom prst="rect">
              <a:avLst/>
            </a:prstGeom>
          </p:spPr>
          <p:txBody>
            <a:bodyPr wrap="none">
              <a:spAutoFit/>
            </a:bodyPr>
            <a:lstStyle/>
            <a:p>
              <a:pPr algn="l"/>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赋能鸿蒙</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9" presetClass="entr" presetSubtype="0" fill="hold" grpId="0" nodeType="withEffect">
                                  <p:stCondLst>
                                    <p:cond delay="0"/>
                                  </p:stCondLst>
                                  <p:childTnLst>
                                    <p:set>
                                      <p:cBhvr>
                                        <p:cTn id="9" dur="500" fill="hold">
                                          <p:stCondLst>
                                            <p:cond delay="0"/>
                                          </p:stCondLst>
                                        </p:cTn>
                                        <p:tgtEl>
                                          <p:spTgt spid="45"/>
                                        </p:tgtEl>
                                        <p:attrNameLst>
                                          <p:attrName>style.visibility</p:attrName>
                                        </p:attrNameLst>
                                      </p:cBhvr>
                                      <p:to>
                                        <p:strVal val="visible"/>
                                      </p:to>
                                    </p:set>
                                    <p:animEffect transition="in" filter="dissolve">
                                      <p:cBhvr>
                                        <p:cTn id="10" dur="500"/>
                                        <p:tgtEl>
                                          <p:spTgt spid="45"/>
                                        </p:tgtEl>
                                      </p:cBhvr>
                                    </p:animEffect>
                                  </p:childTnLst>
                                </p:cTn>
                              </p:par>
                              <p:par>
                                <p:cTn id="11" presetID="2" presetClass="entr" presetSubtype="2" fill="hold" grpId="0" nodeType="withEffect">
                                  <p:stCondLst>
                                    <p:cond delay="0"/>
                                  </p:stCondLst>
                                  <p:childTnLst>
                                    <p:set>
                                      <p:cBhvr>
                                        <p:cTn id="12" dur="1000" fill="hold">
                                          <p:stCondLst>
                                            <p:cond delay="0"/>
                                          </p:stCondLst>
                                        </p:cTn>
                                        <p:tgtEl>
                                          <p:spTgt spid="48"/>
                                        </p:tgtEl>
                                        <p:attrNameLst>
                                          <p:attrName>style.visibility</p:attrName>
                                        </p:attrNameLst>
                                      </p:cBhvr>
                                      <p:to>
                                        <p:strVal val="visible"/>
                                      </p:to>
                                    </p:set>
                                    <p:anim calcmode="lin" valueType="num">
                                      <p:cBhvr additive="base">
                                        <p:cTn id="13" dur="1000" fill="hold"/>
                                        <p:tgtEl>
                                          <p:spTgt spid="48"/>
                                        </p:tgtEl>
                                        <p:attrNameLst>
                                          <p:attrName>ppt_x</p:attrName>
                                        </p:attrNameLst>
                                      </p:cBhvr>
                                      <p:tavLst>
                                        <p:tav tm="0">
                                          <p:val>
                                            <p:strVal val="1+#ppt_w/2"/>
                                          </p:val>
                                        </p:tav>
                                        <p:tav tm="100000">
                                          <p:val>
                                            <p:strVal val="#ppt_x"/>
                                          </p:val>
                                        </p:tav>
                                      </p:tavLst>
                                    </p:anim>
                                    <p:anim calcmode="lin" valueType="num">
                                      <p:cBhvr additive="base">
                                        <p:cTn id="14" dur="1000" fill="hold"/>
                                        <p:tgtEl>
                                          <p:spTgt spid="4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2" presetClass="entr" presetSubtype="8" fill="hold" nodeType="afterEffect">
                                  <p:stCondLst>
                                    <p:cond delay="0"/>
                                  </p:stCondLst>
                                  <p:childTnLst>
                                    <p:set>
                                      <p:cBhvr>
                                        <p:cTn id="17" dur="500"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par>
                                <p:cTn id="19" presetID="9" presetClass="entr" presetSubtype="0" fill="hold" grpId="0" nodeType="withEffect">
                                  <p:stCondLst>
                                    <p:cond delay="0"/>
                                  </p:stCondLst>
                                  <p:childTnLst>
                                    <p:set>
                                      <p:cBhvr>
                                        <p:cTn id="20" dur="500" fill="hold">
                                          <p:stCondLst>
                                            <p:cond delay="0"/>
                                          </p:stCondLst>
                                        </p:cTn>
                                        <p:tgtEl>
                                          <p:spTgt spid="46"/>
                                        </p:tgtEl>
                                        <p:attrNameLst>
                                          <p:attrName>style.visibility</p:attrName>
                                        </p:attrNameLst>
                                      </p:cBhvr>
                                      <p:to>
                                        <p:strVal val="visible"/>
                                      </p:to>
                                    </p:set>
                                    <p:animEffect transition="in" filter="dissolve">
                                      <p:cBhvr>
                                        <p:cTn id="21" dur="500"/>
                                        <p:tgtEl>
                                          <p:spTgt spid="46"/>
                                        </p:tgtEl>
                                      </p:cBhvr>
                                    </p:animEffect>
                                  </p:childTnLst>
                                </p:cTn>
                              </p:par>
                              <p:par>
                                <p:cTn id="22" presetID="2" presetClass="entr" presetSubtype="2" fill="hold" grpId="0" nodeType="withEffect">
                                  <p:stCondLst>
                                    <p:cond delay="0"/>
                                  </p:stCondLst>
                                  <p:childTnLst>
                                    <p:set>
                                      <p:cBhvr>
                                        <p:cTn id="23" dur="1000" fill="hold">
                                          <p:stCondLst>
                                            <p:cond delay="0"/>
                                          </p:stCondLst>
                                        </p:cTn>
                                        <p:tgtEl>
                                          <p:spTgt spid="49"/>
                                        </p:tgtEl>
                                        <p:attrNameLst>
                                          <p:attrName>style.visibility</p:attrName>
                                        </p:attrNameLst>
                                      </p:cBhvr>
                                      <p:to>
                                        <p:strVal val="visible"/>
                                      </p:to>
                                    </p:set>
                                    <p:anim calcmode="lin" valueType="num">
                                      <p:cBhvr additive="base">
                                        <p:cTn id="24" dur="1000" fill="hold"/>
                                        <p:tgtEl>
                                          <p:spTgt spid="49"/>
                                        </p:tgtEl>
                                        <p:attrNameLst>
                                          <p:attrName>ppt_x</p:attrName>
                                        </p:attrNameLst>
                                      </p:cBhvr>
                                      <p:tavLst>
                                        <p:tav tm="0">
                                          <p:val>
                                            <p:strVal val="1+#ppt_w/2"/>
                                          </p:val>
                                        </p:tav>
                                        <p:tav tm="100000">
                                          <p:val>
                                            <p:strVal val="#ppt_x"/>
                                          </p:val>
                                        </p:tav>
                                      </p:tavLst>
                                    </p:anim>
                                    <p:anim calcmode="lin" valueType="num">
                                      <p:cBhvr additive="base">
                                        <p:cTn id="25" dur="1000" fill="hold"/>
                                        <p:tgtEl>
                                          <p:spTgt spid="49"/>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500"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par>
                                <p:cTn id="30" presetID="9" presetClass="entr" presetSubtype="0" fill="hold" grpId="0" nodeType="withEffect">
                                  <p:stCondLst>
                                    <p:cond delay="0"/>
                                  </p:stCondLst>
                                  <p:childTnLst>
                                    <p:set>
                                      <p:cBhvr>
                                        <p:cTn id="31" dur="500"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par>
                                <p:cTn id="33" presetID="2" presetClass="entr" presetSubtype="2" fill="hold" grpId="0" nodeType="withEffect">
                                  <p:stCondLst>
                                    <p:cond delay="0"/>
                                  </p:stCondLst>
                                  <p:childTnLst>
                                    <p:set>
                                      <p:cBhvr>
                                        <p:cTn id="34" dur="1000" fill="hold">
                                          <p:stCondLst>
                                            <p:cond delay="0"/>
                                          </p:stCondLst>
                                        </p:cTn>
                                        <p:tgtEl>
                                          <p:spTgt spid="50"/>
                                        </p:tgtEl>
                                        <p:attrNameLst>
                                          <p:attrName>style.visibility</p:attrName>
                                        </p:attrNameLst>
                                      </p:cBhvr>
                                      <p:to>
                                        <p:strVal val="visible"/>
                                      </p:to>
                                    </p:set>
                                    <p:anim calcmode="lin" valueType="num">
                                      <p:cBhvr additive="base">
                                        <p:cTn id="35" dur="1000" fill="hold"/>
                                        <p:tgtEl>
                                          <p:spTgt spid="50"/>
                                        </p:tgtEl>
                                        <p:attrNameLst>
                                          <p:attrName>ppt_x</p:attrName>
                                        </p:attrNameLst>
                                      </p:cBhvr>
                                      <p:tavLst>
                                        <p:tav tm="0">
                                          <p:val>
                                            <p:strVal val="1+#ppt_w/2"/>
                                          </p:val>
                                        </p:tav>
                                        <p:tav tm="100000">
                                          <p:val>
                                            <p:strVal val="#ppt_x"/>
                                          </p:val>
                                        </p:tav>
                                      </p:tavLst>
                                    </p:anim>
                                    <p:anim calcmode="lin" valueType="num">
                                      <p:cBhvr additive="base">
                                        <p:cTn id="36" dur="10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bldLvl="0" animBg="1"/>
      <p:bldP spid="49" grpId="0" bldLvl="0" animBg="1"/>
      <p:bldP spid="5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414755" y="2940593"/>
            <a:ext cx="9614248" cy="1198880"/>
            <a:chOff x="414755" y="2940593"/>
            <a:chExt cx="9614248" cy="1198880"/>
          </a:xfrm>
        </p:grpSpPr>
        <p:sp>
          <p:nvSpPr>
            <p:cNvPr id="40" name="文本框 39"/>
            <p:cNvSpPr txBox="1"/>
            <p:nvPr/>
          </p:nvSpPr>
          <p:spPr>
            <a:xfrm>
              <a:off x="414755" y="2940593"/>
              <a:ext cx="4135120" cy="1198880"/>
            </a:xfrm>
            <a:prstGeom prst="rect">
              <a:avLst/>
            </a:prstGeom>
            <a:noFill/>
          </p:spPr>
          <p:txBody>
            <a:bodyPr wrap="square" rtlCol="0">
              <a:spAutoFit/>
            </a:bodyPr>
            <a:lstStyle/>
            <a:p>
              <a:r>
                <a:rPr kumimoji="1" lang="zh-CN" altLang="en-US" sz="7200" b="1" dirty="0">
                  <a:latin typeface="微软雅黑" panose="020B0503020204020204" pitchFamily="34" charset="-122"/>
                  <a:ea typeface="微软雅黑" panose="020B0503020204020204" pitchFamily="34" charset="-122"/>
                </a:rPr>
                <a:t>实践</a:t>
              </a:r>
              <a:r>
                <a:rPr kumimoji="1" lang="zh-CN" altLang="en-US" sz="7200" b="1" dirty="0">
                  <a:latin typeface="微软雅黑" panose="020B0503020204020204" pitchFamily="34" charset="-122"/>
                  <a:ea typeface="微软雅黑" panose="020B0503020204020204" pitchFamily="34" charset="-122"/>
                </a:rPr>
                <a:t>分享</a:t>
              </a:r>
              <a:endParaRPr kumimoji="1" lang="zh-CN" altLang="en-US" sz="7200" b="1" dirty="0">
                <a:latin typeface="微软雅黑" panose="020B0503020204020204" pitchFamily="34" charset="-122"/>
                <a:ea typeface="微软雅黑" panose="020B0503020204020204" pitchFamily="34" charset="-122"/>
              </a:endParaRPr>
            </a:p>
          </p:txBody>
        </p:sp>
        <p:sp>
          <p:nvSpPr>
            <p:cNvPr id="41" name="文本框 40"/>
            <p:cNvSpPr txBox="1"/>
            <p:nvPr/>
          </p:nvSpPr>
          <p:spPr>
            <a:xfrm>
              <a:off x="4645096" y="294059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项目</a:t>
              </a:r>
              <a:r>
                <a:rPr kumimoji="1" lang="zh-CN" altLang="en-US" sz="2200" b="1" dirty="0">
                  <a:latin typeface="微软雅黑" panose="020B0503020204020204" pitchFamily="34" charset="-122"/>
                  <a:ea typeface="微软雅黑" panose="020B0503020204020204" pitchFamily="34" charset="-122"/>
                </a:rPr>
                <a:t>背景</a:t>
              </a:r>
              <a:endParaRPr kumimoji="1" lang="zh-CN" altLang="en-US" sz="2200" b="1" dirty="0">
                <a:latin typeface="微软雅黑" panose="020B0503020204020204" pitchFamily="34" charset="-122"/>
                <a:ea typeface="微软雅黑" panose="020B0503020204020204" pitchFamily="34" charset="-122"/>
              </a:endParaRPr>
            </a:p>
          </p:txBody>
        </p:sp>
        <p:sp>
          <p:nvSpPr>
            <p:cNvPr id="42" name="椭圆 41"/>
            <p:cNvSpPr/>
            <p:nvPr/>
          </p:nvSpPr>
          <p:spPr>
            <a:xfrm>
              <a:off x="4549489" y="311411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43" name="文本框 42"/>
            <p:cNvSpPr txBox="1"/>
            <p:nvPr/>
          </p:nvSpPr>
          <p:spPr>
            <a:xfrm>
              <a:off x="4644626" y="357175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项目</a:t>
              </a:r>
              <a:r>
                <a:rPr kumimoji="1" lang="zh-CN" altLang="en-US" sz="2200" b="1" dirty="0">
                  <a:latin typeface="微软雅黑" panose="020B0503020204020204" pitchFamily="34" charset="-122"/>
                  <a:ea typeface="微软雅黑" panose="020B0503020204020204" pitchFamily="34" charset="-122"/>
                </a:rPr>
                <a:t>演示</a:t>
              </a:r>
              <a:endParaRPr kumimoji="1" lang="zh-CN" altLang="en-US" sz="2200" b="1" dirty="0">
                <a:latin typeface="微软雅黑" panose="020B0503020204020204" pitchFamily="34" charset="-122"/>
                <a:ea typeface="微软雅黑" panose="020B0503020204020204" pitchFamily="34" charset="-122"/>
              </a:endParaRPr>
            </a:p>
          </p:txBody>
        </p:sp>
        <p:sp>
          <p:nvSpPr>
            <p:cNvPr id="44" name="椭圆 43"/>
            <p:cNvSpPr/>
            <p:nvPr/>
          </p:nvSpPr>
          <p:spPr>
            <a:xfrm>
              <a:off x="4549019" y="374527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45" name="文本框 44"/>
            <p:cNvSpPr txBox="1"/>
            <p:nvPr/>
          </p:nvSpPr>
          <p:spPr>
            <a:xfrm>
              <a:off x="7514402" y="294059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开发</a:t>
              </a:r>
              <a:r>
                <a:rPr kumimoji="1" lang="zh-CN" altLang="en-US" sz="2200" b="1" dirty="0">
                  <a:latin typeface="微软雅黑" panose="020B0503020204020204" pitchFamily="34" charset="-122"/>
                  <a:ea typeface="微软雅黑" panose="020B0503020204020204" pitchFamily="34" charset="-122"/>
                </a:rPr>
                <a:t>流程</a:t>
              </a:r>
              <a:endParaRPr kumimoji="1" lang="zh-CN" altLang="en-US" sz="2200" b="1" dirty="0">
                <a:latin typeface="微软雅黑" panose="020B0503020204020204" pitchFamily="34" charset="-122"/>
                <a:ea typeface="微软雅黑" panose="020B0503020204020204" pitchFamily="34" charset="-122"/>
              </a:endParaRPr>
            </a:p>
          </p:txBody>
        </p:sp>
        <p:sp>
          <p:nvSpPr>
            <p:cNvPr id="46" name="椭圆 45"/>
            <p:cNvSpPr/>
            <p:nvPr/>
          </p:nvSpPr>
          <p:spPr>
            <a:xfrm>
              <a:off x="7418795" y="311411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sp>
          <p:nvSpPr>
            <p:cNvPr id="47" name="文本框 46"/>
            <p:cNvSpPr txBox="1"/>
            <p:nvPr/>
          </p:nvSpPr>
          <p:spPr>
            <a:xfrm>
              <a:off x="7513932" y="3571753"/>
              <a:ext cx="2514601" cy="429895"/>
            </a:xfrm>
            <a:prstGeom prst="rect">
              <a:avLst/>
            </a:prstGeom>
            <a:noFill/>
          </p:spPr>
          <p:txBody>
            <a:bodyPr wrap="square" rtlCol="0">
              <a:spAutoFit/>
            </a:bodyPr>
            <a:lstStyle/>
            <a:p>
              <a:r>
                <a:rPr kumimoji="1" lang="zh-CN" altLang="en-US" sz="2200" b="1" dirty="0">
                  <a:latin typeface="微软雅黑" panose="020B0503020204020204" pitchFamily="34" charset="-122"/>
                  <a:ea typeface="微软雅黑" panose="020B0503020204020204" pitchFamily="34" charset="-122"/>
                </a:rPr>
                <a:t>未来</a:t>
              </a:r>
              <a:r>
                <a:rPr kumimoji="1" lang="zh-CN" altLang="en-US" sz="2200" b="1" dirty="0">
                  <a:latin typeface="微软雅黑" panose="020B0503020204020204" pitchFamily="34" charset="-122"/>
                  <a:ea typeface="微软雅黑" panose="020B0503020204020204" pitchFamily="34" charset="-122"/>
                </a:rPr>
                <a:t>规划</a:t>
              </a:r>
              <a:endParaRPr kumimoji="1" lang="zh-CN" altLang="en-US" sz="2200" b="1" dirty="0">
                <a:latin typeface="微软雅黑" panose="020B0503020204020204" pitchFamily="34" charset="-122"/>
                <a:ea typeface="微软雅黑" panose="020B0503020204020204" pitchFamily="34" charset="-122"/>
              </a:endParaRPr>
            </a:p>
          </p:txBody>
        </p:sp>
        <p:sp>
          <p:nvSpPr>
            <p:cNvPr id="48" name="椭圆 47"/>
            <p:cNvSpPr/>
            <p:nvPr/>
          </p:nvSpPr>
          <p:spPr>
            <a:xfrm>
              <a:off x="7418325" y="3745273"/>
              <a:ext cx="95607" cy="9560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pitchFamily="34" charset="-122"/>
                <a:ea typeface="微软雅黑" panose="020B0503020204020204" pitchFamily="34"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2471399" y="2340429"/>
            <a:ext cx="3320143" cy="2062103"/>
          </a:xfrm>
          <a:prstGeom prst="rect">
            <a:avLst/>
          </a:prstGeom>
          <a:noFill/>
        </p:spPr>
        <p:txBody>
          <a:bodyPr wrap="square" rtlCol="0">
            <a:spAutoFit/>
          </a:bodyPr>
          <a:lstStyle/>
          <a:p>
            <a:r>
              <a:rPr lang="zh-CN" altLang="en-US" sz="1600" b="1" dirty="0"/>
              <a:t>小</a:t>
            </a:r>
            <a:r>
              <a:rPr lang="zh-CN" altLang="zh-CN" sz="1600" b="1" dirty="0"/>
              <a:t>标题：</a:t>
            </a:r>
            <a:endParaRPr lang="en-US" altLang="zh-CN" sz="1600" b="1"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72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字体颜色</a:t>
            </a:r>
            <a:r>
              <a:rPr lang="zh-CN" altLang="en-US" sz="1600" dirty="0"/>
              <a:t>：</a:t>
            </a:r>
            <a:r>
              <a:rPr lang="zh-CN" altLang="zh-CN" sz="1600" dirty="0"/>
              <a:t>黑色</a:t>
            </a:r>
            <a:endParaRPr lang="zh-CN" altLang="zh-CN" sz="1600" dirty="0"/>
          </a:p>
          <a:p>
            <a:r>
              <a:rPr lang="zh-CN" altLang="zh-CN" sz="1600" b="1" dirty="0"/>
              <a:t>分享内容关键词</a:t>
            </a:r>
            <a:r>
              <a:rPr lang="zh-CN" altLang="zh-CN" sz="1600" dirty="0"/>
              <a:t>：</a:t>
            </a:r>
            <a:endParaRPr lang="en-US" altLang="zh-CN" sz="1600"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22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a:t>
            </a:r>
            <a:r>
              <a:rPr lang="zh-CN" altLang="en-US" sz="1600" dirty="0"/>
              <a:t>色：黑色</a:t>
            </a:r>
            <a:endParaRPr lang="zh-CN" altLang="zh-CN" sz="1600" dirty="0"/>
          </a:p>
        </p:txBody>
      </p:sp>
      <p:sp>
        <p:nvSpPr>
          <p:cNvPr id="17" name="文本框 16"/>
          <p:cNvSpPr txBox="1"/>
          <p:nvPr/>
        </p:nvSpPr>
        <p:spPr>
          <a:xfrm>
            <a:off x="572770" y="1414145"/>
            <a:ext cx="3389630" cy="706755"/>
          </a:xfrm>
          <a:prstGeom prst="rect">
            <a:avLst/>
          </a:prstGeom>
          <a:noFill/>
        </p:spPr>
        <p:txBody>
          <a:bodyPr wrap="square" rtlCol="0">
            <a:spAutoFit/>
          </a:bodyPr>
          <a:p>
            <a:r>
              <a:rPr kumimoji="1" lang="zh-CN" altLang="en-US" sz="4000" b="1" dirty="0">
                <a:latin typeface="微软雅黑" panose="020B0503020204020204" pitchFamily="34" charset="-122"/>
                <a:ea typeface="微软雅黑" panose="020B0503020204020204" pitchFamily="34" charset="-122"/>
              </a:rPr>
              <a:t>项目</a:t>
            </a:r>
            <a:r>
              <a:rPr kumimoji="1" lang="zh-CN" altLang="en-US" sz="4000" b="1" dirty="0">
                <a:latin typeface="微软雅黑" panose="020B0503020204020204" pitchFamily="34" charset="-122"/>
                <a:ea typeface="微软雅黑" panose="020B0503020204020204" pitchFamily="34" charset="-122"/>
              </a:rPr>
              <a:t>背景</a:t>
            </a:r>
            <a:endParaRPr kumimoji="1" lang="zh-CN" altLang="en-US" sz="4000" b="1" dirty="0">
              <a:latin typeface="微软雅黑" panose="020B0503020204020204" pitchFamily="34" charset="-122"/>
              <a:ea typeface="微软雅黑" panose="020B0503020204020204" pitchFamily="34" charset="-122"/>
            </a:endParaRPr>
          </a:p>
        </p:txBody>
      </p:sp>
      <p:sp>
        <p:nvSpPr>
          <p:cNvPr id="45" name="矩形 44"/>
          <p:cNvSpPr/>
          <p:nvPr>
            <p:custDataLst>
              <p:tags r:id="rId1"/>
            </p:custDataLst>
          </p:nvPr>
        </p:nvSpPr>
        <p:spPr>
          <a:xfrm>
            <a:off x="3045839" y="2056279"/>
            <a:ext cx="1211664" cy="420564"/>
          </a:xfrm>
          <a:prstGeom prst="rect">
            <a:avLst/>
          </a:prstGeom>
        </p:spPr>
        <p:txBody>
          <a:bodyPr wrap="square">
            <a:spAutoFit/>
          </a:bodyPr>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01</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6" name="矩形 45"/>
          <p:cNvSpPr/>
          <p:nvPr>
            <p:custDataLst>
              <p:tags r:id="rId2"/>
            </p:custDataLst>
          </p:nvPr>
        </p:nvSpPr>
        <p:spPr>
          <a:xfrm>
            <a:off x="3026400" y="3576902"/>
            <a:ext cx="1375076" cy="420564"/>
          </a:xfrm>
          <a:prstGeom prst="rect">
            <a:avLst/>
          </a:prstGeom>
        </p:spPr>
        <p:txBody>
          <a:bodyPr wrap="square">
            <a:spAutoFit/>
          </a:bodyPr>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02</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7" name="矩形 46"/>
          <p:cNvSpPr/>
          <p:nvPr>
            <p:custDataLst>
              <p:tags r:id="rId3"/>
            </p:custDataLst>
          </p:nvPr>
        </p:nvSpPr>
        <p:spPr>
          <a:xfrm>
            <a:off x="3026400" y="4668046"/>
            <a:ext cx="1183113" cy="420564"/>
          </a:xfrm>
          <a:prstGeom prst="rect">
            <a:avLst/>
          </a:prstGeom>
        </p:spPr>
        <p:txBody>
          <a:bodyPr wrap="square">
            <a:spAutoFit/>
          </a:bodyPr>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03</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 name="文本框 34"/>
          <p:cNvSpPr txBox="1"/>
          <p:nvPr>
            <p:custDataLst>
              <p:tags r:id="rId4"/>
            </p:custDataLst>
          </p:nvPr>
        </p:nvSpPr>
        <p:spPr>
          <a:xfrm>
            <a:off x="3962400" y="2009775"/>
            <a:ext cx="7334250" cy="1523365"/>
          </a:xfrm>
          <a:prstGeom prst="rect">
            <a:avLst/>
          </a:prstGeom>
          <a:noFill/>
          <a:effectLst/>
        </p:spPr>
        <p:txBody>
          <a:bodyPr wrap="square" rtlCol="0">
            <a:noAutofit/>
          </a:bodyPr>
          <a:p>
            <a:r>
              <a:rPr lang="zh-CN" altLang="en-US" b="1" dirty="0">
                <a:latin typeface="Prima Serif Std Roman" panose="02010600010101010101" charset="-122"/>
                <a:ea typeface="Prima Serif Std Roman" panose="02010600010101010101" charset="-122"/>
                <a:sym typeface="Prima Serif Std Roman" panose="02010600010101010101" charset="-122"/>
              </a:rPr>
              <a:t>大模型时代，机遇与挑战并存</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近年来，以ChatGPT为代表的生成式AI风靡全球，推动了人工智能技术的快速发展。然而，随着应用的深入，大模型也暴露出一些问题：</a:t>
            </a:r>
            <a:endParaRPr sz="1200"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b="1" dirty="0">
                <a:latin typeface="Prima Serif Std Roman" panose="02010600010101010101" charset="-122"/>
                <a:ea typeface="Prima Serif Std Roman" panose="02010600010101010101" charset="-122"/>
                <a:sym typeface="Prima Serif Std Roman" panose="02010600010101010101" charset="-122"/>
              </a:rPr>
              <a:t>幻觉问题</a:t>
            </a:r>
            <a:r>
              <a:rPr sz="1200" dirty="0">
                <a:latin typeface="Prima Serif Std Roman" panose="02010600010101010101" charset="-122"/>
                <a:ea typeface="Prima Serif Std Roman" panose="02010600010101010101" charset="-122"/>
                <a:sym typeface="Prima Serif Std Roman" panose="02010600010101010101" charset="-122"/>
              </a:rPr>
              <a:t>：模型容易生成不准确甚至错误的信息，影响用户体验和决策。</a:t>
            </a:r>
            <a:endParaRPr sz="1200"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b="1" dirty="0">
                <a:latin typeface="Prima Serif Std Roman" panose="02010600010101010101" charset="-122"/>
                <a:ea typeface="Prima Serif Std Roman" panose="02010600010101010101" charset="-122"/>
                <a:sym typeface="Prima Serif Std Roman" panose="02010600010101010101" charset="-122"/>
              </a:rPr>
              <a:t>隐私泄露风险</a:t>
            </a:r>
            <a:r>
              <a:rPr sz="1200" dirty="0">
                <a:latin typeface="Prima Serif Std Roman" panose="02010600010101010101" charset="-122"/>
                <a:ea typeface="Prima Serif Std Roman" panose="02010600010101010101" charset="-122"/>
                <a:sym typeface="Prima Serif Std Roman" panose="02010600010101010101" charset="-122"/>
              </a:rPr>
              <a:t>：联网运行模式下，用户数据存在被上传至云端并用于模型训练的风险，引发隐私安全担忧。</a:t>
            </a:r>
            <a:endParaRPr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49" name="文本框 35"/>
          <p:cNvSpPr txBox="1"/>
          <p:nvPr>
            <p:custDataLst>
              <p:tags r:id="rId5"/>
            </p:custDataLst>
          </p:nvPr>
        </p:nvSpPr>
        <p:spPr>
          <a:xfrm>
            <a:off x="3962400" y="3576955"/>
            <a:ext cx="7334250" cy="1284605"/>
          </a:xfrm>
          <a:prstGeom prst="rect">
            <a:avLst/>
          </a:prstGeom>
          <a:noFill/>
          <a:effectLst/>
        </p:spPr>
        <p:txBody>
          <a:bodyPr wrap="square" rtlCol="0">
            <a:noAutofit/>
          </a:bodyPr>
          <a:p>
            <a:r>
              <a:rPr lang="zh-CN" altLang="en-US" b="1" dirty="0">
                <a:latin typeface="Prima Serif Std Roman" panose="02010600010101010101" charset="-122"/>
                <a:ea typeface="Prima Serif Std Roman" panose="02010600010101010101" charset="-122"/>
                <a:sym typeface="Prima Serif Std Roman" panose="02010600010101010101" charset="-122"/>
              </a:rPr>
              <a:t>本地化部署，势在必行</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为解决上述问题，本地化部署成为大模型应用的重要趋势。AIPC的兴起，正是基于将大模型部署在PC端，利用本地算力进行离线推理，从而实现更安全、更可靠的AI体验。</a:t>
            </a:r>
            <a:endParaRPr sz="1200"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50" name="文本框 36"/>
          <p:cNvSpPr txBox="1"/>
          <p:nvPr>
            <p:custDataLst>
              <p:tags r:id="rId6"/>
            </p:custDataLst>
          </p:nvPr>
        </p:nvSpPr>
        <p:spPr>
          <a:xfrm>
            <a:off x="3962400" y="4667885"/>
            <a:ext cx="7444740" cy="1660525"/>
          </a:xfrm>
          <a:prstGeom prst="rect">
            <a:avLst/>
          </a:prstGeom>
          <a:noFill/>
          <a:effectLst/>
        </p:spPr>
        <p:txBody>
          <a:bodyPr wrap="square" rtlCol="0">
            <a:spAutoFit/>
          </a:bodyPr>
          <a:p>
            <a:r>
              <a:rPr lang="zh-CN" altLang="en-US" b="1" dirty="0">
                <a:latin typeface="Prima Serif Std Roman" panose="02010600010101010101" charset="-122"/>
                <a:ea typeface="Prima Serif Std Roman" panose="02010600010101010101" charset="-122"/>
                <a:sym typeface="Prima Serif Std Roman" panose="02010600010101010101" charset="-122"/>
              </a:rPr>
              <a:t>鸿蒙Next，探索移动端AI新可能</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近日，联发科和高通发布的最新芯片已经实现了在移动设备上进行大模型的离线推理，甚至支持私有化训练，为移动端AI应用带来了新的可能性。面对这一浪潮，鸿蒙Next能否也完成类似操作？本项目将聚焦于鸿蒙Next系统下大模型离线推理的可行性研究，探索在保障隐私安全的前提下，为用户提供更便捷、更高效的AI服务，助力鸿蒙生态在AI领域的进一步发展。</a:t>
            </a:r>
            <a:endParaRPr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500"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par>
                                <p:cTn id="8" presetID="2" presetClass="entr" presetSubtype="2" fill="hold" grpId="0" nodeType="withEffect">
                                  <p:stCondLst>
                                    <p:cond delay="0"/>
                                  </p:stCondLst>
                                  <p:childTnLst>
                                    <p:set>
                                      <p:cBhvr>
                                        <p:cTn id="9" dur="1000" fill="hold">
                                          <p:stCondLst>
                                            <p:cond delay="0"/>
                                          </p:stCondLst>
                                        </p:cTn>
                                        <p:tgtEl>
                                          <p:spTgt spid="4"/>
                                        </p:tgtEl>
                                        <p:attrNameLst>
                                          <p:attrName>style.visibility</p:attrName>
                                        </p:attrNameLst>
                                      </p:cBhvr>
                                      <p:to>
                                        <p:strVal val="visible"/>
                                      </p:to>
                                    </p:set>
                                    <p:anim calcmode="lin" valueType="num">
                                      <p:cBhvr additive="base">
                                        <p:cTn id="10" dur="1000" fill="hold"/>
                                        <p:tgtEl>
                                          <p:spTgt spid="4"/>
                                        </p:tgtEl>
                                        <p:attrNameLst>
                                          <p:attrName>ppt_x</p:attrName>
                                        </p:attrNameLst>
                                      </p:cBhvr>
                                      <p:tavLst>
                                        <p:tav tm="0">
                                          <p:val>
                                            <p:strVal val="1+#ppt_w/2"/>
                                          </p:val>
                                        </p:tav>
                                        <p:tav tm="100000">
                                          <p:val>
                                            <p:strVal val="#ppt_x"/>
                                          </p:val>
                                        </p:tav>
                                      </p:tavLst>
                                    </p:anim>
                                    <p:anim calcmode="lin" valueType="num">
                                      <p:cBhvr additive="base">
                                        <p:cTn id="11" dur="1000" fill="hold"/>
                                        <p:tgtEl>
                                          <p:spTgt spid="4"/>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9" presetClass="entr" presetSubtype="0" fill="hold" grpId="0" nodeType="afterEffect">
                                  <p:stCondLst>
                                    <p:cond delay="0"/>
                                  </p:stCondLst>
                                  <p:childTnLst>
                                    <p:set>
                                      <p:cBhvr>
                                        <p:cTn id="14" dur="500" fill="hold">
                                          <p:stCondLst>
                                            <p:cond delay="0"/>
                                          </p:stCondLst>
                                        </p:cTn>
                                        <p:tgtEl>
                                          <p:spTgt spid="46"/>
                                        </p:tgtEl>
                                        <p:attrNameLst>
                                          <p:attrName>style.visibility</p:attrName>
                                        </p:attrNameLst>
                                      </p:cBhvr>
                                      <p:to>
                                        <p:strVal val="visible"/>
                                      </p:to>
                                    </p:set>
                                    <p:animEffect transition="in" filter="dissolve">
                                      <p:cBhvr>
                                        <p:cTn id="15" dur="500"/>
                                        <p:tgtEl>
                                          <p:spTgt spid="46"/>
                                        </p:tgtEl>
                                      </p:cBhvr>
                                    </p:animEffect>
                                  </p:childTnLst>
                                </p:cTn>
                              </p:par>
                              <p:par>
                                <p:cTn id="16" presetID="2" presetClass="entr" presetSubtype="2" fill="hold" grpId="0" nodeType="withEffect">
                                  <p:stCondLst>
                                    <p:cond delay="0"/>
                                  </p:stCondLst>
                                  <p:childTnLst>
                                    <p:set>
                                      <p:cBhvr>
                                        <p:cTn id="17" dur="1000" fill="hold">
                                          <p:stCondLst>
                                            <p:cond delay="0"/>
                                          </p:stCondLst>
                                        </p:cTn>
                                        <p:tgtEl>
                                          <p:spTgt spid="49"/>
                                        </p:tgtEl>
                                        <p:attrNameLst>
                                          <p:attrName>style.visibility</p:attrName>
                                        </p:attrNameLst>
                                      </p:cBhvr>
                                      <p:to>
                                        <p:strVal val="visible"/>
                                      </p:to>
                                    </p:set>
                                    <p:anim calcmode="lin" valueType="num">
                                      <p:cBhvr additive="base">
                                        <p:cTn id="18" dur="1000" fill="hold"/>
                                        <p:tgtEl>
                                          <p:spTgt spid="49"/>
                                        </p:tgtEl>
                                        <p:attrNameLst>
                                          <p:attrName>ppt_x</p:attrName>
                                        </p:attrNameLst>
                                      </p:cBhvr>
                                      <p:tavLst>
                                        <p:tav tm="0">
                                          <p:val>
                                            <p:strVal val="1+#ppt_w/2"/>
                                          </p:val>
                                        </p:tav>
                                        <p:tav tm="100000">
                                          <p:val>
                                            <p:strVal val="#ppt_x"/>
                                          </p:val>
                                        </p:tav>
                                      </p:tavLst>
                                    </p:anim>
                                    <p:anim calcmode="lin" valueType="num">
                                      <p:cBhvr additive="base">
                                        <p:cTn id="19" dur="1000" fill="hold"/>
                                        <p:tgtEl>
                                          <p:spTgt spid="49"/>
                                        </p:tgtEl>
                                        <p:attrNameLst>
                                          <p:attrName>ppt_y</p:attrName>
                                        </p:attrNameLst>
                                      </p:cBhvr>
                                      <p:tavLst>
                                        <p:tav tm="0">
                                          <p:val>
                                            <p:strVal val="#ppt_y"/>
                                          </p:val>
                                        </p:tav>
                                        <p:tav tm="100000">
                                          <p:val>
                                            <p:strVal val="#ppt_y"/>
                                          </p:val>
                                        </p:tav>
                                      </p:tavLst>
                                    </p:anim>
                                  </p:childTnLst>
                                </p:cTn>
                              </p:par>
                            </p:childTnLst>
                          </p:cTn>
                        </p:par>
                        <p:par>
                          <p:cTn id="20" fill="hold">
                            <p:stCondLst>
                              <p:cond delay="1000"/>
                            </p:stCondLst>
                            <p:childTnLst>
                              <p:par>
                                <p:cTn id="21" presetID="9" presetClass="entr" presetSubtype="0" fill="hold" grpId="0" nodeType="afterEffect">
                                  <p:stCondLst>
                                    <p:cond delay="0"/>
                                  </p:stCondLst>
                                  <p:childTnLst>
                                    <p:set>
                                      <p:cBhvr>
                                        <p:cTn id="22" dur="500" fill="hold">
                                          <p:stCondLst>
                                            <p:cond delay="0"/>
                                          </p:stCondLst>
                                        </p:cTn>
                                        <p:tgtEl>
                                          <p:spTgt spid="47"/>
                                        </p:tgtEl>
                                        <p:attrNameLst>
                                          <p:attrName>style.visibility</p:attrName>
                                        </p:attrNameLst>
                                      </p:cBhvr>
                                      <p:to>
                                        <p:strVal val="visible"/>
                                      </p:to>
                                    </p:set>
                                    <p:animEffect transition="in" filter="dissolve">
                                      <p:cBhvr>
                                        <p:cTn id="23" dur="500"/>
                                        <p:tgtEl>
                                          <p:spTgt spid="47"/>
                                        </p:tgtEl>
                                      </p:cBhvr>
                                    </p:animEffect>
                                  </p:childTnLst>
                                </p:cTn>
                              </p:par>
                              <p:par>
                                <p:cTn id="24" presetID="2" presetClass="entr" presetSubtype="2" fill="hold" grpId="0" nodeType="withEffect">
                                  <p:stCondLst>
                                    <p:cond delay="0"/>
                                  </p:stCondLst>
                                  <p:childTnLst>
                                    <p:set>
                                      <p:cBhvr>
                                        <p:cTn id="25" dur="1000" fill="hold">
                                          <p:stCondLst>
                                            <p:cond delay="0"/>
                                          </p:stCondLst>
                                        </p:cTn>
                                        <p:tgtEl>
                                          <p:spTgt spid="50"/>
                                        </p:tgtEl>
                                        <p:attrNameLst>
                                          <p:attrName>style.visibility</p:attrName>
                                        </p:attrNameLst>
                                      </p:cBhvr>
                                      <p:to>
                                        <p:strVal val="visible"/>
                                      </p:to>
                                    </p:set>
                                    <p:anim calcmode="lin" valueType="num">
                                      <p:cBhvr additive="base">
                                        <p:cTn id="26" dur="1000" fill="hold"/>
                                        <p:tgtEl>
                                          <p:spTgt spid="50"/>
                                        </p:tgtEl>
                                        <p:attrNameLst>
                                          <p:attrName>ppt_x</p:attrName>
                                        </p:attrNameLst>
                                      </p:cBhvr>
                                      <p:tavLst>
                                        <p:tav tm="0">
                                          <p:val>
                                            <p:strVal val="1+#ppt_w/2"/>
                                          </p:val>
                                        </p:tav>
                                        <p:tav tm="100000">
                                          <p:val>
                                            <p:strVal val="#ppt_x"/>
                                          </p:val>
                                        </p:tav>
                                      </p:tavLst>
                                    </p:anim>
                                    <p:anim calcmode="lin" valueType="num">
                                      <p:cBhvr additive="base">
                                        <p:cTn id="27" dur="10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 grpId="0" bldLvl="0" animBg="1"/>
      <p:bldP spid="49" grpId="0" bldLvl="0" animBg="1"/>
      <p:bldP spid="5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2471400" y="2340429"/>
            <a:ext cx="3175000" cy="2062103"/>
          </a:xfrm>
          <a:prstGeom prst="rect">
            <a:avLst/>
          </a:prstGeom>
          <a:noFill/>
        </p:spPr>
        <p:txBody>
          <a:bodyPr wrap="square" rtlCol="0">
            <a:spAutoFit/>
          </a:bodyPr>
          <a:lstStyle/>
          <a:p>
            <a:r>
              <a:rPr lang="zh-CN" altLang="en-US" sz="1600" b="1" dirty="0"/>
              <a:t>小</a:t>
            </a:r>
            <a:r>
              <a:rPr lang="zh-CN" altLang="zh-CN" sz="1600" b="1" dirty="0"/>
              <a:t>标题：</a:t>
            </a:r>
            <a:endParaRPr lang="en-US" altLang="zh-CN" sz="1600" b="1" dirty="0"/>
          </a:p>
          <a:p>
            <a:pPr marL="742950" lvl="1" indent="-285750">
              <a:buFont typeface="Arial" panose="020B0604020202020204" pitchFamily="34" charset="0"/>
              <a:buChar char="•"/>
            </a:pPr>
            <a:r>
              <a:rPr lang="zh-CN" altLang="zh-CN" sz="1600" dirty="0"/>
              <a:t>字体</a:t>
            </a:r>
            <a:r>
              <a:rPr lang="zh-CN" altLang="en-US" sz="1600" dirty="0"/>
              <a:t>：等线、微软雅黑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72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字体颜色</a:t>
            </a:r>
            <a:r>
              <a:rPr lang="zh-CN" altLang="en-US" sz="1600" dirty="0"/>
              <a:t>：</a:t>
            </a:r>
            <a:r>
              <a:rPr lang="zh-CN" altLang="zh-CN" sz="1600" dirty="0"/>
              <a:t>黑色</a:t>
            </a:r>
            <a:endParaRPr lang="zh-CN" altLang="zh-CN" sz="1600" dirty="0"/>
          </a:p>
          <a:p>
            <a:r>
              <a:rPr lang="zh-CN" altLang="zh-CN" sz="1600" b="1" dirty="0"/>
              <a:t>分享内容关键词</a:t>
            </a:r>
            <a:r>
              <a:rPr lang="zh-CN" altLang="zh-CN" sz="1600" dirty="0"/>
              <a:t>：</a:t>
            </a:r>
            <a:endParaRPr lang="en-US" altLang="zh-CN" sz="1600"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22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a:t>
            </a:r>
            <a:r>
              <a:rPr lang="zh-CN" altLang="en-US" sz="1600" dirty="0"/>
              <a:t>色：黑色</a:t>
            </a:r>
            <a:endParaRPr lang="zh-CN" altLang="zh-CN" sz="1600" dirty="0"/>
          </a:p>
        </p:txBody>
      </p:sp>
      <p:sp>
        <p:nvSpPr>
          <p:cNvPr id="17" name="文本框 16"/>
          <p:cNvSpPr txBox="1"/>
          <p:nvPr/>
        </p:nvSpPr>
        <p:spPr>
          <a:xfrm>
            <a:off x="572770" y="563245"/>
            <a:ext cx="4051300" cy="706755"/>
          </a:xfrm>
          <a:prstGeom prst="rect">
            <a:avLst/>
          </a:prstGeom>
          <a:noFill/>
        </p:spPr>
        <p:txBody>
          <a:bodyPr wrap="square" rtlCol="0">
            <a:spAutoFit/>
          </a:bodyPr>
          <a:lstStyle/>
          <a:p>
            <a:r>
              <a:rPr kumimoji="1" lang="zh-CN" altLang="en-US" sz="4000" b="1" dirty="0">
                <a:latin typeface="微软雅黑" panose="020B0503020204020204" pitchFamily="34" charset="-122"/>
                <a:ea typeface="微软雅黑" panose="020B0503020204020204" pitchFamily="34" charset="-122"/>
              </a:rPr>
              <a:t>开发流程</a:t>
            </a:r>
            <a:endParaRPr kumimoji="1" lang="zh-CN" altLang="en-US" sz="4000" b="1" dirty="0">
              <a:latin typeface="微软雅黑" panose="020B0503020204020204" pitchFamily="34" charset="-122"/>
              <a:ea typeface="微软雅黑" panose="020B0503020204020204" pitchFamily="34" charset="-122"/>
            </a:endParaRPr>
          </a:p>
        </p:txBody>
      </p:sp>
      <p:grpSp>
        <p:nvGrpSpPr>
          <p:cNvPr id="18" name="组合 1"/>
          <p:cNvGrpSpPr/>
          <p:nvPr>
            <p:custDataLst>
              <p:tags r:id="rId1"/>
            </p:custDataLst>
          </p:nvPr>
        </p:nvGrpSpPr>
        <p:grpSpPr>
          <a:xfrm>
            <a:off x="1676232" y="1662050"/>
            <a:ext cx="2953924" cy="1078991"/>
            <a:chOff x="1768673" y="1716257"/>
            <a:chExt cx="2724752" cy="998806"/>
          </a:xfrm>
        </p:grpSpPr>
        <p:grpSp>
          <p:nvGrpSpPr>
            <p:cNvPr id="19" name="组合 2"/>
            <p:cNvGrpSpPr/>
            <p:nvPr/>
          </p:nvGrpSpPr>
          <p:grpSpPr>
            <a:xfrm>
              <a:off x="1768673" y="1716257"/>
              <a:ext cx="2724752" cy="998806"/>
              <a:chOff x="2208627" y="2757268"/>
              <a:chExt cx="2098475" cy="769233"/>
            </a:xfrm>
          </p:grpSpPr>
          <p:sp>
            <p:nvSpPr>
              <p:cNvPr id="21" name="任意多边形 4"/>
              <p:cNvSpPr/>
              <p:nvPr>
                <p:custDataLst>
                  <p:tags r:id="rId2"/>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22" name="矩形 21"/>
              <p:cNvSpPr/>
              <p:nvPr>
                <p:custDataLst>
                  <p:tags r:id="rId3"/>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20" name="矩形 19"/>
            <p:cNvSpPr/>
            <p:nvPr>
              <p:custDataLst>
                <p:tags r:id="rId4"/>
              </p:custDataLst>
            </p:nvPr>
          </p:nvSpPr>
          <p:spPr>
            <a:xfrm>
              <a:off x="2061273" y="1951992"/>
              <a:ext cx="1014494" cy="340930"/>
            </a:xfrm>
            <a:prstGeom prst="rect">
              <a:avLst/>
            </a:prstGeom>
          </p:spPr>
          <p:txBody>
            <a:bodyPr wrap="none">
              <a:spAutoFit/>
            </a:bodyPr>
            <a:lstStyle/>
            <a:p>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设计皮肤</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sp>
        <p:nvSpPr>
          <p:cNvPr id="45" name="矩形 44"/>
          <p:cNvSpPr/>
          <p:nvPr>
            <p:custDataLst>
              <p:tags r:id="rId5"/>
            </p:custDataLst>
          </p:nvPr>
        </p:nvSpPr>
        <p:spPr>
          <a:xfrm>
            <a:off x="5098159" y="1877209"/>
            <a:ext cx="1211664"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01</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6" name="矩形 45"/>
          <p:cNvSpPr/>
          <p:nvPr>
            <p:custDataLst>
              <p:tags r:id="rId6"/>
            </p:custDataLst>
          </p:nvPr>
        </p:nvSpPr>
        <p:spPr>
          <a:xfrm>
            <a:off x="5078720" y="3397832"/>
            <a:ext cx="1375076"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02</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7" name="矩形 46"/>
          <p:cNvSpPr/>
          <p:nvPr>
            <p:custDataLst>
              <p:tags r:id="rId7"/>
            </p:custDataLst>
          </p:nvPr>
        </p:nvSpPr>
        <p:spPr>
          <a:xfrm>
            <a:off x="5078720" y="4851561"/>
            <a:ext cx="1183113"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03</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8" name="文本框 34"/>
          <p:cNvSpPr txBox="1"/>
          <p:nvPr>
            <p:custDataLst>
              <p:tags r:id="rId8"/>
            </p:custDataLst>
          </p:nvPr>
        </p:nvSpPr>
        <p:spPr>
          <a:xfrm>
            <a:off x="6405880" y="1661795"/>
            <a:ext cx="4681220" cy="1106805"/>
          </a:xfrm>
          <a:prstGeom prst="rect">
            <a:avLst/>
          </a:prstGeom>
          <a:noFill/>
          <a:effectLst/>
        </p:spPr>
        <p:txBody>
          <a:bodyPr wrap="square" rtlCol="0">
            <a:spAutoFit/>
          </a:bodyPr>
          <a:lstStyle/>
          <a:p>
            <a:r>
              <a:rPr lang="zh-CN" altLang="en-US" b="1" dirty="0">
                <a:latin typeface="Prima Serif Std Roman" panose="02010600010101010101" charset="-122"/>
                <a:ea typeface="Prima Serif Std Roman" panose="02010600010101010101" charset="-122"/>
                <a:sym typeface="Prima Serif Std Roman" panose="02010600010101010101" charset="-122"/>
              </a:rPr>
              <a:t>初始开发阶段</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lang="zh-CN" altLang="en-US" sz="1200" dirty="0">
                <a:latin typeface="Prima Serif Std Roman" panose="02010600010101010101" charset="-122"/>
                <a:ea typeface="Prima Serif Std Roman" panose="02010600010101010101" charset="-122"/>
                <a:sym typeface="Prima Serif Std Roman" panose="02010600010101010101" charset="-122"/>
              </a:rPr>
              <a:t>使</a:t>
            </a:r>
            <a:r>
              <a:rPr sz="1200" dirty="0">
                <a:latin typeface="Prima Serif Std Roman" panose="02010600010101010101" charset="-122"/>
                <a:ea typeface="Prima Serif Std Roman" panose="02010600010101010101" charset="-122"/>
                <a:sym typeface="Prima Serif Std Roman" panose="02010600010101010101" charset="-122"/>
              </a:rPr>
              <a:t>利用仓颉开发工具，通过API接入</a:t>
            </a:r>
            <a:r>
              <a:rPr lang="zh-CN" sz="1200" dirty="0">
                <a:latin typeface="Prima Serif Std Roman" panose="02010600010101010101" charset="-122"/>
                <a:ea typeface="Prima Serif Std Roman" panose="02010600010101010101" charset="-122"/>
                <a:sym typeface="Prima Serif Std Roman" panose="02010600010101010101" charset="-122"/>
              </a:rPr>
              <a:t>，</a:t>
            </a:r>
            <a:r>
              <a:rPr sz="1200" dirty="0">
                <a:latin typeface="Prima Serif Std Roman" panose="02010600010101010101" charset="-122"/>
                <a:ea typeface="Prima Serif Std Roman" panose="02010600010101010101" charset="-122"/>
                <a:sym typeface="Prima Serif Std Roman" panose="02010600010101010101" charset="-122"/>
              </a:rPr>
              <a:t>我们构建了纯后端AI聊天功能，随后，快速将其移植为鸿蒙Next应用。</a:t>
            </a:r>
            <a:endParaRPr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49" name="文本框 35"/>
          <p:cNvSpPr txBox="1"/>
          <p:nvPr>
            <p:custDataLst>
              <p:tags r:id="rId9"/>
            </p:custDataLst>
          </p:nvPr>
        </p:nvSpPr>
        <p:spPr>
          <a:xfrm>
            <a:off x="6405880" y="2912110"/>
            <a:ext cx="4707890" cy="1753235"/>
          </a:xfrm>
          <a:prstGeom prst="rect">
            <a:avLst/>
          </a:prstGeom>
          <a:noFill/>
          <a:effectLst/>
        </p:spPr>
        <p:txBody>
          <a:bodyPr wrap="square" rtlCol="0">
            <a:spAutoFit/>
          </a:bodyPr>
          <a:lstStyle/>
          <a:p>
            <a:r>
              <a:rPr lang="zh-CN" altLang="en-US" b="1" dirty="0">
                <a:latin typeface="Prima Serif Std Roman" panose="02010600010101010101" charset="-122"/>
                <a:ea typeface="Prima Serif Std Roman" panose="02010600010101010101" charset="-122"/>
                <a:sym typeface="Prima Serif Std Roman" panose="02010600010101010101" charset="-122"/>
              </a:rPr>
              <a:t>仓颉语言AI推理验证</a:t>
            </a:r>
            <a:endParaRPr lang="en-US" altLang="zh-CN"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本项目参考官方MindSpore Lite案例，成功将开发语言从ArkTS迁移至仓颉</a:t>
            </a:r>
            <a:r>
              <a:rPr lang="zh-CN" sz="1200" dirty="0">
                <a:latin typeface="Prima Serif Std Roman" panose="02010600010101010101" charset="-122"/>
                <a:ea typeface="Prima Serif Std Roman" panose="02010600010101010101" charset="-122"/>
                <a:sym typeface="Prima Serif Std Roman" panose="02010600010101010101" charset="-122"/>
              </a:rPr>
              <a:t>（这里用到了仓颉无缝</a:t>
            </a:r>
            <a:r>
              <a:rPr lang="zh-CN" sz="1200" dirty="0">
                <a:latin typeface="Prima Serif Std Roman" panose="02010600010101010101" charset="-122"/>
                <a:ea typeface="Prima Serif Std Roman" panose="02010600010101010101" charset="-122"/>
                <a:sym typeface="Prima Serif Std Roman" panose="02010600010101010101" charset="-122"/>
              </a:rPr>
              <a:t>接入</a:t>
            </a:r>
            <a:r>
              <a:rPr lang="en-US" altLang="zh-CN" sz="1200" dirty="0">
                <a:latin typeface="Prima Serif Std Roman" panose="02010600010101010101" charset="-122"/>
                <a:ea typeface="Prima Serif Std Roman" panose="02010600010101010101" charset="-122"/>
                <a:sym typeface="Prima Serif Std Roman" panose="02010600010101010101" charset="-122"/>
              </a:rPr>
              <a:t>C</a:t>
            </a:r>
            <a:r>
              <a:rPr lang="zh-CN" altLang="en-US" sz="1200" dirty="0">
                <a:latin typeface="Prima Serif Std Roman" panose="02010600010101010101" charset="-122"/>
                <a:ea typeface="Prima Serif Std Roman" panose="02010600010101010101" charset="-122"/>
                <a:sym typeface="Prima Serif Std Roman" panose="02010600010101010101" charset="-122"/>
              </a:rPr>
              <a:t>库的能力）</a:t>
            </a:r>
            <a:r>
              <a:rPr sz="1200" dirty="0">
                <a:latin typeface="Prima Serif Std Roman" panose="02010600010101010101" charset="-122"/>
                <a:ea typeface="Prima Serif Std Roman" panose="02010600010101010101" charset="-122"/>
                <a:sym typeface="Prima Serif Std Roman" panose="02010600010101010101" charset="-122"/>
              </a:rPr>
              <a:t>，并验证了手机端离线AI推理的可行性。此外，我们在Python和仓颉双环境下，完成了对通义千问0.5b（5亿参数）模型的推理验证，展现了仓颉语言在AI领域的应用潜力。</a:t>
            </a:r>
            <a:endParaRPr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50" name="文本框 36"/>
          <p:cNvSpPr txBox="1"/>
          <p:nvPr>
            <p:custDataLst>
              <p:tags r:id="rId10"/>
            </p:custDataLst>
          </p:nvPr>
        </p:nvSpPr>
        <p:spPr>
          <a:xfrm>
            <a:off x="6405880" y="4787900"/>
            <a:ext cx="4641850" cy="1198880"/>
          </a:xfrm>
          <a:prstGeom prst="rect">
            <a:avLst/>
          </a:prstGeom>
          <a:noFill/>
          <a:effectLst/>
        </p:spPr>
        <p:txBody>
          <a:bodyPr wrap="square" rtlCol="0">
            <a:spAutoFit/>
          </a:bodyPr>
          <a:lstStyle/>
          <a:p>
            <a:r>
              <a:rPr lang="zh-CN" altLang="en-US" b="1" dirty="0">
                <a:latin typeface="Prima Serif Std Roman" panose="02010600010101010101" charset="-122"/>
                <a:ea typeface="Prima Serif Std Roman" panose="02010600010101010101" charset="-122"/>
                <a:sym typeface="Prima Serif Std Roman" panose="02010600010101010101" charset="-122"/>
              </a:rPr>
              <a:t>仓颉赋能AI</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使用仓颉实现tokenizer编解码和数据采样算法，成功完成</a:t>
            </a:r>
            <a:r>
              <a:rPr lang="zh-CN" sz="1200" dirty="0">
                <a:latin typeface="Prima Serif Std Roman" panose="02010600010101010101" charset="-122"/>
                <a:ea typeface="Prima Serif Std Roman" panose="02010600010101010101" charset="-122"/>
                <a:sym typeface="Prima Serif Std Roman" panose="02010600010101010101" charset="-122"/>
              </a:rPr>
              <a:t>了</a:t>
            </a:r>
            <a:r>
              <a:rPr sz="1200" dirty="0">
                <a:latin typeface="Prima Serif Std Roman" panose="02010600010101010101" charset="-122"/>
                <a:ea typeface="Prima Serif Std Roman" panose="02010600010101010101" charset="-122"/>
                <a:sym typeface="Prima Serif Std Roman" panose="02010600010101010101" charset="-122"/>
              </a:rPr>
              <a:t>模型</a:t>
            </a:r>
            <a:r>
              <a:rPr lang="zh-CN" sz="1200" dirty="0">
                <a:latin typeface="Prima Serif Std Roman" panose="02010600010101010101" charset="-122"/>
                <a:ea typeface="Prima Serif Std Roman" panose="02010600010101010101" charset="-122"/>
                <a:sym typeface="Prima Serif Std Roman" panose="02010600010101010101" charset="-122"/>
              </a:rPr>
              <a:t>离线对话能力开发</a:t>
            </a:r>
            <a:r>
              <a:rPr sz="1200" dirty="0">
                <a:latin typeface="Prima Serif Std Roman" panose="02010600010101010101" charset="-122"/>
                <a:ea typeface="Prima Serif Std Roman" panose="02010600010101010101" charset="-122"/>
                <a:sym typeface="Prima Serif Std Roman" panose="02010600010101010101" charset="-122"/>
              </a:rPr>
              <a:t>。随后，</a:t>
            </a:r>
            <a:r>
              <a:rPr lang="zh-CN" sz="1200" dirty="0">
                <a:latin typeface="Prima Serif Std Roman" panose="02010600010101010101" charset="-122"/>
                <a:ea typeface="Prima Serif Std Roman" panose="02010600010101010101" charset="-122"/>
                <a:sym typeface="Prima Serif Std Roman" panose="02010600010101010101" charset="-122"/>
              </a:rPr>
              <a:t>结合之前的设计的</a:t>
            </a:r>
            <a:r>
              <a:rPr lang="en-US" altLang="zh-CN" sz="1200" dirty="0">
                <a:latin typeface="Prima Serif Std Roman" panose="02010600010101010101" charset="-122"/>
                <a:ea typeface="Prima Serif Std Roman" panose="02010600010101010101" charset="-122"/>
                <a:sym typeface="Prima Serif Std Roman" panose="02010600010101010101" charset="-122"/>
              </a:rPr>
              <a:t>“</a:t>
            </a:r>
            <a:r>
              <a:rPr lang="zh-CN" sz="1200" dirty="0">
                <a:latin typeface="Prima Serif Std Roman" panose="02010600010101010101" charset="-122"/>
                <a:ea typeface="Prima Serif Std Roman" panose="02010600010101010101" charset="-122"/>
                <a:sym typeface="Prima Serif Std Roman" panose="02010600010101010101" charset="-122"/>
              </a:rPr>
              <a:t>皮肤</a:t>
            </a:r>
            <a:r>
              <a:rPr lang="en-US" altLang="zh-CN" sz="1200" dirty="0">
                <a:latin typeface="Prima Serif Std Roman" panose="02010600010101010101" charset="-122"/>
                <a:ea typeface="Prima Serif Std Roman" panose="02010600010101010101" charset="-122"/>
                <a:sym typeface="Prima Serif Std Roman" panose="02010600010101010101" charset="-122"/>
              </a:rPr>
              <a:t>”</a:t>
            </a:r>
            <a:r>
              <a:rPr lang="zh-CN" altLang="en-US" sz="1200" dirty="0">
                <a:latin typeface="Prima Serif Std Roman" panose="02010600010101010101" charset="-122"/>
                <a:ea typeface="Prima Serif Std Roman" panose="02010600010101010101" charset="-122"/>
                <a:sym typeface="Prima Serif Std Roman" panose="02010600010101010101" charset="-122"/>
              </a:rPr>
              <a:t>，</a:t>
            </a:r>
            <a:r>
              <a:rPr sz="1200" dirty="0">
                <a:latin typeface="Prima Serif Std Roman" panose="02010600010101010101" charset="-122"/>
                <a:ea typeface="Prima Serif Std Roman" panose="02010600010101010101" charset="-122"/>
                <a:sym typeface="Prima Serif Std Roman" panose="02010600010101010101" charset="-122"/>
              </a:rPr>
              <a:t>将成果移植到鸿蒙Next应用，展现仓颉在AI和应用开发中的潜力。</a:t>
            </a:r>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grpSp>
        <p:nvGrpSpPr>
          <p:cNvPr id="27" name="组合 1"/>
          <p:cNvGrpSpPr/>
          <p:nvPr>
            <p:custDataLst>
              <p:tags r:id="rId11"/>
            </p:custDataLst>
          </p:nvPr>
        </p:nvGrpSpPr>
        <p:grpSpPr>
          <a:xfrm>
            <a:off x="1676232" y="3278900"/>
            <a:ext cx="2953924" cy="1078991"/>
            <a:chOff x="1768673" y="1716257"/>
            <a:chExt cx="2724752" cy="998806"/>
          </a:xfrm>
        </p:grpSpPr>
        <p:grpSp>
          <p:nvGrpSpPr>
            <p:cNvPr id="28" name="组合 2"/>
            <p:cNvGrpSpPr/>
            <p:nvPr/>
          </p:nvGrpSpPr>
          <p:grpSpPr>
            <a:xfrm>
              <a:off x="1768673" y="1716257"/>
              <a:ext cx="2724752" cy="998806"/>
              <a:chOff x="2208627" y="2757268"/>
              <a:chExt cx="2098475" cy="769233"/>
            </a:xfrm>
          </p:grpSpPr>
          <p:sp>
            <p:nvSpPr>
              <p:cNvPr id="30" name="任意多边形 4"/>
              <p:cNvSpPr/>
              <p:nvPr>
                <p:custDataLst>
                  <p:tags r:id="rId12"/>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31" name="矩形 30"/>
              <p:cNvSpPr/>
              <p:nvPr>
                <p:custDataLst>
                  <p:tags r:id="rId13"/>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29" name="矩形 28"/>
            <p:cNvSpPr/>
            <p:nvPr>
              <p:custDataLst>
                <p:tags r:id="rId14"/>
              </p:custDataLst>
            </p:nvPr>
          </p:nvSpPr>
          <p:spPr>
            <a:xfrm>
              <a:off x="2061273" y="1951992"/>
              <a:ext cx="1014494" cy="340930"/>
            </a:xfrm>
            <a:prstGeom prst="rect">
              <a:avLst/>
            </a:prstGeom>
          </p:spPr>
          <p:txBody>
            <a:bodyPr wrap="none">
              <a:spAutoFit/>
            </a:bodyPr>
            <a:lstStyle/>
            <a:p>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验证大脑</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grpSp>
        <p:nvGrpSpPr>
          <p:cNvPr id="32" name="组合 1"/>
          <p:cNvGrpSpPr/>
          <p:nvPr>
            <p:custDataLst>
              <p:tags r:id="rId15"/>
            </p:custDataLst>
          </p:nvPr>
        </p:nvGrpSpPr>
        <p:grpSpPr>
          <a:xfrm>
            <a:off x="1676232" y="4732629"/>
            <a:ext cx="2953924" cy="1078991"/>
            <a:chOff x="1768673" y="1716257"/>
            <a:chExt cx="2724752" cy="998806"/>
          </a:xfrm>
        </p:grpSpPr>
        <p:grpSp>
          <p:nvGrpSpPr>
            <p:cNvPr id="33" name="组合 2"/>
            <p:cNvGrpSpPr/>
            <p:nvPr/>
          </p:nvGrpSpPr>
          <p:grpSpPr>
            <a:xfrm>
              <a:off x="1768673" y="1716257"/>
              <a:ext cx="2724752" cy="998806"/>
              <a:chOff x="2208627" y="2757268"/>
              <a:chExt cx="2098475" cy="769233"/>
            </a:xfrm>
          </p:grpSpPr>
          <p:sp>
            <p:nvSpPr>
              <p:cNvPr id="35" name="任意多边形 4"/>
              <p:cNvSpPr/>
              <p:nvPr>
                <p:custDataLst>
                  <p:tags r:id="rId16"/>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36" name="矩形 35"/>
              <p:cNvSpPr/>
              <p:nvPr>
                <p:custDataLst>
                  <p:tags r:id="rId17"/>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34" name="矩形 33"/>
            <p:cNvSpPr/>
            <p:nvPr>
              <p:custDataLst>
                <p:tags r:id="rId18"/>
              </p:custDataLst>
            </p:nvPr>
          </p:nvSpPr>
          <p:spPr>
            <a:xfrm>
              <a:off x="2061273" y="1951992"/>
              <a:ext cx="1014494" cy="340930"/>
            </a:xfrm>
            <a:prstGeom prst="rect">
              <a:avLst/>
            </a:prstGeom>
          </p:spPr>
          <p:txBody>
            <a:bodyPr wrap="none">
              <a:spAutoFit/>
            </a:bodyPr>
            <a:lstStyle/>
            <a:p>
              <a:pPr algn="l"/>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赋能应用</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9" presetClass="entr" presetSubtype="0" fill="hold" grpId="0" nodeType="withEffect">
                                  <p:stCondLst>
                                    <p:cond delay="0"/>
                                  </p:stCondLst>
                                  <p:childTnLst>
                                    <p:set>
                                      <p:cBhvr>
                                        <p:cTn id="9" dur="500" fill="hold">
                                          <p:stCondLst>
                                            <p:cond delay="0"/>
                                          </p:stCondLst>
                                        </p:cTn>
                                        <p:tgtEl>
                                          <p:spTgt spid="45"/>
                                        </p:tgtEl>
                                        <p:attrNameLst>
                                          <p:attrName>style.visibility</p:attrName>
                                        </p:attrNameLst>
                                      </p:cBhvr>
                                      <p:to>
                                        <p:strVal val="visible"/>
                                      </p:to>
                                    </p:set>
                                    <p:animEffect transition="in" filter="dissolve">
                                      <p:cBhvr>
                                        <p:cTn id="10" dur="500"/>
                                        <p:tgtEl>
                                          <p:spTgt spid="45"/>
                                        </p:tgtEl>
                                      </p:cBhvr>
                                    </p:animEffect>
                                  </p:childTnLst>
                                </p:cTn>
                              </p:par>
                              <p:par>
                                <p:cTn id="11" presetID="2" presetClass="entr" presetSubtype="2" fill="hold" grpId="0" nodeType="withEffect">
                                  <p:stCondLst>
                                    <p:cond delay="0"/>
                                  </p:stCondLst>
                                  <p:childTnLst>
                                    <p:set>
                                      <p:cBhvr>
                                        <p:cTn id="12" dur="1000" fill="hold">
                                          <p:stCondLst>
                                            <p:cond delay="0"/>
                                          </p:stCondLst>
                                        </p:cTn>
                                        <p:tgtEl>
                                          <p:spTgt spid="48"/>
                                        </p:tgtEl>
                                        <p:attrNameLst>
                                          <p:attrName>style.visibility</p:attrName>
                                        </p:attrNameLst>
                                      </p:cBhvr>
                                      <p:to>
                                        <p:strVal val="visible"/>
                                      </p:to>
                                    </p:set>
                                    <p:anim calcmode="lin" valueType="num">
                                      <p:cBhvr additive="base">
                                        <p:cTn id="13" dur="1000" fill="hold"/>
                                        <p:tgtEl>
                                          <p:spTgt spid="48"/>
                                        </p:tgtEl>
                                        <p:attrNameLst>
                                          <p:attrName>ppt_x</p:attrName>
                                        </p:attrNameLst>
                                      </p:cBhvr>
                                      <p:tavLst>
                                        <p:tav tm="0">
                                          <p:val>
                                            <p:strVal val="1+#ppt_w/2"/>
                                          </p:val>
                                        </p:tav>
                                        <p:tav tm="100000">
                                          <p:val>
                                            <p:strVal val="#ppt_x"/>
                                          </p:val>
                                        </p:tav>
                                      </p:tavLst>
                                    </p:anim>
                                    <p:anim calcmode="lin" valueType="num">
                                      <p:cBhvr additive="base">
                                        <p:cTn id="14" dur="1000" fill="hold"/>
                                        <p:tgtEl>
                                          <p:spTgt spid="4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dissolve">
                                      <p:cBhvr>
                                        <p:cTn id="21" dur="500"/>
                                        <p:tgtEl>
                                          <p:spTgt spid="46"/>
                                        </p:tgtEl>
                                      </p:cBhvr>
                                    </p:animEffect>
                                  </p:childTnLst>
                                </p:cTn>
                              </p:par>
                              <p:par>
                                <p:cTn id="22" presetID="2" presetClass="entr" presetSubtype="2" fill="hold" grpId="0" nodeType="withEffect">
                                  <p:stCondLst>
                                    <p:cond delay="0"/>
                                  </p:stCondLst>
                                  <p:childTnLst>
                                    <p:set>
                                      <p:cBhvr>
                                        <p:cTn id="23" dur="1000" fill="hold">
                                          <p:stCondLst>
                                            <p:cond delay="0"/>
                                          </p:stCondLst>
                                        </p:cTn>
                                        <p:tgtEl>
                                          <p:spTgt spid="49"/>
                                        </p:tgtEl>
                                        <p:attrNameLst>
                                          <p:attrName>style.visibility</p:attrName>
                                        </p:attrNameLst>
                                      </p:cBhvr>
                                      <p:to>
                                        <p:strVal val="visible"/>
                                      </p:to>
                                    </p:set>
                                    <p:anim calcmode="lin" valueType="num">
                                      <p:cBhvr additive="base">
                                        <p:cTn id="24" dur="1000" fill="hold"/>
                                        <p:tgtEl>
                                          <p:spTgt spid="49"/>
                                        </p:tgtEl>
                                        <p:attrNameLst>
                                          <p:attrName>ppt_x</p:attrName>
                                        </p:attrNameLst>
                                      </p:cBhvr>
                                      <p:tavLst>
                                        <p:tav tm="0">
                                          <p:val>
                                            <p:strVal val="1+#ppt_w/2"/>
                                          </p:val>
                                        </p:tav>
                                        <p:tav tm="100000">
                                          <p:val>
                                            <p:strVal val="#ppt_x"/>
                                          </p:val>
                                        </p:tav>
                                      </p:tavLst>
                                    </p:anim>
                                    <p:anim calcmode="lin" valueType="num">
                                      <p:cBhvr additive="base">
                                        <p:cTn id="25" dur="1000" fill="hold"/>
                                        <p:tgtEl>
                                          <p:spTgt spid="49"/>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par>
                                <p:cTn id="33" presetID="2" presetClass="entr" presetSubtype="2" fill="hold" grpId="0" nodeType="withEffect">
                                  <p:stCondLst>
                                    <p:cond delay="0"/>
                                  </p:stCondLst>
                                  <p:childTnLst>
                                    <p:set>
                                      <p:cBhvr>
                                        <p:cTn id="34" dur="1000" fill="hold">
                                          <p:stCondLst>
                                            <p:cond delay="0"/>
                                          </p:stCondLst>
                                        </p:cTn>
                                        <p:tgtEl>
                                          <p:spTgt spid="50"/>
                                        </p:tgtEl>
                                        <p:attrNameLst>
                                          <p:attrName>style.visibility</p:attrName>
                                        </p:attrNameLst>
                                      </p:cBhvr>
                                      <p:to>
                                        <p:strVal val="visible"/>
                                      </p:to>
                                    </p:set>
                                    <p:anim calcmode="lin" valueType="num">
                                      <p:cBhvr additive="base">
                                        <p:cTn id="35" dur="1000" fill="hold"/>
                                        <p:tgtEl>
                                          <p:spTgt spid="50"/>
                                        </p:tgtEl>
                                        <p:attrNameLst>
                                          <p:attrName>ppt_x</p:attrName>
                                        </p:attrNameLst>
                                      </p:cBhvr>
                                      <p:tavLst>
                                        <p:tav tm="0">
                                          <p:val>
                                            <p:strVal val="1+#ppt_w/2"/>
                                          </p:val>
                                        </p:tav>
                                        <p:tav tm="100000">
                                          <p:val>
                                            <p:strVal val="#ppt_x"/>
                                          </p:val>
                                        </p:tav>
                                      </p:tavLst>
                                    </p:anim>
                                    <p:anim calcmode="lin" valueType="num">
                                      <p:cBhvr additive="base">
                                        <p:cTn id="36" dur="10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bldLvl="0" animBg="1"/>
      <p:bldP spid="49" grpId="0" bldLvl="0" animBg="1"/>
      <p:bldP spid="50"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2150" y="1226185"/>
            <a:ext cx="4051300" cy="706755"/>
          </a:xfrm>
          <a:prstGeom prst="rect">
            <a:avLst/>
          </a:prstGeom>
          <a:noFill/>
        </p:spPr>
        <p:txBody>
          <a:bodyPr wrap="square" rtlCol="0">
            <a:spAutoFit/>
          </a:bodyPr>
          <a:p>
            <a:r>
              <a:rPr kumimoji="1" lang="zh-CN" altLang="en-US" sz="4000" b="1" dirty="0">
                <a:latin typeface="微软雅黑" panose="020B0503020204020204" pitchFamily="34" charset="-122"/>
                <a:ea typeface="微软雅黑" panose="020B0503020204020204" pitchFamily="34" charset="-122"/>
              </a:rPr>
              <a:t>项目</a:t>
            </a:r>
            <a:r>
              <a:rPr kumimoji="1" lang="zh-CN" altLang="en-US" sz="4000" b="1" dirty="0">
                <a:latin typeface="微软雅黑" panose="020B0503020204020204" pitchFamily="34" charset="-122"/>
                <a:ea typeface="微软雅黑" panose="020B0503020204020204" pitchFamily="34" charset="-122"/>
              </a:rPr>
              <a:t>演示</a:t>
            </a:r>
            <a:endParaRPr kumimoji="1" lang="zh-CN" altLang="en-US" sz="4000" b="1" dirty="0">
              <a:latin typeface="微软雅黑" panose="020B0503020204020204" pitchFamily="34" charset="-122"/>
              <a:ea typeface="微软雅黑" panose="020B0503020204020204" pitchFamily="34" charset="-122"/>
            </a:endParaRPr>
          </a:p>
        </p:txBody>
      </p:sp>
      <p:pic>
        <p:nvPicPr>
          <p:cNvPr id="4" name="图片 3" descr="aichat"/>
          <p:cNvPicPr>
            <a:picLocks noChangeAspect="1"/>
          </p:cNvPicPr>
          <p:nvPr/>
        </p:nvPicPr>
        <p:blipFill>
          <a:blip r:embed="rId1"/>
          <a:stretch>
            <a:fillRect/>
          </a:stretch>
        </p:blipFill>
        <p:spPr>
          <a:xfrm>
            <a:off x="4488180" y="1188085"/>
            <a:ext cx="2495550" cy="5400040"/>
          </a:xfrm>
          <a:prstGeom prst="rect">
            <a:avLst/>
          </a:prstGeom>
        </p:spPr>
      </p:pic>
      <p:sp>
        <p:nvSpPr>
          <p:cNvPr id="5" name="文本框 34"/>
          <p:cNvSpPr txBox="1"/>
          <p:nvPr>
            <p:custDataLst>
              <p:tags r:id="rId2"/>
            </p:custDataLst>
          </p:nvPr>
        </p:nvSpPr>
        <p:spPr>
          <a:xfrm>
            <a:off x="1203325" y="2708910"/>
            <a:ext cx="2345055" cy="919480"/>
          </a:xfrm>
          <a:prstGeom prst="rect">
            <a:avLst/>
          </a:prstGeom>
          <a:noFill/>
          <a:effectLst/>
        </p:spPr>
        <p:txBody>
          <a:bodyPr wrap="square" rtlCol="0">
            <a:noAutofit/>
          </a:bodyPr>
          <a:p>
            <a:r>
              <a:rPr lang="en-US" altLang="zh-CN" b="1" dirty="0">
                <a:latin typeface="Prima Serif Std Roman" panose="02010600010101010101" charset="-122"/>
                <a:ea typeface="Prima Serif Std Roman" panose="02010600010101010101" charset="-122"/>
                <a:sym typeface="Prima Serif Std Roman" panose="02010600010101010101" charset="-122"/>
              </a:rPr>
              <a:t>AIChat</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lang="zh-CN" altLang="en-US" sz="1200" dirty="0">
                <a:latin typeface="Prima Serif Std Roman" panose="02010600010101010101" charset="-122"/>
                <a:ea typeface="Prima Serif Std Roman" panose="02010600010101010101" charset="-122"/>
                <a:sym typeface="Prima Serif Std Roman" panose="02010600010101010101" charset="-122"/>
              </a:rPr>
              <a:t>接入第三方</a:t>
            </a:r>
            <a:r>
              <a:rPr lang="en-US" altLang="zh-CN" sz="1200" dirty="0">
                <a:latin typeface="Prima Serif Std Roman" panose="02010600010101010101" charset="-122"/>
                <a:ea typeface="Prima Serif Std Roman" panose="02010600010101010101" charset="-122"/>
                <a:sym typeface="Prima Serif Std Roman" panose="02010600010101010101" charset="-122"/>
              </a:rPr>
              <a:t>API,</a:t>
            </a:r>
            <a:r>
              <a:rPr lang="zh-CN" altLang="en-US" sz="1200" dirty="0">
                <a:latin typeface="Prima Serif Std Roman" panose="02010600010101010101" charset="-122"/>
                <a:ea typeface="Prima Serif Std Roman" panose="02010600010101010101" charset="-122"/>
                <a:sym typeface="Prima Serif Std Roman" panose="02010600010101010101" charset="-122"/>
              </a:rPr>
              <a:t>完成流式对话</a:t>
            </a:r>
            <a:r>
              <a:rPr sz="1200" dirty="0">
                <a:latin typeface="Prima Serif Std Roman" panose="02010600010101010101" charset="-122"/>
                <a:ea typeface="Prima Serif Std Roman" panose="02010600010101010101" charset="-122"/>
                <a:sym typeface="Prima Serif Std Roman" panose="02010600010101010101" charset="-122"/>
              </a:rPr>
              <a:t>。</a:t>
            </a:r>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6" name="文本框 34"/>
          <p:cNvSpPr txBox="1"/>
          <p:nvPr>
            <p:custDataLst>
              <p:tags r:id="rId3"/>
            </p:custDataLst>
          </p:nvPr>
        </p:nvSpPr>
        <p:spPr>
          <a:xfrm>
            <a:off x="7564120" y="2708910"/>
            <a:ext cx="3279775" cy="1129665"/>
          </a:xfrm>
          <a:prstGeom prst="rect">
            <a:avLst/>
          </a:prstGeom>
          <a:noFill/>
          <a:effectLst/>
        </p:spPr>
        <p:txBody>
          <a:bodyPr wrap="square" rtlCol="0">
            <a:noAutofit/>
          </a:bodyPr>
          <a:p>
            <a:pPr>
              <a:lnSpc>
                <a:spcPct val="150000"/>
              </a:lnSpc>
            </a:pPr>
            <a:r>
              <a:rPr lang="zh-CN" altLang="en-US" b="1" dirty="0">
                <a:latin typeface="Prima Serif Std Roman" panose="02010600010101010101" charset="-122"/>
                <a:ea typeface="Prima Serif Std Roman" panose="02010600010101010101" charset="-122"/>
                <a:sym typeface="Prima Serif Std Roman" panose="02010600010101010101" charset="-122"/>
              </a:rPr>
              <a:t>项目地址</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https://gitcode.com/Cangjie/HarmonyOS-Examples/blob/main/AIChat/README.md</a:t>
            </a:r>
            <a:endParaRPr sz="1200" dirty="0">
              <a:latin typeface="Prima Serif Std Roman" panose="02010600010101010101" charset="-122"/>
              <a:ea typeface="Prima Serif Std Roman" panose="02010600010101010101" charset="-122"/>
              <a:sym typeface="Prima Serif Std Roman" panose="0201060001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2150" y="1226185"/>
            <a:ext cx="4051300" cy="706755"/>
          </a:xfrm>
          <a:prstGeom prst="rect">
            <a:avLst/>
          </a:prstGeom>
          <a:noFill/>
        </p:spPr>
        <p:txBody>
          <a:bodyPr wrap="square" rtlCol="0">
            <a:spAutoFit/>
          </a:bodyPr>
          <a:p>
            <a:r>
              <a:rPr kumimoji="1" lang="zh-CN" altLang="en-US" sz="4000" b="1" dirty="0">
                <a:latin typeface="微软雅黑" panose="020B0503020204020204" pitchFamily="34" charset="-122"/>
                <a:ea typeface="微软雅黑" panose="020B0503020204020204" pitchFamily="34" charset="-122"/>
              </a:rPr>
              <a:t>项目</a:t>
            </a:r>
            <a:r>
              <a:rPr kumimoji="1" lang="zh-CN" altLang="en-US" sz="4000" b="1" dirty="0">
                <a:latin typeface="微软雅黑" panose="020B0503020204020204" pitchFamily="34" charset="-122"/>
                <a:ea typeface="微软雅黑" panose="020B0503020204020204" pitchFamily="34" charset="-122"/>
              </a:rPr>
              <a:t>演示</a:t>
            </a:r>
            <a:endParaRPr kumimoji="1" lang="zh-CN" altLang="en-US" sz="4000" b="1" dirty="0">
              <a:latin typeface="微软雅黑" panose="020B0503020204020204" pitchFamily="34" charset="-122"/>
              <a:ea typeface="微软雅黑" panose="020B0503020204020204" pitchFamily="34" charset="-122"/>
            </a:endParaRPr>
          </a:p>
        </p:txBody>
      </p:sp>
      <p:sp>
        <p:nvSpPr>
          <p:cNvPr id="5" name="文本框 34"/>
          <p:cNvSpPr txBox="1"/>
          <p:nvPr>
            <p:custDataLst>
              <p:tags r:id="rId1"/>
            </p:custDataLst>
          </p:nvPr>
        </p:nvSpPr>
        <p:spPr>
          <a:xfrm>
            <a:off x="1203325" y="2708910"/>
            <a:ext cx="2345055" cy="1818640"/>
          </a:xfrm>
          <a:prstGeom prst="rect">
            <a:avLst/>
          </a:prstGeom>
          <a:noFill/>
          <a:effectLst/>
        </p:spPr>
        <p:txBody>
          <a:bodyPr wrap="square" rtlCol="0">
            <a:noAutofit/>
          </a:bodyPr>
          <a:p>
            <a:r>
              <a:rPr lang="en-US" altLang="zh-CN" b="1" dirty="0">
                <a:latin typeface="Prima Serif Std Roman" panose="02010600010101010101" charset="-122"/>
                <a:ea typeface="Prima Serif Std Roman" panose="02010600010101010101" charset="-122"/>
                <a:sym typeface="Prima Serif Std Roman" panose="02010600010101010101" charset="-122"/>
              </a:rPr>
              <a:t>AIChatPro</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使用仓颉编程语言，接入mindspore-lite，完成对通义千问qwen2-0.5b-instruct模型</a:t>
            </a:r>
            <a:r>
              <a:rPr lang="zh-CN" sz="1200" dirty="0">
                <a:latin typeface="Prima Serif Std Roman" panose="02010600010101010101" charset="-122"/>
                <a:ea typeface="Prima Serif Std Roman" panose="02010600010101010101" charset="-122"/>
                <a:sym typeface="Prima Serif Std Roman" panose="02010600010101010101" charset="-122"/>
              </a:rPr>
              <a:t>的</a:t>
            </a:r>
            <a:r>
              <a:rPr sz="1200" dirty="0">
                <a:latin typeface="Prima Serif Std Roman" panose="02010600010101010101" charset="-122"/>
                <a:ea typeface="Prima Serif Std Roman" panose="02010600010101010101" charset="-122"/>
                <a:sym typeface="Prima Serif Std Roman" panose="02010600010101010101" charset="-122"/>
              </a:rPr>
              <a:t>离线推理</a:t>
            </a:r>
            <a:r>
              <a:rPr lang="zh-CN" sz="1200" dirty="0">
                <a:latin typeface="Prima Serif Std Roman" panose="02010600010101010101" charset="-122"/>
                <a:ea typeface="Prima Serif Std Roman" panose="02010600010101010101" charset="-122"/>
                <a:sym typeface="Prima Serif Std Roman" panose="02010600010101010101" charset="-122"/>
              </a:rPr>
              <a:t>（模拟器运行，仅支持</a:t>
            </a:r>
            <a:r>
              <a:rPr lang="en-US" altLang="zh-CN" sz="1200" dirty="0">
                <a:latin typeface="Prima Serif Std Roman" panose="02010600010101010101" charset="-122"/>
                <a:ea typeface="Prima Serif Std Roman" panose="02010600010101010101" charset="-122"/>
                <a:sym typeface="Prima Serif Std Roman" panose="02010600010101010101" charset="-122"/>
              </a:rPr>
              <a:t>CPU)</a:t>
            </a:r>
            <a:r>
              <a:rPr lang="zh-CN" altLang="en-US" sz="1200" dirty="0">
                <a:latin typeface="Prima Serif Std Roman" panose="02010600010101010101" charset="-122"/>
                <a:ea typeface="Prima Serif Std Roman" panose="02010600010101010101" charset="-122"/>
                <a:sym typeface="Prima Serif Std Roman" panose="02010600010101010101" charset="-122"/>
              </a:rPr>
              <a:t>。</a:t>
            </a:r>
            <a:endParaRPr lang="zh-CN" altLang="en-US" sz="1200" dirty="0">
              <a:latin typeface="Prima Serif Std Roman" panose="02010600010101010101" charset="-122"/>
              <a:ea typeface="Prima Serif Std Roman" panose="02010600010101010101" charset="-122"/>
              <a:sym typeface="Prima Serif Std Roman" panose="02010600010101010101" charset="-122"/>
            </a:endParaRPr>
          </a:p>
        </p:txBody>
      </p:sp>
      <p:sp>
        <p:nvSpPr>
          <p:cNvPr id="6" name="文本框 34"/>
          <p:cNvSpPr txBox="1"/>
          <p:nvPr>
            <p:custDataLst>
              <p:tags r:id="rId2"/>
            </p:custDataLst>
          </p:nvPr>
        </p:nvSpPr>
        <p:spPr>
          <a:xfrm>
            <a:off x="7564120" y="2708910"/>
            <a:ext cx="3279775" cy="1129665"/>
          </a:xfrm>
          <a:prstGeom prst="rect">
            <a:avLst/>
          </a:prstGeom>
          <a:noFill/>
          <a:effectLst/>
        </p:spPr>
        <p:txBody>
          <a:bodyPr wrap="square" rtlCol="0">
            <a:noAutofit/>
          </a:bodyPr>
          <a:p>
            <a:pPr>
              <a:lnSpc>
                <a:spcPct val="150000"/>
              </a:lnSpc>
            </a:pPr>
            <a:r>
              <a:rPr lang="zh-CN" altLang="en-US" b="1" dirty="0">
                <a:latin typeface="Prima Serif Std Roman" panose="02010600010101010101" charset="-122"/>
                <a:ea typeface="Prima Serif Std Roman" panose="02010600010101010101" charset="-122"/>
                <a:sym typeface="Prima Serif Std Roman" panose="02010600010101010101" charset="-122"/>
              </a:rPr>
              <a:t>项目地址</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a:p>
            <a:pPr>
              <a:lnSpc>
                <a:spcPct val="150000"/>
              </a:lnSpc>
            </a:pPr>
            <a:r>
              <a:rPr sz="1200" dirty="0">
                <a:latin typeface="Prima Serif Std Roman" panose="02010600010101010101" charset="-122"/>
                <a:ea typeface="Prima Serif Std Roman" panose="02010600010101010101" charset="-122"/>
                <a:sym typeface="Prima Serif Std Roman" panose="02010600010101010101" charset="-122"/>
              </a:rPr>
              <a:t>https://gitcode.com/Cangjie/HarmonyOS-Examples/blob/main/AIChatPro/README.md</a:t>
            </a:r>
            <a:endParaRPr sz="1200" dirty="0">
              <a:latin typeface="Prima Serif Std Roman" panose="02010600010101010101" charset="-122"/>
              <a:ea typeface="Prima Serif Std Roman" panose="02010600010101010101" charset="-122"/>
              <a:sym typeface="Prima Serif Std Roman" panose="02010600010101010101" charset="-122"/>
            </a:endParaRPr>
          </a:p>
        </p:txBody>
      </p:sp>
      <p:pic>
        <p:nvPicPr>
          <p:cNvPr id="3" name="图片 2" descr="ai_chat_pro"/>
          <p:cNvPicPr>
            <a:picLocks noChangeAspect="1"/>
          </p:cNvPicPr>
          <p:nvPr/>
        </p:nvPicPr>
        <p:blipFill>
          <a:blip r:embed="rId3"/>
          <a:stretch>
            <a:fillRect/>
          </a:stretch>
        </p:blipFill>
        <p:spPr>
          <a:xfrm>
            <a:off x="4462145" y="1184910"/>
            <a:ext cx="2563495" cy="54806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2471400" y="2340429"/>
            <a:ext cx="3175000" cy="2062103"/>
          </a:xfrm>
          <a:prstGeom prst="rect">
            <a:avLst/>
          </a:prstGeom>
          <a:noFill/>
        </p:spPr>
        <p:txBody>
          <a:bodyPr wrap="square" rtlCol="0">
            <a:spAutoFit/>
          </a:bodyPr>
          <a:lstStyle/>
          <a:p>
            <a:r>
              <a:rPr lang="zh-CN" altLang="en-US" sz="1600" b="1" dirty="0"/>
              <a:t>小</a:t>
            </a:r>
            <a:r>
              <a:rPr lang="zh-CN" altLang="zh-CN" sz="1600" b="1" dirty="0"/>
              <a:t>标题：</a:t>
            </a:r>
            <a:endParaRPr lang="en-US" altLang="zh-CN" sz="1600" b="1" dirty="0"/>
          </a:p>
          <a:p>
            <a:pPr marL="742950" lvl="1" indent="-285750">
              <a:buFont typeface="Arial" panose="020B0604020202020204" pitchFamily="34" charset="0"/>
              <a:buChar char="•"/>
            </a:pPr>
            <a:r>
              <a:rPr lang="zh-CN" altLang="zh-CN" sz="1600" dirty="0"/>
              <a:t>字体</a:t>
            </a:r>
            <a:r>
              <a:rPr lang="zh-CN" altLang="en-US" sz="1600" dirty="0"/>
              <a:t>：等线、微软雅黑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72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字体颜色</a:t>
            </a:r>
            <a:r>
              <a:rPr lang="zh-CN" altLang="en-US" sz="1600" dirty="0"/>
              <a:t>：</a:t>
            </a:r>
            <a:r>
              <a:rPr lang="zh-CN" altLang="zh-CN" sz="1600" dirty="0"/>
              <a:t>黑色</a:t>
            </a:r>
            <a:endParaRPr lang="zh-CN" altLang="zh-CN" sz="1600" dirty="0"/>
          </a:p>
          <a:p>
            <a:r>
              <a:rPr lang="zh-CN" altLang="zh-CN" sz="1600" b="1" dirty="0"/>
              <a:t>分享内容关键词</a:t>
            </a:r>
            <a:r>
              <a:rPr lang="zh-CN" altLang="zh-CN" sz="1600" dirty="0"/>
              <a:t>：</a:t>
            </a:r>
            <a:endParaRPr lang="en-US" altLang="zh-CN" sz="1600" dirty="0"/>
          </a:p>
          <a:p>
            <a:pPr marL="742950" lvl="1" indent="-285750">
              <a:buFont typeface="Arial" panose="020B0604020202020204" pitchFamily="34" charset="0"/>
              <a:buChar char="•"/>
            </a:pPr>
            <a:r>
              <a:rPr lang="zh-CN" altLang="zh-CN" sz="1600" dirty="0"/>
              <a:t>字体</a:t>
            </a:r>
            <a:r>
              <a:rPr lang="zh-CN" altLang="en-US" sz="1600" dirty="0"/>
              <a:t>：</a:t>
            </a:r>
            <a:r>
              <a:rPr lang="zh-CN" altLang="zh-CN" sz="1600" dirty="0"/>
              <a:t>等线</a:t>
            </a:r>
            <a:r>
              <a:rPr lang="zh-CN" altLang="en-US" sz="1600" dirty="0"/>
              <a:t>、微软雅黑</a:t>
            </a:r>
            <a:endParaRPr lang="en-US" altLang="zh-CN" sz="1600" dirty="0"/>
          </a:p>
          <a:p>
            <a:pPr marL="742950" lvl="1" indent="-285750">
              <a:buFont typeface="Arial" panose="020B0604020202020204" pitchFamily="34" charset="0"/>
              <a:buChar char="•"/>
            </a:pPr>
            <a:r>
              <a:rPr lang="zh-CN" altLang="zh-CN" sz="1600" dirty="0"/>
              <a:t>字号</a:t>
            </a:r>
            <a:r>
              <a:rPr lang="zh-CN" altLang="en-US" sz="1600" dirty="0"/>
              <a:t>：</a:t>
            </a:r>
            <a:r>
              <a:rPr lang="en-US" altLang="zh-CN" sz="1600" dirty="0"/>
              <a:t>22</a:t>
            </a:r>
            <a:r>
              <a:rPr lang="zh-CN" altLang="en-US" sz="1600" dirty="0"/>
              <a:t>、加粗</a:t>
            </a:r>
            <a:endParaRPr lang="en-US" altLang="zh-CN" sz="1600" dirty="0"/>
          </a:p>
          <a:p>
            <a:pPr marL="742950" lvl="1" indent="-285750">
              <a:buFont typeface="Arial" panose="020B0604020202020204" pitchFamily="34" charset="0"/>
              <a:buChar char="•"/>
            </a:pPr>
            <a:r>
              <a:rPr lang="zh-CN" altLang="zh-CN" sz="1600" dirty="0"/>
              <a:t>字体颜</a:t>
            </a:r>
            <a:r>
              <a:rPr lang="zh-CN" altLang="en-US" sz="1600" dirty="0"/>
              <a:t>色：黑色</a:t>
            </a:r>
            <a:endParaRPr lang="zh-CN" altLang="zh-CN" sz="1600" dirty="0"/>
          </a:p>
        </p:txBody>
      </p:sp>
      <p:sp>
        <p:nvSpPr>
          <p:cNvPr id="17" name="文本框 16"/>
          <p:cNvSpPr txBox="1"/>
          <p:nvPr/>
        </p:nvSpPr>
        <p:spPr>
          <a:xfrm>
            <a:off x="572868" y="563153"/>
            <a:ext cx="6684471" cy="706755"/>
          </a:xfrm>
          <a:prstGeom prst="rect">
            <a:avLst/>
          </a:prstGeom>
          <a:noFill/>
        </p:spPr>
        <p:txBody>
          <a:bodyPr wrap="square" rtlCol="0">
            <a:spAutoFit/>
          </a:bodyPr>
          <a:lstStyle/>
          <a:p>
            <a:r>
              <a:rPr kumimoji="1" lang="zh-CN" altLang="en-US" sz="4000" b="1" dirty="0">
                <a:latin typeface="微软雅黑" panose="020B0503020204020204" pitchFamily="34" charset="-122"/>
                <a:ea typeface="微软雅黑" panose="020B0503020204020204" pitchFamily="34" charset="-122"/>
              </a:rPr>
              <a:t>项目未来</a:t>
            </a:r>
            <a:r>
              <a:rPr kumimoji="1" lang="zh-CN" altLang="en-US" sz="4000" b="1" dirty="0">
                <a:latin typeface="微软雅黑" panose="020B0503020204020204" pitchFamily="34" charset="-122"/>
                <a:ea typeface="微软雅黑" panose="020B0503020204020204" pitchFamily="34" charset="-122"/>
              </a:rPr>
              <a:t>规划</a:t>
            </a:r>
            <a:endParaRPr kumimoji="1" lang="zh-CN" altLang="en-US" sz="4000" b="1" dirty="0">
              <a:latin typeface="微软雅黑" panose="020B0503020204020204" pitchFamily="34" charset="-122"/>
              <a:ea typeface="微软雅黑" panose="020B0503020204020204" pitchFamily="34" charset="-122"/>
            </a:endParaRPr>
          </a:p>
        </p:txBody>
      </p:sp>
      <p:grpSp>
        <p:nvGrpSpPr>
          <p:cNvPr id="18" name="组合 1"/>
          <p:cNvGrpSpPr/>
          <p:nvPr>
            <p:custDataLst>
              <p:tags r:id="rId1"/>
            </p:custDataLst>
          </p:nvPr>
        </p:nvGrpSpPr>
        <p:grpSpPr>
          <a:xfrm>
            <a:off x="1676232" y="1662050"/>
            <a:ext cx="2953924" cy="1078991"/>
            <a:chOff x="1768673" y="1716257"/>
            <a:chExt cx="2724752" cy="998806"/>
          </a:xfrm>
        </p:grpSpPr>
        <p:grpSp>
          <p:nvGrpSpPr>
            <p:cNvPr id="19" name="组合 2"/>
            <p:cNvGrpSpPr/>
            <p:nvPr/>
          </p:nvGrpSpPr>
          <p:grpSpPr>
            <a:xfrm>
              <a:off x="1768673" y="1716257"/>
              <a:ext cx="2724752" cy="998806"/>
              <a:chOff x="2208627" y="2757268"/>
              <a:chExt cx="2098475" cy="769233"/>
            </a:xfrm>
          </p:grpSpPr>
          <p:sp>
            <p:nvSpPr>
              <p:cNvPr id="21" name="任意多边形 4"/>
              <p:cNvSpPr/>
              <p:nvPr>
                <p:custDataLst>
                  <p:tags r:id="rId2"/>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dirty="0">
                  <a:solidFill>
                    <a:schemeClr val="tx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22" name="矩形 21"/>
              <p:cNvSpPr/>
              <p:nvPr>
                <p:custDataLst>
                  <p:tags r:id="rId3"/>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20" name="矩形 19"/>
            <p:cNvSpPr/>
            <p:nvPr>
              <p:custDataLst>
                <p:tags r:id="rId4"/>
              </p:custDataLst>
            </p:nvPr>
          </p:nvSpPr>
          <p:spPr>
            <a:xfrm>
              <a:off x="2061273" y="1951992"/>
              <a:ext cx="1437394" cy="340930"/>
            </a:xfrm>
            <a:prstGeom prst="rect">
              <a:avLst/>
            </a:prstGeom>
          </p:spPr>
          <p:txBody>
            <a:bodyPr wrap="none">
              <a:spAutoFit/>
            </a:bodyPr>
            <a:lstStyle/>
            <a:p>
              <a:pPr algn="l"/>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添加更多功能</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sp>
        <p:nvSpPr>
          <p:cNvPr id="45" name="矩形 44"/>
          <p:cNvSpPr/>
          <p:nvPr>
            <p:custDataLst>
              <p:tags r:id="rId5"/>
            </p:custDataLst>
          </p:nvPr>
        </p:nvSpPr>
        <p:spPr>
          <a:xfrm>
            <a:off x="5098159" y="1877209"/>
            <a:ext cx="1211664"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01</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6" name="矩形 45"/>
          <p:cNvSpPr/>
          <p:nvPr>
            <p:custDataLst>
              <p:tags r:id="rId6"/>
            </p:custDataLst>
          </p:nvPr>
        </p:nvSpPr>
        <p:spPr>
          <a:xfrm>
            <a:off x="5078720" y="3397832"/>
            <a:ext cx="1375076"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02</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7" name="矩形 46"/>
          <p:cNvSpPr/>
          <p:nvPr>
            <p:custDataLst>
              <p:tags r:id="rId7"/>
            </p:custDataLst>
          </p:nvPr>
        </p:nvSpPr>
        <p:spPr>
          <a:xfrm>
            <a:off x="5078720" y="4851561"/>
            <a:ext cx="1183113" cy="420564"/>
          </a:xfrm>
          <a:prstGeom prst="rect">
            <a:avLst/>
          </a:prstGeom>
        </p:spPr>
        <p:txBody>
          <a:bodyPr wrap="square">
            <a:spAutoFit/>
          </a:bodyPr>
          <a:lstStyle/>
          <a:p>
            <a:r>
              <a:rPr lang="en-US" altLang="zh-CN" sz="2135" b="1" dirty="0">
                <a:latin typeface="微软雅黑" panose="020B0503020204020204" pitchFamily="34" charset="-122"/>
                <a:ea typeface="微软雅黑" panose="020B0503020204020204" pitchFamily="34" charset="-122"/>
                <a:sym typeface="Prima Serif Std Roman" panose="02010600010101010101" charset="-122"/>
              </a:rPr>
              <a:t>03</a:t>
            </a:r>
            <a:endParaRPr lang="zh-CN" altLang="en-US" sz="2135" b="1" dirty="0">
              <a:effectLst>
                <a:outerShdw blurRad="50800" dist="25400" dir="2700000" algn="tl" rotWithShape="0">
                  <a:prstClr val="black">
                    <a:alpha val="40000"/>
                  </a:prstClr>
                </a:outerShdw>
              </a:effectLst>
              <a:latin typeface="微软雅黑" panose="020B0503020204020204" pitchFamily="34" charset="-122"/>
              <a:ea typeface="微软雅黑" panose="020B0503020204020204" pitchFamily="34" charset="-122"/>
              <a:sym typeface="Prima Serif Std Roman" panose="02010600010101010101" charset="-122"/>
            </a:endParaRPr>
          </a:p>
        </p:txBody>
      </p:sp>
      <p:sp>
        <p:nvSpPr>
          <p:cNvPr id="48" name="文本框 34"/>
          <p:cNvSpPr txBox="1"/>
          <p:nvPr>
            <p:custDataLst>
              <p:tags r:id="rId8"/>
            </p:custDataLst>
          </p:nvPr>
        </p:nvSpPr>
        <p:spPr>
          <a:xfrm>
            <a:off x="6405880" y="1752600"/>
            <a:ext cx="4210050" cy="1198880"/>
          </a:xfrm>
          <a:prstGeom prst="rect">
            <a:avLst/>
          </a:prstGeom>
          <a:noFill/>
          <a:effectLst/>
        </p:spPr>
        <p:txBody>
          <a:bodyPr wrap="square" rtlCol="0">
            <a:spAutoFit/>
          </a:bodyPr>
          <a:lstStyle/>
          <a:p>
            <a:pPr>
              <a:lnSpc>
                <a:spcPct val="150000"/>
              </a:lnSpc>
            </a:pPr>
            <a:r>
              <a:rPr b="1" dirty="0">
                <a:latin typeface="Prima Serif Std Roman" panose="02010600010101010101" charset="-122"/>
                <a:ea typeface="Prima Serif Std Roman" panose="02010600010101010101" charset="-122"/>
                <a:sym typeface="Prima Serif Std Roman" panose="02010600010101010101" charset="-122"/>
              </a:rPr>
              <a:t>增加对话本地储存，提示词商店等更多功能。</a:t>
            </a:r>
            <a:endParaRPr b="1" dirty="0">
              <a:latin typeface="Prima Serif Std Roman" panose="02010600010101010101" charset="-122"/>
              <a:ea typeface="Prima Serif Std Roman" panose="02010600010101010101" charset="-122"/>
              <a:sym typeface="Prima Serif Std Roman" panose="02010600010101010101" charset="-122"/>
            </a:endParaRPr>
          </a:p>
          <a:p>
            <a:endParaRPr lang="en-US" altLang="zh-CN" dirty="0">
              <a:latin typeface="Prima Serif Std Roman" panose="02010600010101010101" charset="-122"/>
              <a:ea typeface="Prima Serif Std Roman" panose="02010600010101010101" charset="-122"/>
              <a:sym typeface="Prima Serif Std Roman" panose="02010600010101010101" charset="-122"/>
            </a:endParaRPr>
          </a:p>
        </p:txBody>
      </p:sp>
      <p:sp>
        <p:nvSpPr>
          <p:cNvPr id="49" name="文本框 35"/>
          <p:cNvSpPr txBox="1"/>
          <p:nvPr>
            <p:custDataLst>
              <p:tags r:id="rId9"/>
            </p:custDataLst>
          </p:nvPr>
        </p:nvSpPr>
        <p:spPr>
          <a:xfrm>
            <a:off x="6405880" y="3388360"/>
            <a:ext cx="4201795" cy="645160"/>
          </a:xfrm>
          <a:prstGeom prst="rect">
            <a:avLst/>
          </a:prstGeom>
          <a:noFill/>
          <a:effectLst/>
        </p:spPr>
        <p:txBody>
          <a:bodyPr wrap="square" rtlCol="0">
            <a:spAutoFit/>
          </a:bodyPr>
          <a:lstStyle/>
          <a:p>
            <a:r>
              <a:rPr lang="zh-CN" altLang="en-US" b="1" dirty="0">
                <a:latin typeface="Prima Serif Std Roman" panose="02010600010101010101" charset="-122"/>
                <a:ea typeface="Prima Serif Std Roman" panose="02010600010101010101" charset="-122"/>
                <a:sym typeface="Prima Serif Std Roman" panose="02010600010101010101" charset="-122"/>
              </a:rPr>
              <a:t>通过支持mindspore-lite动态shape的方式来降低首字延迟。</a:t>
            </a:r>
            <a:endParaRPr lang="zh-CN" altLang="en-US" b="1" dirty="0">
              <a:latin typeface="Prima Serif Std Roman" panose="02010600010101010101" charset="-122"/>
              <a:ea typeface="Prima Serif Std Roman" panose="02010600010101010101" charset="-122"/>
              <a:sym typeface="Prima Serif Std Roman" panose="02010600010101010101" charset="-122"/>
            </a:endParaRPr>
          </a:p>
        </p:txBody>
      </p:sp>
      <p:sp>
        <p:nvSpPr>
          <p:cNvPr id="50" name="文本框 36"/>
          <p:cNvSpPr txBox="1"/>
          <p:nvPr>
            <p:custDataLst>
              <p:tags r:id="rId10"/>
            </p:custDataLst>
          </p:nvPr>
        </p:nvSpPr>
        <p:spPr>
          <a:xfrm>
            <a:off x="6405803" y="4895470"/>
            <a:ext cx="3870491" cy="1014730"/>
          </a:xfrm>
          <a:prstGeom prst="rect">
            <a:avLst/>
          </a:prstGeom>
          <a:noFill/>
          <a:effectLst/>
        </p:spPr>
        <p:txBody>
          <a:bodyPr wrap="square" rtlCol="0">
            <a:spAutoFit/>
          </a:bodyPr>
          <a:lstStyle/>
          <a:p>
            <a:r>
              <a:rPr b="1" dirty="0">
                <a:latin typeface="Prima Serif Std Roman" panose="02010600010101010101" charset="-122"/>
                <a:ea typeface="Prima Serif Std Roman" panose="02010600010101010101" charset="-122"/>
                <a:sym typeface="Prima Serif Std Roman" panose="02010600010101010101" charset="-122"/>
              </a:rPr>
              <a:t>通过调用手机内置NPU与模型量化来提高模型生成新文本的速度</a:t>
            </a:r>
            <a:r>
              <a:rPr lang="zh-CN" altLang="en-US" b="1" dirty="0">
                <a:latin typeface="Prima Serif Std Roman" panose="02010600010101010101" charset="-122"/>
                <a:ea typeface="Prima Serif Std Roman" panose="02010600010101010101" charset="-122"/>
                <a:sym typeface="Prima Serif Std Roman" panose="02010600010101010101" charset="-122"/>
              </a:rPr>
              <a:t>。</a:t>
            </a:r>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a:p>
            <a:endParaRPr lang="en-US" altLang="zh-CN" sz="1200" dirty="0">
              <a:latin typeface="Prima Serif Std Roman" panose="02010600010101010101" charset="-122"/>
              <a:ea typeface="Prima Serif Std Roman" panose="02010600010101010101" charset="-122"/>
              <a:sym typeface="Prima Serif Std Roman" panose="02010600010101010101" charset="-122"/>
            </a:endParaRPr>
          </a:p>
        </p:txBody>
      </p:sp>
      <p:grpSp>
        <p:nvGrpSpPr>
          <p:cNvPr id="27" name="组合 1"/>
          <p:cNvGrpSpPr/>
          <p:nvPr>
            <p:custDataLst>
              <p:tags r:id="rId11"/>
            </p:custDataLst>
          </p:nvPr>
        </p:nvGrpSpPr>
        <p:grpSpPr>
          <a:xfrm>
            <a:off x="1676232" y="3278900"/>
            <a:ext cx="2953924" cy="1078991"/>
            <a:chOff x="1768673" y="1716257"/>
            <a:chExt cx="2724752" cy="998806"/>
          </a:xfrm>
        </p:grpSpPr>
        <p:grpSp>
          <p:nvGrpSpPr>
            <p:cNvPr id="28" name="组合 2"/>
            <p:cNvGrpSpPr/>
            <p:nvPr/>
          </p:nvGrpSpPr>
          <p:grpSpPr>
            <a:xfrm>
              <a:off x="1768673" y="1716257"/>
              <a:ext cx="2724752" cy="998806"/>
              <a:chOff x="2208627" y="2757268"/>
              <a:chExt cx="2098475" cy="769233"/>
            </a:xfrm>
          </p:grpSpPr>
          <p:sp>
            <p:nvSpPr>
              <p:cNvPr id="30" name="任意多边形 4"/>
              <p:cNvSpPr/>
              <p:nvPr>
                <p:custDataLst>
                  <p:tags r:id="rId12"/>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31" name="矩形 30"/>
              <p:cNvSpPr/>
              <p:nvPr>
                <p:custDataLst>
                  <p:tags r:id="rId13"/>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29" name="矩形 28"/>
            <p:cNvSpPr/>
            <p:nvPr>
              <p:custDataLst>
                <p:tags r:id="rId14"/>
              </p:custDataLst>
            </p:nvPr>
          </p:nvSpPr>
          <p:spPr>
            <a:xfrm>
              <a:off x="2061273" y="1951992"/>
              <a:ext cx="1437394" cy="340930"/>
            </a:xfrm>
            <a:prstGeom prst="rect">
              <a:avLst/>
            </a:prstGeom>
          </p:spPr>
          <p:txBody>
            <a:bodyPr wrap="none">
              <a:spAutoFit/>
            </a:bodyPr>
            <a:lstStyle/>
            <a:p>
              <a:pPr algn="l"/>
              <a:r>
                <a:rPr b="1" dirty="0">
                  <a:latin typeface="微软雅黑 Light" panose="020B0502040204020203" pitchFamily="34" charset="-122"/>
                  <a:ea typeface="微软雅黑 Light" panose="020B0502040204020203" pitchFamily="34" charset="-122"/>
                  <a:sym typeface="Prima Serif Std Roman" panose="02010600010101010101" charset="-122"/>
                </a:rPr>
                <a:t>降低首字延迟</a:t>
              </a:r>
              <a:endParaRPr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grpSp>
        <p:nvGrpSpPr>
          <p:cNvPr id="32" name="组合 1"/>
          <p:cNvGrpSpPr/>
          <p:nvPr>
            <p:custDataLst>
              <p:tags r:id="rId15"/>
            </p:custDataLst>
          </p:nvPr>
        </p:nvGrpSpPr>
        <p:grpSpPr>
          <a:xfrm>
            <a:off x="1676232" y="4732629"/>
            <a:ext cx="2953924" cy="1078991"/>
            <a:chOff x="1768673" y="1716257"/>
            <a:chExt cx="2724752" cy="998806"/>
          </a:xfrm>
        </p:grpSpPr>
        <p:grpSp>
          <p:nvGrpSpPr>
            <p:cNvPr id="33" name="组合 2"/>
            <p:cNvGrpSpPr/>
            <p:nvPr/>
          </p:nvGrpSpPr>
          <p:grpSpPr>
            <a:xfrm>
              <a:off x="1768673" y="1716257"/>
              <a:ext cx="2724752" cy="998806"/>
              <a:chOff x="2208627" y="2757268"/>
              <a:chExt cx="2098475" cy="769233"/>
            </a:xfrm>
          </p:grpSpPr>
          <p:sp>
            <p:nvSpPr>
              <p:cNvPr id="35" name="任意多边形 4"/>
              <p:cNvSpPr/>
              <p:nvPr>
                <p:custDataLst>
                  <p:tags r:id="rId16"/>
                </p:custDataLst>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sp>
            <p:nvSpPr>
              <p:cNvPr id="36" name="矩形 35"/>
              <p:cNvSpPr/>
              <p:nvPr>
                <p:custDataLst>
                  <p:tags r:id="rId17"/>
                </p:custDataLst>
              </p:nvPr>
            </p:nvSpPr>
            <p:spPr>
              <a:xfrm>
                <a:off x="2208627" y="2757268"/>
                <a:ext cx="2039816" cy="630702"/>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latin typeface="Prima Serif Std Roman" panose="02010600010101010101" charset="-122"/>
                  <a:ea typeface="Prima Serif Std Roman" panose="02010600010101010101" charset="-122"/>
                  <a:sym typeface="Prima Serif Std Roman" panose="02010600010101010101" charset="-122"/>
                </a:endParaRPr>
              </a:p>
            </p:txBody>
          </p:sp>
        </p:grpSp>
        <p:sp>
          <p:nvSpPr>
            <p:cNvPr id="34" name="矩形 33"/>
            <p:cNvSpPr/>
            <p:nvPr>
              <p:custDataLst>
                <p:tags r:id="rId18"/>
              </p:custDataLst>
            </p:nvPr>
          </p:nvSpPr>
          <p:spPr>
            <a:xfrm>
              <a:off x="2061273" y="1951992"/>
              <a:ext cx="1437394" cy="340930"/>
            </a:xfrm>
            <a:prstGeom prst="rect">
              <a:avLst/>
            </a:prstGeom>
          </p:spPr>
          <p:txBody>
            <a:bodyPr wrap="none">
              <a:spAutoFit/>
            </a:bodyPr>
            <a:lstStyle/>
            <a:p>
              <a:pPr algn="l"/>
              <a:r>
                <a:rPr lang="zh-CN" altLang="en-US" b="1" dirty="0">
                  <a:latin typeface="微软雅黑 Light" panose="020B0502040204020203" pitchFamily="34" charset="-122"/>
                  <a:ea typeface="微软雅黑 Light" panose="020B0502040204020203" pitchFamily="34" charset="-122"/>
                  <a:sym typeface="Prima Serif Std Roman" panose="02010600010101010101" charset="-122"/>
                </a:rPr>
                <a:t>提高生成速度</a:t>
              </a:r>
              <a:endParaRPr lang="zh-CN" altLang="en-US" b="1" dirty="0">
                <a:latin typeface="微软雅黑 Light" panose="020B0502040204020203" pitchFamily="34" charset="-122"/>
                <a:ea typeface="微软雅黑 Light" panose="020B0502040204020203" pitchFamily="34" charset="-122"/>
                <a:sym typeface="Prima Serif Std Roman" panose="02010600010101010101" charset="-122"/>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5"/>
                                        </p:tgtEl>
                                        <p:attrNameLst>
                                          <p:attrName>style.visibility</p:attrName>
                                        </p:attrNameLst>
                                      </p:cBhvr>
                                      <p:to>
                                        <p:strVal val="visible"/>
                                      </p:to>
                                    </p:set>
                                    <p:animEffect transition="in" filter="dissolve">
                                      <p:cBhvr>
                                        <p:cTn id="10" dur="500"/>
                                        <p:tgtEl>
                                          <p:spTgt spid="45"/>
                                        </p:tgtEl>
                                      </p:cBhvr>
                                    </p:animEffect>
                                  </p:childTnLst>
                                </p:cTn>
                              </p:par>
                              <p:par>
                                <p:cTn id="11" presetID="2" presetClass="entr" presetSubtype="2" fill="hold" grpId="0" nodeType="withEffect">
                                  <p:stCondLst>
                                    <p:cond delay="0"/>
                                  </p:stCondLst>
                                  <p:childTnLst>
                                    <p:set>
                                      <p:cBhvr>
                                        <p:cTn id="12" dur="1000" fill="hold">
                                          <p:stCondLst>
                                            <p:cond delay="0"/>
                                          </p:stCondLst>
                                        </p:cTn>
                                        <p:tgtEl>
                                          <p:spTgt spid="48"/>
                                        </p:tgtEl>
                                        <p:attrNameLst>
                                          <p:attrName>style.visibility</p:attrName>
                                        </p:attrNameLst>
                                      </p:cBhvr>
                                      <p:to>
                                        <p:strVal val="visible"/>
                                      </p:to>
                                    </p:set>
                                    <p:anim calcmode="lin" valueType="num">
                                      <p:cBhvr additive="base">
                                        <p:cTn id="13" dur="1000" fill="hold"/>
                                        <p:tgtEl>
                                          <p:spTgt spid="48"/>
                                        </p:tgtEl>
                                        <p:attrNameLst>
                                          <p:attrName>ppt_x</p:attrName>
                                        </p:attrNameLst>
                                      </p:cBhvr>
                                      <p:tavLst>
                                        <p:tav tm="0">
                                          <p:val>
                                            <p:strVal val="1+#ppt_w/2"/>
                                          </p:val>
                                        </p:tav>
                                        <p:tav tm="100000">
                                          <p:val>
                                            <p:strVal val="#ppt_x"/>
                                          </p:val>
                                        </p:tav>
                                      </p:tavLst>
                                    </p:anim>
                                    <p:anim calcmode="lin" valueType="num">
                                      <p:cBhvr additive="base">
                                        <p:cTn id="14" dur="1000" fill="hold"/>
                                        <p:tgtEl>
                                          <p:spTgt spid="48"/>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22" presetClass="entr" presetSubtype="8" fill="hold" nodeType="after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wipe(left)">
                                      <p:cBhvr>
                                        <p:cTn id="18" dur="500"/>
                                        <p:tgtEl>
                                          <p:spTgt spid="27"/>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dissolve">
                                      <p:cBhvr>
                                        <p:cTn id="21" dur="500"/>
                                        <p:tgtEl>
                                          <p:spTgt spid="46"/>
                                        </p:tgtEl>
                                      </p:cBhvr>
                                    </p:animEffect>
                                  </p:childTnLst>
                                </p:cTn>
                              </p:par>
                              <p:par>
                                <p:cTn id="22" presetID="2" presetClass="entr" presetSubtype="2"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additive="base">
                                        <p:cTn id="24" dur="500" fill="hold"/>
                                        <p:tgtEl>
                                          <p:spTgt spid="49"/>
                                        </p:tgtEl>
                                        <p:attrNameLst>
                                          <p:attrName>ppt_x</p:attrName>
                                        </p:attrNameLst>
                                      </p:cBhvr>
                                      <p:tavLst>
                                        <p:tav tm="0">
                                          <p:val>
                                            <p:strVal val="1+#ppt_w/2"/>
                                          </p:val>
                                        </p:tav>
                                        <p:tav tm="100000">
                                          <p:val>
                                            <p:strVal val="#ppt_x"/>
                                          </p:val>
                                        </p:tav>
                                      </p:tavLst>
                                    </p:anim>
                                    <p:anim calcmode="lin" valueType="num">
                                      <p:cBhvr additive="base">
                                        <p:cTn id="25" dur="500" fill="hold"/>
                                        <p:tgtEl>
                                          <p:spTgt spid="49"/>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wipe(left)">
                                      <p:cBhvr>
                                        <p:cTn id="29" dur="500"/>
                                        <p:tgtEl>
                                          <p:spTgt spid="32"/>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dissolve">
                                      <p:cBhvr>
                                        <p:cTn id="32" dur="500"/>
                                        <p:tgtEl>
                                          <p:spTgt spid="47"/>
                                        </p:tgtEl>
                                      </p:cBhvr>
                                    </p:animEffect>
                                  </p:childTnLst>
                                </p:cTn>
                              </p:par>
                              <p:par>
                                <p:cTn id="33" presetID="2" presetClass="entr" presetSubtype="2" fill="hold" grpId="0" nodeType="withEffect">
                                  <p:stCondLst>
                                    <p:cond delay="0"/>
                                  </p:stCondLst>
                                  <p:childTnLst>
                                    <p:set>
                                      <p:cBhvr>
                                        <p:cTn id="34" dur="1000" fill="hold">
                                          <p:stCondLst>
                                            <p:cond delay="0"/>
                                          </p:stCondLst>
                                        </p:cTn>
                                        <p:tgtEl>
                                          <p:spTgt spid="50"/>
                                        </p:tgtEl>
                                        <p:attrNameLst>
                                          <p:attrName>style.visibility</p:attrName>
                                        </p:attrNameLst>
                                      </p:cBhvr>
                                      <p:to>
                                        <p:strVal val="visible"/>
                                      </p:to>
                                    </p:set>
                                    <p:anim calcmode="lin" valueType="num">
                                      <p:cBhvr additive="base">
                                        <p:cTn id="35" dur="1000" fill="hold"/>
                                        <p:tgtEl>
                                          <p:spTgt spid="50"/>
                                        </p:tgtEl>
                                        <p:attrNameLst>
                                          <p:attrName>ppt_x</p:attrName>
                                        </p:attrNameLst>
                                      </p:cBhvr>
                                      <p:tavLst>
                                        <p:tav tm="0">
                                          <p:val>
                                            <p:strVal val="1+#ppt_w/2"/>
                                          </p:val>
                                        </p:tav>
                                        <p:tav tm="100000">
                                          <p:val>
                                            <p:strVal val="#ppt_x"/>
                                          </p:val>
                                        </p:tav>
                                      </p:tavLst>
                                    </p:anim>
                                    <p:anim calcmode="lin" valueType="num">
                                      <p:cBhvr additive="base">
                                        <p:cTn id="36" dur="10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bldLvl="0" animBg="1"/>
      <p:bldP spid="49" grpId="0" bldLvl="0" animBg="1"/>
      <p:bldP spid="50"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86404" y="4069170"/>
            <a:ext cx="1949953" cy="1953639"/>
          </a:xfrm>
          <a:prstGeom prst="rect">
            <a:avLst/>
          </a:prstGeom>
        </p:spPr>
      </p:pic>
      <p:sp>
        <p:nvSpPr>
          <p:cNvPr id="2" name="矩形 1"/>
          <p:cNvSpPr/>
          <p:nvPr/>
        </p:nvSpPr>
        <p:spPr>
          <a:xfrm>
            <a:off x="12486149" y="2361010"/>
            <a:ext cx="3579352" cy="2031325"/>
          </a:xfrm>
          <a:prstGeom prst="rect">
            <a:avLst/>
          </a:prstGeom>
        </p:spPr>
        <p:txBody>
          <a:bodyPr wrap="square">
            <a:spAutoFit/>
          </a:bodyPr>
          <a:lstStyle/>
          <a:p>
            <a:r>
              <a:rPr lang="zh-CN" altLang="zh-CN" b="1" dirty="0"/>
              <a:t>分享正文标题：</a:t>
            </a:r>
            <a:endParaRPr lang="en-US" altLang="zh-CN" b="1" dirty="0"/>
          </a:p>
          <a:p>
            <a:pPr marL="742950" lvl="1" indent="-285750">
              <a:buFont typeface="Arial" panose="020B0604020202020204" pitchFamily="34" charset="0"/>
              <a:buChar char="•"/>
            </a:pPr>
            <a:r>
              <a:rPr lang="zh-CN" altLang="zh-CN" dirty="0"/>
              <a:t>字体</a:t>
            </a:r>
            <a:r>
              <a:rPr lang="zh-CN" altLang="en-US" dirty="0"/>
              <a:t>：</a:t>
            </a:r>
            <a:r>
              <a:rPr lang="zh-CN" altLang="zh-CN" dirty="0"/>
              <a:t>等线</a:t>
            </a:r>
            <a:r>
              <a:rPr lang="zh-CN" altLang="en-US" dirty="0"/>
              <a:t>、微软雅黑</a:t>
            </a:r>
            <a:endParaRPr lang="en-US" altLang="zh-CN" dirty="0"/>
          </a:p>
          <a:p>
            <a:pPr marL="742950" lvl="1" indent="-285750">
              <a:buFont typeface="Arial" panose="020B0604020202020204" pitchFamily="34" charset="0"/>
              <a:buChar char="•"/>
            </a:pPr>
            <a:r>
              <a:rPr lang="zh-CN" altLang="zh-CN" dirty="0"/>
              <a:t>字号</a:t>
            </a:r>
            <a:r>
              <a:rPr lang="zh-CN" altLang="en-US" dirty="0"/>
              <a:t>：</a:t>
            </a:r>
            <a:r>
              <a:rPr lang="en-US" altLang="zh-CN" dirty="0"/>
              <a:t>40</a:t>
            </a:r>
            <a:r>
              <a:rPr lang="zh-CN" altLang="en-US" dirty="0"/>
              <a:t> 、加粗</a:t>
            </a:r>
            <a:endParaRPr lang="en-US" altLang="zh-CN" dirty="0"/>
          </a:p>
          <a:p>
            <a:pPr marL="742950" lvl="1" indent="-285750">
              <a:buFont typeface="Arial" panose="020B0604020202020204" pitchFamily="34" charset="0"/>
              <a:buChar char="•"/>
            </a:pPr>
            <a:r>
              <a:rPr lang="zh-CN" altLang="zh-CN" dirty="0"/>
              <a:t>字体颜色</a:t>
            </a:r>
            <a:r>
              <a:rPr lang="zh-CN" altLang="en-US" dirty="0"/>
              <a:t>：</a:t>
            </a:r>
            <a:r>
              <a:rPr lang="zh-CN" altLang="zh-CN" dirty="0"/>
              <a:t>蓝色</a:t>
            </a:r>
            <a:endParaRPr lang="zh-CN" altLang="zh-CN" dirty="0"/>
          </a:p>
          <a:p>
            <a:r>
              <a:rPr lang="zh-CN" altLang="zh-CN" b="1" dirty="0"/>
              <a:t>分享内容：</a:t>
            </a:r>
            <a:endParaRPr lang="en-US" altLang="zh-CN" b="1" dirty="0"/>
          </a:p>
          <a:p>
            <a:pPr marL="742950" lvl="1" indent="-285750">
              <a:buFont typeface="Arial" panose="020B0604020202020204" pitchFamily="34" charset="0"/>
              <a:buChar char="•"/>
            </a:pPr>
            <a:r>
              <a:rPr lang="zh-CN" altLang="zh-CN" dirty="0"/>
              <a:t>字体颜色</a:t>
            </a:r>
            <a:r>
              <a:rPr lang="zh-CN" altLang="en-US" dirty="0"/>
              <a:t>：</a:t>
            </a:r>
            <a:r>
              <a:rPr lang="zh-CN" altLang="zh-CN" dirty="0"/>
              <a:t>以黑色为主</a:t>
            </a:r>
            <a:endParaRPr lang="en-US" altLang="zh-CN" dirty="0"/>
          </a:p>
          <a:p>
            <a:pPr marL="742950" lvl="1" indent="-285750">
              <a:buFont typeface="Arial" panose="020B0604020202020204" pitchFamily="34" charset="0"/>
              <a:buChar char="•"/>
            </a:pPr>
            <a:endParaRPr lang="en-US" altLang="zh-CN" dirty="0"/>
          </a:p>
        </p:txBody>
      </p:sp>
      <p:sp>
        <p:nvSpPr>
          <p:cNvPr id="36" name="文本框 35"/>
          <p:cNvSpPr txBox="1"/>
          <p:nvPr/>
        </p:nvSpPr>
        <p:spPr>
          <a:xfrm>
            <a:off x="795373" y="2817338"/>
            <a:ext cx="6097778" cy="830997"/>
          </a:xfrm>
          <a:prstGeom prst="rect">
            <a:avLst/>
          </a:prstGeom>
          <a:noFill/>
        </p:spPr>
        <p:txBody>
          <a:bodyPr wrap="square" rtlCol="0">
            <a:spAutoFit/>
          </a:bodyPr>
          <a:lstStyle/>
          <a:p>
            <a:r>
              <a:rPr kumimoji="1" lang="zh-CN" altLang="en-US" sz="4800" b="1" dirty="0">
                <a:latin typeface="微软雅黑" panose="020B0503020204020204" pitchFamily="34" charset="-122"/>
                <a:ea typeface="微软雅黑" panose="020B0503020204020204" pitchFamily="34" charset="-122"/>
              </a:rPr>
              <a:t>感谢您的观看</a:t>
            </a:r>
            <a:r>
              <a:rPr kumimoji="1" lang="en-US" altLang="zh-CN" sz="4800" b="1" dirty="0">
                <a:latin typeface="微软雅黑" panose="020B0503020204020204" pitchFamily="34" charset="-122"/>
                <a:ea typeface="微软雅黑" panose="020B0503020204020204" pitchFamily="34" charset="-122"/>
              </a:rPr>
              <a:t>!</a:t>
            </a:r>
            <a:endParaRPr kumimoji="1" lang="zh-CN" altLang="en-US" sz="4800" b="1"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3192615" y="4607755"/>
            <a:ext cx="3843379" cy="769441"/>
          </a:xfrm>
          <a:prstGeom prst="rect">
            <a:avLst/>
          </a:prstGeom>
          <a:noFill/>
        </p:spPr>
        <p:txBody>
          <a:bodyPr wrap="square" rtlCol="0">
            <a:spAutoFit/>
          </a:bodyPr>
          <a:lstStyle/>
          <a:p>
            <a:r>
              <a:rPr kumimoji="1" lang="zh-CN" altLang="en-US" sz="2200" dirty="0">
                <a:latin typeface="微软雅黑" panose="020B0503020204020204" pitchFamily="34" charset="-122"/>
                <a:ea typeface="微软雅黑" panose="020B0503020204020204" pitchFamily="34" charset="-122"/>
              </a:rPr>
              <a:t>关注“仓颉编程语言”公众号，获取最新官方资讯</a:t>
            </a:r>
            <a:r>
              <a:rPr kumimoji="1" lang="en-US" altLang="zh-CN" sz="2200" dirty="0">
                <a:latin typeface="微软雅黑" panose="020B0503020204020204" pitchFamily="34" charset="-122"/>
                <a:ea typeface="微软雅黑" panose="020B0503020204020204" pitchFamily="34" charset="-122"/>
              </a:rPr>
              <a:t>!</a:t>
            </a:r>
            <a:endParaRPr kumimoji="1" lang="zh-CN" altLang="en-US" sz="22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flipV="1">
            <a:off x="1082223" y="4266832"/>
            <a:ext cx="1558314" cy="1558314"/>
          </a:xfrm>
          <a:prstGeom prst="rect">
            <a:avLst/>
          </a:prstGeom>
        </p:spPr>
      </p:pic>
    </p:spTree>
  </p:cSld>
  <p:clrMapOvr>
    <a:masterClrMapping/>
  </p:clrMapOvr>
  <p:transition spd="slow">
    <p:wipe/>
  </p:transition>
</p:sld>
</file>

<file path=ppt/tags/tag1.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2.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3.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4.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5.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6.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7.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8.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9.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0.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1.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2.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3.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4.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5.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6.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7.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8.xml><?xml version="1.0" encoding="utf-8"?>
<p:tagLst xmlns:p="http://schemas.openxmlformats.org/presentationml/2006/main">
  <p:tag name="KSO_WM_DIAGRAM_VIRTUALLY_FRAME" val="{&quot;height&quot;:360.09999999999997,&quot;left&quot;:131.98677165354331,&quot;top&quot;:130.87007874015748,&quot;width&quot;:677.1702362204726}"/>
</p:tagLst>
</file>

<file path=ppt/tags/tag19.xml><?xml version="1.0" encoding="utf-8"?>
<p:tagLst xmlns:p="http://schemas.openxmlformats.org/presentationml/2006/main">
  <p:tag name="KSO_WM_DIAGRAM_VIRTUALLY_FRAME" val="{&quot;height&quot;:417.82992125984254,&quot;left&quot;:131.98677165354331,&quot;top&quot;:130.87007874015748,&quot;width&quot;:766.2132283464567}"/>
</p:tagLst>
</file>

<file path=ppt/tags/tag20.xml><?xml version="1.0" encoding="utf-8"?>
<p:tagLst xmlns:p="http://schemas.openxmlformats.org/presentationml/2006/main">
  <p:tag name="KSO_WM_DIAGRAM_VIRTUALLY_FRAME" val="{&quot;height&quot;:417.82992125984254,&quot;left&quot;:131.98677165354331,&quot;top&quot;:130.87007874015748,&quot;width&quot;:766.2132283464567}"/>
</p:tagLst>
</file>

<file path=ppt/tags/tag21.xml><?xml version="1.0" encoding="utf-8"?>
<p:tagLst xmlns:p="http://schemas.openxmlformats.org/presentationml/2006/main">
  <p:tag name="KSO_WM_DIAGRAM_VIRTUALLY_FRAME" val="{&quot;height&quot;:417.82992125984254,&quot;left&quot;:131.98677165354331,&quot;top&quot;:130.87007874015748,&quot;width&quot;:766.2132283464567}"/>
</p:tagLst>
</file>

<file path=ppt/tags/tag22.xml><?xml version="1.0" encoding="utf-8"?>
<p:tagLst xmlns:p="http://schemas.openxmlformats.org/presentationml/2006/main">
  <p:tag name="KSO_WM_DIAGRAM_VIRTUALLY_FRAME" val="{&quot;height&quot;:417.82992125984254,&quot;left&quot;:131.98677165354331,&quot;top&quot;:130.87007874015748,&quot;width&quot;:766.2132283464567}"/>
</p:tagLst>
</file>

<file path=ppt/tags/tag23.xml><?xml version="1.0" encoding="utf-8"?>
<p:tagLst xmlns:p="http://schemas.openxmlformats.org/presentationml/2006/main">
  <p:tag name="KSO_WM_DIAGRAM_VIRTUALLY_FRAME" val="{&quot;height&quot;:417.82992125984254,&quot;left&quot;:131.98677165354331,&quot;top&quot;:130.87007874015748,&quot;width&quot;:766.2132283464567}"/>
</p:tagLst>
</file>

<file path=ppt/tags/tag24.xml><?xml version="1.0" encoding="utf-8"?>
<p:tagLst xmlns:p="http://schemas.openxmlformats.org/presentationml/2006/main">
  <p:tag name="KSO_WM_DIAGRAM_VIRTUALLY_FRAME" val="{&quot;height&quot;:417.82992125984254,&quot;left&quot;:131.98677165354331,&quot;top&quot;:130.87007874015748,&quot;width&quot;:766.2132283464567}"/>
</p:tagLst>
</file>

<file path=ppt/tags/tag25.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26.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27.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28.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29.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0.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1.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2.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3.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4.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5.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6.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7.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8.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39.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0.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1.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2.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3.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4.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5.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6.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7.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8.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49.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0.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1.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2.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3.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4.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5.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6.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7.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8.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59.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60.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61.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62.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63.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64.xml><?xml version="1.0" encoding="utf-8"?>
<p:tagLst xmlns:p="http://schemas.openxmlformats.org/presentationml/2006/main">
  <p:tag name="KSO_WM_DIAGRAM_VIRTUALLY_FRAME" val="{&quot;height&quot;:356.38440944881893,&quot;left&quot;:131.98677165354331,&quot;top&quot;:130.87007874015748,&quot;width&quot;:677.1702362204726}"/>
</p:tagLst>
</file>

<file path=ppt/tags/tag65.xml><?xml version="1.0" encoding="utf-8"?>
<p:tagLst xmlns:p="http://schemas.openxmlformats.org/presentationml/2006/main">
  <p:tag name="commondata" val="eyJoZGlkIjoiNmUxMWE1Y2M3ZjQxMTkxZDNjZGY0ZjE3NjRhY2JjNW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2011</Words>
  <Application>WPS 演示</Application>
  <PresentationFormat>宽屏</PresentationFormat>
  <Paragraphs>213</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Arial</vt:lpstr>
      <vt:lpstr>微软雅黑</vt:lpstr>
      <vt:lpstr>微软雅黑 Light</vt:lpstr>
      <vt:lpstr>Prima Serif Std Roman</vt:lpstr>
      <vt:lpstr>Arial Unicode MS</vt:lpstr>
      <vt:lpstr>等线</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 jingqiao</dc:creator>
  <cp:lastModifiedBy>Tlntin</cp:lastModifiedBy>
  <cp:revision>114</cp:revision>
  <dcterms:created xsi:type="dcterms:W3CDTF">2022-07-15T02:23:00Z</dcterms:created>
  <dcterms:modified xsi:type="dcterms:W3CDTF">2024-10-28T12:56:03Z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(3)f2yP13Qp3vic5XTALCocdDa8Px+yleI4f76Gfge9UvbMH273pVNhawcQ/lv953a4ZCXEI+2I
UcgYWoqOm6AdCvcd/fd+0kya/SnjosPZOGpp42imUR/apPlX9FRnMOsULDMkUDtSFqQPxPBp
YEC5rZQjCgPbxx35AH1G98OLgLdk7GPnsKJ9m0Il9g7gam7lHBITNicZe7BgllxOCyi6zK2L
WUfNmT6TNlNs1xgT+5</vt:lpwstr>
  </property>
  <property fmtid="{D5CDD505-2E9C-101B-9397-08002B2CF9AE}" pid="3" name="_2015_ms_pID_7253431">
    <vt:lpwstr>JthLT77aSDy8Cp1Bp9hPlbkN8hzuD6oHLTAT60DJcx7cOGX5mrUyQK
jL5xEeqP01ct2Ack6dvSsYMT1P4YPSkyAM77DcJD68Bq3hdAGfUiyC8T+bPpdwvN1TS4f4+p
mupzp0lJoiQnz5y/HckxVo42iO1+J34VMQv8zLJc35OPsrlA2GaQX1m5tn2PC6Ku1skxNaOs
6X83iKXXnXqmCq8LjP0ZMbZveAcq6Az1Cttq</vt:lpwstr>
  </property>
  <property fmtid="{D5CDD505-2E9C-101B-9397-08002B2CF9AE}" pid="4" name="_2015_ms_pID_7253432">
    <vt:lpwstr>pw==</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1677296177</vt:lpwstr>
  </property>
  <property fmtid="{D5CDD505-2E9C-101B-9397-08002B2CF9AE}" pid="9" name="ICV">
    <vt:lpwstr>36D4441D71D24DD3AFEE47A410CBECAC_12</vt:lpwstr>
  </property>
  <property fmtid="{D5CDD505-2E9C-101B-9397-08002B2CF9AE}" pid="10" name="KSOProductBuildVer">
    <vt:lpwstr>2052-12.1.0.18608</vt:lpwstr>
  </property>
</Properties>
</file>