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2" r:id="rId3"/>
    <p:sldId id="266" r:id="rId4"/>
    <p:sldId id="263" r:id="rId5"/>
    <p:sldId id="319" r:id="rId6"/>
    <p:sldId id="304" r:id="rId7"/>
    <p:sldId id="336" r:id="rId8"/>
    <p:sldId id="273" r:id="rId9"/>
    <p:sldId id="303" r:id="rId10"/>
    <p:sldId id="284" r:id="rId11"/>
    <p:sldId id="293" r:id="rId12"/>
    <p:sldId id="353" r:id="rId13"/>
    <p:sldId id="283" r:id="rId14"/>
    <p:sldId id="290" r:id="rId15"/>
    <p:sldId id="291" r:id="rId16"/>
    <p:sldId id="269" r:id="rId17"/>
    <p:sldId id="292" r:id="rId18"/>
    <p:sldId id="352" r:id="rId19"/>
    <p:sldId id="351" r:id="rId20"/>
    <p:sldId id="294" r:id="rId21"/>
    <p:sldId id="295" r:id="rId22"/>
    <p:sldId id="300" r:id="rId23"/>
    <p:sldId id="270" r:id="rId24"/>
    <p:sldId id="264" r:id="rId25"/>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63" autoAdjust="0"/>
    <p:restoredTop sz="94660"/>
  </p:normalViewPr>
  <p:slideViewPr>
    <p:cSldViewPr snapToGrid="0" showGuides="1">
      <p:cViewPr varScale="1">
        <p:scale>
          <a:sx n="83" d="100"/>
          <a:sy n="83" d="100"/>
        </p:scale>
        <p:origin x="744" y="77"/>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gs" Target="tags/tag66.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7" Type="http://schemas.openxmlformats.org/officeDocument/2006/relationships/image" Target="../media/image4.png"/><Relationship Id="rId6" Type="http://schemas.openxmlformats.org/officeDocument/2006/relationships/image" Target="../media/image3.png"/><Relationship Id="rId5" Type="http://schemas.openxmlformats.org/officeDocument/2006/relationships/tags" Target="../tags/tag2.xml"/><Relationship Id="rId4" Type="http://schemas.openxmlformats.org/officeDocument/2006/relationships/tags" Target="../tags/tag1.xml"/><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7" Type="http://schemas.openxmlformats.org/officeDocument/2006/relationships/image" Target="../media/image4.png"/><Relationship Id="rId6" Type="http://schemas.openxmlformats.org/officeDocument/2006/relationships/image" Target="../media/image3.png"/><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tags" Target="../tags/tag5.xml"/><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4.png"/><Relationship Id="rId7" Type="http://schemas.openxmlformats.org/officeDocument/2006/relationships/image" Target="../media/image3.png"/><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tags" Target="../tags/tag14.xml"/><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4.png"/><Relationship Id="rId7" Type="http://schemas.openxmlformats.org/officeDocument/2006/relationships/image" Target="../media/image2.png"/><Relationship Id="rId6" Type="http://schemas.openxmlformats.org/officeDocument/2006/relationships/image" Target="../media/image3.png"/><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pic>
        <p:nvPicPr>
          <p:cNvPr id="7" name="图片 6" descr="图片包含 游戏机, 食物&#10;&#10;描述已自动生成"/>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00885"/>
            <a:ext cx="12192000" cy="6324600"/>
          </a:xfrm>
          <a:prstGeom prst="rect">
            <a:avLst/>
          </a:prstGeom>
        </p:spPr>
      </p:pic>
      <p:sp>
        <p:nvSpPr>
          <p:cNvPr id="2" name="标题 1"/>
          <p:cNvSpPr>
            <a:spLocks noGrp="1"/>
          </p:cNvSpPr>
          <p:nvPr>
            <p:ph type="ctrTitle"/>
            <p:custDataLst>
              <p:tags r:id="rId4"/>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5"/>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pic>
        <p:nvPicPr>
          <p:cNvPr id="5" name="图片 4" descr="logo"/>
          <p:cNvPicPr>
            <a:picLocks noChangeAspect="1"/>
          </p:cNvPicPr>
          <p:nvPr userDrawn="1"/>
        </p:nvPicPr>
        <p:blipFill>
          <a:blip r:embed="rId6"/>
          <a:stretch>
            <a:fillRect/>
          </a:stretch>
        </p:blipFill>
        <p:spPr>
          <a:xfrm>
            <a:off x="518795" y="422275"/>
            <a:ext cx="1551305" cy="474345"/>
          </a:xfrm>
          <a:prstGeom prst="rect">
            <a:avLst/>
          </a:prstGeom>
        </p:spPr>
      </p:pic>
      <p:pic>
        <p:nvPicPr>
          <p:cNvPr id="9" name="图片 8"/>
          <p:cNvPicPr>
            <a:picLocks noChangeAspect="1"/>
          </p:cNvPicPr>
          <p:nvPr userDrawn="1"/>
        </p:nvPicPr>
        <p:blipFill>
          <a:blip r:embed="rId7" cstate="print">
            <a:extLst>
              <a:ext uri="{28A0092B-C50C-407E-A947-70E740481C1C}">
                <a14:useLocalDpi xmlns:a14="http://schemas.microsoft.com/office/drawing/2010/main" val="0"/>
              </a:ext>
            </a:extLst>
          </a:blip>
          <a:srcRect/>
          <a:stretch>
            <a:fillRect/>
          </a:stretch>
        </p:blipFill>
        <p:spPr>
          <a:xfrm>
            <a:off x="9357737" y="499930"/>
            <a:ext cx="2315468" cy="27502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pic>
        <p:nvPicPr>
          <p:cNvPr id="2" name="图片 1" descr="图片包含 游戏机, 食物&#10;&#10;描述已自动生成"/>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00885"/>
            <a:ext cx="12192000" cy="6324600"/>
          </a:xfrm>
          <a:prstGeom prst="rect">
            <a:avLst/>
          </a:prstGeom>
        </p:spPr>
      </p:pic>
      <p:sp>
        <p:nvSpPr>
          <p:cNvPr id="11" name="文本占位符 10"/>
          <p:cNvSpPr>
            <a:spLocks noGrp="1"/>
          </p:cNvSpPr>
          <p:nvPr>
            <p:ph type="body" sz="quarter" idx="10" hasCustomPrompt="1"/>
          </p:nvPr>
        </p:nvSpPr>
        <p:spPr>
          <a:xfrm>
            <a:off x="5321808" y="1581531"/>
            <a:ext cx="4087813" cy="3484563"/>
          </a:xfrm>
        </p:spPr>
        <p:txBody>
          <a:bodyPr>
            <a:normAutofit/>
          </a:bodyPr>
          <a:lstStyle>
            <a:lvl1pPr marL="342900" indent="-342900">
              <a:buClr>
                <a:schemeClr val="tx2">
                  <a:lumMod val="50000"/>
                </a:schemeClr>
              </a:buClr>
              <a:buSzPct val="160000"/>
              <a:buFont typeface="+mj-ea"/>
              <a:buAutoNum type="circleNumDbPlain"/>
              <a:defRPr sz="2400" b="1"/>
            </a:lvl1pPr>
          </a:lstStyle>
          <a:p>
            <a:pPr lvl="0"/>
            <a:r>
              <a:rPr lang="zh-CN" altLang="en-US" dirty="0"/>
              <a:t>点击插入目录</a:t>
            </a:r>
            <a:endParaRPr lang="zh-CN" altLang="en-US" dirty="0"/>
          </a:p>
        </p:txBody>
      </p:sp>
      <p:pic>
        <p:nvPicPr>
          <p:cNvPr id="13" name="图片 12" descr="logo"/>
          <p:cNvPicPr>
            <a:picLocks noChangeAspect="1"/>
          </p:cNvPicPr>
          <p:nvPr userDrawn="1"/>
        </p:nvPicPr>
        <p:blipFill>
          <a:blip r:embed="rId4"/>
          <a:stretch>
            <a:fillRect/>
          </a:stretch>
        </p:blipFill>
        <p:spPr>
          <a:xfrm>
            <a:off x="518795" y="422275"/>
            <a:ext cx="1551305" cy="474345"/>
          </a:xfrm>
          <a:prstGeom prst="rect">
            <a:avLst/>
          </a:prstGeom>
        </p:spPr>
      </p:pic>
      <p:pic>
        <p:nvPicPr>
          <p:cNvPr id="3" name="图片 2"/>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9357737" y="499930"/>
            <a:ext cx="2315468" cy="27502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pic>
        <p:nvPicPr>
          <p:cNvPr id="4" name="图片 3" descr="图片包含 游戏机, 食物&#10;&#10;描述已自动生成"/>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00885"/>
            <a:ext cx="12192000" cy="6324600"/>
          </a:xfrm>
          <a:prstGeom prst="rect">
            <a:avLst/>
          </a:prstGeom>
        </p:spPr>
      </p:pic>
      <p:sp>
        <p:nvSpPr>
          <p:cNvPr id="2" name="标题 1"/>
          <p:cNvSpPr>
            <a:spLocks noGrp="1"/>
          </p:cNvSpPr>
          <p:nvPr>
            <p:ph type="title" hasCustomPrompt="1"/>
            <p:custDataLst>
              <p:tags r:id="rId4"/>
            </p:custDataLst>
          </p:nvPr>
        </p:nvSpPr>
        <p:spPr>
          <a:xfrm>
            <a:off x="1990800" y="265968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5"/>
            </p:custDataLst>
          </p:nvPr>
        </p:nvSpPr>
        <p:spPr>
          <a:xfrm>
            <a:off x="1990800" y="342648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pic>
        <p:nvPicPr>
          <p:cNvPr id="8" name="图片 7" descr="logo"/>
          <p:cNvPicPr>
            <a:picLocks noChangeAspect="1"/>
          </p:cNvPicPr>
          <p:nvPr userDrawn="1"/>
        </p:nvPicPr>
        <p:blipFill>
          <a:blip r:embed="rId6"/>
          <a:stretch>
            <a:fillRect/>
          </a:stretch>
        </p:blipFill>
        <p:spPr>
          <a:xfrm>
            <a:off x="518795" y="422275"/>
            <a:ext cx="1551305" cy="474345"/>
          </a:xfrm>
          <a:prstGeom prst="rect">
            <a:avLst/>
          </a:prstGeom>
        </p:spPr>
      </p:pic>
      <p:pic>
        <p:nvPicPr>
          <p:cNvPr id="5" name="图片 4"/>
          <p:cNvPicPr>
            <a:picLocks noChangeAspect="1"/>
          </p:cNvPicPr>
          <p:nvPr userDrawn="1"/>
        </p:nvPicPr>
        <p:blipFill>
          <a:blip r:embed="rId7" cstate="print">
            <a:extLst>
              <a:ext uri="{28A0092B-C50C-407E-A947-70E740481C1C}">
                <a14:useLocalDpi xmlns:a14="http://schemas.microsoft.com/office/drawing/2010/main" val="0"/>
              </a:ext>
            </a:extLst>
          </a:blip>
          <a:srcRect/>
          <a:stretch>
            <a:fillRect/>
          </a:stretch>
        </p:blipFill>
        <p:spPr>
          <a:xfrm>
            <a:off x="9357737" y="499930"/>
            <a:ext cx="2315468" cy="27502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7" name="图片 6" descr="内页"/>
          <p:cNvPicPr>
            <a:picLocks noChangeAspect="1"/>
          </p:cNvPicPr>
          <p:nvPr userDrawn="1"/>
        </p:nvPicPr>
        <p:blipFill>
          <a:blip r:embed="rId2">
            <a:alphaModFix amt="70000"/>
          </a:blip>
          <a:srcRect/>
          <a:stretch>
            <a:fillRect/>
          </a:stretch>
        </p:blipFill>
        <p:spPr>
          <a:xfrm>
            <a:off x="0" y="0"/>
            <a:ext cx="12192000" cy="6858000"/>
          </a:xfrm>
          <a:prstGeom prst="rect">
            <a:avLst/>
          </a:prstGeom>
        </p:spPr>
      </p:pic>
      <p:sp>
        <p:nvSpPr>
          <p:cNvPr id="3" name="内容占位符 2"/>
          <p:cNvSpPr>
            <a:spLocks noGrp="1"/>
          </p:cNvSpPr>
          <p:nvPr>
            <p:ph idx="1"/>
            <p:custDataLst>
              <p:tags r:id="rId3"/>
            </p:custDataLst>
          </p:nvPr>
        </p:nvSpPr>
        <p:spPr>
          <a:xfrm>
            <a:off x="608400" y="1181790"/>
            <a:ext cx="10969200" cy="4759200"/>
          </a:xfr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pic>
        <p:nvPicPr>
          <p:cNvPr id="8" name="图片 7" descr="logo"/>
          <p:cNvPicPr>
            <a:picLocks noChangeAspect="1"/>
          </p:cNvPicPr>
          <p:nvPr userDrawn="1"/>
        </p:nvPicPr>
        <p:blipFill>
          <a:blip r:embed="rId4"/>
          <a:stretch>
            <a:fillRect/>
          </a:stretch>
        </p:blipFill>
        <p:spPr>
          <a:xfrm>
            <a:off x="10333495" y="422275"/>
            <a:ext cx="1551305" cy="474345"/>
          </a:xfrm>
          <a:prstGeom prst="rect">
            <a:avLst/>
          </a:prstGeom>
        </p:spPr>
      </p:pic>
      <p:sp>
        <p:nvSpPr>
          <p:cNvPr id="6" name="标题 1"/>
          <p:cNvSpPr>
            <a:spLocks noGrp="1"/>
          </p:cNvSpPr>
          <p:nvPr>
            <p:ph type="title"/>
          </p:nvPr>
        </p:nvSpPr>
        <p:spPr>
          <a:xfrm>
            <a:off x="608400" y="288360"/>
            <a:ext cx="10969200" cy="705600"/>
          </a:xfrm>
        </p:spPr>
        <p:txBody>
          <a:bodyPr/>
          <a:lstStyle/>
          <a:p>
            <a:endParaRPr lang="zh-CN" altLang="en-US" dirty="0"/>
          </a:p>
        </p:txBody>
      </p:sp>
      <p:pic>
        <p:nvPicPr>
          <p:cNvPr id="2" name="图片 1"/>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277745" y="6370378"/>
            <a:ext cx="2136271" cy="25374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pic>
        <p:nvPicPr>
          <p:cNvPr id="7" name="图片 6" descr="内页"/>
          <p:cNvPicPr>
            <a:picLocks noChangeAspect="1"/>
          </p:cNvPicPr>
          <p:nvPr userDrawn="1"/>
        </p:nvPicPr>
        <p:blipFill>
          <a:blip r:embed="rId2">
            <a:alphaModFix amt="70000"/>
          </a:blip>
          <a:srcRect/>
          <a:stretch>
            <a:fillRect/>
          </a:stretch>
        </p:blipFill>
        <p:spPr>
          <a:xfrm>
            <a:off x="0" y="0"/>
            <a:ext cx="12192000" cy="6858000"/>
          </a:xfrm>
          <a:prstGeom prst="rect">
            <a:avLst/>
          </a:prstGeom>
        </p:spPr>
      </p:pic>
      <p:sp>
        <p:nvSpPr>
          <p:cNvPr id="3" name="文本占位符 2"/>
          <p:cNvSpPr>
            <a:spLocks noGrp="1"/>
          </p:cNvSpPr>
          <p:nvPr>
            <p:ph type="body" idx="1" hasCustomPrompt="1"/>
            <p:custDataLst>
              <p:tags r:id="rId3"/>
            </p:custDataLst>
          </p:nvPr>
        </p:nvSpPr>
        <p:spPr>
          <a:xfrm>
            <a:off x="608400" y="116631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591110"/>
            <a:ext cx="5342400" cy="4053024"/>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custDataLst>
              <p:tags r:id="rId5"/>
            </p:custDataLst>
          </p:nvPr>
        </p:nvSpPr>
        <p:spPr>
          <a:xfrm>
            <a:off x="6235750" y="115883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endParaRPr lang="zh-CN" altLang="en-US"/>
          </a:p>
        </p:txBody>
      </p:sp>
      <p:sp>
        <p:nvSpPr>
          <p:cNvPr id="6" name="内容占位符 5"/>
          <p:cNvSpPr>
            <a:spLocks noGrp="1"/>
          </p:cNvSpPr>
          <p:nvPr>
            <p:ph sz="quarter" idx="4"/>
            <p:custDataLst>
              <p:tags r:id="rId6"/>
            </p:custDataLst>
          </p:nvPr>
        </p:nvSpPr>
        <p:spPr>
          <a:xfrm>
            <a:off x="6235750" y="1591110"/>
            <a:ext cx="5342400" cy="4053024"/>
          </a:xfrm>
        </p:spPr>
        <p:txBody>
          <a:bodyPr vert="horz" lIns="101600" tIns="0" rIns="82550" bIns="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pic>
        <p:nvPicPr>
          <p:cNvPr id="8" name="图片 7" descr="logo"/>
          <p:cNvPicPr>
            <a:picLocks noChangeAspect="1"/>
          </p:cNvPicPr>
          <p:nvPr userDrawn="1"/>
        </p:nvPicPr>
        <p:blipFill>
          <a:blip r:embed="rId7"/>
          <a:stretch>
            <a:fillRect/>
          </a:stretch>
        </p:blipFill>
        <p:spPr>
          <a:xfrm>
            <a:off x="10333495" y="422275"/>
            <a:ext cx="1551305" cy="474345"/>
          </a:xfrm>
          <a:prstGeom prst="rect">
            <a:avLst/>
          </a:prstGeom>
        </p:spPr>
      </p:pic>
      <p:sp>
        <p:nvSpPr>
          <p:cNvPr id="9" name="标题 1"/>
          <p:cNvSpPr>
            <a:spLocks noGrp="1"/>
          </p:cNvSpPr>
          <p:nvPr>
            <p:ph type="title"/>
          </p:nvPr>
        </p:nvSpPr>
        <p:spPr>
          <a:xfrm>
            <a:off x="608400" y="288360"/>
            <a:ext cx="10969200" cy="705600"/>
          </a:xfrm>
        </p:spPr>
        <p:txBody>
          <a:bodyPr/>
          <a:lstStyle/>
          <a:p>
            <a:endParaRPr lang="zh-CN" altLang="en-US" dirty="0"/>
          </a:p>
        </p:txBody>
      </p:sp>
      <p:pic>
        <p:nvPicPr>
          <p:cNvPr id="2" name="图片 1"/>
          <p:cNvPicPr>
            <a:picLocks noChangeAspect="1"/>
          </p:cNvPicPr>
          <p:nvPr userDrawn="1"/>
        </p:nvPicPr>
        <p:blipFill>
          <a:blip r:embed="rId8" cstate="print">
            <a:extLst>
              <a:ext uri="{28A0092B-C50C-407E-A947-70E740481C1C}">
                <a14:useLocalDpi xmlns:a14="http://schemas.microsoft.com/office/drawing/2010/main" val="0"/>
              </a:ext>
            </a:extLst>
          </a:blip>
          <a:srcRect/>
          <a:stretch>
            <a:fillRect/>
          </a:stretch>
        </p:blipFill>
        <p:spPr>
          <a:xfrm>
            <a:off x="277745" y="6370378"/>
            <a:ext cx="2136271" cy="25374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两栏内容">
    <p:spTree>
      <p:nvGrpSpPr>
        <p:cNvPr id="1" name=""/>
        <p:cNvGrpSpPr/>
        <p:nvPr/>
      </p:nvGrpSpPr>
      <p:grpSpPr>
        <a:xfrm>
          <a:off x="0" y="0"/>
          <a:ext cx="0" cy="0"/>
          <a:chOff x="0" y="0"/>
          <a:chExt cx="0" cy="0"/>
        </a:xfrm>
      </p:grpSpPr>
      <p:pic>
        <p:nvPicPr>
          <p:cNvPr id="5" name="图片 4" descr="内页"/>
          <p:cNvPicPr>
            <a:picLocks noChangeAspect="1"/>
          </p:cNvPicPr>
          <p:nvPr userDrawn="1"/>
        </p:nvPicPr>
        <p:blipFill>
          <a:blip r:embed="rId2">
            <a:alphaModFix amt="70000"/>
          </a:blip>
          <a:srcRect/>
          <a:stretch>
            <a:fillRect/>
          </a:stretch>
        </p:blipFill>
        <p:spPr>
          <a:xfrm>
            <a:off x="0" y="0"/>
            <a:ext cx="12192000" cy="6858000"/>
          </a:xfrm>
          <a:prstGeom prst="rect">
            <a:avLst/>
          </a:prstGeom>
        </p:spPr>
      </p:pic>
      <p:sp>
        <p:nvSpPr>
          <p:cNvPr id="3" name="内容占位符 2"/>
          <p:cNvSpPr>
            <a:spLocks noGrp="1"/>
          </p:cNvSpPr>
          <p:nvPr>
            <p:ph sz="half" idx="1"/>
            <p:custDataLst>
              <p:tags r:id="rId3"/>
            </p:custDataLst>
          </p:nvPr>
        </p:nvSpPr>
        <p:spPr>
          <a:xfrm>
            <a:off x="608400" y="1284030"/>
            <a:ext cx="5176800" cy="4405824"/>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custDataLst>
              <p:tags r:id="rId4"/>
            </p:custDataLst>
          </p:nvPr>
        </p:nvSpPr>
        <p:spPr>
          <a:xfrm>
            <a:off x="6411600" y="1284030"/>
            <a:ext cx="5176800" cy="4405824"/>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pic>
        <p:nvPicPr>
          <p:cNvPr id="6" name="图片 5" descr="logo"/>
          <p:cNvPicPr>
            <a:picLocks noChangeAspect="1"/>
          </p:cNvPicPr>
          <p:nvPr userDrawn="1"/>
        </p:nvPicPr>
        <p:blipFill>
          <a:blip r:embed="rId5"/>
          <a:stretch>
            <a:fillRect/>
          </a:stretch>
        </p:blipFill>
        <p:spPr>
          <a:xfrm>
            <a:off x="10333495" y="422275"/>
            <a:ext cx="1551305" cy="474345"/>
          </a:xfrm>
          <a:prstGeom prst="rect">
            <a:avLst/>
          </a:prstGeom>
        </p:spPr>
      </p:pic>
      <p:sp>
        <p:nvSpPr>
          <p:cNvPr id="7" name="标题 1"/>
          <p:cNvSpPr>
            <a:spLocks noGrp="1"/>
          </p:cNvSpPr>
          <p:nvPr>
            <p:ph type="title"/>
          </p:nvPr>
        </p:nvSpPr>
        <p:spPr>
          <a:xfrm>
            <a:off x="608400" y="288360"/>
            <a:ext cx="10969200" cy="705600"/>
          </a:xfrm>
        </p:spPr>
        <p:txBody>
          <a:bodyPr/>
          <a:lstStyle/>
          <a:p>
            <a:endParaRPr lang="zh-CN" altLang="en-US" dirty="0"/>
          </a:p>
        </p:txBody>
      </p:sp>
      <p:pic>
        <p:nvPicPr>
          <p:cNvPr id="2" name="图片 1"/>
          <p:cNvPicPr>
            <a:picLocks noChangeAspect="1"/>
          </p:cNvPicPr>
          <p:nvPr userDrawn="1"/>
        </p:nvPicPr>
        <p:blipFill>
          <a:blip r:embed="rId6" cstate="print">
            <a:extLst>
              <a:ext uri="{28A0092B-C50C-407E-A947-70E740481C1C}">
                <a14:useLocalDpi xmlns:a14="http://schemas.microsoft.com/office/drawing/2010/main" val="0"/>
              </a:ext>
            </a:extLst>
          </a:blip>
          <a:srcRect/>
          <a:stretch>
            <a:fillRect/>
          </a:stretch>
        </p:blipFill>
        <p:spPr>
          <a:xfrm>
            <a:off x="277745" y="6370378"/>
            <a:ext cx="2136271" cy="25374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图片与标题">
    <p:spTree>
      <p:nvGrpSpPr>
        <p:cNvPr id="1" name=""/>
        <p:cNvGrpSpPr/>
        <p:nvPr/>
      </p:nvGrpSpPr>
      <p:grpSpPr>
        <a:xfrm>
          <a:off x="0" y="0"/>
          <a:ext cx="0" cy="0"/>
          <a:chOff x="0" y="0"/>
          <a:chExt cx="0" cy="0"/>
        </a:xfrm>
      </p:grpSpPr>
      <p:pic>
        <p:nvPicPr>
          <p:cNvPr id="6" name="图片 5" descr="内页"/>
          <p:cNvPicPr>
            <a:picLocks noChangeAspect="1"/>
          </p:cNvPicPr>
          <p:nvPr userDrawn="1"/>
        </p:nvPicPr>
        <p:blipFill>
          <a:blip r:embed="rId2">
            <a:alphaModFix amt="70000"/>
          </a:blip>
          <a:srcRect/>
          <a:stretch>
            <a:fillRect/>
          </a:stretch>
        </p:blipFill>
        <p:spPr>
          <a:xfrm>
            <a:off x="0" y="0"/>
            <a:ext cx="12192000" cy="6858000"/>
          </a:xfrm>
          <a:prstGeom prst="rect">
            <a:avLst/>
          </a:prstGeom>
        </p:spPr>
      </p:pic>
      <p:sp>
        <p:nvSpPr>
          <p:cNvPr id="3" name="图片占位符 2"/>
          <p:cNvSpPr>
            <a:spLocks noGrp="1"/>
          </p:cNvSpPr>
          <p:nvPr>
            <p:ph type="pic" idx="1"/>
            <p:custDataLst>
              <p:tags r:id="rId3"/>
            </p:custDataLst>
          </p:nvPr>
        </p:nvSpPr>
        <p:spPr>
          <a:xfrm>
            <a:off x="608400" y="1338030"/>
            <a:ext cx="5233077" cy="4324392"/>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4"/>
            </p:custDataLst>
          </p:nvPr>
        </p:nvSpPr>
        <p:spPr>
          <a:xfrm>
            <a:off x="6350400" y="1338030"/>
            <a:ext cx="5227200" cy="4324392"/>
          </a:xfrm>
        </p:spPr>
        <p:txBody>
          <a:bodyPr vert="horz" lIns="90000" tIns="46800" rIns="90000" bIns="46800" rtlCol="0">
            <a:normAutofit/>
          </a:bodyPr>
          <a:lstStyle>
            <a:lvl1pPr>
              <a:buNone/>
              <a:defRPr sz="1600"/>
            </a:lvl1pPr>
          </a:lstStyle>
          <a:p>
            <a:pPr lvl="0"/>
            <a:r>
              <a:rPr lang="zh-CN" altLang="en-US"/>
              <a:t>单击此处编辑母版文本样式</a:t>
            </a:r>
            <a:endParaRPr lang="zh-CN" altLang="en-US"/>
          </a:p>
        </p:txBody>
      </p:sp>
      <p:pic>
        <p:nvPicPr>
          <p:cNvPr id="7" name="图片 6" descr="logo"/>
          <p:cNvPicPr>
            <a:picLocks noChangeAspect="1"/>
          </p:cNvPicPr>
          <p:nvPr userDrawn="1"/>
        </p:nvPicPr>
        <p:blipFill>
          <a:blip r:embed="rId5"/>
          <a:stretch>
            <a:fillRect/>
          </a:stretch>
        </p:blipFill>
        <p:spPr>
          <a:xfrm>
            <a:off x="10333495" y="422275"/>
            <a:ext cx="1551305" cy="474345"/>
          </a:xfrm>
          <a:prstGeom prst="rect">
            <a:avLst/>
          </a:prstGeom>
        </p:spPr>
      </p:pic>
      <p:sp>
        <p:nvSpPr>
          <p:cNvPr id="8" name="标题 1"/>
          <p:cNvSpPr>
            <a:spLocks noGrp="1"/>
          </p:cNvSpPr>
          <p:nvPr>
            <p:ph type="title"/>
          </p:nvPr>
        </p:nvSpPr>
        <p:spPr>
          <a:xfrm>
            <a:off x="608400" y="288360"/>
            <a:ext cx="10969200" cy="705600"/>
          </a:xfrm>
        </p:spPr>
        <p:txBody>
          <a:bodyPr/>
          <a:lstStyle/>
          <a:p>
            <a:endParaRPr lang="zh-CN" altLang="en-US" dirty="0"/>
          </a:p>
        </p:txBody>
      </p:sp>
      <p:pic>
        <p:nvPicPr>
          <p:cNvPr id="2" name="图片 1"/>
          <p:cNvPicPr>
            <a:picLocks noChangeAspect="1"/>
          </p:cNvPicPr>
          <p:nvPr userDrawn="1"/>
        </p:nvPicPr>
        <p:blipFill>
          <a:blip r:embed="rId6" cstate="print">
            <a:extLst>
              <a:ext uri="{28A0092B-C50C-407E-A947-70E740481C1C}">
                <a14:useLocalDpi xmlns:a14="http://schemas.microsoft.com/office/drawing/2010/main" val="0"/>
              </a:ext>
            </a:extLst>
          </a:blip>
          <a:srcRect/>
          <a:stretch>
            <a:fillRect/>
          </a:stretch>
        </p:blipFill>
        <p:spPr>
          <a:xfrm>
            <a:off x="277745" y="6370378"/>
            <a:ext cx="2136271" cy="25374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pic>
        <p:nvPicPr>
          <p:cNvPr id="8" name="图片 7" descr="内页"/>
          <p:cNvPicPr>
            <a:picLocks noChangeAspect="1"/>
          </p:cNvPicPr>
          <p:nvPr userDrawn="1"/>
        </p:nvPicPr>
        <p:blipFill>
          <a:blip r:embed="rId2">
            <a:alphaModFix amt="70000"/>
          </a:blip>
          <a:srcRect/>
          <a:stretch>
            <a:fillRect/>
          </a:stretch>
        </p:blipFill>
        <p:spPr>
          <a:xfrm>
            <a:off x="0" y="0"/>
            <a:ext cx="12192000" cy="6858000"/>
          </a:xfrm>
          <a:prstGeom prst="rect">
            <a:avLst/>
          </a:prstGeom>
        </p:spPr>
      </p:pic>
      <p:pic>
        <p:nvPicPr>
          <p:cNvPr id="7" name="图片 6" descr="logo"/>
          <p:cNvPicPr>
            <a:picLocks noChangeAspect="1"/>
          </p:cNvPicPr>
          <p:nvPr userDrawn="1"/>
        </p:nvPicPr>
        <p:blipFill>
          <a:blip r:embed="rId3"/>
          <a:stretch>
            <a:fillRect/>
          </a:stretch>
        </p:blipFill>
        <p:spPr>
          <a:xfrm>
            <a:off x="10333495" y="422275"/>
            <a:ext cx="1551305" cy="474345"/>
          </a:xfrm>
          <a:prstGeom prst="rect">
            <a:avLst/>
          </a:prstGeom>
        </p:spPr>
      </p:pic>
      <p:sp>
        <p:nvSpPr>
          <p:cNvPr id="5" name="标题 1"/>
          <p:cNvSpPr>
            <a:spLocks noGrp="1"/>
          </p:cNvSpPr>
          <p:nvPr>
            <p:ph type="title"/>
          </p:nvPr>
        </p:nvSpPr>
        <p:spPr>
          <a:xfrm>
            <a:off x="608400" y="288360"/>
            <a:ext cx="10969200" cy="705600"/>
          </a:xfrm>
        </p:spPr>
        <p:txBody>
          <a:bodyPr/>
          <a:lstStyle/>
          <a:p>
            <a:endParaRPr lang="zh-CN" altLang="en-US" dirty="0"/>
          </a:p>
        </p:txBody>
      </p:sp>
      <p:pic>
        <p:nvPicPr>
          <p:cNvPr id="2" name="图片 1"/>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a:xfrm>
            <a:off x="277745" y="6370378"/>
            <a:ext cx="2136271" cy="25374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6" name="图片 5" descr="内页"/>
          <p:cNvPicPr>
            <a:picLocks noChangeAspect="1"/>
          </p:cNvPicPr>
          <p:nvPr userDrawn="1"/>
        </p:nvPicPr>
        <p:blipFill>
          <a:blip r:embed="rId2">
            <a:alphaModFix amt="70000"/>
          </a:blip>
          <a:srcRect/>
          <a:stretch>
            <a:fillRect/>
          </a:stretch>
        </p:blipFill>
        <p:spPr>
          <a:xfrm>
            <a:off x="0" y="0"/>
            <a:ext cx="12192000" cy="6858000"/>
          </a:xfrm>
          <a:prstGeom prst="rect">
            <a:avLst/>
          </a:prstGeom>
        </p:spPr>
      </p:pic>
      <p:pic>
        <p:nvPicPr>
          <p:cNvPr id="5" name="图片 4" descr="logo"/>
          <p:cNvPicPr>
            <a:picLocks noChangeAspect="1"/>
          </p:cNvPicPr>
          <p:nvPr userDrawn="1"/>
        </p:nvPicPr>
        <p:blipFill>
          <a:blip r:embed="rId3"/>
          <a:stretch>
            <a:fillRect/>
          </a:stretch>
        </p:blipFill>
        <p:spPr>
          <a:xfrm>
            <a:off x="10333495" y="422275"/>
            <a:ext cx="1551305" cy="474345"/>
          </a:xfrm>
          <a:prstGeom prst="rect">
            <a:avLst/>
          </a:prstGeom>
        </p:spPr>
      </p:pic>
      <p:pic>
        <p:nvPicPr>
          <p:cNvPr id="2" name="图片 1"/>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a:xfrm>
            <a:off x="277745" y="6370378"/>
            <a:ext cx="2136271" cy="25374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内容">
    <p:spTree>
      <p:nvGrpSpPr>
        <p:cNvPr id="1" name=""/>
        <p:cNvGrpSpPr/>
        <p:nvPr/>
      </p:nvGrpSpPr>
      <p:grpSpPr>
        <a:xfrm>
          <a:off x="0" y="0"/>
          <a:ext cx="0" cy="0"/>
          <a:chOff x="0" y="0"/>
          <a:chExt cx="0" cy="0"/>
        </a:xfrm>
      </p:grpSpPr>
      <p:pic>
        <p:nvPicPr>
          <p:cNvPr id="6" name="图片 5" descr="内页"/>
          <p:cNvPicPr>
            <a:picLocks noChangeAspect="1"/>
          </p:cNvPicPr>
          <p:nvPr userDrawn="1"/>
        </p:nvPicPr>
        <p:blipFill>
          <a:blip r:embed="rId2">
            <a:alphaModFix amt="70000"/>
          </a:blip>
          <a:srcRect/>
          <a:stretch>
            <a:fillRect/>
          </a:stretch>
        </p:blipFill>
        <p:spPr>
          <a:xfrm>
            <a:off x="0" y="0"/>
            <a:ext cx="12192000" cy="6858000"/>
          </a:xfrm>
          <a:prstGeom prst="rect">
            <a:avLst/>
          </a:prstGeom>
        </p:spPr>
      </p:pic>
      <p:sp>
        <p:nvSpPr>
          <p:cNvPr id="7" name="内容占位符 6"/>
          <p:cNvSpPr>
            <a:spLocks noGrp="1"/>
          </p:cNvSpPr>
          <p:nvPr>
            <p:ph sz="quarter" idx="13"/>
            <p:custDataLst>
              <p:tags r:id="rId3"/>
            </p:custDataLst>
          </p:nvPr>
        </p:nvSpPr>
        <p:spPr>
          <a:xfrm>
            <a:off x="608400" y="774000"/>
            <a:ext cx="10972800" cy="512388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pic>
        <p:nvPicPr>
          <p:cNvPr id="2" name="图片 1" descr="logo"/>
          <p:cNvPicPr>
            <a:picLocks noChangeAspect="1"/>
          </p:cNvPicPr>
          <p:nvPr userDrawn="1"/>
        </p:nvPicPr>
        <p:blipFill>
          <a:blip r:embed="rId4"/>
          <a:stretch>
            <a:fillRect/>
          </a:stretch>
        </p:blipFill>
        <p:spPr>
          <a:xfrm>
            <a:off x="10333495" y="422275"/>
            <a:ext cx="1551305" cy="474345"/>
          </a:xfrm>
          <a:prstGeom prst="rect">
            <a:avLst/>
          </a:prstGeom>
        </p:spPr>
      </p:pic>
      <p:pic>
        <p:nvPicPr>
          <p:cNvPr id="3" name="图片 2"/>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277745" y="6370378"/>
            <a:ext cx="2136271" cy="25374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a:xfrm>
            <a:off x="0" y="0"/>
            <a:ext cx="12192000" cy="6858000"/>
          </a:xfrm>
          <a:prstGeom prst="rect">
            <a:avLst/>
          </a:prstGeom>
        </p:spPr>
      </p:pic>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pic>
        <p:nvPicPr>
          <p:cNvPr id="8" name="图片 7" descr="logo"/>
          <p:cNvPicPr>
            <a:picLocks noChangeAspect="1"/>
          </p:cNvPicPr>
          <p:nvPr userDrawn="1"/>
        </p:nvPicPr>
        <p:blipFill>
          <a:blip r:embed="rId6"/>
          <a:stretch>
            <a:fillRect/>
          </a:stretch>
        </p:blipFill>
        <p:spPr>
          <a:xfrm>
            <a:off x="518795" y="422275"/>
            <a:ext cx="1551305" cy="474345"/>
          </a:xfrm>
          <a:prstGeom prst="rect">
            <a:avLst/>
          </a:prstGeom>
        </p:spPr>
      </p:pic>
      <p:pic>
        <p:nvPicPr>
          <p:cNvPr id="2" name="图片 1" descr="图片包含 游戏机, 食物&#10;&#10;描述已自动生成"/>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0" y="100885"/>
            <a:ext cx="12192000" cy="6324600"/>
          </a:xfrm>
          <a:prstGeom prst="rect">
            <a:avLst/>
          </a:prstGeom>
        </p:spPr>
      </p:pic>
      <p:pic>
        <p:nvPicPr>
          <p:cNvPr id="7" name="图片 6"/>
          <p:cNvPicPr>
            <a:picLocks noChangeAspect="1"/>
          </p:cNvPicPr>
          <p:nvPr userDrawn="1"/>
        </p:nvPicPr>
        <p:blipFill>
          <a:blip r:embed="rId8" cstate="print">
            <a:extLst>
              <a:ext uri="{28A0092B-C50C-407E-A947-70E740481C1C}">
                <a14:useLocalDpi xmlns:a14="http://schemas.microsoft.com/office/drawing/2010/main" val="0"/>
              </a:ext>
            </a:extLst>
          </a:blip>
          <a:srcRect/>
          <a:stretch>
            <a:fillRect/>
          </a:stretch>
        </p:blipFill>
        <p:spPr>
          <a:xfrm>
            <a:off x="9357737" y="499930"/>
            <a:ext cx="2315468" cy="27502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23.xml"/><Relationship Id="rId16" Type="http://schemas.openxmlformats.org/officeDocument/2006/relationships/tags" Target="../tags/tag22.xml"/><Relationship Id="rId15" Type="http://schemas.openxmlformats.org/officeDocument/2006/relationships/tags" Target="../tags/tag21.xml"/><Relationship Id="rId14" Type="http://schemas.openxmlformats.org/officeDocument/2006/relationships/tags" Target="../tags/tag20.xml"/><Relationship Id="rId13" Type="http://schemas.openxmlformats.org/officeDocument/2006/relationships/tags" Target="../tags/tag19.xml"/><Relationship Id="rId12" Type="http://schemas.openxmlformats.org/officeDocument/2006/relationships/tags" Target="../tags/tag1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5.xml"/><Relationship Id="rId1" Type="http://schemas.openxmlformats.org/officeDocument/2006/relationships/tags" Target="../tags/tag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27.xml"/><Relationship Id="rId1" Type="http://schemas.openxmlformats.org/officeDocument/2006/relationships/tags" Target="../tags/tag26.xml"/></Relationships>
</file>

<file path=ppt/slides/_rels/slide8.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3" Type="http://schemas.openxmlformats.org/officeDocument/2006/relationships/slideLayout" Target="../slideLayouts/slideLayout4.xml"/><Relationship Id="rId12" Type="http://schemas.openxmlformats.org/officeDocument/2006/relationships/tags" Target="../tags/tag39.xml"/><Relationship Id="rId11" Type="http://schemas.openxmlformats.org/officeDocument/2006/relationships/tags" Target="../tags/tag38.xml"/><Relationship Id="rId10" Type="http://schemas.openxmlformats.org/officeDocument/2006/relationships/tags" Target="../tags/tag37.xml"/><Relationship Id="rId1" Type="http://schemas.openxmlformats.org/officeDocument/2006/relationships/tags" Target="../tags/tag28.xml"/></Relationships>
</file>

<file path=ppt/slides/_rels/slide9.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2" Type="http://schemas.openxmlformats.org/officeDocument/2006/relationships/slideLayout" Target="../slideLayouts/slideLayout4.xml"/><Relationship Id="rId21" Type="http://schemas.openxmlformats.org/officeDocument/2006/relationships/tags" Target="../tags/tag60.xml"/><Relationship Id="rId20" Type="http://schemas.openxmlformats.org/officeDocument/2006/relationships/tags" Target="../tags/tag59.xml"/><Relationship Id="rId2" Type="http://schemas.openxmlformats.org/officeDocument/2006/relationships/tags" Target="../tags/tag41.xml"/><Relationship Id="rId19" Type="http://schemas.openxmlformats.org/officeDocument/2006/relationships/tags" Target="../tags/tag58.xml"/><Relationship Id="rId18" Type="http://schemas.openxmlformats.org/officeDocument/2006/relationships/tags" Target="../tags/tag57.xml"/><Relationship Id="rId17" Type="http://schemas.openxmlformats.org/officeDocument/2006/relationships/tags" Target="../tags/tag56.xml"/><Relationship Id="rId16" Type="http://schemas.openxmlformats.org/officeDocument/2006/relationships/tags" Target="../tags/tag55.xml"/><Relationship Id="rId15" Type="http://schemas.openxmlformats.org/officeDocument/2006/relationships/tags" Target="../tags/tag54.xml"/><Relationship Id="rId14" Type="http://schemas.openxmlformats.org/officeDocument/2006/relationships/tags" Target="../tags/tag53.xml"/><Relationship Id="rId13" Type="http://schemas.openxmlformats.org/officeDocument/2006/relationships/tags" Target="../tags/tag52.xml"/><Relationship Id="rId12" Type="http://schemas.openxmlformats.org/officeDocument/2006/relationships/tags" Target="../tags/tag51.xml"/><Relationship Id="rId11" Type="http://schemas.openxmlformats.org/officeDocument/2006/relationships/tags" Target="../tags/tag50.xml"/><Relationship Id="rId10" Type="http://schemas.openxmlformats.org/officeDocument/2006/relationships/tags" Target="../tags/tag49.xml"/><Relationship Id="rId1" Type="http://schemas.openxmlformats.org/officeDocument/2006/relationships/tags" Target="../tags/tag4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6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7" Type="http://schemas.openxmlformats.org/officeDocument/2006/relationships/slideLayout" Target="../slideLayouts/slideLayout8.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65.xml"/></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31.png"/><Relationship Id="rId1"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198800" y="656590"/>
            <a:ext cx="9799200" cy="2570400"/>
          </a:xfrm>
        </p:spPr>
        <p:txBody>
          <a:bodyPr>
            <a:normAutofit/>
          </a:bodyPr>
          <a:lstStyle/>
          <a:p>
            <a:r>
              <a:rPr lang="en-US" altLang="zh-CN" dirty="0"/>
              <a:t>仓颉语言</a:t>
            </a:r>
            <a:r>
              <a:rPr lang="zh-CN" altLang="en-US" dirty="0"/>
              <a:t>开源</a:t>
            </a:r>
            <a:r>
              <a:rPr lang="en-US" altLang="zh-CN" dirty="0"/>
              <a:t>微服务</a:t>
            </a:r>
            <a:r>
              <a:rPr lang="zh-CN" altLang="en-US" dirty="0"/>
              <a:t>框架</a:t>
            </a:r>
            <a:br>
              <a:rPr lang="zh-CN" altLang="en-US" dirty="0"/>
            </a:br>
            <a:r>
              <a:rPr lang="en-US" altLang="zh-CN" dirty="0"/>
              <a:t>microservice</a:t>
            </a:r>
            <a:r>
              <a:rPr lang="zh-CN" altLang="en-US" dirty="0"/>
              <a:t>开发实践</a:t>
            </a:r>
            <a:endParaRPr lang="zh-CN" altLang="en-US" dirty="0"/>
          </a:p>
        </p:txBody>
      </p:sp>
      <p:sp>
        <p:nvSpPr>
          <p:cNvPr id="3" name="副标题 2"/>
          <p:cNvSpPr>
            <a:spLocks noGrp="1"/>
          </p:cNvSpPr>
          <p:nvPr>
            <p:ph type="subTitle" idx="1"/>
          </p:nvPr>
        </p:nvSpPr>
        <p:spPr>
          <a:xfrm>
            <a:off x="1198800" y="3566750"/>
            <a:ext cx="9799200" cy="1472400"/>
          </a:xfrm>
        </p:spPr>
        <p:txBody>
          <a:bodyPr>
            <a:normAutofit lnSpcReduction="10000"/>
          </a:bodyPr>
          <a:lstStyle/>
          <a:p>
            <a:br>
              <a:rPr lang="zh-CN" altLang="en-US" dirty="0">
                <a:solidFill>
                  <a:schemeClr val="tx1"/>
                </a:solidFill>
              </a:rPr>
            </a:br>
            <a:r>
              <a:rPr lang="zh-CN" altLang="en-US" dirty="0">
                <a:solidFill>
                  <a:schemeClr val="tx1"/>
                </a:solidFill>
              </a:rPr>
              <a:t>赛可出行</a:t>
            </a:r>
            <a:r>
              <a:rPr lang="en-US" altLang="zh-CN" dirty="0">
                <a:solidFill>
                  <a:schemeClr val="tx1"/>
                </a:solidFill>
              </a:rPr>
              <a:t>|</a:t>
            </a:r>
            <a:r>
              <a:rPr lang="zh-CN" altLang="en-US" dirty="0">
                <a:solidFill>
                  <a:schemeClr val="tx1"/>
                </a:solidFill>
              </a:rPr>
              <a:t>高级技术专家</a:t>
            </a:r>
            <a:r>
              <a:rPr lang="en-US" altLang="zh-CN" dirty="0">
                <a:solidFill>
                  <a:schemeClr val="tx1"/>
                </a:solidFill>
              </a:rPr>
              <a:t>|</a:t>
            </a:r>
            <a:r>
              <a:rPr lang="zh-CN" altLang="en-US" dirty="0">
                <a:solidFill>
                  <a:schemeClr val="tx1"/>
                </a:solidFill>
              </a:rPr>
              <a:t>赵刚</a:t>
            </a:r>
            <a:endParaRPr lang="zh-CN" altLang="en-US"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499610" y="1818005"/>
            <a:ext cx="7332980" cy="3484880"/>
          </a:xfrm>
        </p:spPr>
        <p:txBody>
          <a:bodyPr/>
          <a:lstStyle/>
          <a:p>
            <a:pPr>
              <a:buSzPct val="120000"/>
            </a:pPr>
            <a:r>
              <a:rPr lang="zh-CN" altLang="en-US" dirty="0"/>
              <a:t>项目</a:t>
            </a:r>
            <a:r>
              <a:rPr lang="zh-CN" altLang="en-US" dirty="0"/>
              <a:t>起源：仓颉与微服务</a:t>
            </a:r>
            <a:r>
              <a:rPr lang="zh-CN" altLang="en-US" dirty="0"/>
              <a:t>可能有</a:t>
            </a:r>
            <a:r>
              <a:rPr lang="zh-CN" altLang="en-US" dirty="0"/>
              <a:t>哪些碰撞</a:t>
            </a:r>
            <a:endParaRPr lang="zh-CN" altLang="en-US" dirty="0"/>
          </a:p>
          <a:p>
            <a:pPr>
              <a:buSzPct val="120000"/>
            </a:pPr>
            <a:r>
              <a:rPr lang="zh-CN" altLang="en-US" dirty="0"/>
              <a:t>项目</a:t>
            </a:r>
            <a:r>
              <a:rPr lang="zh-CN" altLang="en-US" dirty="0"/>
              <a:t>设计：仓颉版微服务的几大焦点</a:t>
            </a:r>
            <a:r>
              <a:rPr lang="zh-CN" altLang="en-US" dirty="0"/>
              <a:t>设计</a:t>
            </a:r>
            <a:endParaRPr lang="zh-CN" altLang="en-US" dirty="0"/>
          </a:p>
          <a:p>
            <a:pPr>
              <a:buSzPct val="120000"/>
            </a:pPr>
            <a:r>
              <a:rPr lang="zh-CN" altLang="en-US" dirty="0"/>
              <a:t>使用</a:t>
            </a:r>
            <a:r>
              <a:rPr lang="zh-CN" altLang="en-US" dirty="0"/>
              <a:t>实践：</a:t>
            </a:r>
            <a:r>
              <a:rPr lang="en-US" altLang="zh-CN" dirty="0"/>
              <a:t>microservice</a:t>
            </a:r>
            <a:r>
              <a:rPr lang="zh-CN" altLang="en-US" dirty="0"/>
              <a:t>探索</a:t>
            </a:r>
            <a:r>
              <a:rPr lang="zh-CN" altLang="en-US" dirty="0"/>
              <a:t>与实践</a:t>
            </a:r>
            <a:endParaRPr lang="zh-CN" altLang="en-US" dirty="0"/>
          </a:p>
          <a:p>
            <a:pPr>
              <a:buSzPct val="120000"/>
            </a:pPr>
            <a:r>
              <a:rPr lang="zh-CN" altLang="en-US" dirty="0"/>
              <a:t>未来展望</a:t>
            </a:r>
            <a:r>
              <a:rPr lang="zh-CN" altLang="en-US" dirty="0"/>
              <a:t>与规划</a:t>
            </a:r>
            <a:endParaRPr lang="zh-CN" altLang="en-US" dirty="0"/>
          </a:p>
          <a:p>
            <a:pPr>
              <a:buSzPct val="120000"/>
            </a:pPr>
            <a:endParaRPr lang="zh-CN" altLang="en-US" dirty="0"/>
          </a:p>
          <a:p>
            <a:pPr>
              <a:buSzPct val="120000"/>
            </a:pPr>
            <a:endParaRPr lang="zh-CN" altLang="en-US" dirty="0"/>
          </a:p>
        </p:txBody>
      </p:sp>
      <p:sp>
        <p:nvSpPr>
          <p:cNvPr id="3" name="文本框 2"/>
          <p:cNvSpPr txBox="1"/>
          <p:nvPr/>
        </p:nvSpPr>
        <p:spPr>
          <a:xfrm>
            <a:off x="1909445" y="2714678"/>
            <a:ext cx="1268413" cy="922020"/>
          </a:xfrm>
          <a:prstGeom prst="rect">
            <a:avLst/>
          </a:prstGeom>
          <a:noFill/>
        </p:spPr>
        <p:txBody>
          <a:bodyPr wrap="square" rtlCol="0">
            <a:spAutoFit/>
          </a:bodyPr>
          <a:lstStyle/>
          <a:p>
            <a:pPr algn="dist"/>
            <a:r>
              <a:rPr lang="zh-CN" altLang="en-US" sz="3600" dirty="0"/>
              <a:t>目 录</a:t>
            </a:r>
            <a:endParaRPr lang="en-US" altLang="zh-CN" sz="3600" dirty="0"/>
          </a:p>
          <a:p>
            <a:pPr algn="dist"/>
            <a:r>
              <a:rPr lang="en-GB" altLang="zh-CN" dirty="0"/>
              <a:t>Contents</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6"/>
          <p:cNvSpPr/>
          <p:nvPr/>
        </p:nvSpPr>
        <p:spPr>
          <a:xfrm>
            <a:off x="638675" y="462368"/>
            <a:ext cx="5855334" cy="431800"/>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a:ea typeface="Arial" panose="020B0604020202020204"/>
              <a:cs typeface="Arial" panose="020B0604020202020204"/>
            </a:endParaRPr>
          </a:p>
          <a:p>
            <a:pPr marL="12700" algn="l" rtl="0" eaLnBrk="0">
              <a:lnSpc>
                <a:spcPct val="99000"/>
              </a:lnSpc>
            </a:pPr>
            <a:r>
              <a:rPr 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以前参与微服务</a:t>
            </a:r>
            <a:r>
              <a:rPr 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工作</a:t>
            </a:r>
            <a:endParaRPr 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endParaRPr>
          </a:p>
        </p:txBody>
      </p:sp>
      <p:sp>
        <p:nvSpPr>
          <p:cNvPr id="2" name="文本占位符 1"/>
          <p:cNvSpPr>
            <a:spLocks noGrp="1"/>
          </p:cNvSpPr>
          <p:nvPr>
            <p:ph type="body" idx="1"/>
          </p:nvPr>
        </p:nvSpPr>
        <p:spPr>
          <a:xfrm>
            <a:off x="608400" y="1393640"/>
            <a:ext cx="5342400" cy="381600"/>
          </a:xfrm>
        </p:spPr>
        <p:txBody>
          <a:bodyPr>
            <a:normAutofit fontScale="90000" lnSpcReduction="20000"/>
          </a:bodyPr>
          <a:p>
            <a:r>
              <a:rPr lang="en-US" altLang="zh-CN" b="1"/>
              <a:t>C++</a:t>
            </a:r>
            <a:r>
              <a:rPr lang="zh-CN" altLang="en-US" b="1"/>
              <a:t>微服务框架（</a:t>
            </a:r>
            <a:r>
              <a:rPr lang="en-US" altLang="zh-CN" b="1"/>
              <a:t>bpe</a:t>
            </a:r>
            <a:r>
              <a:rPr lang="zh-CN" altLang="en-US" b="1"/>
              <a:t>）</a:t>
            </a:r>
            <a:endParaRPr lang="zh-CN" altLang="en-US" b="1"/>
          </a:p>
        </p:txBody>
      </p:sp>
      <p:sp>
        <p:nvSpPr>
          <p:cNvPr id="3" name="文本占位符 1"/>
          <p:cNvSpPr>
            <a:spLocks noGrp="1"/>
          </p:cNvSpPr>
          <p:nvPr/>
        </p:nvSpPr>
        <p:spPr>
          <a:xfrm>
            <a:off x="6357690" y="1385385"/>
            <a:ext cx="5342400" cy="381600"/>
          </a:xfrm>
          <a:prstGeom prst="rect">
            <a:avLst/>
          </a:prstGeom>
        </p:spPr>
        <p:txBody>
          <a:bodyPr vert="horz" lIns="90000" tIns="46800" rIns="90000" bIns="46800" rtlCol="0">
            <a:normAutofit fontScale="90000" lnSpcReduction="2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b="1"/>
              <a:t>Java</a:t>
            </a:r>
            <a:r>
              <a:rPr lang="zh-CN" altLang="en-US" b="1"/>
              <a:t>微服务框架（</a:t>
            </a:r>
            <a:r>
              <a:rPr lang="en-US" altLang="zh-CN" b="1"/>
              <a:t>krpc</a:t>
            </a:r>
            <a:r>
              <a:rPr lang="zh-CN" altLang="en-US" b="1"/>
              <a:t>）</a:t>
            </a:r>
            <a:endParaRPr lang="zh-CN" altLang="en-US" b="1"/>
          </a:p>
        </p:txBody>
      </p:sp>
      <p:sp>
        <p:nvSpPr>
          <p:cNvPr id="4" name="文本框 3"/>
          <p:cNvSpPr txBox="1"/>
          <p:nvPr/>
        </p:nvSpPr>
        <p:spPr>
          <a:xfrm>
            <a:off x="638810" y="2021205"/>
            <a:ext cx="6842125" cy="368300"/>
          </a:xfrm>
          <a:prstGeom prst="rect">
            <a:avLst/>
          </a:prstGeom>
          <a:noFill/>
        </p:spPr>
        <p:txBody>
          <a:bodyPr wrap="square" rtlCol="0">
            <a:spAutoFit/>
          </a:bodyPr>
          <a:p>
            <a:r>
              <a:rPr lang="zh-CN" altLang="en-US"/>
              <a:t>特点：</a:t>
            </a:r>
            <a:r>
              <a:rPr lang="en-US" altLang="zh-CN"/>
              <a:t>XML</a:t>
            </a:r>
            <a:r>
              <a:rPr lang="zh-CN" altLang="en-US"/>
              <a:t>流程同步编排</a:t>
            </a:r>
            <a:r>
              <a:rPr lang="en-US" altLang="zh-CN"/>
              <a:t> </a:t>
            </a:r>
            <a:r>
              <a:rPr lang="zh-CN" altLang="en-US"/>
              <a:t>、</a:t>
            </a:r>
            <a:r>
              <a:rPr lang="en-US" altLang="zh-CN"/>
              <a:t> </a:t>
            </a:r>
            <a:r>
              <a:rPr lang="zh-CN" altLang="en-US">
                <a:sym typeface="+mn-ea"/>
              </a:rPr>
              <a:t>异步执行</a:t>
            </a:r>
            <a:r>
              <a:rPr lang="zh-CN" altLang="en-US"/>
              <a:t>、</a:t>
            </a:r>
            <a:r>
              <a:rPr lang="en-US" altLang="zh-CN"/>
              <a:t>C++</a:t>
            </a:r>
            <a:r>
              <a:rPr lang="zh-CN" altLang="en-US"/>
              <a:t>插件</a:t>
            </a:r>
            <a:endParaRPr lang="zh-CN" altLang="en-US"/>
          </a:p>
        </p:txBody>
      </p:sp>
      <p:graphicFrame>
        <p:nvGraphicFramePr>
          <p:cNvPr id="5" name="表格 4"/>
          <p:cNvGraphicFramePr/>
          <p:nvPr>
            <p:custDataLst>
              <p:tags r:id="rId1"/>
            </p:custDataLst>
          </p:nvPr>
        </p:nvGraphicFramePr>
        <p:xfrm>
          <a:off x="846455" y="2736215"/>
          <a:ext cx="4685030" cy="2361565"/>
        </p:xfrm>
        <a:graphic>
          <a:graphicData uri="http://schemas.openxmlformats.org/drawingml/2006/table">
            <a:tbl>
              <a:tblPr/>
              <a:tblGrid>
                <a:gridCol w="968375"/>
                <a:gridCol w="1880235"/>
                <a:gridCol w="1836420"/>
              </a:tblGrid>
              <a:tr h="450215">
                <a:tc>
                  <a:txBody>
                    <a:bodyPr/>
                    <a:p>
                      <a:pPr marL="54610" indent="0" algn="l" fontAlgn="base">
                        <a:spcAft>
                          <a:spcPts val="300"/>
                        </a:spcAft>
                        <a:buNone/>
                      </a:pPr>
                      <a:r>
                        <a:rPr lang="zh-CN" altLang="en-US" sz="1600" b="1" i="0">
                          <a:solidFill>
                            <a:srgbClr val="00B0F0"/>
                          </a:solidFill>
                        </a:rPr>
                        <a:t>编号</a:t>
                      </a:r>
                      <a:endParaRPr lang="zh-CN" altLang="en-US" sz="1600" b="1" i="0">
                        <a:solidFill>
                          <a:srgbClr val="00B0F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rgbClr val="EAFAF1"/>
                    </a:solidFill>
                  </a:tcPr>
                </a:tc>
                <a:tc>
                  <a:txBody>
                    <a:bodyPr/>
                    <a:p>
                      <a:pPr marL="54610" indent="0" algn="l" fontAlgn="base">
                        <a:spcAft>
                          <a:spcPts val="300"/>
                        </a:spcAft>
                      </a:pPr>
                      <a:r>
                        <a:rPr lang="zh-CN" altLang="en-US" sz="1600" b="1" i="0">
                          <a:solidFill>
                            <a:srgbClr val="00B0F0"/>
                          </a:solidFill>
                        </a:rPr>
                        <a:t>增加</a:t>
                      </a:r>
                      <a:r>
                        <a:rPr lang="en-US" altLang="zh-CN" sz="1600" b="1" i="0">
                          <a:solidFill>
                            <a:srgbClr val="00B0F0"/>
                          </a:solidFill>
                        </a:rPr>
                        <a:t>feature</a:t>
                      </a:r>
                      <a:endParaRPr lang="en-US" altLang="zh-CN" sz="1600" b="1" i="0">
                        <a:solidFill>
                          <a:srgbClr val="00B0F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rgbClr val="EAFAF1"/>
                    </a:solidFill>
                  </a:tcPr>
                </a:tc>
                <a:tc>
                  <a:txBody>
                    <a:bodyPr/>
                    <a:p>
                      <a:pPr marL="54610" indent="0" algn="l" fontAlgn="base">
                        <a:spcAft>
                          <a:spcPts val="300"/>
                        </a:spcAft>
                      </a:pPr>
                      <a:r>
                        <a:rPr lang="zh-CN" altLang="en-US" sz="1600" b="1" i="0">
                          <a:solidFill>
                            <a:srgbClr val="00B0F0"/>
                          </a:solidFill>
                        </a:rPr>
                        <a:t>功能</a:t>
                      </a:r>
                      <a:r>
                        <a:rPr lang="zh-CN" altLang="en-US" sz="1600" b="1" i="0">
                          <a:solidFill>
                            <a:srgbClr val="00B0F0"/>
                          </a:solidFill>
                        </a:rPr>
                        <a:t>点</a:t>
                      </a:r>
                      <a:endParaRPr lang="zh-CN" altLang="en-US" sz="1600" b="1" i="0">
                        <a:solidFill>
                          <a:srgbClr val="00B0F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rgbClr val="EAFAF1"/>
                    </a:solidFill>
                  </a:tcPr>
                </a:tc>
              </a:tr>
              <a:tr h="473075">
                <a:tc>
                  <a:txBody>
                    <a:bodyPr/>
                    <a:p>
                      <a:pPr marL="54610" indent="0" algn="l" fontAlgn="base">
                        <a:spcAft>
                          <a:spcPct val="0"/>
                        </a:spcAft>
                        <a:buNone/>
                      </a:pPr>
                      <a:r>
                        <a:rPr lang="en-US" altLang="zh-CN" sz="1600">
                          <a:sym typeface="+mn-ea"/>
                        </a:rPr>
                        <a:t>1</a:t>
                      </a:r>
                      <a:endParaRPr lang="en-US" altLang="zh-CN" sz="1600">
                        <a:sym typeface="+mn-ea"/>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ct val="0"/>
                        </a:spcAft>
                      </a:pPr>
                      <a:r>
                        <a:rPr lang="en-US" altLang="zh-CN" sz="1600">
                          <a:sym typeface="+mn-ea"/>
                        </a:rPr>
                        <a:t>Session</a:t>
                      </a:r>
                      <a:endParaRPr lang="zh-CN" altLang="en-US" sz="1600">
                        <a:sym typeface="+mn-ea"/>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ts val="300"/>
                        </a:spcAft>
                      </a:pPr>
                      <a:r>
                        <a:rPr lang="zh-CN" altLang="en-US" sz="1600" b="0" i="0">
                          <a:solidFill>
                            <a:srgbClr val="333333"/>
                          </a:solidFill>
                        </a:rPr>
                        <a:t>分布式服务无状态</a:t>
                      </a:r>
                      <a:endParaRPr lang="zh-CN" altLang="en-US"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r>
              <a:tr h="507365">
                <a:tc>
                  <a:txBody>
                    <a:bodyPr/>
                    <a:p>
                      <a:pPr marL="54610" indent="0" algn="l" fontAlgn="base">
                        <a:spcAft>
                          <a:spcPct val="0"/>
                        </a:spcAft>
                        <a:buNone/>
                      </a:pPr>
                      <a:r>
                        <a:rPr lang="en-US" altLang="zh-CN" sz="1600" b="0" i="0">
                          <a:solidFill>
                            <a:srgbClr val="000000"/>
                          </a:solidFill>
                        </a:rPr>
                        <a:t>2</a:t>
                      </a:r>
                      <a:endParaRPr lang="en-US" altLang="zh-CN"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ct val="0"/>
                        </a:spcAft>
                        <a:buNone/>
                      </a:pPr>
                      <a:r>
                        <a:rPr lang="zh-CN" altLang="en-US" sz="1600" b="0" i="0">
                          <a:solidFill>
                            <a:srgbClr val="000000"/>
                          </a:solidFill>
                        </a:rPr>
                        <a:t>内置状态机</a:t>
                      </a:r>
                      <a:endParaRPr lang="zh-CN" altLang="en-US"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ts val="300"/>
                        </a:spcAft>
                        <a:buNone/>
                      </a:pPr>
                      <a:r>
                        <a:rPr lang="zh-CN" altLang="en-US" sz="1600" b="0" i="0">
                          <a:solidFill>
                            <a:srgbClr val="333333"/>
                          </a:solidFill>
                        </a:rPr>
                        <a:t>轻量易</a:t>
                      </a:r>
                      <a:r>
                        <a:rPr lang="zh-CN" altLang="en-US" sz="1600" b="0" i="0">
                          <a:solidFill>
                            <a:srgbClr val="333333"/>
                          </a:solidFill>
                        </a:rPr>
                        <a:t>使用</a:t>
                      </a:r>
                      <a:endParaRPr lang="zh-CN" altLang="en-US"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r>
              <a:tr h="465455">
                <a:tc>
                  <a:txBody>
                    <a:bodyPr/>
                    <a:p>
                      <a:pPr marL="54610" indent="0" algn="l" fontAlgn="base">
                        <a:spcAft>
                          <a:spcPct val="0"/>
                        </a:spcAft>
                        <a:buNone/>
                      </a:pPr>
                      <a:r>
                        <a:rPr lang="en-US" altLang="zh-CN" sz="1600" b="0" i="0">
                          <a:solidFill>
                            <a:srgbClr val="000000"/>
                          </a:solidFill>
                        </a:rPr>
                        <a:t>3</a:t>
                      </a:r>
                      <a:endParaRPr lang="en-US" altLang="zh-CN"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ct val="0"/>
                        </a:spcAft>
                      </a:pPr>
                      <a:r>
                        <a:rPr lang="zh-CN" altLang="en-US" sz="1600" b="0" i="0">
                          <a:solidFill>
                            <a:srgbClr val="000000"/>
                          </a:solidFill>
                        </a:rPr>
                        <a:t>语法</a:t>
                      </a:r>
                      <a:r>
                        <a:rPr lang="zh-CN" altLang="en-US" sz="1600" b="0" i="0">
                          <a:solidFill>
                            <a:srgbClr val="000000"/>
                          </a:solidFill>
                        </a:rPr>
                        <a:t>扩展</a:t>
                      </a:r>
                      <a:endParaRPr lang="zh-CN" altLang="en-US"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ts val="300"/>
                        </a:spcAft>
                      </a:pPr>
                      <a:r>
                        <a:rPr lang="zh-CN" altLang="en-US" sz="1600" b="0" i="0">
                          <a:solidFill>
                            <a:srgbClr val="333333"/>
                          </a:solidFill>
                        </a:rPr>
                        <a:t>提升表达</a:t>
                      </a:r>
                      <a:r>
                        <a:rPr lang="zh-CN" altLang="en-US" sz="1600" b="0" i="0">
                          <a:solidFill>
                            <a:srgbClr val="333333"/>
                          </a:solidFill>
                        </a:rPr>
                        <a:t>能力</a:t>
                      </a:r>
                      <a:endParaRPr lang="zh-CN" altLang="en-US"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r>
              <a:tr h="465455">
                <a:tc>
                  <a:txBody>
                    <a:bodyPr/>
                    <a:p>
                      <a:pPr marL="54610" indent="0" algn="l" fontAlgn="base">
                        <a:spcAft>
                          <a:spcPct val="0"/>
                        </a:spcAft>
                        <a:buNone/>
                      </a:pPr>
                      <a:r>
                        <a:rPr lang="en-US" altLang="zh-CN" sz="1600" b="0" i="0">
                          <a:solidFill>
                            <a:srgbClr val="000000"/>
                          </a:solidFill>
                        </a:rPr>
                        <a:t>4</a:t>
                      </a:r>
                      <a:endParaRPr lang="en-US" altLang="zh-CN"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ct val="0"/>
                        </a:spcAft>
                        <a:buNone/>
                      </a:pPr>
                      <a:r>
                        <a:rPr lang="zh-CN" altLang="en-US" sz="1600" b="0" i="0">
                          <a:solidFill>
                            <a:srgbClr val="000000"/>
                          </a:solidFill>
                        </a:rPr>
                        <a:t>子</a:t>
                      </a:r>
                      <a:r>
                        <a:rPr lang="zh-CN" altLang="en-US" sz="1600" b="0" i="0">
                          <a:solidFill>
                            <a:srgbClr val="000000"/>
                          </a:solidFill>
                        </a:rPr>
                        <a:t>过程</a:t>
                      </a:r>
                      <a:endParaRPr lang="zh-CN" altLang="en-US"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ts val="300"/>
                        </a:spcAft>
                        <a:buNone/>
                      </a:pPr>
                      <a:r>
                        <a:rPr lang="zh-CN" altLang="en-US" sz="1600" b="0" i="0">
                          <a:solidFill>
                            <a:srgbClr val="333333"/>
                          </a:solidFill>
                        </a:rPr>
                        <a:t>流程复用</a:t>
                      </a:r>
                      <a:endParaRPr lang="zh-CN" altLang="en-US"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r>
            </a:tbl>
          </a:graphicData>
        </a:graphic>
      </p:graphicFrame>
      <p:sp>
        <p:nvSpPr>
          <p:cNvPr id="6" name="文本框 5"/>
          <p:cNvSpPr txBox="1"/>
          <p:nvPr/>
        </p:nvSpPr>
        <p:spPr>
          <a:xfrm>
            <a:off x="6357620" y="2021205"/>
            <a:ext cx="6092825" cy="368300"/>
          </a:xfrm>
          <a:prstGeom prst="rect">
            <a:avLst/>
          </a:prstGeom>
          <a:noFill/>
        </p:spPr>
        <p:txBody>
          <a:bodyPr wrap="square" rtlCol="0">
            <a:spAutoFit/>
          </a:bodyPr>
          <a:p>
            <a:r>
              <a:rPr lang="zh-CN" altLang="en-US"/>
              <a:t>特点：同步和异步编写、高容错</a:t>
            </a:r>
            <a:r>
              <a:rPr lang="zh-CN" altLang="en-US"/>
              <a:t>性</a:t>
            </a:r>
            <a:endParaRPr lang="zh-CN" altLang="en-US"/>
          </a:p>
        </p:txBody>
      </p:sp>
      <p:graphicFrame>
        <p:nvGraphicFramePr>
          <p:cNvPr id="7" name="表格 6"/>
          <p:cNvGraphicFramePr/>
          <p:nvPr>
            <p:custDataLst>
              <p:tags r:id="rId2"/>
            </p:custDataLst>
          </p:nvPr>
        </p:nvGraphicFramePr>
        <p:xfrm>
          <a:off x="6428740" y="2746375"/>
          <a:ext cx="4986020" cy="2350770"/>
        </p:xfrm>
        <a:graphic>
          <a:graphicData uri="http://schemas.openxmlformats.org/drawingml/2006/table">
            <a:tbl>
              <a:tblPr/>
              <a:tblGrid>
                <a:gridCol w="1029970"/>
                <a:gridCol w="1719580"/>
                <a:gridCol w="2236470"/>
              </a:tblGrid>
              <a:tr h="439420">
                <a:tc>
                  <a:txBody>
                    <a:bodyPr/>
                    <a:p>
                      <a:pPr marL="54610" indent="0" algn="l" fontAlgn="base">
                        <a:spcAft>
                          <a:spcPts val="300"/>
                        </a:spcAft>
                        <a:buNone/>
                      </a:pPr>
                      <a:r>
                        <a:rPr lang="zh-CN" altLang="en-US" sz="1600" b="1" i="0">
                          <a:solidFill>
                            <a:srgbClr val="00B0F0"/>
                          </a:solidFill>
                        </a:rPr>
                        <a:t>编号</a:t>
                      </a:r>
                      <a:endParaRPr lang="zh-CN" altLang="en-US" sz="1600" b="1" i="0">
                        <a:solidFill>
                          <a:srgbClr val="00B0F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rgbClr val="EAFAF1"/>
                    </a:solidFill>
                  </a:tcPr>
                </a:tc>
                <a:tc>
                  <a:txBody>
                    <a:bodyPr/>
                    <a:p>
                      <a:pPr marL="54610" indent="0" algn="l" fontAlgn="base">
                        <a:spcAft>
                          <a:spcPts val="300"/>
                        </a:spcAft>
                      </a:pPr>
                      <a:r>
                        <a:rPr lang="zh-CN" altLang="en-US" sz="1600" b="1" i="0">
                          <a:solidFill>
                            <a:srgbClr val="00B0F0"/>
                          </a:solidFill>
                        </a:rPr>
                        <a:t>增加</a:t>
                      </a:r>
                      <a:r>
                        <a:rPr lang="en-US" altLang="zh-CN" sz="1600" b="1" i="0">
                          <a:solidFill>
                            <a:srgbClr val="00B0F0"/>
                          </a:solidFill>
                        </a:rPr>
                        <a:t>feature</a:t>
                      </a:r>
                      <a:endParaRPr lang="en-US" altLang="zh-CN" sz="1600" b="1" i="0">
                        <a:solidFill>
                          <a:srgbClr val="00B0F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rgbClr val="EAFAF1"/>
                    </a:solidFill>
                  </a:tcPr>
                </a:tc>
                <a:tc>
                  <a:txBody>
                    <a:bodyPr/>
                    <a:p>
                      <a:pPr marL="54610" indent="0" algn="l" fontAlgn="base">
                        <a:spcAft>
                          <a:spcPts val="300"/>
                        </a:spcAft>
                      </a:pPr>
                      <a:r>
                        <a:rPr lang="zh-CN" altLang="en-US" sz="1600" b="1" i="0">
                          <a:solidFill>
                            <a:srgbClr val="00B0F0"/>
                          </a:solidFill>
                        </a:rPr>
                        <a:t>功能</a:t>
                      </a:r>
                      <a:r>
                        <a:rPr lang="zh-CN" altLang="en-US" sz="1600" b="1" i="0">
                          <a:solidFill>
                            <a:srgbClr val="00B0F0"/>
                          </a:solidFill>
                        </a:rPr>
                        <a:t>点</a:t>
                      </a:r>
                      <a:endParaRPr lang="zh-CN" altLang="en-US" sz="1600" b="1" i="0">
                        <a:solidFill>
                          <a:srgbClr val="00B0F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rgbClr val="EAFAF1"/>
                    </a:solidFill>
                  </a:tcPr>
                </a:tc>
              </a:tr>
              <a:tr h="473075">
                <a:tc>
                  <a:txBody>
                    <a:bodyPr/>
                    <a:p>
                      <a:pPr marL="54610" indent="0" algn="l" fontAlgn="base">
                        <a:spcAft>
                          <a:spcPct val="0"/>
                        </a:spcAft>
                        <a:buNone/>
                      </a:pPr>
                      <a:r>
                        <a:rPr lang="en-US" altLang="zh-CN" sz="1600">
                          <a:sym typeface="+mn-ea"/>
                        </a:rPr>
                        <a:t>1</a:t>
                      </a:r>
                      <a:endParaRPr lang="en-US" altLang="zh-CN" sz="1600">
                        <a:sym typeface="+mn-ea"/>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ct val="0"/>
                        </a:spcAft>
                      </a:pPr>
                      <a:r>
                        <a:rPr lang="en-US" altLang="zh-CN" sz="1600">
                          <a:sym typeface="+mn-ea"/>
                        </a:rPr>
                        <a:t>JDK8-&gt;JDK17</a:t>
                      </a:r>
                      <a:endParaRPr lang="zh-CN" altLang="en-US" sz="1600">
                        <a:sym typeface="+mn-ea"/>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ts val="300"/>
                        </a:spcAft>
                      </a:pPr>
                      <a:r>
                        <a:rPr lang="zh-CN" altLang="en-US" sz="1600" b="0" i="0">
                          <a:solidFill>
                            <a:srgbClr val="333333"/>
                          </a:solidFill>
                        </a:rPr>
                        <a:t>提升性能</a:t>
                      </a:r>
                      <a:endParaRPr lang="zh-CN" altLang="en-US"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r>
              <a:tr h="507365">
                <a:tc>
                  <a:txBody>
                    <a:bodyPr/>
                    <a:p>
                      <a:pPr marL="54610" indent="0" algn="l" fontAlgn="base">
                        <a:spcAft>
                          <a:spcPct val="0"/>
                        </a:spcAft>
                        <a:buNone/>
                      </a:pPr>
                      <a:r>
                        <a:rPr lang="en-US" altLang="zh-CN" sz="1600" b="0" i="0">
                          <a:solidFill>
                            <a:srgbClr val="000000"/>
                          </a:solidFill>
                        </a:rPr>
                        <a:t>2</a:t>
                      </a:r>
                      <a:endParaRPr lang="en-US" altLang="zh-CN"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ct val="0"/>
                        </a:spcAft>
                        <a:buNone/>
                      </a:pPr>
                      <a:r>
                        <a:rPr lang="zh-CN" altLang="en-US" sz="1600" b="0" i="0">
                          <a:solidFill>
                            <a:srgbClr val="000000"/>
                          </a:solidFill>
                        </a:rPr>
                        <a:t>接口契约</a:t>
                      </a:r>
                      <a:r>
                        <a:rPr lang="zh-CN" altLang="en-US" sz="1600" b="0" i="0">
                          <a:solidFill>
                            <a:srgbClr val="000000"/>
                          </a:solidFill>
                        </a:rPr>
                        <a:t>验证</a:t>
                      </a:r>
                      <a:endParaRPr lang="zh-CN" altLang="en-US"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ts val="300"/>
                        </a:spcAft>
                        <a:buNone/>
                      </a:pPr>
                      <a:r>
                        <a:rPr lang="zh-CN" altLang="en-US" sz="1600" b="0" i="0">
                          <a:solidFill>
                            <a:srgbClr val="333333"/>
                          </a:solidFill>
                        </a:rPr>
                        <a:t>内外部契约变更</a:t>
                      </a:r>
                      <a:r>
                        <a:rPr lang="zh-CN" altLang="en-US" sz="1600" b="0" i="0">
                          <a:solidFill>
                            <a:srgbClr val="333333"/>
                          </a:solidFill>
                        </a:rPr>
                        <a:t>感知</a:t>
                      </a:r>
                      <a:endParaRPr lang="zh-CN" altLang="en-US"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r>
              <a:tr h="465455">
                <a:tc>
                  <a:txBody>
                    <a:bodyPr/>
                    <a:p>
                      <a:pPr marL="54610" indent="0" algn="l" fontAlgn="base">
                        <a:spcAft>
                          <a:spcPct val="0"/>
                        </a:spcAft>
                        <a:buNone/>
                      </a:pPr>
                      <a:r>
                        <a:rPr lang="en-US" altLang="zh-CN" sz="1600" b="0" i="0">
                          <a:solidFill>
                            <a:srgbClr val="000000"/>
                          </a:solidFill>
                        </a:rPr>
                        <a:t>3</a:t>
                      </a:r>
                      <a:endParaRPr lang="en-US" altLang="zh-CN"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ct val="0"/>
                        </a:spcAft>
                      </a:pPr>
                      <a:r>
                        <a:rPr lang="zh-CN" altLang="en-US" sz="1600" b="0" i="0">
                          <a:solidFill>
                            <a:srgbClr val="000000"/>
                          </a:solidFill>
                        </a:rPr>
                        <a:t>分布式性质</a:t>
                      </a:r>
                      <a:r>
                        <a:rPr lang="zh-CN" altLang="en-US" sz="1600" b="0" i="0">
                          <a:solidFill>
                            <a:srgbClr val="000000"/>
                          </a:solidFill>
                        </a:rPr>
                        <a:t>判定</a:t>
                      </a:r>
                      <a:endParaRPr lang="zh-CN" altLang="en-US"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ts val="300"/>
                        </a:spcAft>
                      </a:pPr>
                      <a:r>
                        <a:rPr lang="zh-CN" altLang="en-US" sz="1600" b="0" i="0">
                          <a:solidFill>
                            <a:srgbClr val="333333"/>
                          </a:solidFill>
                        </a:rPr>
                        <a:t>安全性、活性、</a:t>
                      </a:r>
                      <a:r>
                        <a:rPr lang="zh-CN" altLang="en-US" sz="1600" b="0" i="0">
                          <a:solidFill>
                            <a:srgbClr val="333333"/>
                          </a:solidFill>
                        </a:rPr>
                        <a:t>公平性</a:t>
                      </a:r>
                      <a:endParaRPr lang="zh-CN" altLang="en-US"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r>
              <a:tr h="465455">
                <a:tc>
                  <a:txBody>
                    <a:bodyPr/>
                    <a:p>
                      <a:pPr marL="54610" indent="0" algn="l" fontAlgn="base">
                        <a:spcAft>
                          <a:spcPct val="0"/>
                        </a:spcAft>
                        <a:buNone/>
                      </a:pPr>
                      <a:r>
                        <a:rPr lang="en-US" altLang="zh-CN" sz="1600" b="0" i="0">
                          <a:solidFill>
                            <a:srgbClr val="000000"/>
                          </a:solidFill>
                        </a:rPr>
                        <a:t>4</a:t>
                      </a:r>
                      <a:endParaRPr lang="en-US" altLang="zh-CN"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ct val="0"/>
                        </a:spcAft>
                        <a:buNone/>
                      </a:pPr>
                      <a:r>
                        <a:rPr lang="zh-CN" altLang="en-US" sz="1600" b="0" i="0">
                          <a:solidFill>
                            <a:srgbClr val="000000"/>
                          </a:solidFill>
                        </a:rPr>
                        <a:t>知识</a:t>
                      </a:r>
                      <a:r>
                        <a:rPr lang="zh-CN" altLang="en-US" sz="1600" b="0" i="0">
                          <a:solidFill>
                            <a:srgbClr val="000000"/>
                          </a:solidFill>
                        </a:rPr>
                        <a:t>图谱</a:t>
                      </a:r>
                      <a:endParaRPr lang="zh-CN" altLang="en-US"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ts val="300"/>
                        </a:spcAft>
                        <a:buNone/>
                      </a:pPr>
                      <a:r>
                        <a:rPr lang="zh-CN" altLang="en-US" sz="1600" b="0" i="0">
                          <a:solidFill>
                            <a:srgbClr val="333333"/>
                          </a:solidFill>
                        </a:rPr>
                        <a:t>微服务知识</a:t>
                      </a:r>
                      <a:r>
                        <a:rPr lang="zh-CN" altLang="en-US" sz="1600" b="0" i="0">
                          <a:solidFill>
                            <a:srgbClr val="333333"/>
                          </a:solidFill>
                        </a:rPr>
                        <a:t>挖掘</a:t>
                      </a:r>
                      <a:endParaRPr lang="zh-CN" altLang="en-US"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r>
            </a:tbl>
          </a:graphicData>
        </a:graphic>
      </p:graphicFrame>
      <p:cxnSp>
        <p:nvCxnSpPr>
          <p:cNvPr id="8" name="直接连接符 7"/>
          <p:cNvCxnSpPr/>
          <p:nvPr/>
        </p:nvCxnSpPr>
        <p:spPr>
          <a:xfrm flipH="1">
            <a:off x="5959475" y="1464945"/>
            <a:ext cx="7620" cy="3784600"/>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9" name="文本框 8"/>
          <p:cNvSpPr txBox="1"/>
          <p:nvPr/>
        </p:nvSpPr>
        <p:spPr>
          <a:xfrm>
            <a:off x="3178810" y="5454015"/>
            <a:ext cx="6480810" cy="368300"/>
          </a:xfrm>
          <a:prstGeom prst="rect">
            <a:avLst/>
          </a:prstGeom>
          <a:noFill/>
        </p:spPr>
        <p:txBody>
          <a:bodyPr wrap="square" rtlCol="0">
            <a:spAutoFit/>
          </a:bodyPr>
          <a:p>
            <a:r>
              <a:rPr lang="zh-CN" altLang="en-US"/>
              <a:t>研究领域：数据分析、服务治理、支付结算、金融</a:t>
            </a:r>
            <a:r>
              <a:rPr lang="zh-CN" altLang="en-US"/>
              <a:t>科技</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4020185" y="1092200"/>
            <a:ext cx="3987800" cy="3357245"/>
          </a:xfrm>
          <a:prstGeom prst="rect">
            <a:avLst/>
          </a:prstGeom>
          <a:solidFill>
            <a:schemeClr val="bg1">
              <a:alpha val="50000"/>
            </a:schemeClr>
          </a:solidFill>
          <a:ln w="9525">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椭圆 7"/>
          <p:cNvSpPr/>
          <p:nvPr/>
        </p:nvSpPr>
        <p:spPr>
          <a:xfrm>
            <a:off x="4314190" y="1171575"/>
            <a:ext cx="2252345" cy="2261235"/>
          </a:xfrm>
          <a:prstGeom prst="ellipse">
            <a:avLst/>
          </a:prstGeom>
          <a:solidFill>
            <a:schemeClr val="accent1">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9" name="椭圆 8"/>
          <p:cNvSpPr/>
          <p:nvPr/>
        </p:nvSpPr>
        <p:spPr>
          <a:xfrm>
            <a:off x="5408295" y="1130300"/>
            <a:ext cx="2252345" cy="2261235"/>
          </a:xfrm>
          <a:prstGeom prst="ellipse">
            <a:avLst/>
          </a:prstGeom>
          <a:solidFill>
            <a:schemeClr val="accent5">
              <a:alpha val="50000"/>
            </a:schemeClr>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10" name="椭圆 9"/>
          <p:cNvSpPr/>
          <p:nvPr/>
        </p:nvSpPr>
        <p:spPr>
          <a:xfrm>
            <a:off x="4815205" y="2101215"/>
            <a:ext cx="2252345" cy="2261235"/>
          </a:xfrm>
          <a:prstGeom prst="ellipse">
            <a:avLst/>
          </a:prstGeom>
          <a:solidFill>
            <a:schemeClr val="accent6">
              <a:lumMod val="40000"/>
              <a:lumOff val="60000"/>
              <a:alpha val="50000"/>
            </a:schemeClr>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endParaRPr>
          </a:p>
        </p:txBody>
      </p:sp>
      <p:sp>
        <p:nvSpPr>
          <p:cNvPr id="3" name="圆角矩形 2"/>
          <p:cNvSpPr/>
          <p:nvPr/>
        </p:nvSpPr>
        <p:spPr>
          <a:xfrm>
            <a:off x="604520" y="1279525"/>
            <a:ext cx="1748790" cy="1307465"/>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APP</a:t>
            </a:r>
            <a:r>
              <a:rPr lang="zh-CN" altLang="en-US">
                <a:solidFill>
                  <a:schemeClr val="tx1"/>
                </a:solidFill>
              </a:rPr>
              <a:t>应用</a:t>
            </a:r>
            <a:endParaRPr lang="zh-CN" altLang="en-US">
              <a:solidFill>
                <a:schemeClr val="tx1"/>
              </a:solidFill>
            </a:endParaRPr>
          </a:p>
        </p:txBody>
      </p:sp>
      <p:sp>
        <p:nvSpPr>
          <p:cNvPr id="6" name="圆角矩形 5"/>
          <p:cNvSpPr/>
          <p:nvPr/>
        </p:nvSpPr>
        <p:spPr>
          <a:xfrm>
            <a:off x="604520" y="3054985"/>
            <a:ext cx="1748790" cy="1307465"/>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安全网关</a:t>
            </a:r>
            <a:endParaRPr lang="zh-CN" altLang="en-US">
              <a:solidFill>
                <a:schemeClr val="tx1"/>
              </a:solidFill>
            </a:endParaRPr>
          </a:p>
        </p:txBody>
      </p:sp>
      <p:sp>
        <p:nvSpPr>
          <p:cNvPr id="7" name="文本框 6"/>
          <p:cNvSpPr txBox="1"/>
          <p:nvPr/>
        </p:nvSpPr>
        <p:spPr>
          <a:xfrm>
            <a:off x="4550410" y="1753235"/>
            <a:ext cx="1019175" cy="368300"/>
          </a:xfrm>
          <a:prstGeom prst="rect">
            <a:avLst/>
          </a:prstGeom>
          <a:noFill/>
        </p:spPr>
        <p:txBody>
          <a:bodyPr wrap="square" rtlCol="0">
            <a:spAutoFit/>
          </a:bodyPr>
          <a:p>
            <a:r>
              <a:rPr lang="zh-CN" altLang="en-US"/>
              <a:t>大模型</a:t>
            </a:r>
            <a:endParaRPr lang="zh-CN" altLang="en-US"/>
          </a:p>
        </p:txBody>
      </p:sp>
      <p:sp>
        <p:nvSpPr>
          <p:cNvPr id="11" name="文本框 10"/>
          <p:cNvSpPr txBox="1"/>
          <p:nvPr/>
        </p:nvSpPr>
        <p:spPr>
          <a:xfrm>
            <a:off x="6527165" y="1722755"/>
            <a:ext cx="1019175" cy="368300"/>
          </a:xfrm>
          <a:prstGeom prst="rect">
            <a:avLst/>
          </a:prstGeom>
          <a:noFill/>
        </p:spPr>
        <p:txBody>
          <a:bodyPr wrap="square" rtlCol="0">
            <a:spAutoFit/>
          </a:bodyPr>
          <a:p>
            <a:r>
              <a:rPr lang="zh-CN" altLang="en-US"/>
              <a:t>大</a:t>
            </a:r>
            <a:r>
              <a:rPr lang="zh-CN" altLang="en-US"/>
              <a:t>数据</a:t>
            </a:r>
            <a:endParaRPr lang="zh-CN" altLang="en-US"/>
          </a:p>
        </p:txBody>
      </p:sp>
      <p:sp>
        <p:nvSpPr>
          <p:cNvPr id="12" name="文本框 11"/>
          <p:cNvSpPr txBox="1"/>
          <p:nvPr/>
        </p:nvSpPr>
        <p:spPr>
          <a:xfrm>
            <a:off x="5540375" y="3516630"/>
            <a:ext cx="1019175" cy="368300"/>
          </a:xfrm>
          <a:prstGeom prst="rect">
            <a:avLst/>
          </a:prstGeom>
          <a:noFill/>
        </p:spPr>
        <p:txBody>
          <a:bodyPr wrap="square" rtlCol="0">
            <a:spAutoFit/>
          </a:bodyPr>
          <a:p>
            <a:r>
              <a:rPr lang="zh-CN" altLang="en-US"/>
              <a:t>微服务</a:t>
            </a:r>
            <a:endParaRPr lang="zh-CN" altLang="en-US"/>
          </a:p>
        </p:txBody>
      </p:sp>
      <p:cxnSp>
        <p:nvCxnSpPr>
          <p:cNvPr id="13" name="直接箭头连接符 12"/>
          <p:cNvCxnSpPr/>
          <p:nvPr/>
        </p:nvCxnSpPr>
        <p:spPr>
          <a:xfrm flipV="1">
            <a:off x="2353310" y="3700145"/>
            <a:ext cx="1645285" cy="4445"/>
          </a:xfrm>
          <a:prstGeom prst="straightConnector1">
            <a:avLst/>
          </a:prstGeom>
          <a:ln w="38100">
            <a:solidFill>
              <a:schemeClr val="bg1">
                <a:lumMod val="85000"/>
              </a:schemeClr>
            </a:solidFill>
            <a:tailEnd type="arrow"/>
          </a:ln>
        </p:spPr>
        <p:style>
          <a:lnRef idx="2">
            <a:schemeClr val="accent1"/>
          </a:lnRef>
          <a:fillRef idx="0">
            <a:srgbClr val="FFFFFF"/>
          </a:fillRef>
          <a:effectRef idx="0">
            <a:srgbClr val="FFFFFF"/>
          </a:effectRef>
          <a:fontRef idx="minor">
            <a:schemeClr val="tx1"/>
          </a:fontRef>
        </p:style>
      </p:cxnSp>
      <p:sp>
        <p:nvSpPr>
          <p:cNvPr id="14" name="圆角矩形 13"/>
          <p:cNvSpPr/>
          <p:nvPr/>
        </p:nvSpPr>
        <p:spPr>
          <a:xfrm>
            <a:off x="506730" y="4541520"/>
            <a:ext cx="11012170" cy="679450"/>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编程语言</a:t>
            </a:r>
            <a:endParaRPr lang="en-US" altLang="zh-CN" sz="3600">
              <a:solidFill>
                <a:schemeClr val="tx1"/>
              </a:solidFill>
            </a:endParaRPr>
          </a:p>
        </p:txBody>
      </p:sp>
      <p:sp>
        <p:nvSpPr>
          <p:cNvPr id="15" name="圆角矩形 14"/>
          <p:cNvSpPr/>
          <p:nvPr/>
        </p:nvSpPr>
        <p:spPr>
          <a:xfrm>
            <a:off x="9640570" y="3054350"/>
            <a:ext cx="1748790" cy="1307465"/>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DEVOPS</a:t>
            </a:r>
            <a:endParaRPr lang="en-US" altLang="zh-CN">
              <a:solidFill>
                <a:schemeClr val="tx1"/>
              </a:solidFill>
            </a:endParaRPr>
          </a:p>
        </p:txBody>
      </p:sp>
      <p:cxnSp>
        <p:nvCxnSpPr>
          <p:cNvPr id="16" name="直接箭头连接符 15"/>
          <p:cNvCxnSpPr/>
          <p:nvPr/>
        </p:nvCxnSpPr>
        <p:spPr>
          <a:xfrm flipH="1">
            <a:off x="8040370" y="3708400"/>
            <a:ext cx="1600200" cy="2540"/>
          </a:xfrm>
          <a:prstGeom prst="straightConnector1">
            <a:avLst/>
          </a:prstGeom>
          <a:ln w="38100">
            <a:solidFill>
              <a:schemeClr val="bg1">
                <a:lumMod val="85000"/>
              </a:schemeClr>
            </a:solidFill>
            <a:tailEnd type="arrow"/>
          </a:ln>
        </p:spPr>
        <p:style>
          <a:lnRef idx="2">
            <a:schemeClr val="accent1"/>
          </a:lnRef>
          <a:fillRef idx="0">
            <a:srgbClr val="FFFFFF"/>
          </a:fillRef>
          <a:effectRef idx="0">
            <a:srgbClr val="FFFFFF"/>
          </a:effectRef>
          <a:fontRef idx="minor">
            <a:schemeClr val="tx1"/>
          </a:fontRef>
        </p:style>
      </p:cxnSp>
      <p:sp>
        <p:nvSpPr>
          <p:cNvPr id="17" name="圆角矩形 16"/>
          <p:cNvSpPr/>
          <p:nvPr/>
        </p:nvSpPr>
        <p:spPr>
          <a:xfrm>
            <a:off x="507365" y="5292090"/>
            <a:ext cx="11011535" cy="679450"/>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操作系统</a:t>
            </a:r>
            <a:endParaRPr lang="zh-CN" altLang="en-US">
              <a:solidFill>
                <a:schemeClr val="tx1"/>
              </a:solidFill>
            </a:endParaRPr>
          </a:p>
        </p:txBody>
      </p:sp>
      <p:sp>
        <p:nvSpPr>
          <p:cNvPr id="36" name="textbox 36"/>
          <p:cNvSpPr/>
          <p:nvPr/>
        </p:nvSpPr>
        <p:spPr>
          <a:xfrm>
            <a:off x="638675" y="462368"/>
            <a:ext cx="5855334" cy="431800"/>
          </a:xfrm>
          <a:prstGeom prst="rect">
            <a:avLst/>
          </a:prstGeom>
          <a:noFill/>
          <a:ln w="0" cap="flat">
            <a:noFill/>
            <a:prstDash val="solid"/>
            <a:miter lim="0"/>
          </a:ln>
        </p:spPr>
        <p:txBody>
          <a:bodyPr vert="horz" wrap="square" lIns="0" tIns="0" rIns="0" bIns="0"/>
          <a:lstStyle/>
          <a:p>
            <a:pPr algn="l" rtl="0" eaLnBrk="0">
              <a:lnSpc>
                <a:spcPct val="75000"/>
              </a:lnSpc>
            </a:pPr>
            <a:endParaRPr sz="100" dirty="0">
              <a:latin typeface="Arial" panose="020B0604020202020204"/>
              <a:ea typeface="Arial" panose="020B0604020202020204"/>
              <a:cs typeface="Arial" panose="020B0604020202020204"/>
            </a:endParaRPr>
          </a:p>
          <a:p>
            <a:pPr marL="12700" algn="l" rtl="0" eaLnBrk="0">
              <a:lnSpc>
                <a:spcPct val="99000"/>
              </a:lnSpc>
            </a:pPr>
            <a:r>
              <a:rPr 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一</a:t>
            </a:r>
            <a:r>
              <a:rPr lang="en-US" alt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 </a:t>
            </a:r>
            <a:r>
              <a:rPr 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微服务</a:t>
            </a:r>
            <a:r>
              <a:rPr 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体系</a:t>
            </a:r>
            <a:endParaRPr 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endParaRPr>
          </a:p>
        </p:txBody>
      </p:sp>
      <p:sp>
        <p:nvSpPr>
          <p:cNvPr id="2" name="圆角矩形 1"/>
          <p:cNvSpPr/>
          <p:nvPr/>
        </p:nvSpPr>
        <p:spPr>
          <a:xfrm>
            <a:off x="9640570" y="1283970"/>
            <a:ext cx="1748790" cy="1373505"/>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数据</a:t>
            </a:r>
            <a:endParaRPr lang="zh-CN" altLang="en-US">
              <a:solidFill>
                <a:schemeClr val="tx1"/>
              </a:solidFill>
            </a:endParaRPr>
          </a:p>
          <a:p>
            <a:pPr algn="ctr"/>
            <a:r>
              <a:rPr lang="zh-CN" altLang="en-US">
                <a:solidFill>
                  <a:schemeClr val="tx1"/>
                </a:solidFill>
              </a:rPr>
              <a:t>中间件</a:t>
            </a:r>
            <a:endParaRPr lang="zh-CN" altLang="en-US">
              <a:solidFill>
                <a:schemeClr val="tx1"/>
              </a:solidFill>
            </a:endParaRPr>
          </a:p>
        </p:txBody>
      </p:sp>
      <p:cxnSp>
        <p:nvCxnSpPr>
          <p:cNvPr id="4" name="直接箭头连接符 3"/>
          <p:cNvCxnSpPr>
            <a:stCxn id="2" idx="1"/>
          </p:cNvCxnSpPr>
          <p:nvPr/>
        </p:nvCxnSpPr>
        <p:spPr>
          <a:xfrm flipH="1" flipV="1">
            <a:off x="8029575" y="1961515"/>
            <a:ext cx="1610995" cy="9525"/>
          </a:xfrm>
          <a:prstGeom prst="straightConnector1">
            <a:avLst/>
          </a:prstGeom>
          <a:ln w="38100">
            <a:solidFill>
              <a:schemeClr val="bg1">
                <a:lumMod val="85000"/>
              </a:schemeClr>
            </a:solidFill>
            <a:tailEnd type="arrow"/>
          </a:ln>
        </p:spPr>
        <p:style>
          <a:lnRef idx="2">
            <a:schemeClr val="accent1"/>
          </a:lnRef>
          <a:fillRef idx="0">
            <a:srgbClr val="FFFFFF"/>
          </a:fillRef>
          <a:effectRef idx="0">
            <a:srgbClr val="FFFFFF"/>
          </a:effectRef>
          <a:fontRef idx="minor">
            <a:schemeClr val="tx1"/>
          </a:fontRef>
        </p:style>
      </p:cxnSp>
      <p:cxnSp>
        <p:nvCxnSpPr>
          <p:cNvPr id="18" name="直接箭头连接符 17"/>
          <p:cNvCxnSpPr>
            <a:stCxn id="3" idx="2"/>
            <a:endCxn id="6" idx="0"/>
          </p:cNvCxnSpPr>
          <p:nvPr/>
        </p:nvCxnSpPr>
        <p:spPr>
          <a:xfrm>
            <a:off x="1478915" y="2586990"/>
            <a:ext cx="0" cy="467995"/>
          </a:xfrm>
          <a:prstGeom prst="straightConnector1">
            <a:avLst/>
          </a:prstGeom>
          <a:ln w="38100">
            <a:solidFill>
              <a:schemeClr val="bg1">
                <a:lumMod val="85000"/>
              </a:schemeClr>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六边形 2"/>
          <p:cNvSpPr/>
          <p:nvPr/>
        </p:nvSpPr>
        <p:spPr>
          <a:xfrm>
            <a:off x="2519680" y="3025140"/>
            <a:ext cx="1523365" cy="1232535"/>
          </a:xfrm>
          <a:prstGeom prst="hexagon">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分布式</a:t>
            </a:r>
            <a:endParaRPr lang="zh-CN" altLang="en-US">
              <a:solidFill>
                <a:schemeClr val="tx1"/>
              </a:solidFill>
            </a:endParaRPr>
          </a:p>
        </p:txBody>
      </p:sp>
      <p:sp>
        <p:nvSpPr>
          <p:cNvPr id="9" name="六边形 8"/>
          <p:cNvSpPr/>
          <p:nvPr/>
        </p:nvSpPr>
        <p:spPr>
          <a:xfrm>
            <a:off x="3862705" y="2367915"/>
            <a:ext cx="1523365" cy="1232535"/>
          </a:xfrm>
          <a:prstGeom prst="hexagon">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技术</a:t>
            </a:r>
            <a:endParaRPr lang="zh-CN" altLang="en-US">
              <a:solidFill>
                <a:schemeClr val="tx1"/>
              </a:solidFill>
            </a:endParaRPr>
          </a:p>
          <a:p>
            <a:pPr algn="ctr"/>
            <a:r>
              <a:rPr lang="zh-CN" altLang="en-US">
                <a:solidFill>
                  <a:schemeClr val="tx1"/>
                </a:solidFill>
              </a:rPr>
              <a:t>异构</a:t>
            </a:r>
            <a:endParaRPr lang="zh-CN" altLang="en-US">
              <a:solidFill>
                <a:schemeClr val="tx1"/>
              </a:solidFill>
            </a:endParaRPr>
          </a:p>
        </p:txBody>
      </p:sp>
      <p:sp>
        <p:nvSpPr>
          <p:cNvPr id="10" name="六边形 9"/>
          <p:cNvSpPr/>
          <p:nvPr/>
        </p:nvSpPr>
        <p:spPr>
          <a:xfrm>
            <a:off x="3872865" y="3727450"/>
            <a:ext cx="1523365" cy="1232535"/>
          </a:xfrm>
          <a:prstGeom prst="hexagon">
            <a:avLst/>
          </a:prstGeom>
          <a:solidFill>
            <a:schemeClr val="accent5">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水平</a:t>
            </a:r>
            <a:endParaRPr lang="zh-CN" altLang="en-US">
              <a:solidFill>
                <a:schemeClr val="tx1"/>
              </a:solidFill>
            </a:endParaRPr>
          </a:p>
          <a:p>
            <a:pPr algn="ctr"/>
            <a:r>
              <a:rPr lang="zh-CN" altLang="en-US">
                <a:solidFill>
                  <a:schemeClr val="tx1"/>
                </a:solidFill>
              </a:rPr>
              <a:t>扩展</a:t>
            </a:r>
            <a:endParaRPr lang="zh-CN" altLang="en-US">
              <a:solidFill>
                <a:schemeClr val="tx1"/>
              </a:solidFill>
            </a:endParaRPr>
          </a:p>
        </p:txBody>
      </p:sp>
      <p:sp>
        <p:nvSpPr>
          <p:cNvPr id="11" name="六边形 10"/>
          <p:cNvSpPr/>
          <p:nvPr/>
        </p:nvSpPr>
        <p:spPr>
          <a:xfrm>
            <a:off x="2519680" y="4391025"/>
            <a:ext cx="1523365" cy="1232535"/>
          </a:xfrm>
          <a:prstGeom prst="hexagon">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独立</a:t>
            </a:r>
            <a:endParaRPr lang="zh-CN" altLang="en-US">
              <a:solidFill>
                <a:schemeClr val="tx1"/>
              </a:solidFill>
            </a:endParaRPr>
          </a:p>
          <a:p>
            <a:pPr algn="ctr"/>
            <a:r>
              <a:rPr lang="zh-CN" altLang="en-US">
                <a:solidFill>
                  <a:schemeClr val="tx1"/>
                </a:solidFill>
              </a:rPr>
              <a:t>部署</a:t>
            </a:r>
            <a:endParaRPr lang="zh-CN" altLang="en-US">
              <a:solidFill>
                <a:schemeClr val="tx1"/>
              </a:solidFill>
            </a:endParaRPr>
          </a:p>
        </p:txBody>
      </p:sp>
      <p:sp>
        <p:nvSpPr>
          <p:cNvPr id="12" name="六边形 11"/>
          <p:cNvSpPr/>
          <p:nvPr/>
        </p:nvSpPr>
        <p:spPr>
          <a:xfrm>
            <a:off x="1195705" y="3727450"/>
            <a:ext cx="1523365" cy="1232535"/>
          </a:xfrm>
          <a:prstGeom prst="hexagon">
            <a:avLst/>
          </a:prstGeom>
          <a:solidFill>
            <a:schemeClr val="accent5">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服务</a:t>
            </a:r>
            <a:endParaRPr lang="zh-CN" altLang="en-US">
              <a:solidFill>
                <a:schemeClr val="tx1"/>
              </a:solidFill>
            </a:endParaRPr>
          </a:p>
          <a:p>
            <a:pPr algn="ctr"/>
            <a:r>
              <a:rPr lang="zh-CN" altLang="en-US">
                <a:solidFill>
                  <a:schemeClr val="tx1"/>
                </a:solidFill>
              </a:rPr>
              <a:t>协</a:t>
            </a:r>
            <a:r>
              <a:rPr lang="zh-CN" altLang="en-US">
                <a:solidFill>
                  <a:schemeClr val="tx1"/>
                </a:solidFill>
              </a:rPr>
              <a:t>作</a:t>
            </a:r>
            <a:endParaRPr lang="zh-CN" altLang="en-US">
              <a:solidFill>
                <a:schemeClr val="tx1"/>
              </a:solidFill>
            </a:endParaRPr>
          </a:p>
        </p:txBody>
      </p:sp>
      <p:sp>
        <p:nvSpPr>
          <p:cNvPr id="13" name="六边形 12"/>
          <p:cNvSpPr/>
          <p:nvPr/>
        </p:nvSpPr>
        <p:spPr>
          <a:xfrm>
            <a:off x="1195705" y="2367915"/>
            <a:ext cx="1523365" cy="1232535"/>
          </a:xfrm>
          <a:prstGeom prst="hexagon">
            <a:avLst/>
          </a:prstGeom>
          <a:solidFill>
            <a:schemeClr val="accent6">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轻量</a:t>
            </a:r>
            <a:endParaRPr lang="zh-CN" altLang="en-US">
              <a:solidFill>
                <a:schemeClr val="tx1"/>
              </a:solidFill>
            </a:endParaRPr>
          </a:p>
          <a:p>
            <a:pPr algn="ctr"/>
            <a:r>
              <a:rPr lang="zh-CN" altLang="en-US">
                <a:solidFill>
                  <a:schemeClr val="tx1"/>
                </a:solidFill>
              </a:rPr>
              <a:t>通信</a:t>
            </a:r>
            <a:endParaRPr lang="zh-CN" altLang="en-US">
              <a:solidFill>
                <a:schemeClr val="tx1"/>
              </a:solidFill>
            </a:endParaRPr>
          </a:p>
        </p:txBody>
      </p:sp>
      <p:sp>
        <p:nvSpPr>
          <p:cNvPr id="36" name="textbox 36"/>
          <p:cNvSpPr/>
          <p:nvPr/>
        </p:nvSpPr>
        <p:spPr>
          <a:xfrm>
            <a:off x="742180" y="438238"/>
            <a:ext cx="5855334" cy="431800"/>
          </a:xfrm>
          <a:prstGeom prst="rect">
            <a:avLst/>
          </a:prstGeom>
          <a:noFill/>
          <a:ln w="0" cap="flat">
            <a:noFill/>
            <a:prstDash val="solid"/>
            <a:miter lim="0"/>
          </a:ln>
        </p:spPr>
        <p:txBody>
          <a:bodyPr vert="horz" wrap="square" lIns="0" tIns="0" rIns="0" bIns="0"/>
          <a:p>
            <a:pPr algn="l" rtl="0" eaLnBrk="0">
              <a:lnSpc>
                <a:spcPct val="75000"/>
              </a:lnSpc>
            </a:pPr>
            <a:endParaRPr sz="100" dirty="0">
              <a:latin typeface="Arial" panose="020B0604020202020204"/>
              <a:ea typeface="Arial" panose="020B0604020202020204"/>
              <a:cs typeface="Arial" panose="020B0604020202020204"/>
            </a:endParaRPr>
          </a:p>
          <a:p>
            <a:pPr marL="12700" algn="l" rtl="0" eaLnBrk="0">
              <a:lnSpc>
                <a:spcPct val="99000"/>
              </a:lnSpc>
            </a:pPr>
            <a:r>
              <a:rPr 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微服务特点与</a:t>
            </a:r>
            <a:r>
              <a:rPr 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发展</a:t>
            </a:r>
            <a:endParaRPr 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endParaRPr>
          </a:p>
        </p:txBody>
      </p:sp>
      <p:sp>
        <p:nvSpPr>
          <p:cNvPr id="2" name="文本占位符 1"/>
          <p:cNvSpPr>
            <a:spLocks noGrp="1"/>
          </p:cNvSpPr>
          <p:nvPr>
            <p:ph type="body" idx="1"/>
          </p:nvPr>
        </p:nvSpPr>
        <p:spPr>
          <a:xfrm>
            <a:off x="608400" y="1091380"/>
            <a:ext cx="5342400" cy="381600"/>
          </a:xfrm>
        </p:spPr>
        <p:txBody>
          <a:bodyPr>
            <a:noAutofit/>
          </a:bodyPr>
          <a:p>
            <a:r>
              <a:rPr lang="zh-CN" altLang="en-US" sz="2300" b="1"/>
              <a:t>微服务特点</a:t>
            </a:r>
            <a:endParaRPr lang="zh-CN" altLang="en-US" sz="2300" b="1"/>
          </a:p>
        </p:txBody>
      </p:sp>
      <p:sp>
        <p:nvSpPr>
          <p:cNvPr id="4" name="文本占位符 1"/>
          <p:cNvSpPr>
            <a:spLocks noGrp="1"/>
          </p:cNvSpPr>
          <p:nvPr/>
        </p:nvSpPr>
        <p:spPr>
          <a:xfrm>
            <a:off x="5950655" y="1429835"/>
            <a:ext cx="5342400" cy="381600"/>
          </a:xfrm>
          <a:prstGeom prst="rect">
            <a:avLst/>
          </a:prstGeom>
        </p:spPr>
        <p:txBody>
          <a:bodyPr vert="horz" lIns="90000" tIns="46800" rIns="90000" bIns="46800" rtlCol="0">
            <a:normAutofit fontScale="90000" lnSpcReduction="2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5" name="文本占位符 1"/>
          <p:cNvSpPr>
            <a:spLocks noGrp="1"/>
          </p:cNvSpPr>
          <p:nvPr/>
        </p:nvSpPr>
        <p:spPr>
          <a:xfrm>
            <a:off x="5950655" y="1081220"/>
            <a:ext cx="5342400" cy="381600"/>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300" b="1"/>
              <a:t>发展趋势</a:t>
            </a:r>
            <a:r>
              <a:rPr lang="zh-CN" altLang="en-US" sz="2300"/>
              <a:t>（开放化</a:t>
            </a:r>
            <a:r>
              <a:rPr lang="en-US" altLang="zh-CN" sz="2300"/>
              <a:t>+</a:t>
            </a:r>
            <a:r>
              <a:rPr lang="zh-CN" altLang="en-US" sz="2300"/>
              <a:t>智能</a:t>
            </a:r>
            <a:r>
              <a:rPr lang="zh-CN" altLang="en-US" sz="2300"/>
              <a:t>化）</a:t>
            </a:r>
            <a:endParaRPr lang="zh-CN" altLang="en-US" sz="2300"/>
          </a:p>
        </p:txBody>
      </p:sp>
      <p:sp>
        <p:nvSpPr>
          <p:cNvPr id="6" name="六边形 5"/>
          <p:cNvSpPr/>
          <p:nvPr/>
        </p:nvSpPr>
        <p:spPr>
          <a:xfrm>
            <a:off x="2519680" y="1659255"/>
            <a:ext cx="1523365" cy="1232535"/>
          </a:xfrm>
          <a:prstGeom prst="hexagon">
            <a:avLst/>
          </a:prstGeom>
          <a:solidFill>
            <a:schemeClr val="accent5">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服务</a:t>
            </a:r>
            <a:endParaRPr lang="zh-CN" altLang="en-US">
              <a:solidFill>
                <a:schemeClr val="tx1"/>
              </a:solidFill>
            </a:endParaRPr>
          </a:p>
          <a:p>
            <a:pPr algn="ctr"/>
            <a:r>
              <a:rPr lang="zh-CN" altLang="en-US">
                <a:solidFill>
                  <a:schemeClr val="tx1"/>
                </a:solidFill>
              </a:rPr>
              <a:t>鲁棒</a:t>
            </a:r>
            <a:endParaRPr lang="zh-CN" altLang="en-US">
              <a:solidFill>
                <a:schemeClr val="tx1"/>
              </a:solidFill>
            </a:endParaRPr>
          </a:p>
        </p:txBody>
      </p:sp>
      <p:sp>
        <p:nvSpPr>
          <p:cNvPr id="18" name="文本框 17"/>
          <p:cNvSpPr txBox="1"/>
          <p:nvPr/>
        </p:nvSpPr>
        <p:spPr>
          <a:xfrm>
            <a:off x="6073775" y="1971040"/>
            <a:ext cx="5476875" cy="3415030"/>
          </a:xfrm>
          <a:prstGeom prst="rect">
            <a:avLst/>
          </a:prstGeom>
          <a:noFill/>
        </p:spPr>
        <p:txBody>
          <a:bodyPr wrap="square" rtlCol="0">
            <a:spAutoFit/>
          </a:bodyPr>
          <a:p>
            <a:pPr marL="457200" indent="-457200" fontAlgn="auto">
              <a:lnSpc>
                <a:spcPct val="200000"/>
              </a:lnSpc>
              <a:buFont typeface="+mj-ea"/>
              <a:buAutoNum type="circleNumDbPlain"/>
            </a:pPr>
            <a:r>
              <a:rPr lang="zh-CN" altLang="en-US" sz="2400">
                <a:latin typeface="微软雅黑" panose="020B0503020204020204" charset="-122"/>
                <a:ea typeface="微软雅黑" panose="020B0503020204020204" charset="-122"/>
                <a:cs typeface="宋体" panose="02010600030101010101" pitchFamily="2" charset="-122"/>
              </a:rPr>
              <a:t>技术融合</a:t>
            </a:r>
            <a:endParaRPr lang="zh-CN" altLang="en-US" sz="2400">
              <a:latin typeface="微软雅黑" panose="020B0503020204020204" charset="-122"/>
              <a:ea typeface="微软雅黑" panose="020B0503020204020204" charset="-122"/>
              <a:cs typeface="宋体" panose="02010600030101010101" pitchFamily="2" charset="-122"/>
            </a:endParaRPr>
          </a:p>
          <a:p>
            <a:pPr marL="457200" indent="-457200" fontAlgn="auto">
              <a:lnSpc>
                <a:spcPct val="200000"/>
              </a:lnSpc>
              <a:buFont typeface="+mj-ea"/>
              <a:buAutoNum type="circleNumDbPlain"/>
            </a:pPr>
            <a:r>
              <a:rPr lang="zh-CN" altLang="en-US" sz="2400">
                <a:latin typeface="微软雅黑" panose="020B0503020204020204" charset="-122"/>
                <a:ea typeface="微软雅黑" panose="020B0503020204020204" charset="-122"/>
                <a:cs typeface="宋体" panose="02010600030101010101" pitchFamily="2" charset="-122"/>
              </a:rPr>
              <a:t>多语言支持</a:t>
            </a:r>
            <a:endParaRPr lang="zh-CN" altLang="en-US" sz="2400">
              <a:latin typeface="微软雅黑" panose="020B0503020204020204" charset="-122"/>
              <a:ea typeface="微软雅黑" panose="020B0503020204020204" charset="-122"/>
              <a:cs typeface="宋体" panose="02010600030101010101" pitchFamily="2" charset="-122"/>
            </a:endParaRPr>
          </a:p>
          <a:p>
            <a:pPr marL="457200" indent="-457200" fontAlgn="auto">
              <a:lnSpc>
                <a:spcPct val="200000"/>
              </a:lnSpc>
              <a:buFont typeface="+mj-ea"/>
              <a:buAutoNum type="circleNumDbPlain"/>
            </a:pPr>
            <a:r>
              <a:rPr lang="zh-CN" altLang="en-US" sz="2400">
                <a:latin typeface="微软雅黑" panose="020B0503020204020204" charset="-122"/>
                <a:ea typeface="微软雅黑" panose="020B0503020204020204" charset="-122"/>
                <a:cs typeface="微软雅黑" panose="020B0503020204020204" charset="-122"/>
                <a:sym typeface="+mn-ea"/>
              </a:rPr>
              <a:t>开源生态</a:t>
            </a:r>
            <a:endParaRPr lang="zh-CN" altLang="en-US" sz="2400">
              <a:latin typeface="微软雅黑" panose="020B0503020204020204" charset="-122"/>
              <a:ea typeface="微软雅黑" panose="020B0503020204020204" charset="-122"/>
              <a:cs typeface="宋体" panose="02010600030101010101" pitchFamily="2" charset="-122"/>
            </a:endParaRPr>
          </a:p>
          <a:p>
            <a:pPr marL="457200" indent="-457200" fontAlgn="auto">
              <a:lnSpc>
                <a:spcPct val="200000"/>
              </a:lnSpc>
              <a:buFont typeface="+mj-ea"/>
              <a:buAutoNum type="circleNumDbPlain"/>
            </a:pPr>
            <a:r>
              <a:rPr lang="zh-CN" altLang="en-US" sz="2400">
                <a:latin typeface="微软雅黑" panose="020B0503020204020204" charset="-122"/>
                <a:ea typeface="微软雅黑" panose="020B0503020204020204" charset="-122"/>
                <a:cs typeface="宋体" panose="02010600030101010101" pitchFamily="2" charset="-122"/>
              </a:rPr>
              <a:t>安全与性能</a:t>
            </a:r>
            <a:endParaRPr lang="zh-CN" altLang="en-US" sz="2400">
              <a:latin typeface="微软雅黑" panose="020B0503020204020204" charset="-122"/>
              <a:ea typeface="微软雅黑" panose="020B0503020204020204" charset="-122"/>
              <a:cs typeface="宋体" panose="02010600030101010101" pitchFamily="2" charset="-122"/>
            </a:endParaRPr>
          </a:p>
          <a:p>
            <a:pPr marL="285750" indent="-285750">
              <a:buFont typeface="Wingdings" panose="05000000000000000000" charset="0"/>
              <a:buChar char="Ø"/>
            </a:pPr>
            <a:endParaRPr lang="zh-CN" altLang="en-US" sz="2400">
              <a:latin typeface="微软雅黑" panose="020B0503020204020204" charset="-122"/>
              <a:ea typeface="微软雅黑" panose="020B0503020204020204" charset="-122"/>
              <a:cs typeface="宋体" panose="02010600030101010101" pitchFamily="2" charset="-122"/>
            </a:endParaRPr>
          </a:p>
        </p:txBody>
      </p:sp>
      <p:sp>
        <p:nvSpPr>
          <p:cNvPr id="19" name="文本框 18"/>
          <p:cNvSpPr txBox="1"/>
          <p:nvPr/>
        </p:nvSpPr>
        <p:spPr>
          <a:xfrm>
            <a:off x="8888730" y="1977390"/>
            <a:ext cx="2966085" cy="3046095"/>
          </a:xfrm>
          <a:prstGeom prst="rect">
            <a:avLst/>
          </a:prstGeom>
          <a:noFill/>
        </p:spPr>
        <p:txBody>
          <a:bodyPr wrap="square" rtlCol="0" anchor="t">
            <a:spAutoFit/>
          </a:bodyPr>
          <a:p>
            <a:pPr marL="457200" indent="-457200" fontAlgn="auto">
              <a:lnSpc>
                <a:spcPct val="200000"/>
              </a:lnSpc>
              <a:buFont typeface="+mj-ea"/>
              <a:buAutoNum type="circleNumDbPlain" startAt="5"/>
            </a:pPr>
            <a:r>
              <a:rPr lang="zh-CN" altLang="en-US" sz="2400">
                <a:latin typeface="微软雅黑" panose="020B0503020204020204" charset="-122"/>
                <a:ea typeface="微软雅黑" panose="020B0503020204020204" charset="-122"/>
                <a:cs typeface="微软雅黑" panose="020B0503020204020204" charset="-122"/>
                <a:sym typeface="+mn-ea"/>
              </a:rPr>
              <a:t>低代码</a:t>
            </a:r>
            <a:r>
              <a:rPr lang="zh-CN" altLang="en-US" sz="2400">
                <a:latin typeface="微软雅黑" panose="020B0503020204020204" charset="-122"/>
                <a:ea typeface="微软雅黑" panose="020B0503020204020204" charset="-122"/>
                <a:cs typeface="微软雅黑" panose="020B0503020204020204" charset="-122"/>
                <a:sym typeface="+mn-ea"/>
              </a:rPr>
              <a:t>平台</a:t>
            </a:r>
            <a:endParaRPr lang="zh-CN" altLang="en-US" sz="2400">
              <a:latin typeface="微软雅黑" panose="020B0503020204020204" charset="-122"/>
              <a:ea typeface="微软雅黑" panose="020B0503020204020204" charset="-122"/>
              <a:cs typeface="微软雅黑" panose="020B0503020204020204" charset="-122"/>
              <a:sym typeface="+mn-ea"/>
            </a:endParaRPr>
          </a:p>
          <a:p>
            <a:pPr marL="457200" indent="-457200" fontAlgn="auto">
              <a:lnSpc>
                <a:spcPct val="200000"/>
              </a:lnSpc>
              <a:buFont typeface="+mj-ea"/>
              <a:buAutoNum type="circleNumDbPlain" startAt="5"/>
            </a:pPr>
            <a:r>
              <a:rPr lang="zh-CN" altLang="en-US" sz="2400">
                <a:latin typeface="微软雅黑" panose="020B0503020204020204" charset="-122"/>
                <a:ea typeface="微软雅黑" panose="020B0503020204020204" charset="-122"/>
                <a:cs typeface="微软雅黑" panose="020B0503020204020204" charset="-122"/>
                <a:sym typeface="+mn-ea"/>
              </a:rPr>
              <a:t>产业数字化渗透</a:t>
            </a:r>
            <a:endParaRPr lang="zh-CN" altLang="en-US" sz="2400">
              <a:latin typeface="微软雅黑" panose="020B0503020204020204" charset="-122"/>
              <a:ea typeface="微软雅黑" panose="020B0503020204020204" charset="-122"/>
              <a:cs typeface="微软雅黑" panose="020B0503020204020204" charset="-122"/>
            </a:endParaRPr>
          </a:p>
          <a:p>
            <a:pPr marL="457200" indent="-457200" fontAlgn="auto">
              <a:lnSpc>
                <a:spcPct val="200000"/>
              </a:lnSpc>
              <a:buFont typeface="+mj-ea"/>
              <a:buAutoNum type="circleNumDbPlain" startAt="5"/>
            </a:pPr>
            <a:r>
              <a:rPr lang="zh-CN" altLang="en-US" sz="2400">
                <a:latin typeface="微软雅黑" panose="020B0503020204020204" charset="-122"/>
                <a:ea typeface="微软雅黑" panose="020B0503020204020204" charset="-122"/>
                <a:cs typeface="微软雅黑" panose="020B0503020204020204" charset="-122"/>
                <a:sym typeface="+mn-ea"/>
              </a:rPr>
              <a:t>服务标准化</a:t>
            </a:r>
            <a:endParaRPr lang="zh-CN" altLang="en-US" sz="2400">
              <a:latin typeface="微软雅黑" panose="020B0503020204020204" charset="-122"/>
              <a:ea typeface="微软雅黑" panose="020B0503020204020204" charset="-122"/>
              <a:cs typeface="微软雅黑" panose="020B0503020204020204" charset="-122"/>
            </a:endParaRPr>
          </a:p>
          <a:p>
            <a:pPr marL="457200" indent="-457200" fontAlgn="auto">
              <a:lnSpc>
                <a:spcPct val="200000"/>
              </a:lnSpc>
              <a:buFont typeface="+mj-ea"/>
              <a:buAutoNum type="circleNumDbPlain" startAt="5"/>
            </a:pPr>
            <a:r>
              <a:rPr lang="en-US" altLang="zh-CN" sz="2400">
                <a:latin typeface="微软雅黑" panose="020B0503020204020204" charset="-122"/>
                <a:ea typeface="微软雅黑" panose="020B0503020204020204" charset="-122"/>
                <a:cs typeface="微软雅黑" panose="020B0503020204020204" charset="-122"/>
                <a:sym typeface="+mn-ea"/>
              </a:rPr>
              <a:t>AI</a:t>
            </a:r>
            <a:r>
              <a:rPr lang="zh-CN" altLang="en-US" sz="2400">
                <a:latin typeface="微软雅黑" panose="020B0503020204020204" charset="-122"/>
                <a:ea typeface="微软雅黑" panose="020B0503020204020204" charset="-122"/>
                <a:cs typeface="微软雅黑" panose="020B0503020204020204" charset="-122"/>
                <a:sym typeface="+mn-ea"/>
              </a:rPr>
              <a:t>集成</a:t>
            </a:r>
            <a:endParaRPr lang="zh-CN" altLang="en-US" sz="2400">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2519680" y="1323340"/>
            <a:ext cx="1641475" cy="368300"/>
          </a:xfrm>
          <a:prstGeom prst="rect">
            <a:avLst/>
          </a:prstGeom>
          <a:noFill/>
        </p:spPr>
        <p:txBody>
          <a:bodyPr wrap="square" rtlCol="0">
            <a:spAutoFit/>
          </a:bodyPr>
          <a:p>
            <a:r>
              <a:rPr lang="en-US" altLang="zh-CN" b="1"/>
              <a:t>24</a:t>
            </a:r>
            <a:r>
              <a:rPr lang="zh-CN" altLang="en-US" b="1"/>
              <a:t>小时不间断</a:t>
            </a:r>
            <a:endParaRPr lang="zh-CN" altLang="en-US" b="1"/>
          </a:p>
        </p:txBody>
      </p:sp>
      <p:sp>
        <p:nvSpPr>
          <p:cNvPr id="8" name="文本框 7"/>
          <p:cNvSpPr txBox="1"/>
          <p:nvPr/>
        </p:nvSpPr>
        <p:spPr>
          <a:xfrm>
            <a:off x="4073525" y="2030095"/>
            <a:ext cx="1224280" cy="368300"/>
          </a:xfrm>
          <a:prstGeom prst="rect">
            <a:avLst/>
          </a:prstGeom>
          <a:noFill/>
        </p:spPr>
        <p:txBody>
          <a:bodyPr wrap="square" rtlCol="0">
            <a:spAutoFit/>
          </a:bodyPr>
          <a:p>
            <a:r>
              <a:rPr lang="zh-CN" altLang="en-US" b="1"/>
              <a:t>海量应用</a:t>
            </a:r>
            <a:endParaRPr lang="zh-CN" altLang="en-US"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32"/>
          <p:cNvPicPr>
            <a:picLocks noChangeAspect="1"/>
          </p:cNvPicPr>
          <p:nvPr/>
        </p:nvPicPr>
        <p:blipFill>
          <a:blip r:embed="rId1"/>
          <a:stretch>
            <a:fillRect/>
          </a:stretch>
        </p:blipFill>
        <p:spPr>
          <a:xfrm rot="21600000">
            <a:off x="791210" y="2582545"/>
            <a:ext cx="10850245" cy="534670"/>
          </a:xfrm>
          <a:prstGeom prst="rect">
            <a:avLst/>
          </a:prstGeom>
        </p:spPr>
      </p:pic>
      <p:pic>
        <p:nvPicPr>
          <p:cNvPr id="32" name="picture 32"/>
          <p:cNvPicPr>
            <a:picLocks noChangeAspect="1"/>
          </p:cNvPicPr>
          <p:nvPr/>
        </p:nvPicPr>
        <p:blipFill>
          <a:blip r:embed="rId1"/>
          <a:stretch>
            <a:fillRect/>
          </a:stretch>
        </p:blipFill>
        <p:spPr>
          <a:xfrm rot="21600000">
            <a:off x="791210" y="1255395"/>
            <a:ext cx="10850245" cy="534670"/>
          </a:xfrm>
          <a:prstGeom prst="rect">
            <a:avLst/>
          </a:prstGeom>
        </p:spPr>
      </p:pic>
      <p:sp>
        <p:nvSpPr>
          <p:cNvPr id="36" name="textbox 36"/>
          <p:cNvSpPr/>
          <p:nvPr/>
        </p:nvSpPr>
        <p:spPr>
          <a:xfrm>
            <a:off x="742315" y="438150"/>
            <a:ext cx="8158480" cy="431800"/>
          </a:xfrm>
          <a:prstGeom prst="rect">
            <a:avLst/>
          </a:prstGeom>
          <a:noFill/>
          <a:ln w="0" cap="flat">
            <a:noFill/>
            <a:prstDash val="solid"/>
            <a:miter lim="0"/>
          </a:ln>
        </p:spPr>
        <p:txBody>
          <a:bodyPr vert="horz" wrap="square" lIns="0" tIns="0" rIns="0" bIns="0"/>
          <a:p>
            <a:pPr algn="l" rtl="0" eaLnBrk="0">
              <a:lnSpc>
                <a:spcPct val="75000"/>
              </a:lnSpc>
            </a:pPr>
            <a:endParaRPr sz="100" dirty="0">
              <a:latin typeface="Arial" panose="020B0604020202020204"/>
              <a:ea typeface="Arial" panose="020B0604020202020204"/>
              <a:cs typeface="Arial" panose="020B0604020202020204"/>
            </a:endParaRPr>
          </a:p>
          <a:p>
            <a:pPr marL="12700" algn="l" rtl="0" eaLnBrk="0">
              <a:lnSpc>
                <a:spcPct val="99000"/>
              </a:lnSpc>
            </a:pPr>
            <a:r>
              <a:rPr 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为什么选择仓颉语言</a:t>
            </a:r>
            <a:r>
              <a:rPr 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开发微服务</a:t>
            </a:r>
            <a:endParaRPr 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endParaRPr>
          </a:p>
        </p:txBody>
      </p:sp>
      <p:sp>
        <p:nvSpPr>
          <p:cNvPr id="4" name="文本占位符 1"/>
          <p:cNvSpPr>
            <a:spLocks noGrp="1"/>
          </p:cNvSpPr>
          <p:nvPr/>
        </p:nvSpPr>
        <p:spPr>
          <a:xfrm>
            <a:off x="5870645" y="1289500"/>
            <a:ext cx="5342400" cy="381600"/>
          </a:xfrm>
          <a:prstGeom prst="rect">
            <a:avLst/>
          </a:prstGeom>
        </p:spPr>
        <p:txBody>
          <a:bodyPr vert="horz" lIns="90000" tIns="46800" rIns="90000" bIns="46800" rtlCol="0">
            <a:normAutofit fontScale="90000" lnSpcReduction="2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zh-CN" altLang="en-US"/>
          </a:p>
        </p:txBody>
      </p:sp>
      <p:sp>
        <p:nvSpPr>
          <p:cNvPr id="17" name="文本框 16"/>
          <p:cNvSpPr txBox="1"/>
          <p:nvPr/>
        </p:nvSpPr>
        <p:spPr>
          <a:xfrm>
            <a:off x="791210" y="1351915"/>
            <a:ext cx="10629900" cy="337185"/>
          </a:xfrm>
          <a:prstGeom prst="rect">
            <a:avLst/>
          </a:prstGeom>
          <a:noFill/>
        </p:spPr>
        <p:txBody>
          <a:bodyPr wrap="square" rtlCol="0" anchor="t">
            <a:spAutoFit/>
          </a:bodyPr>
          <a:p>
            <a:r>
              <a:rPr lang="en-US" altLang="zh-CN" sz="1600">
                <a:solidFill>
                  <a:schemeClr val="bg1"/>
                </a:solidFill>
                <a:latin typeface="微软雅黑" panose="020B0503020204020204" charset="-122"/>
                <a:ea typeface="微软雅黑" panose="020B0503020204020204" charset="-122"/>
                <a:cs typeface="微软雅黑" panose="020B0503020204020204" charset="-122"/>
                <a:sym typeface="+mn-ea"/>
              </a:rPr>
              <a:t>Q1.</a:t>
            </a: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随仓颉语言发展，</a:t>
            </a:r>
            <a:r>
              <a:rPr sz="1600">
                <a:solidFill>
                  <a:schemeClr val="bg1"/>
                </a:solidFill>
                <a:latin typeface="微软雅黑" panose="020B0503020204020204" charset="-122"/>
                <a:ea typeface="微软雅黑" panose="020B0503020204020204" charset="-122"/>
                <a:cs typeface="微软雅黑" panose="020B0503020204020204" charset="-122"/>
                <a:sym typeface="+mn-ea"/>
              </a:rPr>
              <a:t>预计将涌现出一系列覆盖不同领域的专用库</a:t>
            </a: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，如何集成到服务端？</a:t>
            </a:r>
            <a:endPar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8" name="文本框 17"/>
          <p:cNvSpPr txBox="1"/>
          <p:nvPr/>
        </p:nvSpPr>
        <p:spPr>
          <a:xfrm>
            <a:off x="720090" y="1870710"/>
            <a:ext cx="10850245" cy="583565"/>
          </a:xfrm>
          <a:prstGeom prst="rect">
            <a:avLst/>
          </a:prstGeom>
          <a:noFill/>
        </p:spPr>
        <p:txBody>
          <a:bodyPr wrap="square" rtlCol="0" anchor="t">
            <a:spAutoFit/>
          </a:bodyPr>
          <a:p>
            <a:pPr marL="285750" indent="-285750">
              <a:buFont typeface="Wingdings" panose="05000000000000000000" charset="0"/>
              <a:buChar char="Ø"/>
            </a:pPr>
            <a:r>
              <a:rPr lang="zh-CN" altLang="en-US" sz="1600" b="1">
                <a:solidFill>
                  <a:srgbClr val="00B0F0"/>
                </a:solidFill>
                <a:latin typeface="微软雅黑" panose="020B0503020204020204" charset="-122"/>
                <a:ea typeface="微软雅黑" panose="020B0503020204020204" charset="-122"/>
                <a:cs typeface="微软雅黑" panose="020B0503020204020204" charset="-122"/>
                <a:sym typeface="+mn-ea"/>
              </a:rPr>
              <a:t>优秀库集成</a:t>
            </a:r>
            <a:endParaRPr lang="zh-CN" altLang="en-US" sz="1600" b="1">
              <a:solidFill>
                <a:srgbClr val="00B0F0"/>
              </a:solidFill>
              <a:latin typeface="微软雅黑" panose="020B0503020204020204" charset="-122"/>
              <a:ea typeface="微软雅黑" panose="020B0503020204020204" charset="-122"/>
              <a:cs typeface="微软雅黑" panose="020B0503020204020204" charset="-122"/>
              <a:sym typeface="+mn-ea"/>
            </a:endParaRPr>
          </a:p>
          <a:p>
            <a:r>
              <a:rPr lang="zh-CN" altLang="en-US" sz="1600">
                <a:latin typeface="微软雅黑" panose="020B0503020204020204" charset="-122"/>
                <a:ea typeface="微软雅黑" panose="020B0503020204020204" charset="-122"/>
                <a:cs typeface="微软雅黑" panose="020B0503020204020204" charset="-122"/>
                <a:sym typeface="+mn-ea"/>
              </a:rPr>
              <a:t>开发一个全新服务框架，该框架将原生支持仓颉语言，从而避免了二次开发的繁琐过程</a:t>
            </a:r>
            <a:endParaRPr lang="zh-CN" altLang="en-US" sz="1600">
              <a:latin typeface="微软雅黑" panose="020B0503020204020204" charset="-122"/>
              <a:ea typeface="微软雅黑" panose="020B0503020204020204" charset="-122"/>
              <a:cs typeface="微软雅黑" panose="020B0503020204020204" charset="-122"/>
              <a:sym typeface="+mn-ea"/>
            </a:endParaRPr>
          </a:p>
        </p:txBody>
      </p:sp>
      <p:sp>
        <p:nvSpPr>
          <p:cNvPr id="19" name="文本框 18"/>
          <p:cNvSpPr txBox="1"/>
          <p:nvPr/>
        </p:nvSpPr>
        <p:spPr>
          <a:xfrm>
            <a:off x="791210" y="2668270"/>
            <a:ext cx="10779125" cy="337185"/>
          </a:xfrm>
          <a:prstGeom prst="rect">
            <a:avLst/>
          </a:prstGeom>
          <a:noFill/>
        </p:spPr>
        <p:txBody>
          <a:bodyPr wrap="square" rtlCol="0" anchor="t">
            <a:spAutoFit/>
          </a:bodyPr>
          <a:p>
            <a:r>
              <a:rPr lang="en-US" altLang="zh-CN" sz="1600">
                <a:solidFill>
                  <a:schemeClr val="bg1"/>
                </a:solidFill>
                <a:latin typeface="微软雅黑" panose="020B0503020204020204" charset="-122"/>
                <a:ea typeface="微软雅黑" panose="020B0503020204020204" charset="-122"/>
                <a:cs typeface="微软雅黑" panose="020B0503020204020204" charset="-122"/>
                <a:sym typeface="+mn-ea"/>
              </a:rPr>
              <a:t>Q2.</a:t>
            </a: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微服务的技术异构特性要求我们根据不同的技术栈来开发相应的微服务。那么，开发新服务，这种必要性有多大呢？</a:t>
            </a:r>
            <a:endPar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0" name="文本框 19"/>
          <p:cNvSpPr txBox="1"/>
          <p:nvPr/>
        </p:nvSpPr>
        <p:spPr>
          <a:xfrm>
            <a:off x="709295" y="2999740"/>
            <a:ext cx="11179810" cy="829945"/>
          </a:xfrm>
          <a:prstGeom prst="rect">
            <a:avLst/>
          </a:prstGeom>
          <a:noFill/>
        </p:spPr>
        <p:txBody>
          <a:bodyPr wrap="square" rtlCol="0" anchor="t">
            <a:spAutoFit/>
          </a:bodyPr>
          <a:p>
            <a:endParaRPr lang="zh-CN" altLang="en-US" sz="1600">
              <a:solidFill>
                <a:srgbClr val="00B0F0"/>
              </a:solidFill>
              <a:latin typeface="微软雅黑" panose="020B0503020204020204" charset="-122"/>
              <a:ea typeface="微软雅黑" panose="020B0503020204020204" charset="-122"/>
              <a:cs typeface="微软雅黑" panose="020B0503020204020204" charset="-122"/>
              <a:sym typeface="+mn-ea"/>
            </a:endParaRPr>
          </a:p>
          <a:p>
            <a:pPr marL="285750" indent="-285750">
              <a:buFont typeface="Wingdings" panose="05000000000000000000" charset="0"/>
              <a:buChar char="Ø"/>
            </a:pPr>
            <a:r>
              <a:rPr lang="zh-CN" altLang="en-US" sz="1600" b="1">
                <a:solidFill>
                  <a:srgbClr val="00B0F0"/>
                </a:solidFill>
                <a:latin typeface="微软雅黑" panose="020B0503020204020204" charset="-122"/>
                <a:ea typeface="微软雅黑" panose="020B0503020204020204" charset="-122"/>
                <a:cs typeface="微软雅黑" panose="020B0503020204020204" charset="-122"/>
                <a:sym typeface="+mn-ea"/>
              </a:rPr>
              <a:t>新语言特性</a:t>
            </a:r>
            <a:endParaRPr lang="zh-CN" altLang="en-US" sz="1600" b="1">
              <a:solidFill>
                <a:srgbClr val="00B0F0"/>
              </a:solidFill>
              <a:latin typeface="微软雅黑" panose="020B0503020204020204" charset="-122"/>
              <a:ea typeface="微软雅黑" panose="020B0503020204020204" charset="-122"/>
              <a:cs typeface="微软雅黑" panose="020B0503020204020204" charset="-122"/>
              <a:sym typeface="+mn-ea"/>
            </a:endParaRPr>
          </a:p>
          <a:p>
            <a:r>
              <a:rPr lang="zh-CN" altLang="en-US" sz="1600">
                <a:latin typeface="微软雅黑" panose="020B0503020204020204" charset="-122"/>
                <a:ea typeface="微软雅黑" panose="020B0503020204020204" charset="-122"/>
                <a:cs typeface="微软雅黑" panose="020B0503020204020204" charset="-122"/>
                <a:sym typeface="+mn-ea"/>
              </a:rPr>
              <a:t>按应用场景特点选择不同语言及技术栈，并采用轻量级协议和开放式的服务</a:t>
            </a:r>
            <a:r>
              <a:rPr lang="zh-CN" altLang="en-US" sz="1600">
                <a:latin typeface="微软雅黑" panose="020B0503020204020204" charset="-122"/>
                <a:ea typeface="微软雅黑" panose="020B0503020204020204" charset="-122"/>
                <a:cs typeface="微软雅黑" panose="020B0503020204020204" charset="-122"/>
                <a:sym typeface="+mn-ea"/>
              </a:rPr>
              <a:t>体系，可以构建出更加灵活、高效的微服务架构</a:t>
            </a:r>
            <a:endParaRPr lang="zh-CN" altLang="en-US" sz="1600">
              <a:latin typeface="微软雅黑" panose="020B0503020204020204" charset="-122"/>
              <a:ea typeface="微软雅黑" panose="020B0503020204020204" charset="-122"/>
              <a:cs typeface="微软雅黑" panose="020B0503020204020204" charset="-122"/>
              <a:sym typeface="+mn-ea"/>
            </a:endParaRPr>
          </a:p>
        </p:txBody>
      </p:sp>
      <p:pic>
        <p:nvPicPr>
          <p:cNvPr id="21" name="picture 32"/>
          <p:cNvPicPr>
            <a:picLocks noChangeAspect="1"/>
          </p:cNvPicPr>
          <p:nvPr/>
        </p:nvPicPr>
        <p:blipFill>
          <a:blip r:embed="rId1"/>
          <a:stretch>
            <a:fillRect/>
          </a:stretch>
        </p:blipFill>
        <p:spPr>
          <a:xfrm rot="21600000">
            <a:off x="791210" y="4019550"/>
            <a:ext cx="10850245" cy="534670"/>
          </a:xfrm>
          <a:prstGeom prst="rect">
            <a:avLst/>
          </a:prstGeom>
        </p:spPr>
      </p:pic>
      <p:sp>
        <p:nvSpPr>
          <p:cNvPr id="22" name="文本框 21"/>
          <p:cNvSpPr txBox="1"/>
          <p:nvPr/>
        </p:nvSpPr>
        <p:spPr>
          <a:xfrm>
            <a:off x="791210" y="4105275"/>
            <a:ext cx="10779125" cy="337185"/>
          </a:xfrm>
          <a:prstGeom prst="rect">
            <a:avLst/>
          </a:prstGeom>
          <a:noFill/>
        </p:spPr>
        <p:txBody>
          <a:bodyPr wrap="square" rtlCol="0" anchor="t">
            <a:spAutoFit/>
          </a:bodyPr>
          <a:p>
            <a:r>
              <a:rPr lang="en-US" altLang="zh-CN" sz="1600">
                <a:solidFill>
                  <a:schemeClr val="bg1"/>
                </a:solidFill>
                <a:latin typeface="微软雅黑" panose="020B0503020204020204" charset="-122"/>
                <a:ea typeface="微软雅黑" panose="020B0503020204020204" charset="-122"/>
                <a:cs typeface="微软雅黑" panose="020B0503020204020204" charset="-122"/>
                <a:sym typeface="+mn-ea"/>
              </a:rPr>
              <a:t>Q3.</a:t>
            </a: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随开发人员技能沉淀，有无必要提供对应的服务</a:t>
            </a: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来支持？</a:t>
            </a:r>
            <a:endPar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3" name="文本框 22"/>
          <p:cNvSpPr txBox="1"/>
          <p:nvPr/>
        </p:nvSpPr>
        <p:spPr>
          <a:xfrm>
            <a:off x="709295" y="4436745"/>
            <a:ext cx="11179810" cy="829945"/>
          </a:xfrm>
          <a:prstGeom prst="rect">
            <a:avLst/>
          </a:prstGeom>
          <a:noFill/>
        </p:spPr>
        <p:txBody>
          <a:bodyPr wrap="square" rtlCol="0" anchor="t">
            <a:spAutoFit/>
          </a:bodyPr>
          <a:p>
            <a:endParaRPr lang="zh-CN" altLang="en-US" sz="1600">
              <a:solidFill>
                <a:srgbClr val="00B0F0"/>
              </a:solidFill>
              <a:latin typeface="微软雅黑" panose="020B0503020204020204" charset="-122"/>
              <a:ea typeface="微软雅黑" panose="020B0503020204020204" charset="-122"/>
              <a:cs typeface="微软雅黑" panose="020B0503020204020204" charset="-122"/>
              <a:sym typeface="+mn-ea"/>
            </a:endParaRPr>
          </a:p>
          <a:p>
            <a:pPr marL="285750" indent="-285750">
              <a:buFont typeface="Wingdings" panose="05000000000000000000" charset="0"/>
              <a:buChar char="Ø"/>
            </a:pPr>
            <a:r>
              <a:rPr lang="zh-CN" altLang="en-US" sz="1600" b="1">
                <a:solidFill>
                  <a:srgbClr val="00B0F0"/>
                </a:solidFill>
                <a:latin typeface="微软雅黑" panose="020B0503020204020204" charset="-122"/>
                <a:ea typeface="微软雅黑" panose="020B0503020204020204" charset="-122"/>
                <a:cs typeface="微软雅黑" panose="020B0503020204020204" charset="-122"/>
                <a:sym typeface="+mn-ea"/>
              </a:rPr>
              <a:t>开发人员</a:t>
            </a:r>
            <a:r>
              <a:rPr lang="zh-CN" altLang="en-US" sz="1600" b="1">
                <a:solidFill>
                  <a:srgbClr val="00B0F0"/>
                </a:solidFill>
                <a:latin typeface="微软雅黑" panose="020B0503020204020204" charset="-122"/>
                <a:ea typeface="微软雅黑" panose="020B0503020204020204" charset="-122"/>
                <a:cs typeface="微软雅黑" panose="020B0503020204020204" charset="-122"/>
                <a:sym typeface="+mn-ea"/>
              </a:rPr>
              <a:t>友好</a:t>
            </a:r>
            <a:endParaRPr lang="zh-CN" altLang="en-US" sz="1600" b="1">
              <a:solidFill>
                <a:srgbClr val="00B0F0"/>
              </a:solidFill>
              <a:latin typeface="微软雅黑" panose="020B0503020204020204" charset="-122"/>
              <a:ea typeface="微软雅黑" panose="020B0503020204020204" charset="-122"/>
              <a:cs typeface="微软雅黑" panose="020B0503020204020204" charset="-122"/>
              <a:sym typeface="+mn-ea"/>
            </a:endParaRPr>
          </a:p>
          <a:p>
            <a:r>
              <a:rPr lang="zh-CN" altLang="en-US" sz="1600">
                <a:latin typeface="微软雅黑" panose="020B0503020204020204" charset="-122"/>
                <a:ea typeface="微软雅黑" panose="020B0503020204020204" charset="-122"/>
                <a:cs typeface="微软雅黑" panose="020B0503020204020204" charset="-122"/>
                <a:sym typeface="+mn-ea"/>
              </a:rPr>
              <a:t>参照</a:t>
            </a:r>
            <a:r>
              <a:rPr lang="en-US" altLang="zh-CN" sz="1600">
                <a:latin typeface="微软雅黑" panose="020B0503020204020204" charset="-122"/>
                <a:ea typeface="微软雅黑" panose="020B0503020204020204" charset="-122"/>
                <a:cs typeface="微软雅黑" panose="020B0503020204020204" charset="-122"/>
                <a:sym typeface="+mn-ea"/>
              </a:rPr>
              <a:t>nodejs</a:t>
            </a:r>
            <a:r>
              <a:rPr lang="zh-CN" altLang="en-US" sz="1600">
                <a:latin typeface="微软雅黑" panose="020B0503020204020204" charset="-122"/>
                <a:ea typeface="微软雅黑" panose="020B0503020204020204" charset="-122"/>
                <a:cs typeface="微软雅黑" panose="020B0503020204020204" charset="-122"/>
                <a:sym typeface="+mn-ea"/>
              </a:rPr>
              <a:t>，</a:t>
            </a:r>
            <a:r>
              <a:rPr lang="en-US" altLang="zh-CN" sz="1600">
                <a:latin typeface="微软雅黑" panose="020B0503020204020204" charset="-122"/>
                <a:ea typeface="微软雅黑" panose="020B0503020204020204" charset="-122"/>
                <a:cs typeface="微软雅黑" panose="020B0503020204020204" charset="-122"/>
                <a:sym typeface="+mn-ea"/>
              </a:rPr>
              <a:t>python</a:t>
            </a:r>
            <a:r>
              <a:rPr lang="zh-CN" altLang="en-US" sz="1600">
                <a:latin typeface="微软雅黑" panose="020B0503020204020204" charset="-122"/>
                <a:ea typeface="微软雅黑" panose="020B0503020204020204" charset="-122"/>
                <a:cs typeface="微软雅黑" panose="020B0503020204020204" charset="-122"/>
                <a:sym typeface="+mn-ea"/>
              </a:rPr>
              <a:t>等语言支持微服务，</a:t>
            </a:r>
            <a:r>
              <a:rPr lang="zh-CN" altLang="en-US" sz="1600">
                <a:latin typeface="微软雅黑" panose="020B0503020204020204" charset="-122"/>
                <a:ea typeface="微软雅黑" panose="020B0503020204020204" charset="-122"/>
                <a:cs typeface="微软雅黑" panose="020B0503020204020204" charset="-122"/>
                <a:sym typeface="+mn-ea"/>
              </a:rPr>
              <a:t>新语言的适用领域会扩大，对应技能的开发人员</a:t>
            </a:r>
            <a:r>
              <a:rPr lang="zh-CN" altLang="en-US" sz="1600">
                <a:latin typeface="微软雅黑" panose="020B0503020204020204" charset="-122"/>
                <a:ea typeface="微软雅黑" panose="020B0503020204020204" charset="-122"/>
                <a:cs typeface="微软雅黑" panose="020B0503020204020204" charset="-122"/>
                <a:sym typeface="+mn-ea"/>
              </a:rPr>
              <a:t>受益。</a:t>
            </a:r>
            <a:endParaRPr lang="zh-CN" altLang="en-US" sz="1600">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p:nvPr>
            <p:custDataLst>
              <p:tags r:id="rId1"/>
            </p:custDataLst>
          </p:nvPr>
        </p:nvGraphicFramePr>
        <p:xfrm>
          <a:off x="911860" y="1521460"/>
          <a:ext cx="3869690" cy="4294505"/>
        </p:xfrm>
        <a:graphic>
          <a:graphicData uri="http://schemas.openxmlformats.org/drawingml/2006/table">
            <a:tbl>
              <a:tblPr/>
              <a:tblGrid>
                <a:gridCol w="1823720"/>
                <a:gridCol w="2045970"/>
              </a:tblGrid>
              <a:tr h="450215">
                <a:tc>
                  <a:txBody>
                    <a:bodyPr/>
                    <a:p>
                      <a:pPr marL="54610" indent="0" algn="l" fontAlgn="base">
                        <a:spcAft>
                          <a:spcPts val="300"/>
                        </a:spcAft>
                      </a:pPr>
                      <a:r>
                        <a:rPr lang="zh-CN" altLang="en-US" sz="1600" b="1" i="0">
                          <a:solidFill>
                            <a:srgbClr val="00B0F0"/>
                          </a:solidFill>
                        </a:rPr>
                        <a:t>仓颉基础</a:t>
                      </a:r>
                      <a:r>
                        <a:rPr lang="zh-CN" altLang="en-US" sz="1600" b="1" i="0">
                          <a:solidFill>
                            <a:srgbClr val="00B0F0"/>
                          </a:solidFill>
                        </a:rPr>
                        <a:t>能力</a:t>
                      </a:r>
                      <a:endParaRPr lang="zh-CN" altLang="en-US" sz="1600" b="1" i="0">
                        <a:solidFill>
                          <a:srgbClr val="00B0F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rgbClr val="EAFAF1"/>
                    </a:solidFill>
                  </a:tcPr>
                </a:tc>
                <a:tc>
                  <a:txBody>
                    <a:bodyPr/>
                    <a:p>
                      <a:pPr marL="54610" indent="0" algn="l" fontAlgn="base">
                        <a:spcAft>
                          <a:spcPts val="300"/>
                        </a:spcAft>
                      </a:pPr>
                      <a:r>
                        <a:rPr lang="zh-CN" altLang="en-US" sz="1600" b="1" i="0">
                          <a:solidFill>
                            <a:srgbClr val="00B0F0"/>
                          </a:solidFill>
                        </a:rPr>
                        <a:t>适配度</a:t>
                      </a:r>
                      <a:endParaRPr lang="zh-CN" altLang="en-US" sz="1600" b="1" i="0">
                        <a:solidFill>
                          <a:srgbClr val="00B0F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rgbClr val="EAFAF1"/>
                    </a:solidFill>
                  </a:tcPr>
                </a:tc>
              </a:tr>
              <a:tr h="473075">
                <a:tc>
                  <a:txBody>
                    <a:bodyPr/>
                    <a:p>
                      <a:pPr marL="54610" indent="0" algn="l" fontAlgn="base">
                        <a:spcAft>
                          <a:spcPct val="0"/>
                        </a:spcAft>
                      </a:pPr>
                      <a:r>
                        <a:rPr lang="zh-CN" altLang="en-US" sz="1600">
                          <a:sym typeface="+mn-ea"/>
                        </a:rPr>
                        <a:t>类型安全</a:t>
                      </a:r>
                      <a:endParaRPr lang="en-US" altLang="zh-CN" sz="1600" b="0" i="0">
                        <a:solidFill>
                          <a:srgbClr val="000000"/>
                        </a:solidFill>
                        <a:sym typeface="+mn-ea"/>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chemeClr val="accent5">
                        <a:lumMod val="40000"/>
                        <a:lumOff val="60000"/>
                      </a:schemeClr>
                    </a:solidFill>
                  </a:tcPr>
                </a:tc>
                <a:tc>
                  <a:txBody>
                    <a:bodyPr/>
                    <a:p>
                      <a:pPr marL="54610" indent="0" algn="l" fontAlgn="base">
                        <a:spcAft>
                          <a:spcPts val="300"/>
                        </a:spcAft>
                      </a:pPr>
                      <a:r>
                        <a:rPr lang="zh-CN" altLang="en-US" sz="1600" b="0" i="0">
                          <a:solidFill>
                            <a:srgbClr val="333333"/>
                          </a:solidFill>
                        </a:rPr>
                        <a:t>服务安全</a:t>
                      </a:r>
                      <a:endParaRPr lang="en-US" altLang="zh-CN"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chemeClr val="accent5">
                        <a:lumMod val="40000"/>
                        <a:lumOff val="60000"/>
                      </a:schemeClr>
                    </a:solidFill>
                  </a:tcPr>
                </a:tc>
              </a:tr>
              <a:tr h="507365">
                <a:tc>
                  <a:txBody>
                    <a:bodyPr/>
                    <a:p>
                      <a:pPr marL="54610" indent="0" algn="l" fontAlgn="base">
                        <a:spcAft>
                          <a:spcPct val="0"/>
                        </a:spcAft>
                        <a:buNone/>
                      </a:pPr>
                      <a:r>
                        <a:rPr lang="zh-CN" altLang="en-US" sz="1600">
                          <a:solidFill>
                            <a:srgbClr val="000000"/>
                          </a:solidFill>
                          <a:sym typeface="+mn-ea"/>
                        </a:rPr>
                        <a:t>异常机制</a:t>
                      </a:r>
                      <a:endParaRPr lang="en-US" altLang="zh-CN"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chemeClr val="accent5">
                        <a:lumMod val="40000"/>
                        <a:lumOff val="60000"/>
                      </a:schemeClr>
                    </a:solidFill>
                  </a:tcPr>
                </a:tc>
                <a:tc>
                  <a:txBody>
                    <a:bodyPr/>
                    <a:p>
                      <a:pPr marL="54610" indent="0" algn="l" fontAlgn="base">
                        <a:spcAft>
                          <a:spcPts val="300"/>
                        </a:spcAft>
                        <a:buNone/>
                      </a:pPr>
                      <a:r>
                        <a:rPr lang="zh-CN" altLang="en-US" sz="1600">
                          <a:solidFill>
                            <a:srgbClr val="333333"/>
                          </a:solidFill>
                          <a:sym typeface="+mn-ea"/>
                        </a:rPr>
                        <a:t>服务鲁棒</a:t>
                      </a:r>
                      <a:endParaRPr lang="en-US" altLang="zh-CN" sz="1600" b="0" i="0">
                        <a:solidFill>
                          <a:srgbClr val="333333"/>
                        </a:solidFill>
                        <a:sym typeface="+mn-ea"/>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chemeClr val="accent5">
                        <a:lumMod val="40000"/>
                        <a:lumOff val="60000"/>
                      </a:schemeClr>
                    </a:solidFill>
                  </a:tcPr>
                </a:tc>
              </a:tr>
              <a:tr h="507365">
                <a:tc>
                  <a:txBody>
                    <a:bodyPr/>
                    <a:p>
                      <a:pPr marL="54610" indent="0" algn="l" fontAlgn="base">
                        <a:spcAft>
                          <a:spcPct val="0"/>
                        </a:spcAft>
                        <a:buNone/>
                      </a:pPr>
                      <a:r>
                        <a:rPr lang="zh-CN" altLang="en-US" sz="1600" b="0" i="0">
                          <a:solidFill>
                            <a:srgbClr val="000000"/>
                          </a:solidFill>
                        </a:rPr>
                        <a:t>并发协</a:t>
                      </a:r>
                      <a:r>
                        <a:rPr lang="zh-CN" altLang="en-US" sz="1600" b="0" i="0">
                          <a:solidFill>
                            <a:srgbClr val="000000"/>
                          </a:solidFill>
                        </a:rPr>
                        <a:t>程</a:t>
                      </a:r>
                      <a:endParaRPr lang="zh-CN" altLang="en-US"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chemeClr val="accent5">
                        <a:lumMod val="40000"/>
                        <a:lumOff val="60000"/>
                      </a:schemeClr>
                    </a:solidFill>
                  </a:tcPr>
                </a:tc>
                <a:tc>
                  <a:txBody>
                    <a:bodyPr/>
                    <a:p>
                      <a:pPr marL="54610" indent="0" algn="l" fontAlgn="base">
                        <a:spcAft>
                          <a:spcPts val="300"/>
                        </a:spcAft>
                        <a:buNone/>
                      </a:pPr>
                      <a:r>
                        <a:rPr lang="zh-CN" altLang="en-US" sz="1600" b="0" i="0">
                          <a:solidFill>
                            <a:srgbClr val="333333"/>
                          </a:solidFill>
                        </a:rPr>
                        <a:t>开发高效</a:t>
                      </a:r>
                      <a:endParaRPr lang="en-US" altLang="zh-CN"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chemeClr val="accent5">
                        <a:lumMod val="40000"/>
                        <a:lumOff val="60000"/>
                      </a:schemeClr>
                    </a:solidFill>
                  </a:tcPr>
                </a:tc>
              </a:tr>
              <a:tr h="465455">
                <a:tc>
                  <a:txBody>
                    <a:bodyPr/>
                    <a:p>
                      <a:pPr marL="54610" indent="0" algn="l" fontAlgn="base">
                        <a:spcAft>
                          <a:spcPct val="0"/>
                        </a:spcAft>
                      </a:pPr>
                      <a:r>
                        <a:rPr lang="zh-CN" altLang="en-US" sz="1600">
                          <a:sym typeface="+mn-ea"/>
                        </a:rPr>
                        <a:t>内存管理</a:t>
                      </a:r>
                      <a:endParaRPr lang="en-US" altLang="zh-CN"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ts val="300"/>
                        </a:spcAft>
                      </a:pPr>
                      <a:r>
                        <a:rPr lang="zh-CN" altLang="en-US" sz="1600" b="0" i="0">
                          <a:solidFill>
                            <a:srgbClr val="333333"/>
                          </a:solidFill>
                        </a:rPr>
                        <a:t>维护</a:t>
                      </a:r>
                      <a:r>
                        <a:rPr lang="zh-CN" altLang="en-US" sz="1600" b="0" i="0">
                          <a:solidFill>
                            <a:srgbClr val="333333"/>
                          </a:solidFill>
                        </a:rPr>
                        <a:t>简单</a:t>
                      </a:r>
                      <a:endParaRPr lang="zh-CN" altLang="en-US"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r>
              <a:tr h="464820">
                <a:tc>
                  <a:txBody>
                    <a:bodyPr/>
                    <a:p>
                      <a:pPr marL="54610" indent="0" algn="l" fontAlgn="base">
                        <a:spcAft>
                          <a:spcPct val="0"/>
                        </a:spcAft>
                        <a:buNone/>
                      </a:pPr>
                      <a:r>
                        <a:rPr lang="zh-CN" altLang="en-US" sz="1600" b="0" i="0">
                          <a:solidFill>
                            <a:srgbClr val="000000"/>
                          </a:solidFill>
                        </a:rPr>
                        <a:t>性能</a:t>
                      </a:r>
                      <a:r>
                        <a:rPr lang="zh-CN" altLang="en-US" sz="1600" b="0" i="0">
                          <a:solidFill>
                            <a:srgbClr val="000000"/>
                          </a:solidFill>
                        </a:rPr>
                        <a:t>高效</a:t>
                      </a:r>
                      <a:endParaRPr lang="zh-CN" altLang="en-US"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ts val="300"/>
                        </a:spcAft>
                        <a:buNone/>
                      </a:pPr>
                      <a:r>
                        <a:rPr lang="zh-CN" altLang="en-US" sz="1600" b="0" i="0">
                          <a:solidFill>
                            <a:srgbClr val="333333"/>
                          </a:solidFill>
                        </a:rPr>
                        <a:t>节约</a:t>
                      </a:r>
                      <a:r>
                        <a:rPr lang="zh-CN" altLang="en-US" sz="1600" b="0" i="0">
                          <a:solidFill>
                            <a:srgbClr val="333333"/>
                          </a:solidFill>
                        </a:rPr>
                        <a:t>资源</a:t>
                      </a:r>
                      <a:endParaRPr lang="zh-CN" altLang="en-US"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r>
              <a:tr h="465455">
                <a:tc>
                  <a:txBody>
                    <a:bodyPr/>
                    <a:p>
                      <a:pPr marL="54610" indent="0" algn="l" fontAlgn="base">
                        <a:spcAft>
                          <a:spcPct val="0"/>
                        </a:spcAft>
                        <a:buNone/>
                      </a:pPr>
                      <a:r>
                        <a:rPr lang="zh-CN" altLang="en-US" sz="1600">
                          <a:sym typeface="+mn-ea"/>
                        </a:rPr>
                        <a:t>反射机制</a:t>
                      </a:r>
                      <a:endParaRPr lang="zh-CN" altLang="en-US"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ts val="300"/>
                        </a:spcAft>
                        <a:buNone/>
                      </a:pPr>
                      <a:r>
                        <a:rPr lang="zh-CN" altLang="en-US" sz="1600" b="0" i="0">
                          <a:solidFill>
                            <a:srgbClr val="333333"/>
                          </a:solidFill>
                        </a:rPr>
                        <a:t>可</a:t>
                      </a:r>
                      <a:r>
                        <a:rPr lang="zh-CN" altLang="en-US" sz="1600" b="0" i="0">
                          <a:solidFill>
                            <a:srgbClr val="333333"/>
                          </a:solidFill>
                        </a:rPr>
                        <a:t>扩展性</a:t>
                      </a:r>
                      <a:endParaRPr lang="zh-CN" altLang="en-US"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r>
              <a:tr h="477520">
                <a:tc>
                  <a:txBody>
                    <a:bodyPr/>
                    <a:p>
                      <a:pPr marL="54610" indent="0" algn="l" fontAlgn="base">
                        <a:spcAft>
                          <a:spcPct val="0"/>
                        </a:spcAft>
                      </a:pPr>
                      <a:r>
                        <a:rPr lang="zh-CN" altLang="en-US" sz="1600">
                          <a:sym typeface="+mn-ea"/>
                        </a:rPr>
                        <a:t>语法丰富</a:t>
                      </a:r>
                      <a:endParaRPr lang="en-US" altLang="zh-CN"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ts val="300"/>
                        </a:spcAft>
                      </a:pPr>
                      <a:r>
                        <a:rPr lang="zh-CN" altLang="en-US" sz="1600" b="0" i="0">
                          <a:solidFill>
                            <a:srgbClr val="333333"/>
                          </a:solidFill>
                        </a:rPr>
                        <a:t>简化</a:t>
                      </a:r>
                      <a:r>
                        <a:rPr lang="zh-CN" altLang="en-US" sz="1600" b="0" i="0">
                          <a:solidFill>
                            <a:srgbClr val="333333"/>
                          </a:solidFill>
                        </a:rPr>
                        <a:t>开发</a:t>
                      </a:r>
                      <a:endParaRPr lang="zh-CN" altLang="en-US"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r>
            </a:tbl>
          </a:graphicData>
        </a:graphic>
      </p:graphicFrame>
      <p:graphicFrame>
        <p:nvGraphicFramePr>
          <p:cNvPr id="5" name="表格 4"/>
          <p:cNvGraphicFramePr/>
          <p:nvPr>
            <p:custDataLst>
              <p:tags r:id="rId2"/>
            </p:custDataLst>
          </p:nvPr>
        </p:nvGraphicFramePr>
        <p:xfrm>
          <a:off x="6690995" y="1521460"/>
          <a:ext cx="3869690" cy="2614930"/>
        </p:xfrm>
        <a:graphic>
          <a:graphicData uri="http://schemas.openxmlformats.org/drawingml/2006/table">
            <a:tbl>
              <a:tblPr/>
              <a:tblGrid>
                <a:gridCol w="1823720"/>
                <a:gridCol w="2045970"/>
              </a:tblGrid>
              <a:tr h="506095">
                <a:tc>
                  <a:txBody>
                    <a:bodyPr/>
                    <a:p>
                      <a:pPr marL="54610" indent="0" algn="l" fontAlgn="base">
                        <a:spcAft>
                          <a:spcPts val="300"/>
                        </a:spcAft>
                      </a:pPr>
                      <a:r>
                        <a:rPr lang="zh-CN" altLang="en-US" sz="1600" b="1" i="0">
                          <a:solidFill>
                            <a:srgbClr val="00B0F0"/>
                          </a:solidFill>
                        </a:rPr>
                        <a:t>仓颉发展</a:t>
                      </a:r>
                      <a:r>
                        <a:rPr lang="zh-CN" altLang="en-US" sz="1600" b="1" i="0">
                          <a:solidFill>
                            <a:srgbClr val="00B0F0"/>
                          </a:solidFill>
                        </a:rPr>
                        <a:t>能力</a:t>
                      </a:r>
                      <a:endParaRPr lang="zh-CN" altLang="en-US" sz="1600" b="1" i="0">
                        <a:solidFill>
                          <a:srgbClr val="00B0F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rgbClr val="EAFAF1"/>
                    </a:solidFill>
                  </a:tcPr>
                </a:tc>
                <a:tc>
                  <a:txBody>
                    <a:bodyPr/>
                    <a:p>
                      <a:pPr marL="54610" indent="0" algn="l" fontAlgn="base">
                        <a:spcAft>
                          <a:spcPts val="300"/>
                        </a:spcAft>
                      </a:pPr>
                      <a:r>
                        <a:rPr lang="zh-CN" altLang="en-US" sz="1600" b="1" i="0">
                          <a:solidFill>
                            <a:srgbClr val="00B0F0"/>
                          </a:solidFill>
                        </a:rPr>
                        <a:t>适配度</a:t>
                      </a:r>
                      <a:endParaRPr lang="zh-CN" altLang="en-US" sz="1600" b="1" i="0">
                        <a:solidFill>
                          <a:srgbClr val="00B0F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rgbClr val="EAFAF1"/>
                    </a:solidFill>
                  </a:tcPr>
                </a:tc>
              </a:tr>
              <a:tr h="522605">
                <a:tc>
                  <a:txBody>
                    <a:bodyPr/>
                    <a:p>
                      <a:pPr marL="54610" indent="0" algn="l" fontAlgn="base">
                        <a:spcAft>
                          <a:spcPct val="0"/>
                        </a:spcAft>
                        <a:buNone/>
                      </a:pPr>
                      <a:r>
                        <a:rPr lang="zh-CN" altLang="en-US" sz="1600" b="0" i="0">
                          <a:solidFill>
                            <a:srgbClr val="000000"/>
                          </a:solidFill>
                        </a:rPr>
                        <a:t>表达能力</a:t>
                      </a:r>
                      <a:endParaRPr lang="en-US" altLang="zh-CN"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chemeClr val="accent5">
                        <a:lumMod val="40000"/>
                        <a:lumOff val="60000"/>
                      </a:schemeClr>
                    </a:solidFill>
                  </a:tcPr>
                </a:tc>
                <a:tc>
                  <a:txBody>
                    <a:bodyPr/>
                    <a:p>
                      <a:pPr marL="54610" indent="0" algn="l" fontAlgn="base">
                        <a:spcAft>
                          <a:spcPts val="300"/>
                        </a:spcAft>
                        <a:buNone/>
                      </a:pPr>
                      <a:r>
                        <a:rPr lang="zh-CN" altLang="en-US" sz="1600" b="0" i="0">
                          <a:solidFill>
                            <a:srgbClr val="333333"/>
                          </a:solidFill>
                        </a:rPr>
                        <a:t>包含主流语言优点</a:t>
                      </a:r>
                      <a:endParaRPr lang="en-US" altLang="zh-CN"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chemeClr val="accent5">
                        <a:lumMod val="40000"/>
                        <a:lumOff val="60000"/>
                      </a:schemeClr>
                    </a:solidFill>
                  </a:tcPr>
                </a:tc>
              </a:tr>
              <a:tr h="522605">
                <a:tc>
                  <a:txBody>
                    <a:bodyPr/>
                    <a:p>
                      <a:pPr marL="54610" indent="0" algn="l" fontAlgn="base">
                        <a:spcAft>
                          <a:spcPct val="0"/>
                        </a:spcAft>
                      </a:pPr>
                      <a:r>
                        <a:rPr lang="zh-CN" altLang="en-US" sz="1600">
                          <a:sym typeface="+mn-ea"/>
                        </a:rPr>
                        <a:t>云原生</a:t>
                      </a:r>
                      <a:endParaRPr lang="en-US" altLang="zh-CN"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ts val="300"/>
                        </a:spcAft>
                      </a:pPr>
                      <a:r>
                        <a:rPr lang="zh-CN" altLang="en-US" sz="1600" b="0" i="0">
                          <a:solidFill>
                            <a:srgbClr val="333333"/>
                          </a:solidFill>
                        </a:rPr>
                        <a:t>启动快捷</a:t>
                      </a:r>
                      <a:endParaRPr lang="zh-CN" altLang="en-US"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r>
              <a:tr h="562610">
                <a:tc>
                  <a:txBody>
                    <a:bodyPr/>
                    <a:p>
                      <a:pPr marL="54610" indent="0" algn="l" fontAlgn="base">
                        <a:spcAft>
                          <a:spcPct val="0"/>
                        </a:spcAft>
                      </a:pPr>
                      <a:r>
                        <a:rPr lang="zh-CN" altLang="en-US" sz="1600" b="0" i="0">
                          <a:solidFill>
                            <a:srgbClr val="000000"/>
                          </a:solidFill>
                        </a:rPr>
                        <a:t>跨语言</a:t>
                      </a:r>
                      <a:r>
                        <a:rPr lang="zh-CN" altLang="en-US" sz="1600" b="0" i="0">
                          <a:solidFill>
                            <a:srgbClr val="000000"/>
                          </a:solidFill>
                        </a:rPr>
                        <a:t>调用</a:t>
                      </a:r>
                      <a:endParaRPr lang="zh-CN" altLang="en-US"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ts val="300"/>
                        </a:spcAft>
                      </a:pPr>
                      <a:r>
                        <a:rPr lang="zh-CN" altLang="en-US" sz="1600" b="0" i="0">
                          <a:solidFill>
                            <a:srgbClr val="333333"/>
                          </a:solidFill>
                        </a:rPr>
                        <a:t>集成其他</a:t>
                      </a:r>
                      <a:r>
                        <a:rPr lang="zh-CN" altLang="en-US" sz="1600" b="0" i="0">
                          <a:solidFill>
                            <a:srgbClr val="333333"/>
                          </a:solidFill>
                        </a:rPr>
                        <a:t>语言库</a:t>
                      </a:r>
                      <a:endParaRPr lang="zh-CN" altLang="en-US"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r>
            </a:tbl>
          </a:graphicData>
        </a:graphic>
      </p:graphicFrame>
      <p:sp>
        <p:nvSpPr>
          <p:cNvPr id="36" name="textbox 36"/>
          <p:cNvSpPr/>
          <p:nvPr/>
        </p:nvSpPr>
        <p:spPr>
          <a:xfrm>
            <a:off x="805815" y="420370"/>
            <a:ext cx="9144635" cy="431800"/>
          </a:xfrm>
          <a:prstGeom prst="rect">
            <a:avLst/>
          </a:prstGeom>
          <a:noFill/>
          <a:ln w="0" cap="flat">
            <a:noFill/>
            <a:prstDash val="solid"/>
            <a:miter lim="0"/>
          </a:ln>
        </p:spPr>
        <p:txBody>
          <a:bodyPr vert="horz" wrap="square" lIns="0" tIns="0" rIns="0" bIns="0"/>
          <a:p>
            <a:pPr algn="l" rtl="0" eaLnBrk="0">
              <a:lnSpc>
                <a:spcPct val="75000"/>
              </a:lnSpc>
            </a:pPr>
            <a:endParaRPr sz="100" dirty="0">
              <a:latin typeface="Arial" panose="020B0604020202020204"/>
              <a:ea typeface="Arial" panose="020B0604020202020204"/>
              <a:cs typeface="Arial" panose="020B0604020202020204"/>
            </a:endParaRPr>
          </a:p>
          <a:p>
            <a:pPr marL="12700" algn="l" rtl="0" eaLnBrk="0">
              <a:lnSpc>
                <a:spcPct val="99000"/>
              </a:lnSpc>
            </a:pPr>
            <a:r>
              <a:rPr 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仓颉与微服务适配</a:t>
            </a:r>
            <a:r>
              <a:rPr 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度</a:t>
            </a:r>
            <a:endParaRPr 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endParaRPr>
          </a:p>
        </p:txBody>
      </p:sp>
      <p:sp>
        <p:nvSpPr>
          <p:cNvPr id="4" name="圆角矩形 3"/>
          <p:cNvSpPr/>
          <p:nvPr/>
        </p:nvSpPr>
        <p:spPr>
          <a:xfrm>
            <a:off x="6758940" y="4042410"/>
            <a:ext cx="1673860" cy="556260"/>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开发效率</a:t>
            </a:r>
            <a:endParaRPr lang="zh-CN" altLang="en-US">
              <a:solidFill>
                <a:schemeClr val="tx1"/>
              </a:solidFill>
            </a:endParaRPr>
          </a:p>
        </p:txBody>
      </p:sp>
      <p:sp>
        <p:nvSpPr>
          <p:cNvPr id="6" name="圆角矩形 5"/>
          <p:cNvSpPr/>
          <p:nvPr/>
        </p:nvSpPr>
        <p:spPr>
          <a:xfrm>
            <a:off x="8800465" y="4042410"/>
            <a:ext cx="1673860" cy="556260"/>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应用</a:t>
            </a:r>
            <a:r>
              <a:rPr lang="zh-CN" altLang="en-US">
                <a:solidFill>
                  <a:schemeClr val="tx1"/>
                </a:solidFill>
              </a:rPr>
              <a:t>性能</a:t>
            </a:r>
            <a:endParaRPr lang="zh-CN" altLang="en-US">
              <a:solidFill>
                <a:schemeClr val="tx1"/>
              </a:solidFill>
            </a:endParaRPr>
          </a:p>
        </p:txBody>
      </p:sp>
      <p:sp>
        <p:nvSpPr>
          <p:cNvPr id="7" name="圆角矩形 6"/>
          <p:cNvSpPr/>
          <p:nvPr/>
        </p:nvSpPr>
        <p:spPr>
          <a:xfrm>
            <a:off x="6755130" y="4770755"/>
            <a:ext cx="1673860" cy="556260"/>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灵活</a:t>
            </a:r>
            <a:r>
              <a:rPr lang="zh-CN" altLang="en-US">
                <a:solidFill>
                  <a:schemeClr val="tx1"/>
                </a:solidFill>
              </a:rPr>
              <a:t>扩展</a:t>
            </a:r>
            <a:endParaRPr lang="zh-CN" altLang="en-US">
              <a:solidFill>
                <a:schemeClr val="tx1"/>
              </a:solidFill>
            </a:endParaRPr>
          </a:p>
        </p:txBody>
      </p:sp>
      <p:sp>
        <p:nvSpPr>
          <p:cNvPr id="8" name="圆角矩形 7"/>
          <p:cNvSpPr/>
          <p:nvPr/>
        </p:nvSpPr>
        <p:spPr>
          <a:xfrm>
            <a:off x="8799830" y="4770755"/>
            <a:ext cx="1673860" cy="556260"/>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丰富</a:t>
            </a:r>
            <a:r>
              <a:rPr lang="zh-CN" altLang="en-US">
                <a:solidFill>
                  <a:schemeClr val="tx1"/>
                </a:solidFill>
              </a:rPr>
              <a:t>生态</a:t>
            </a:r>
            <a:endParaRPr lang="zh-CN" altLang="en-US">
              <a:solidFill>
                <a:schemeClr val="tx1"/>
              </a:solidFill>
            </a:endParaRPr>
          </a:p>
        </p:txBody>
      </p:sp>
      <p:sp>
        <p:nvSpPr>
          <p:cNvPr id="9" name="文本框 8"/>
          <p:cNvSpPr txBox="1"/>
          <p:nvPr/>
        </p:nvSpPr>
        <p:spPr>
          <a:xfrm>
            <a:off x="8463915" y="4832350"/>
            <a:ext cx="325120" cy="368300"/>
          </a:xfrm>
          <a:prstGeom prst="rect">
            <a:avLst/>
          </a:prstGeom>
          <a:noFill/>
        </p:spPr>
        <p:txBody>
          <a:bodyPr wrap="square" rtlCol="0">
            <a:spAutoFit/>
          </a:bodyPr>
          <a:p>
            <a:r>
              <a:rPr lang="en-US" altLang="zh-CN"/>
              <a:t>+</a:t>
            </a:r>
            <a:endParaRPr lang="en-US" altLang="zh-CN"/>
          </a:p>
        </p:txBody>
      </p:sp>
      <p:sp>
        <p:nvSpPr>
          <p:cNvPr id="10" name="文本框 9"/>
          <p:cNvSpPr txBox="1"/>
          <p:nvPr/>
        </p:nvSpPr>
        <p:spPr>
          <a:xfrm>
            <a:off x="5568315" y="4846320"/>
            <a:ext cx="1173480" cy="337185"/>
          </a:xfrm>
          <a:prstGeom prst="rect">
            <a:avLst/>
          </a:prstGeom>
          <a:noFill/>
        </p:spPr>
        <p:txBody>
          <a:bodyPr wrap="square" rtlCol="0">
            <a:spAutoFit/>
          </a:bodyPr>
          <a:p>
            <a:r>
              <a:rPr lang="zh-CN" altLang="en-US" sz="1600" b="1">
                <a:solidFill>
                  <a:srgbClr val="00B0F0"/>
                </a:solidFill>
              </a:rPr>
              <a:t>未来便利</a:t>
            </a:r>
            <a:endParaRPr lang="zh-CN" altLang="en-US"/>
          </a:p>
        </p:txBody>
      </p:sp>
      <p:sp>
        <p:nvSpPr>
          <p:cNvPr id="11" name="文本框 10"/>
          <p:cNvSpPr txBox="1"/>
          <p:nvPr/>
        </p:nvSpPr>
        <p:spPr>
          <a:xfrm>
            <a:off x="8453755" y="4167505"/>
            <a:ext cx="325120" cy="368300"/>
          </a:xfrm>
          <a:prstGeom prst="rect">
            <a:avLst/>
          </a:prstGeom>
          <a:noFill/>
        </p:spPr>
        <p:txBody>
          <a:bodyPr wrap="square" rtlCol="0">
            <a:spAutoFit/>
          </a:bodyPr>
          <a:p>
            <a:r>
              <a:rPr lang="en-US" altLang="zh-CN"/>
              <a:t>+</a:t>
            </a:r>
            <a:endParaRPr lang="en-US" altLang="zh-CN"/>
          </a:p>
        </p:txBody>
      </p:sp>
      <p:sp>
        <p:nvSpPr>
          <p:cNvPr id="12" name="文本框 11"/>
          <p:cNvSpPr txBox="1"/>
          <p:nvPr/>
        </p:nvSpPr>
        <p:spPr>
          <a:xfrm>
            <a:off x="5511800" y="4228465"/>
            <a:ext cx="1293495" cy="337185"/>
          </a:xfrm>
          <a:prstGeom prst="rect">
            <a:avLst/>
          </a:prstGeom>
          <a:noFill/>
        </p:spPr>
        <p:txBody>
          <a:bodyPr wrap="square" rtlCol="0">
            <a:spAutoFit/>
          </a:bodyPr>
          <a:p>
            <a:pPr marL="54610" algn="l" fontAlgn="base">
              <a:spcAft>
                <a:spcPts val="300"/>
              </a:spcAft>
              <a:buClrTx/>
              <a:buSzTx/>
              <a:buFontTx/>
            </a:pPr>
            <a:r>
              <a:rPr lang="zh-CN" altLang="en-US" sz="1600" b="1">
                <a:solidFill>
                  <a:srgbClr val="00B0F0"/>
                </a:solidFill>
              </a:rPr>
              <a:t>当前发挥</a:t>
            </a:r>
            <a:endParaRPr lang="zh-CN" altLang="en-US" sz="1600" b="1">
              <a:solidFill>
                <a:srgbClr val="00B0F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6"/>
          <p:cNvSpPr/>
          <p:nvPr/>
        </p:nvSpPr>
        <p:spPr>
          <a:xfrm>
            <a:off x="816475" y="420458"/>
            <a:ext cx="5855334" cy="431800"/>
          </a:xfrm>
          <a:prstGeom prst="rect">
            <a:avLst/>
          </a:prstGeom>
          <a:noFill/>
          <a:ln w="0" cap="flat">
            <a:noFill/>
            <a:prstDash val="solid"/>
            <a:miter lim="0"/>
          </a:ln>
        </p:spPr>
        <p:txBody>
          <a:bodyPr vert="horz" wrap="square" lIns="0" tIns="0" rIns="0" bIns="0"/>
          <a:p>
            <a:pPr algn="l" rtl="0" eaLnBrk="0">
              <a:lnSpc>
                <a:spcPct val="75000"/>
              </a:lnSpc>
            </a:pPr>
            <a:endParaRPr sz="100" dirty="0">
              <a:latin typeface="Arial" panose="020B0604020202020204"/>
              <a:ea typeface="Arial" panose="020B0604020202020204"/>
              <a:cs typeface="Arial" panose="020B0604020202020204"/>
            </a:endParaRPr>
          </a:p>
          <a:p>
            <a:pPr marL="12700" algn="l" rtl="0" eaLnBrk="0">
              <a:lnSpc>
                <a:spcPct val="99000"/>
              </a:lnSpc>
            </a:pPr>
            <a:r>
              <a:rPr lang="zh-CN" altLang="en-US"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项目目标</a:t>
            </a:r>
            <a:endParaRPr lang="zh-CN" altLang="en-US"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custDataLst>
              <p:tags r:id="rId1"/>
            </p:custDataLst>
          </p:nvPr>
        </p:nvSpPr>
        <p:spPr>
          <a:xfrm>
            <a:off x="1998980" y="1431925"/>
            <a:ext cx="2129790" cy="460375"/>
          </a:xfrm>
          <a:prstGeom prst="rect">
            <a:avLst/>
          </a:prstGeom>
          <a:noFill/>
        </p:spPr>
        <p:txBody>
          <a:bodyPr wrap="square" rtlCol="0">
            <a:spAutoFit/>
          </a:bodyPr>
          <a:p>
            <a:pPr marL="397510" indent="-342900" algn="l" fontAlgn="base">
              <a:spcAft>
                <a:spcPts val="300"/>
              </a:spcAft>
              <a:buClrTx/>
              <a:buSzTx/>
              <a:buFont typeface="Wingdings" panose="05000000000000000000" charset="0"/>
              <a:buChar char="Ø"/>
            </a:pPr>
            <a:r>
              <a:rPr lang="zh-CN" altLang="en-US" sz="2400" b="1">
                <a:solidFill>
                  <a:srgbClr val="00B0F0"/>
                </a:solidFill>
              </a:rPr>
              <a:t>轻量化</a:t>
            </a:r>
            <a:endParaRPr lang="zh-CN" altLang="en-US" sz="2400" b="1">
              <a:solidFill>
                <a:srgbClr val="00B0F0"/>
              </a:solidFill>
            </a:endParaRPr>
          </a:p>
        </p:txBody>
      </p:sp>
      <p:sp>
        <p:nvSpPr>
          <p:cNvPr id="6" name="文本框 5"/>
          <p:cNvSpPr txBox="1"/>
          <p:nvPr>
            <p:custDataLst>
              <p:tags r:id="rId2"/>
            </p:custDataLst>
          </p:nvPr>
        </p:nvSpPr>
        <p:spPr>
          <a:xfrm>
            <a:off x="1996440" y="2415540"/>
            <a:ext cx="2129790" cy="460375"/>
          </a:xfrm>
          <a:prstGeom prst="rect">
            <a:avLst/>
          </a:prstGeom>
          <a:noFill/>
        </p:spPr>
        <p:txBody>
          <a:bodyPr wrap="square" rtlCol="0">
            <a:spAutoFit/>
          </a:bodyPr>
          <a:p>
            <a:pPr marL="397510" indent="-342900" algn="l" fontAlgn="base">
              <a:spcAft>
                <a:spcPts val="300"/>
              </a:spcAft>
              <a:buClrTx/>
              <a:buSzTx/>
              <a:buFont typeface="Wingdings" panose="05000000000000000000" charset="0"/>
              <a:buChar char="Ø"/>
            </a:pPr>
            <a:r>
              <a:rPr lang="zh-CN" altLang="en-US" sz="2400" b="1">
                <a:solidFill>
                  <a:srgbClr val="00B0F0"/>
                </a:solidFill>
              </a:rPr>
              <a:t>可</a:t>
            </a:r>
            <a:r>
              <a:rPr lang="zh-CN" altLang="en-US" sz="2400" b="1">
                <a:solidFill>
                  <a:srgbClr val="00B0F0"/>
                </a:solidFill>
              </a:rPr>
              <a:t>扩展</a:t>
            </a:r>
            <a:endParaRPr lang="zh-CN" altLang="en-US" sz="2400" b="1">
              <a:solidFill>
                <a:srgbClr val="00B0F0"/>
              </a:solidFill>
            </a:endParaRPr>
          </a:p>
        </p:txBody>
      </p:sp>
      <p:sp>
        <p:nvSpPr>
          <p:cNvPr id="7" name="文本框 6"/>
          <p:cNvSpPr txBox="1"/>
          <p:nvPr>
            <p:custDataLst>
              <p:tags r:id="rId3"/>
            </p:custDataLst>
          </p:nvPr>
        </p:nvSpPr>
        <p:spPr>
          <a:xfrm>
            <a:off x="1996440" y="3350895"/>
            <a:ext cx="2129790" cy="460375"/>
          </a:xfrm>
          <a:prstGeom prst="rect">
            <a:avLst/>
          </a:prstGeom>
          <a:noFill/>
        </p:spPr>
        <p:txBody>
          <a:bodyPr wrap="square" rtlCol="0">
            <a:spAutoFit/>
          </a:bodyPr>
          <a:p>
            <a:pPr marL="397510" indent="-342900" algn="l" fontAlgn="base">
              <a:spcAft>
                <a:spcPts val="300"/>
              </a:spcAft>
              <a:buClrTx/>
              <a:buSzTx/>
              <a:buFont typeface="Wingdings" panose="05000000000000000000" charset="0"/>
              <a:buChar char="Ø"/>
            </a:pPr>
            <a:r>
              <a:rPr lang="zh-CN" altLang="en-US" sz="2400" b="1">
                <a:solidFill>
                  <a:srgbClr val="00B0F0"/>
                </a:solidFill>
              </a:rPr>
              <a:t>易</a:t>
            </a:r>
            <a:r>
              <a:rPr lang="zh-CN" altLang="en-US" sz="2400" b="1">
                <a:solidFill>
                  <a:srgbClr val="00B0F0"/>
                </a:solidFill>
              </a:rPr>
              <a:t>集成</a:t>
            </a:r>
            <a:endParaRPr lang="zh-CN" altLang="en-US" sz="2400" b="1">
              <a:solidFill>
                <a:srgbClr val="00B0F0"/>
              </a:solidFill>
            </a:endParaRPr>
          </a:p>
        </p:txBody>
      </p:sp>
      <p:sp>
        <p:nvSpPr>
          <p:cNvPr id="10" name="圆角矩形 9"/>
          <p:cNvSpPr/>
          <p:nvPr>
            <p:custDataLst>
              <p:tags r:id="rId4"/>
            </p:custDataLst>
          </p:nvPr>
        </p:nvSpPr>
        <p:spPr>
          <a:xfrm>
            <a:off x="5127625" y="1388745"/>
            <a:ext cx="4413250" cy="577215"/>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开发快捷、学习曲线低、</a:t>
            </a:r>
            <a:r>
              <a:rPr lang="zh-CN" altLang="en-US">
                <a:solidFill>
                  <a:schemeClr val="tx1"/>
                </a:solidFill>
              </a:rPr>
              <a:t>无外部依赖</a:t>
            </a:r>
            <a:endParaRPr lang="zh-CN" altLang="en-US">
              <a:solidFill>
                <a:schemeClr val="tx1"/>
              </a:solidFill>
            </a:endParaRPr>
          </a:p>
        </p:txBody>
      </p:sp>
      <p:sp>
        <p:nvSpPr>
          <p:cNvPr id="11" name="圆角矩形 10"/>
          <p:cNvSpPr/>
          <p:nvPr>
            <p:custDataLst>
              <p:tags r:id="rId5"/>
            </p:custDataLst>
          </p:nvPr>
        </p:nvSpPr>
        <p:spPr>
          <a:xfrm>
            <a:off x="5127625" y="2352675"/>
            <a:ext cx="4413250" cy="577215"/>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对象和组件按需组装扩展、功能升级</a:t>
            </a:r>
            <a:endParaRPr lang="zh-CN" altLang="en-US">
              <a:solidFill>
                <a:schemeClr val="tx1"/>
              </a:solidFill>
            </a:endParaRPr>
          </a:p>
        </p:txBody>
      </p:sp>
      <p:sp>
        <p:nvSpPr>
          <p:cNvPr id="12" name="圆角矩形 11"/>
          <p:cNvSpPr/>
          <p:nvPr>
            <p:custDataLst>
              <p:tags r:id="rId6"/>
            </p:custDataLst>
          </p:nvPr>
        </p:nvSpPr>
        <p:spPr>
          <a:xfrm>
            <a:off x="5127625" y="3350895"/>
            <a:ext cx="4413250" cy="577215"/>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容易与外部系统接口集成、组件集成</a:t>
            </a:r>
            <a:endParaRPr lang="zh-CN" altLang="en-US">
              <a:solidFill>
                <a:schemeClr val="tx1"/>
              </a:solidFill>
            </a:endParaRPr>
          </a:p>
        </p:txBody>
      </p:sp>
      <p:sp>
        <p:nvSpPr>
          <p:cNvPr id="13" name="右箭头 12"/>
          <p:cNvSpPr/>
          <p:nvPr>
            <p:custDataLst>
              <p:tags r:id="rId7"/>
            </p:custDataLst>
          </p:nvPr>
        </p:nvSpPr>
        <p:spPr>
          <a:xfrm>
            <a:off x="3759200" y="1501140"/>
            <a:ext cx="1054100" cy="391160"/>
          </a:xfrm>
          <a:prstGeom prst="rightArrow">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右箭头 13"/>
          <p:cNvSpPr/>
          <p:nvPr>
            <p:custDataLst>
              <p:tags r:id="rId8"/>
            </p:custDataLst>
          </p:nvPr>
        </p:nvSpPr>
        <p:spPr>
          <a:xfrm>
            <a:off x="3759200" y="2460625"/>
            <a:ext cx="1054100" cy="391160"/>
          </a:xfrm>
          <a:prstGeom prst="rightArrow">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右箭头 14"/>
          <p:cNvSpPr/>
          <p:nvPr>
            <p:custDataLst>
              <p:tags r:id="rId9"/>
            </p:custDataLst>
          </p:nvPr>
        </p:nvSpPr>
        <p:spPr>
          <a:xfrm>
            <a:off x="3759200" y="3387725"/>
            <a:ext cx="1054100" cy="391160"/>
          </a:xfrm>
          <a:prstGeom prst="rightArrow">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文本框 15"/>
          <p:cNvSpPr txBox="1"/>
          <p:nvPr/>
        </p:nvSpPr>
        <p:spPr>
          <a:xfrm>
            <a:off x="1244600" y="5121275"/>
            <a:ext cx="10137775" cy="368300"/>
          </a:xfrm>
          <a:prstGeom prst="rect">
            <a:avLst/>
          </a:prstGeom>
          <a:noFill/>
        </p:spPr>
        <p:txBody>
          <a:bodyPr wrap="square" rtlCol="0">
            <a:spAutoFit/>
          </a:bodyPr>
          <a:p>
            <a:pPr marL="54610" indent="0" algn="l" fontAlgn="base">
              <a:spcAft>
                <a:spcPts val="300"/>
              </a:spcAft>
              <a:buClrTx/>
              <a:buSzTx/>
              <a:buFont typeface="Wingdings" panose="05000000000000000000" charset="0"/>
              <a:buNone/>
            </a:pPr>
            <a:r>
              <a:rPr lang="zh-CN" altLang="en-US" b="1">
                <a:solidFill>
                  <a:srgbClr val="00B0F0"/>
                </a:solidFill>
              </a:rPr>
              <a:t>实现轻量仓颉语言版微服务，可以支持扩展升级，并能和其他微服务体系集成，不修改原应用</a:t>
            </a:r>
            <a:r>
              <a:rPr lang="zh-CN" altLang="en-US" b="1">
                <a:solidFill>
                  <a:srgbClr val="00B0F0"/>
                </a:solidFill>
              </a:rPr>
              <a:t>协议</a:t>
            </a:r>
            <a:endParaRPr lang="zh-CN" altLang="en-US" b="1">
              <a:solidFill>
                <a:srgbClr val="00B0F0"/>
              </a:solidFill>
            </a:endParaRPr>
          </a:p>
        </p:txBody>
      </p:sp>
      <p:sp>
        <p:nvSpPr>
          <p:cNvPr id="17" name="文本框 16"/>
          <p:cNvSpPr txBox="1"/>
          <p:nvPr>
            <p:custDataLst>
              <p:tags r:id="rId10"/>
            </p:custDataLst>
          </p:nvPr>
        </p:nvSpPr>
        <p:spPr>
          <a:xfrm>
            <a:off x="1996440" y="4279265"/>
            <a:ext cx="2129790" cy="460375"/>
          </a:xfrm>
          <a:prstGeom prst="rect">
            <a:avLst/>
          </a:prstGeom>
          <a:noFill/>
        </p:spPr>
        <p:txBody>
          <a:bodyPr wrap="square" rtlCol="0">
            <a:spAutoFit/>
          </a:bodyPr>
          <a:p>
            <a:pPr marL="397510" indent="-342900" algn="l" fontAlgn="base">
              <a:spcAft>
                <a:spcPts val="300"/>
              </a:spcAft>
              <a:buClrTx/>
              <a:buSzTx/>
              <a:buFont typeface="Wingdings" panose="05000000000000000000" charset="0"/>
              <a:buChar char="Ø"/>
            </a:pPr>
            <a:r>
              <a:rPr lang="zh-CN" altLang="en-US" sz="2400" b="1">
                <a:solidFill>
                  <a:srgbClr val="00B0F0"/>
                </a:solidFill>
              </a:rPr>
              <a:t>零</a:t>
            </a:r>
            <a:r>
              <a:rPr lang="zh-CN" altLang="en-US" sz="2400" b="1">
                <a:solidFill>
                  <a:srgbClr val="00B0F0"/>
                </a:solidFill>
              </a:rPr>
              <a:t>侵入</a:t>
            </a:r>
            <a:endParaRPr lang="zh-CN" altLang="en-US" sz="2400" b="1">
              <a:solidFill>
                <a:srgbClr val="00B0F0"/>
              </a:solidFill>
            </a:endParaRPr>
          </a:p>
        </p:txBody>
      </p:sp>
      <p:sp>
        <p:nvSpPr>
          <p:cNvPr id="18" name="圆角矩形 17"/>
          <p:cNvSpPr/>
          <p:nvPr>
            <p:custDataLst>
              <p:tags r:id="rId11"/>
            </p:custDataLst>
          </p:nvPr>
        </p:nvSpPr>
        <p:spPr>
          <a:xfrm>
            <a:off x="5127625" y="4279265"/>
            <a:ext cx="4413250" cy="577215"/>
          </a:xfrm>
          <a:prstGeom prst="round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不限制</a:t>
            </a:r>
            <a:r>
              <a:rPr lang="zh-CN" altLang="en-US">
                <a:solidFill>
                  <a:schemeClr val="tx1"/>
                </a:solidFill>
              </a:rPr>
              <a:t>应用使用方式</a:t>
            </a:r>
            <a:r>
              <a:rPr lang="zh-CN" altLang="en-US">
                <a:solidFill>
                  <a:schemeClr val="tx1"/>
                </a:solidFill>
              </a:rPr>
              <a:t>及响应报文</a:t>
            </a:r>
            <a:r>
              <a:rPr lang="zh-CN" altLang="en-US">
                <a:solidFill>
                  <a:schemeClr val="tx1"/>
                </a:solidFill>
              </a:rPr>
              <a:t>格式</a:t>
            </a:r>
            <a:endParaRPr lang="zh-CN" altLang="en-US">
              <a:solidFill>
                <a:schemeClr val="tx1"/>
              </a:solidFill>
            </a:endParaRPr>
          </a:p>
        </p:txBody>
      </p:sp>
      <p:sp>
        <p:nvSpPr>
          <p:cNvPr id="19" name="右箭头 18"/>
          <p:cNvSpPr/>
          <p:nvPr>
            <p:custDataLst>
              <p:tags r:id="rId12"/>
            </p:custDataLst>
          </p:nvPr>
        </p:nvSpPr>
        <p:spPr>
          <a:xfrm>
            <a:off x="3759200" y="4316095"/>
            <a:ext cx="1054100" cy="391160"/>
          </a:xfrm>
          <a:prstGeom prst="rightArrow">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6"/>
          <p:cNvSpPr/>
          <p:nvPr/>
        </p:nvSpPr>
        <p:spPr>
          <a:xfrm>
            <a:off x="805680" y="420458"/>
            <a:ext cx="5855334" cy="431800"/>
          </a:xfrm>
          <a:prstGeom prst="rect">
            <a:avLst/>
          </a:prstGeom>
          <a:noFill/>
          <a:ln w="0" cap="flat">
            <a:noFill/>
            <a:prstDash val="solid"/>
            <a:miter lim="0"/>
          </a:ln>
        </p:spPr>
        <p:txBody>
          <a:bodyPr vert="horz" wrap="square" lIns="0" tIns="0" rIns="0" bIns="0"/>
          <a:p>
            <a:pPr algn="l" rtl="0" eaLnBrk="0">
              <a:lnSpc>
                <a:spcPct val="75000"/>
              </a:lnSpc>
            </a:pPr>
            <a:endParaRPr sz="100" b="1" dirty="0">
              <a:latin typeface="Arial" panose="020B0604020202020204"/>
              <a:ea typeface="Arial" panose="020B0604020202020204"/>
              <a:cs typeface="Arial" panose="020B0604020202020204"/>
            </a:endParaRPr>
          </a:p>
          <a:p>
            <a:pPr marL="12700" algn="l" rtl="0" eaLnBrk="0">
              <a:lnSpc>
                <a:spcPct val="99000"/>
              </a:lnSpc>
            </a:pPr>
            <a:r>
              <a:rPr 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二</a:t>
            </a:r>
            <a:r>
              <a:rPr lang="en-US" alt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 </a:t>
            </a:r>
            <a:r>
              <a:rPr 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微服务设计</a:t>
            </a:r>
            <a:r>
              <a:rPr lang="en-US" alt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a:t>
            </a:r>
            <a:r>
              <a:rPr lang="zh-CN" altLang="en-US"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功能</a:t>
            </a:r>
            <a:r>
              <a:rPr lang="zh-CN" altLang="en-US"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设计</a:t>
            </a:r>
            <a:endParaRPr lang="zh-CN" altLang="en-US"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endParaRPr>
          </a:p>
        </p:txBody>
      </p:sp>
      <p:grpSp>
        <p:nvGrpSpPr>
          <p:cNvPr id="41" name="组合 40"/>
          <p:cNvGrpSpPr/>
          <p:nvPr>
            <p:custDataLst>
              <p:tags r:id="rId1"/>
            </p:custDataLst>
          </p:nvPr>
        </p:nvGrpSpPr>
        <p:grpSpPr>
          <a:xfrm>
            <a:off x="996950" y="1348740"/>
            <a:ext cx="10072370" cy="3728037"/>
            <a:chOff x="723678" y="1976549"/>
            <a:chExt cx="10072503" cy="4072167"/>
          </a:xfrm>
        </p:grpSpPr>
        <p:sp>
          <p:nvSpPr>
            <p:cNvPr id="42" name="椭圆 41"/>
            <p:cNvSpPr/>
            <p:nvPr>
              <p:custDataLst>
                <p:tags r:id="rId2"/>
              </p:custDataLst>
            </p:nvPr>
          </p:nvSpPr>
          <p:spPr>
            <a:xfrm>
              <a:off x="723678" y="1976549"/>
              <a:ext cx="1237124" cy="1237124"/>
            </a:xfrm>
            <a:prstGeom prst="ellipse">
              <a:avLst/>
            </a:prstGeom>
            <a:gradFill>
              <a:gsLst>
                <a:gs pos="0">
                  <a:schemeClr val="bg1"/>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nvGrpSpPr>
            <p:cNvPr id="48" name="组合 47"/>
            <p:cNvGrpSpPr/>
            <p:nvPr/>
          </p:nvGrpSpPr>
          <p:grpSpPr>
            <a:xfrm>
              <a:off x="1276097" y="2276829"/>
              <a:ext cx="9520084" cy="3771887"/>
              <a:chOff x="1276097" y="2276829"/>
              <a:chExt cx="9520084" cy="3771887"/>
            </a:xfrm>
          </p:grpSpPr>
          <p:grpSp>
            <p:nvGrpSpPr>
              <p:cNvPr id="49" name="组合 48"/>
              <p:cNvGrpSpPr/>
              <p:nvPr/>
            </p:nvGrpSpPr>
            <p:grpSpPr>
              <a:xfrm>
                <a:off x="1276097" y="2276829"/>
                <a:ext cx="2385060" cy="3771887"/>
                <a:chOff x="1276097" y="2276829"/>
                <a:chExt cx="2385060" cy="3771887"/>
              </a:xfrm>
            </p:grpSpPr>
            <p:grpSp>
              <p:nvGrpSpPr>
                <p:cNvPr id="50" name="组合 49"/>
                <p:cNvGrpSpPr/>
                <p:nvPr/>
              </p:nvGrpSpPr>
              <p:grpSpPr>
                <a:xfrm>
                  <a:off x="1276097" y="2276829"/>
                  <a:ext cx="2385060" cy="3741420"/>
                  <a:chOff x="7795261" y="2397778"/>
                  <a:chExt cx="2385060" cy="3741420"/>
                </a:xfrm>
              </p:grpSpPr>
              <p:sp>
                <p:nvSpPr>
                  <p:cNvPr id="51" name="矩形: 圆角 35"/>
                  <p:cNvSpPr/>
                  <p:nvPr>
                    <p:custDataLst>
                      <p:tags r:id="rId3"/>
                    </p:custDataLst>
                  </p:nvPr>
                </p:nvSpPr>
                <p:spPr>
                  <a:xfrm>
                    <a:off x="7795261" y="2397778"/>
                    <a:ext cx="2385060" cy="3741420"/>
                  </a:xfrm>
                  <a:prstGeom prst="roundRect">
                    <a:avLst>
                      <a:gd name="adj" fmla="val 3568"/>
                    </a:avLst>
                  </a:prstGeom>
                  <a:gradFill>
                    <a:gsLst>
                      <a:gs pos="0">
                        <a:schemeClr val="bg1"/>
                      </a:gs>
                      <a:gs pos="100000">
                        <a:schemeClr val="accent3">
                          <a:lumMod val="20000"/>
                          <a:lumOff val="80000"/>
                        </a:schemeClr>
                      </a:gs>
                    </a:gsLst>
                    <a:lin ang="5400000" scaled="1"/>
                  </a:gradFill>
                  <a:ln w="9525">
                    <a:gradFill>
                      <a:gsLst>
                        <a:gs pos="0">
                          <a:schemeClr val="bg1"/>
                        </a:gs>
                        <a:gs pos="100000">
                          <a:schemeClr val="bg1"/>
                        </a:gs>
                      </a:gsLst>
                      <a:lin ang="5400000" scaled="1"/>
                    </a:gradFill>
                  </a:ln>
                  <a:effectLst>
                    <a:outerShdw blurRad="177800" sx="102000" sy="102000" algn="ctr" rotWithShape="0">
                      <a:schemeClr val="accent3">
                        <a:lumMod val="75000"/>
                        <a:alpha val="2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2" name="椭圆 51"/>
                  <p:cNvSpPr/>
                  <p:nvPr>
                    <p:custDataLst>
                      <p:tags r:id="rId4"/>
                    </p:custDataLst>
                  </p:nvPr>
                </p:nvSpPr>
                <p:spPr>
                  <a:xfrm>
                    <a:off x="8633936" y="2662738"/>
                    <a:ext cx="707710" cy="707949"/>
                  </a:xfrm>
                  <a:prstGeom prst="ellipse">
                    <a:avLst/>
                  </a:prstGeom>
                  <a:gradFill flip="none" rotWithShape="1">
                    <a:gsLst>
                      <a:gs pos="100000">
                        <a:srgbClr val="F9F8CA"/>
                      </a:gs>
                      <a:gs pos="6000">
                        <a:srgbClr val="4EAADD"/>
                      </a:gs>
                    </a:gsLst>
                    <a:lin ang="18900000" scaled="1"/>
                  </a:gradFill>
                  <a:ln>
                    <a:noFill/>
                  </a:ln>
                  <a:effectLst>
                    <a:outerShdw blurRad="114300" sx="102000" sy="102000" algn="ctr"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p>
                    <a:pPr algn="ctr"/>
                    <a:r>
                      <a:rPr lang="en-US" altLang="zh-CN" b="1" dirty="0">
                        <a:solidFill>
                          <a:schemeClr val="bg1"/>
                        </a:solidFill>
                      </a:rPr>
                      <a:t>1</a:t>
                    </a:r>
                    <a:endParaRPr lang="en-US" altLang="zh-CN" b="1" dirty="0">
                      <a:solidFill>
                        <a:schemeClr val="bg1"/>
                      </a:solidFill>
                    </a:endParaRPr>
                  </a:p>
                </p:txBody>
              </p:sp>
              <p:sp>
                <p:nvSpPr>
                  <p:cNvPr id="53" name="文本框 52"/>
                  <p:cNvSpPr txBox="1"/>
                  <p:nvPr>
                    <p:custDataLst>
                      <p:tags r:id="rId5"/>
                    </p:custDataLst>
                  </p:nvPr>
                </p:nvSpPr>
                <p:spPr>
                  <a:xfrm>
                    <a:off x="7944123" y="4181927"/>
                    <a:ext cx="2088606" cy="1662597"/>
                  </a:xfrm>
                  <a:prstGeom prst="rect">
                    <a:avLst/>
                  </a:prstGeom>
                  <a:noFill/>
                </p:spPr>
                <p:txBody>
                  <a:bodyPr wrap="square">
                    <a:spAutoFit/>
                  </a:bodyPr>
                  <a:p>
                    <a:pPr marL="628650" lvl="1" indent="-171450">
                      <a:lnSpc>
                        <a:spcPct val="100000"/>
                      </a:lnSpc>
                      <a:spcBef>
                        <a:spcPct val="0"/>
                      </a:spcBef>
                      <a:spcAft>
                        <a:spcPct val="15000"/>
                      </a:spcAft>
                      <a:buFont typeface="Wingdings" panose="05000000000000000000" charset="0"/>
                      <a:buChar char="l"/>
                    </a:pPr>
                    <a:r>
                      <a:rPr lang="en-US" sz="1600">
                        <a:solidFill>
                          <a:schemeClr val="dk1"/>
                        </a:solidFill>
                        <a:latin typeface="微软雅黑" panose="020B0503020204020204" charset="-122"/>
                        <a:ea typeface="微软雅黑" panose="020B0503020204020204" charset="-122"/>
                        <a:cs typeface="微软雅黑" panose="020B0503020204020204" charset="-122"/>
                        <a:sym typeface="+mn-ea"/>
                      </a:rPr>
                      <a:t>http</a:t>
                    </a:r>
                    <a:endParaRPr sz="1600">
                      <a:solidFill>
                        <a:schemeClr val="dk1"/>
                      </a:solidFill>
                      <a:latin typeface="微软雅黑" panose="020B0503020204020204" charset="-122"/>
                      <a:ea typeface="微软雅黑" panose="020B0503020204020204" charset="-122"/>
                      <a:cs typeface="微软雅黑" panose="020B0503020204020204" charset="-122"/>
                      <a:sym typeface="+mn-ea"/>
                    </a:endParaRPr>
                  </a:p>
                  <a:p>
                    <a:pPr marL="628650" lvl="1" indent="-171450">
                      <a:lnSpc>
                        <a:spcPct val="100000"/>
                      </a:lnSpc>
                      <a:spcBef>
                        <a:spcPct val="0"/>
                      </a:spcBef>
                      <a:spcAft>
                        <a:spcPct val="15000"/>
                      </a:spcAft>
                      <a:buFont typeface="Wingdings" panose="05000000000000000000" charset="0"/>
                      <a:buChar char="l"/>
                    </a:pPr>
                    <a:r>
                      <a:rPr lang="en-US" sz="1600">
                        <a:solidFill>
                          <a:schemeClr val="dk1"/>
                        </a:solidFill>
                        <a:latin typeface="微软雅黑" panose="020B0503020204020204" charset="-122"/>
                        <a:ea typeface="微软雅黑" panose="020B0503020204020204" charset="-122"/>
                        <a:cs typeface="微软雅黑" panose="020B0503020204020204" charset="-122"/>
                        <a:sym typeface="+mn-ea"/>
                      </a:rPr>
                      <a:t>rest</a:t>
                    </a:r>
                    <a:endParaRPr lang="en-US" sz="1600">
                      <a:solidFill>
                        <a:schemeClr val="dk1"/>
                      </a:solidFill>
                      <a:latin typeface="微软雅黑" panose="020B0503020204020204" charset="-122"/>
                      <a:ea typeface="微软雅黑" panose="020B0503020204020204" charset="-122"/>
                      <a:cs typeface="微软雅黑" panose="020B0503020204020204" charset="-122"/>
                      <a:sym typeface="+mn-ea"/>
                    </a:endParaRPr>
                  </a:p>
                  <a:p>
                    <a:pPr marL="628650" lvl="1" indent="-171450">
                      <a:lnSpc>
                        <a:spcPct val="100000"/>
                      </a:lnSpc>
                      <a:spcBef>
                        <a:spcPct val="0"/>
                      </a:spcBef>
                      <a:spcAft>
                        <a:spcPct val="15000"/>
                      </a:spcAft>
                      <a:buFont typeface="Wingdings" panose="05000000000000000000" charset="0"/>
                      <a:buChar char="l"/>
                    </a:pPr>
                    <a:r>
                      <a:rPr lang="en-US" sz="1600">
                        <a:solidFill>
                          <a:schemeClr val="dk1"/>
                        </a:solidFill>
                        <a:latin typeface="微软雅黑" panose="020B0503020204020204" charset="-122"/>
                        <a:ea typeface="微软雅黑" panose="020B0503020204020204" charset="-122"/>
                        <a:cs typeface="微软雅黑" panose="020B0503020204020204" charset="-122"/>
                        <a:sym typeface="+mn-ea"/>
                      </a:rPr>
                      <a:t>json</a:t>
                    </a:r>
                    <a:endParaRPr lang="en-US" sz="1600">
                      <a:solidFill>
                        <a:schemeClr val="dk1"/>
                      </a:solidFill>
                      <a:latin typeface="微软雅黑" panose="020B0503020204020204" charset="-122"/>
                      <a:ea typeface="微软雅黑" panose="020B0503020204020204" charset="-122"/>
                      <a:cs typeface="微软雅黑" panose="020B0503020204020204" charset="-122"/>
                      <a:sym typeface="+mn-ea"/>
                    </a:endParaRPr>
                  </a:p>
                  <a:p>
                    <a:pPr lvl="1" indent="0">
                      <a:lnSpc>
                        <a:spcPct val="100000"/>
                      </a:lnSpc>
                      <a:spcBef>
                        <a:spcPct val="0"/>
                      </a:spcBef>
                      <a:spcAft>
                        <a:spcPct val="15000"/>
                      </a:spcAft>
                      <a:buFont typeface="Wingdings" panose="05000000000000000000" charset="0"/>
                      <a:buNone/>
                    </a:pPr>
                    <a:endParaRPr lang="en-US" sz="1600">
                      <a:solidFill>
                        <a:schemeClr val="dk1"/>
                      </a:solidFill>
                      <a:latin typeface="微软雅黑" panose="020B0503020204020204" charset="-122"/>
                      <a:ea typeface="微软雅黑" panose="020B0503020204020204" charset="-122"/>
                      <a:cs typeface="微软雅黑" panose="020B0503020204020204" charset="-122"/>
                      <a:sym typeface="+mn-ea"/>
                    </a:endParaRPr>
                  </a:p>
                  <a:p>
                    <a:pPr lvl="1" indent="0">
                      <a:lnSpc>
                        <a:spcPct val="100000"/>
                      </a:lnSpc>
                      <a:spcBef>
                        <a:spcPct val="0"/>
                      </a:spcBef>
                      <a:spcAft>
                        <a:spcPct val="15000"/>
                      </a:spcAft>
                      <a:buFont typeface="Wingdings" panose="05000000000000000000" charset="0"/>
                      <a:buNone/>
                    </a:pPr>
                    <a:endParaRPr lang="zh-CN" altLang="en-US" sz="160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
                <p:nvSpPr>
                  <p:cNvPr id="54" name="文本框 53"/>
                  <p:cNvSpPr txBox="1"/>
                  <p:nvPr>
                    <p:custDataLst>
                      <p:tags r:id="rId6"/>
                    </p:custDataLst>
                  </p:nvPr>
                </p:nvSpPr>
                <p:spPr>
                  <a:xfrm>
                    <a:off x="8406131" y="3484263"/>
                    <a:ext cx="1170940" cy="368310"/>
                  </a:xfrm>
                  <a:prstGeom prst="rect">
                    <a:avLst/>
                  </a:prstGeom>
                  <a:noFill/>
                </p:spPr>
                <p:txBody>
                  <a:bodyPr wrap="square">
                    <a:spAutoFit/>
                  </a:bodyPr>
                  <a:p>
                    <a:pPr marL="54610" lvl="0" algn="l" fontAlgn="base">
                      <a:spcAft>
                        <a:spcPts val="300"/>
                      </a:spcAft>
                      <a:buClrTx/>
                      <a:buSzTx/>
                      <a:buFontTx/>
                    </a:pPr>
                    <a:r>
                      <a:rPr lang="zh-CN" altLang="en-US" sz="1600" b="1">
                        <a:solidFill>
                          <a:srgbClr val="00B0F0"/>
                        </a:solidFill>
                        <a:sym typeface="+mn-ea"/>
                      </a:rPr>
                      <a:t>WEB服务</a:t>
                    </a:r>
                    <a:endParaRPr lang="zh-CN" altLang="en-US" sz="1600" b="1">
                      <a:solidFill>
                        <a:srgbClr val="00B0F0"/>
                      </a:solidFill>
                      <a:sym typeface="+mn-ea"/>
                    </a:endParaRPr>
                  </a:p>
                </p:txBody>
              </p:sp>
            </p:grpSp>
            <p:sp>
              <p:nvSpPr>
                <p:cNvPr id="55" name="弧形 54"/>
                <p:cNvSpPr/>
                <p:nvPr>
                  <p:custDataLst>
                    <p:tags r:id="rId7"/>
                  </p:custDataLst>
                </p:nvPr>
              </p:nvSpPr>
              <p:spPr>
                <a:xfrm>
                  <a:off x="2041540" y="2464923"/>
                  <a:ext cx="861680" cy="861680"/>
                </a:xfrm>
                <a:prstGeom prst="arc">
                  <a:avLst>
                    <a:gd name="adj1" fmla="val 16200000"/>
                    <a:gd name="adj2" fmla="val 9069440"/>
                  </a:avLst>
                </a:prstGeom>
                <a:ln w="3175">
                  <a:solidFill>
                    <a:schemeClr val="accent3">
                      <a:lumMod val="75000"/>
                    </a:schemeClr>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56" name="文本框 55"/>
                <p:cNvSpPr txBox="1"/>
                <p:nvPr>
                  <p:custDataLst>
                    <p:tags r:id="rId8"/>
                  </p:custDataLst>
                </p:nvPr>
              </p:nvSpPr>
              <p:spPr>
                <a:xfrm>
                  <a:off x="2870398" y="5411283"/>
                  <a:ext cx="767952" cy="637433"/>
                </a:xfrm>
                <a:prstGeom prst="rect">
                  <a:avLst/>
                </a:prstGeom>
                <a:noFill/>
              </p:spPr>
              <p:txBody>
                <a:bodyPr wrap="square" rtlCol="0">
                  <a:spAutoFit/>
                </a:bodyPr>
                <a:p>
                  <a:r>
                    <a:rPr lang="en-US" altLang="zh-CN" sz="3200" b="1" i="1" dirty="0">
                      <a:solidFill>
                        <a:schemeClr val="accent3">
                          <a:lumMod val="75000"/>
                        </a:schemeClr>
                      </a:solidFill>
                    </a:rPr>
                    <a:t>01</a:t>
                  </a:r>
                  <a:endParaRPr lang="zh-CN" altLang="en-US" sz="3200" b="1" i="1" dirty="0">
                    <a:solidFill>
                      <a:schemeClr val="accent3">
                        <a:lumMod val="75000"/>
                      </a:schemeClr>
                    </a:solidFill>
                  </a:endParaRPr>
                </a:p>
              </p:txBody>
            </p:sp>
          </p:grpSp>
          <p:grpSp>
            <p:nvGrpSpPr>
              <p:cNvPr id="57" name="组合 56"/>
              <p:cNvGrpSpPr/>
              <p:nvPr/>
            </p:nvGrpSpPr>
            <p:grpSpPr>
              <a:xfrm>
                <a:off x="4832858" y="2276829"/>
                <a:ext cx="2385061" cy="3771887"/>
                <a:chOff x="4832858" y="2276829"/>
                <a:chExt cx="2385061" cy="3771887"/>
              </a:xfrm>
            </p:grpSpPr>
            <p:grpSp>
              <p:nvGrpSpPr>
                <p:cNvPr id="58" name="组合 57"/>
                <p:cNvGrpSpPr/>
                <p:nvPr/>
              </p:nvGrpSpPr>
              <p:grpSpPr>
                <a:xfrm>
                  <a:off x="4832858" y="2276829"/>
                  <a:ext cx="2385060" cy="3741420"/>
                  <a:chOff x="7795261" y="2397778"/>
                  <a:chExt cx="2385060" cy="3741420"/>
                </a:xfrm>
              </p:grpSpPr>
              <p:sp>
                <p:nvSpPr>
                  <p:cNvPr id="59" name="矩形: 圆角 29"/>
                  <p:cNvSpPr/>
                  <p:nvPr>
                    <p:custDataLst>
                      <p:tags r:id="rId9"/>
                    </p:custDataLst>
                  </p:nvPr>
                </p:nvSpPr>
                <p:spPr>
                  <a:xfrm>
                    <a:off x="7795261" y="2397778"/>
                    <a:ext cx="2385060" cy="3741420"/>
                  </a:xfrm>
                  <a:prstGeom prst="roundRect">
                    <a:avLst>
                      <a:gd name="adj" fmla="val 3568"/>
                    </a:avLst>
                  </a:prstGeom>
                  <a:gradFill>
                    <a:gsLst>
                      <a:gs pos="0">
                        <a:schemeClr val="bg1"/>
                      </a:gs>
                      <a:gs pos="100000">
                        <a:schemeClr val="accent3">
                          <a:lumMod val="20000"/>
                          <a:lumOff val="80000"/>
                        </a:schemeClr>
                      </a:gs>
                    </a:gsLst>
                    <a:lin ang="5400000" scaled="1"/>
                  </a:gradFill>
                  <a:ln w="9525">
                    <a:gradFill>
                      <a:gsLst>
                        <a:gs pos="0">
                          <a:schemeClr val="bg1"/>
                        </a:gs>
                        <a:gs pos="100000">
                          <a:schemeClr val="bg1"/>
                        </a:gs>
                      </a:gsLst>
                      <a:lin ang="5400000" scaled="1"/>
                    </a:gradFill>
                  </a:ln>
                  <a:effectLst>
                    <a:outerShdw blurRad="177800" sx="102000" sy="102000" algn="ctr" rotWithShape="0">
                      <a:schemeClr val="accent3">
                        <a:lumMod val="75000"/>
                        <a:alpha val="2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0" name="椭圆 59"/>
                  <p:cNvSpPr/>
                  <p:nvPr>
                    <p:custDataLst>
                      <p:tags r:id="rId10"/>
                    </p:custDataLst>
                  </p:nvPr>
                </p:nvSpPr>
                <p:spPr>
                  <a:xfrm>
                    <a:off x="8633936" y="2662738"/>
                    <a:ext cx="707710" cy="707949"/>
                  </a:xfrm>
                  <a:prstGeom prst="ellipse">
                    <a:avLst/>
                  </a:prstGeom>
                  <a:gradFill flip="none" rotWithShape="1">
                    <a:gsLst>
                      <a:gs pos="100000">
                        <a:srgbClr val="F9F8CA"/>
                      </a:gs>
                      <a:gs pos="6000">
                        <a:srgbClr val="4EAADD"/>
                      </a:gs>
                    </a:gsLst>
                    <a:lin ang="18900000" scaled="1"/>
                  </a:gradFill>
                  <a:ln>
                    <a:noFill/>
                  </a:ln>
                  <a:effectLst>
                    <a:outerShdw blurRad="114300" sx="102000" sy="102000" algn="ctr"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p>
                    <a:pPr algn="ctr"/>
                    <a:r>
                      <a:rPr lang="en-US" altLang="zh-CN" b="1" dirty="0">
                        <a:solidFill>
                          <a:schemeClr val="bg1"/>
                        </a:solidFill>
                      </a:rPr>
                      <a:t>2</a:t>
                    </a:r>
                    <a:endParaRPr lang="en-US" altLang="zh-CN" b="1" dirty="0">
                      <a:solidFill>
                        <a:schemeClr val="bg1"/>
                      </a:solidFill>
                    </a:endParaRPr>
                  </a:p>
                </p:txBody>
              </p:sp>
              <p:sp>
                <p:nvSpPr>
                  <p:cNvPr id="61" name="文本框 60"/>
                  <p:cNvSpPr txBox="1"/>
                  <p:nvPr>
                    <p:custDataLst>
                      <p:tags r:id="rId11"/>
                    </p:custDataLst>
                  </p:nvPr>
                </p:nvSpPr>
                <p:spPr>
                  <a:xfrm>
                    <a:off x="8017783" y="4181689"/>
                    <a:ext cx="2088606" cy="1662597"/>
                  </a:xfrm>
                  <a:prstGeom prst="rect">
                    <a:avLst/>
                  </a:prstGeom>
                  <a:noFill/>
                </p:spPr>
                <p:txBody>
                  <a:bodyPr wrap="square">
                    <a:spAutoFit/>
                  </a:bodyPr>
                  <a:p>
                    <a:pPr marL="628650" lvl="1" indent="-171450">
                      <a:lnSpc>
                        <a:spcPct val="100000"/>
                      </a:lnSpc>
                      <a:spcBef>
                        <a:spcPct val="0"/>
                      </a:spcBef>
                      <a:spcAft>
                        <a:spcPct val="15000"/>
                      </a:spcAft>
                      <a:buFont typeface="Wingdings" panose="05000000000000000000" charset="0"/>
                      <a:buChar char="l"/>
                    </a:pPr>
                    <a:r>
                      <a:rPr lang="zh-CN" altLang="en-US" sz="1600">
                        <a:solidFill>
                          <a:schemeClr val="dk1"/>
                        </a:solidFill>
                        <a:latin typeface="微软雅黑" panose="020B0503020204020204" charset="-122"/>
                        <a:ea typeface="微软雅黑" panose="020B0503020204020204" charset="-122"/>
                        <a:sym typeface="+mn-ea"/>
                      </a:rPr>
                      <a:t>注册</a:t>
                    </a:r>
                    <a:endParaRPr lang="zh-CN" altLang="en-US" sz="1600">
                      <a:solidFill>
                        <a:schemeClr val="dk1"/>
                      </a:solidFill>
                      <a:latin typeface="微软雅黑" panose="020B0503020204020204" charset="-122"/>
                      <a:ea typeface="微软雅黑" panose="020B0503020204020204" charset="-122"/>
                      <a:sym typeface="+mn-ea"/>
                    </a:endParaRPr>
                  </a:p>
                  <a:p>
                    <a:pPr marL="628650" lvl="1" indent="-171450">
                      <a:lnSpc>
                        <a:spcPct val="100000"/>
                      </a:lnSpc>
                      <a:spcBef>
                        <a:spcPct val="0"/>
                      </a:spcBef>
                      <a:spcAft>
                        <a:spcPct val="15000"/>
                      </a:spcAft>
                      <a:buFont typeface="Wingdings" panose="05000000000000000000" charset="0"/>
                      <a:buChar char="l"/>
                    </a:pPr>
                    <a:r>
                      <a:rPr lang="zh-CN" altLang="en-US" sz="1600">
                        <a:solidFill>
                          <a:schemeClr val="dk1"/>
                        </a:solidFill>
                        <a:latin typeface="微软雅黑" panose="020B0503020204020204" charset="-122"/>
                        <a:ea typeface="微软雅黑" panose="020B0503020204020204" charset="-122"/>
                        <a:sym typeface="+mn-ea"/>
                      </a:rPr>
                      <a:t>发现</a:t>
                    </a:r>
                    <a:endParaRPr lang="zh-CN" altLang="en-US" sz="1600">
                      <a:solidFill>
                        <a:schemeClr val="dk1"/>
                      </a:solidFill>
                      <a:latin typeface="微软雅黑" panose="020B0503020204020204" charset="-122"/>
                      <a:ea typeface="微软雅黑" panose="020B0503020204020204" charset="-122"/>
                      <a:sym typeface="+mn-ea"/>
                    </a:endParaRPr>
                  </a:p>
                  <a:p>
                    <a:pPr marL="628650" lvl="1" indent="-171450">
                      <a:lnSpc>
                        <a:spcPct val="100000"/>
                      </a:lnSpc>
                      <a:spcBef>
                        <a:spcPct val="0"/>
                      </a:spcBef>
                      <a:spcAft>
                        <a:spcPct val="15000"/>
                      </a:spcAft>
                      <a:buFont typeface="Wingdings" panose="05000000000000000000" charset="0"/>
                      <a:buChar char="l"/>
                    </a:pPr>
                    <a:r>
                      <a:rPr lang="zh-CN" altLang="en-US" sz="1600">
                        <a:solidFill>
                          <a:schemeClr val="dk1"/>
                        </a:solidFill>
                        <a:latin typeface="微软雅黑" panose="020B0503020204020204" charset="-122"/>
                        <a:ea typeface="微软雅黑" panose="020B0503020204020204" charset="-122"/>
                        <a:sym typeface="+mn-ea"/>
                      </a:rPr>
                      <a:t>下线</a:t>
                    </a:r>
                    <a:endParaRPr lang="zh-CN" altLang="en-US" sz="1600">
                      <a:solidFill>
                        <a:schemeClr val="dk1"/>
                      </a:solidFill>
                      <a:latin typeface="微软雅黑" panose="020B0503020204020204" charset="-122"/>
                      <a:ea typeface="微软雅黑" panose="020B0503020204020204" charset="-122"/>
                      <a:sym typeface="+mn-ea"/>
                    </a:endParaRPr>
                  </a:p>
                  <a:p>
                    <a:pPr marL="628650" lvl="1" indent="-171450">
                      <a:lnSpc>
                        <a:spcPct val="100000"/>
                      </a:lnSpc>
                      <a:spcBef>
                        <a:spcPct val="0"/>
                      </a:spcBef>
                      <a:spcAft>
                        <a:spcPct val="15000"/>
                      </a:spcAft>
                      <a:buFont typeface="Wingdings" panose="05000000000000000000" charset="0"/>
                      <a:buChar char="l"/>
                    </a:pPr>
                    <a:endParaRPr lang="zh-CN" altLang="en-US" sz="1600">
                      <a:solidFill>
                        <a:schemeClr val="dk1"/>
                      </a:solidFill>
                      <a:latin typeface="微软雅黑" panose="020B0503020204020204" charset="-122"/>
                      <a:ea typeface="微软雅黑" panose="020B0503020204020204" charset="-122"/>
                      <a:sym typeface="+mn-ea"/>
                    </a:endParaRPr>
                  </a:p>
                  <a:p>
                    <a:pPr lvl="1" indent="0">
                      <a:lnSpc>
                        <a:spcPct val="100000"/>
                      </a:lnSpc>
                      <a:spcBef>
                        <a:spcPct val="0"/>
                      </a:spcBef>
                      <a:spcAft>
                        <a:spcPct val="15000"/>
                      </a:spcAft>
                      <a:buFont typeface="Wingdings" panose="05000000000000000000" charset="0"/>
                      <a:buNone/>
                    </a:pPr>
                    <a:endParaRPr lang="zh-CN" altLang="en-US" sz="1600">
                      <a:solidFill>
                        <a:schemeClr val="dk1"/>
                      </a:solidFill>
                      <a:latin typeface="微软雅黑" panose="020B0503020204020204" charset="-122"/>
                      <a:ea typeface="微软雅黑" panose="020B0503020204020204" charset="-122"/>
                      <a:sym typeface="+mn-ea"/>
                    </a:endParaRPr>
                  </a:p>
                </p:txBody>
              </p:sp>
              <p:sp>
                <p:nvSpPr>
                  <p:cNvPr id="62" name="文本框 61"/>
                  <p:cNvSpPr txBox="1"/>
                  <p:nvPr>
                    <p:custDataLst>
                      <p:tags r:id="rId12"/>
                    </p:custDataLst>
                  </p:nvPr>
                </p:nvSpPr>
                <p:spPr>
                  <a:xfrm>
                    <a:off x="8103871" y="3484442"/>
                    <a:ext cx="1767841" cy="368310"/>
                  </a:xfrm>
                  <a:prstGeom prst="rect">
                    <a:avLst/>
                  </a:prstGeom>
                  <a:noFill/>
                </p:spPr>
                <p:txBody>
                  <a:bodyPr wrap="square">
                    <a:spAutoFit/>
                  </a:bodyPr>
                  <a:p>
                    <a:pPr lvl="0" algn="ctr">
                      <a:buClrTx/>
                      <a:buSzTx/>
                      <a:buFontTx/>
                    </a:pPr>
                    <a:r>
                      <a:rPr lang="zh-CN" altLang="en-US" sz="1600" b="1">
                        <a:solidFill>
                          <a:srgbClr val="00B0F0"/>
                        </a:solidFill>
                        <a:sym typeface="+mn-ea"/>
                      </a:rPr>
                      <a:t>注册发现</a:t>
                    </a:r>
                    <a:endParaRPr lang="zh-CN" altLang="en-US" sz="1600" b="1" dirty="0">
                      <a:solidFill>
                        <a:schemeClr val="accent3">
                          <a:lumMod val="75000"/>
                        </a:schemeClr>
                      </a:solidFill>
                      <a:sym typeface="+mn-ea"/>
                    </a:endParaRPr>
                  </a:p>
                </p:txBody>
              </p:sp>
            </p:grpSp>
            <p:sp>
              <p:nvSpPr>
                <p:cNvPr id="63" name="弧形 62"/>
                <p:cNvSpPr/>
                <p:nvPr>
                  <p:custDataLst>
                    <p:tags r:id="rId13"/>
                  </p:custDataLst>
                </p:nvPr>
              </p:nvSpPr>
              <p:spPr>
                <a:xfrm>
                  <a:off x="5594548" y="2464923"/>
                  <a:ext cx="861680" cy="861680"/>
                </a:xfrm>
                <a:prstGeom prst="arc">
                  <a:avLst>
                    <a:gd name="adj1" fmla="val 16200000"/>
                    <a:gd name="adj2" fmla="val 9069440"/>
                  </a:avLst>
                </a:prstGeom>
                <a:ln w="3175">
                  <a:solidFill>
                    <a:schemeClr val="accent3">
                      <a:lumMod val="75000"/>
                    </a:schemeClr>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64" name="文本框 63"/>
                <p:cNvSpPr txBox="1"/>
                <p:nvPr>
                  <p:custDataLst>
                    <p:tags r:id="rId14"/>
                  </p:custDataLst>
                </p:nvPr>
              </p:nvSpPr>
              <p:spPr>
                <a:xfrm>
                  <a:off x="6449967" y="5411283"/>
                  <a:ext cx="767952" cy="637433"/>
                </a:xfrm>
                <a:prstGeom prst="rect">
                  <a:avLst/>
                </a:prstGeom>
                <a:noFill/>
              </p:spPr>
              <p:txBody>
                <a:bodyPr wrap="square" rtlCol="0">
                  <a:spAutoFit/>
                </a:bodyPr>
                <a:p>
                  <a:r>
                    <a:rPr lang="en-US" altLang="zh-CN" sz="3200" b="1" i="1" dirty="0">
                      <a:solidFill>
                        <a:schemeClr val="accent3">
                          <a:lumMod val="75000"/>
                        </a:schemeClr>
                      </a:solidFill>
                    </a:rPr>
                    <a:t>02</a:t>
                  </a:r>
                  <a:endParaRPr lang="zh-CN" altLang="en-US" sz="3200" b="1" i="1" dirty="0">
                    <a:solidFill>
                      <a:schemeClr val="accent3">
                        <a:lumMod val="75000"/>
                      </a:schemeClr>
                    </a:solidFill>
                  </a:endParaRPr>
                </a:p>
              </p:txBody>
            </p:sp>
          </p:grpSp>
          <p:grpSp>
            <p:nvGrpSpPr>
              <p:cNvPr id="65" name="组合 64"/>
              <p:cNvGrpSpPr/>
              <p:nvPr/>
            </p:nvGrpSpPr>
            <p:grpSpPr>
              <a:xfrm>
                <a:off x="8389620" y="2276829"/>
                <a:ext cx="2406561" cy="3771887"/>
                <a:chOff x="8389620" y="2276829"/>
                <a:chExt cx="2406561" cy="3771887"/>
              </a:xfrm>
            </p:grpSpPr>
            <p:grpSp>
              <p:nvGrpSpPr>
                <p:cNvPr id="66" name="组合 65"/>
                <p:cNvGrpSpPr/>
                <p:nvPr/>
              </p:nvGrpSpPr>
              <p:grpSpPr>
                <a:xfrm>
                  <a:off x="8389620" y="2276829"/>
                  <a:ext cx="2385060" cy="3741420"/>
                  <a:chOff x="7795261" y="2397778"/>
                  <a:chExt cx="2385060" cy="3741420"/>
                </a:xfrm>
              </p:grpSpPr>
              <p:sp>
                <p:nvSpPr>
                  <p:cNvPr id="67" name="矩形: 圆角 17"/>
                  <p:cNvSpPr/>
                  <p:nvPr>
                    <p:custDataLst>
                      <p:tags r:id="rId15"/>
                    </p:custDataLst>
                  </p:nvPr>
                </p:nvSpPr>
                <p:spPr>
                  <a:xfrm>
                    <a:off x="7795261" y="2397778"/>
                    <a:ext cx="2385060" cy="3741420"/>
                  </a:xfrm>
                  <a:prstGeom prst="roundRect">
                    <a:avLst>
                      <a:gd name="adj" fmla="val 3568"/>
                    </a:avLst>
                  </a:prstGeom>
                  <a:gradFill>
                    <a:gsLst>
                      <a:gs pos="0">
                        <a:schemeClr val="bg1"/>
                      </a:gs>
                      <a:gs pos="100000">
                        <a:schemeClr val="accent3">
                          <a:lumMod val="20000"/>
                          <a:lumOff val="80000"/>
                        </a:schemeClr>
                      </a:gs>
                    </a:gsLst>
                    <a:lin ang="5400000" scaled="1"/>
                  </a:gradFill>
                  <a:ln w="9525">
                    <a:gradFill>
                      <a:gsLst>
                        <a:gs pos="0">
                          <a:schemeClr val="bg1"/>
                        </a:gs>
                        <a:gs pos="100000">
                          <a:schemeClr val="bg1"/>
                        </a:gs>
                      </a:gsLst>
                      <a:lin ang="5400000" scaled="1"/>
                    </a:gradFill>
                  </a:ln>
                  <a:effectLst>
                    <a:outerShdw blurRad="177800" sx="102000" sy="102000" algn="ctr" rotWithShape="0">
                      <a:schemeClr val="accent3">
                        <a:lumMod val="75000"/>
                        <a:alpha val="26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8" name="椭圆 67"/>
                  <p:cNvSpPr/>
                  <p:nvPr>
                    <p:custDataLst>
                      <p:tags r:id="rId16"/>
                    </p:custDataLst>
                  </p:nvPr>
                </p:nvSpPr>
                <p:spPr>
                  <a:xfrm>
                    <a:off x="8633936" y="2662738"/>
                    <a:ext cx="707710" cy="707949"/>
                  </a:xfrm>
                  <a:prstGeom prst="ellipse">
                    <a:avLst/>
                  </a:prstGeom>
                  <a:gradFill flip="none" rotWithShape="1">
                    <a:gsLst>
                      <a:gs pos="100000">
                        <a:srgbClr val="F9F8CA"/>
                      </a:gs>
                      <a:gs pos="6000">
                        <a:srgbClr val="4EAADD"/>
                      </a:gs>
                    </a:gsLst>
                    <a:lin ang="18900000" scaled="1"/>
                  </a:gradFill>
                  <a:ln>
                    <a:noFill/>
                  </a:ln>
                  <a:effectLst>
                    <a:outerShdw blurRad="114300" sx="102000" sy="102000" algn="ctr"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p>
                    <a:pPr algn="ctr"/>
                    <a:r>
                      <a:rPr lang="en-US" altLang="zh-CN" b="1" dirty="0">
                        <a:solidFill>
                          <a:schemeClr val="bg1"/>
                        </a:solidFill>
                      </a:rPr>
                      <a:t>3</a:t>
                    </a:r>
                    <a:endParaRPr lang="en-US" altLang="zh-CN" b="1" dirty="0">
                      <a:solidFill>
                        <a:schemeClr val="bg1"/>
                      </a:solidFill>
                    </a:endParaRPr>
                  </a:p>
                </p:txBody>
              </p:sp>
              <p:sp>
                <p:nvSpPr>
                  <p:cNvPr id="69" name="文本框 68"/>
                  <p:cNvSpPr txBox="1"/>
                  <p:nvPr>
                    <p:custDataLst>
                      <p:tags r:id="rId17"/>
                    </p:custDataLst>
                  </p:nvPr>
                </p:nvSpPr>
                <p:spPr>
                  <a:xfrm>
                    <a:off x="7943488" y="3971504"/>
                    <a:ext cx="2088606" cy="1217990"/>
                  </a:xfrm>
                  <a:prstGeom prst="rect">
                    <a:avLst/>
                  </a:prstGeom>
                  <a:noFill/>
                </p:spPr>
                <p:txBody>
                  <a:bodyPr wrap="square">
                    <a:spAutoFit/>
                  </a:bodyPr>
                  <a:p>
                    <a:pPr lvl="1" indent="0" algn="l">
                      <a:lnSpc>
                        <a:spcPct val="100000"/>
                      </a:lnSpc>
                      <a:spcAft>
                        <a:spcPct val="15000"/>
                      </a:spcAft>
                      <a:buClrTx/>
                      <a:buSzTx/>
                      <a:buFont typeface="Wingdings" panose="05000000000000000000" charset="0"/>
                      <a:buNone/>
                    </a:pPr>
                    <a:endParaRPr lang="zh-CN" altLang="en-US" sz="1000">
                      <a:solidFill>
                        <a:schemeClr val="dk1"/>
                      </a:solidFill>
                      <a:latin typeface="微软雅黑" panose="020B0503020204020204" charset="-122"/>
                      <a:ea typeface="微软雅黑" panose="020B0503020204020204" charset="-122"/>
                      <a:cs typeface="微软雅黑" panose="020B0503020204020204" charset="-122"/>
                      <a:sym typeface="+mn-ea"/>
                    </a:endParaRPr>
                  </a:p>
                  <a:p>
                    <a:pPr marL="628650" lvl="1" indent="-171450" algn="l">
                      <a:lnSpc>
                        <a:spcPct val="100000"/>
                      </a:lnSpc>
                      <a:spcAft>
                        <a:spcPct val="15000"/>
                      </a:spcAft>
                      <a:buClrTx/>
                      <a:buSzTx/>
                      <a:buFont typeface="Wingdings" panose="05000000000000000000" charset="0"/>
                      <a:buChar char="l"/>
                    </a:pPr>
                    <a:r>
                      <a:rPr lang="zh-CN" altLang="en-US" sz="1600">
                        <a:solidFill>
                          <a:schemeClr val="dk1"/>
                        </a:solidFill>
                        <a:latin typeface="微软雅黑" panose="020B0503020204020204" charset="-122"/>
                        <a:ea typeface="微软雅黑" panose="020B0503020204020204" charset="-122"/>
                        <a:cs typeface="微软雅黑" panose="020B0503020204020204" charset="-122"/>
                        <a:sym typeface="+mn-ea"/>
                      </a:rPr>
                      <a:t>负载均衡</a:t>
                    </a:r>
                    <a:endParaRPr lang="zh-CN" altLang="en-US" sz="1600">
                      <a:solidFill>
                        <a:schemeClr val="dk1"/>
                      </a:solidFill>
                      <a:latin typeface="微软雅黑" panose="020B0503020204020204" charset="-122"/>
                      <a:ea typeface="微软雅黑" panose="020B0503020204020204" charset="-122"/>
                      <a:cs typeface="微软雅黑" panose="020B0503020204020204" charset="-122"/>
                      <a:sym typeface="+mn-ea"/>
                    </a:endParaRPr>
                  </a:p>
                  <a:p>
                    <a:pPr marL="628650" lvl="1" indent="-171450" algn="l">
                      <a:lnSpc>
                        <a:spcPct val="100000"/>
                      </a:lnSpc>
                      <a:spcAft>
                        <a:spcPct val="15000"/>
                      </a:spcAft>
                      <a:buClrTx/>
                      <a:buSzTx/>
                      <a:buFont typeface="Wingdings" panose="05000000000000000000" charset="0"/>
                      <a:buChar char="l"/>
                    </a:pPr>
                    <a:r>
                      <a:rPr lang="zh-CN" altLang="en-US" sz="1600">
                        <a:solidFill>
                          <a:schemeClr val="dk1"/>
                        </a:solidFill>
                        <a:latin typeface="微软雅黑" panose="020B0503020204020204" charset="-122"/>
                        <a:ea typeface="微软雅黑" panose="020B0503020204020204" charset="-122"/>
                        <a:cs typeface="微软雅黑" panose="020B0503020204020204" charset="-122"/>
                        <a:sym typeface="+mn-ea"/>
                      </a:rPr>
                      <a:t>请求构造</a:t>
                    </a:r>
                    <a:endParaRPr lang="zh-CN" altLang="en-US" sz="1600">
                      <a:solidFill>
                        <a:schemeClr val="dk1"/>
                      </a:solidFill>
                      <a:latin typeface="微软雅黑" panose="020B0503020204020204" charset="-122"/>
                      <a:ea typeface="微软雅黑" panose="020B0503020204020204" charset="-122"/>
                      <a:cs typeface="微软雅黑" panose="020B0503020204020204" charset="-122"/>
                      <a:sym typeface="+mn-ea"/>
                    </a:endParaRPr>
                  </a:p>
                  <a:p>
                    <a:pPr marL="628650" lvl="1" indent="-171450" algn="l">
                      <a:lnSpc>
                        <a:spcPct val="100000"/>
                      </a:lnSpc>
                      <a:spcAft>
                        <a:spcPct val="15000"/>
                      </a:spcAft>
                      <a:buClrTx/>
                      <a:buSzTx/>
                      <a:buFont typeface="Wingdings" panose="05000000000000000000" charset="0"/>
                      <a:buChar char="l"/>
                    </a:pPr>
                    <a:r>
                      <a:rPr lang="zh-CN" altLang="en-US" sz="1600">
                        <a:solidFill>
                          <a:schemeClr val="dk1"/>
                        </a:solidFill>
                        <a:latin typeface="微软雅黑" panose="020B0503020204020204" charset="-122"/>
                        <a:ea typeface="微软雅黑" panose="020B0503020204020204" charset="-122"/>
                        <a:cs typeface="微软雅黑" panose="020B0503020204020204" charset="-122"/>
                        <a:sym typeface="+mn-ea"/>
                      </a:rPr>
                      <a:t>响应解析</a:t>
                    </a:r>
                    <a:endParaRPr lang="zh-CN" altLang="en-US" sz="1600">
                      <a:solidFill>
                        <a:schemeClr val="dk1"/>
                      </a:solidFill>
                      <a:latin typeface="微软雅黑" panose="020B0503020204020204" charset="-122"/>
                      <a:ea typeface="微软雅黑" panose="020B0503020204020204" charset="-122"/>
                      <a:cs typeface="微软雅黑" panose="020B0503020204020204" charset="-122"/>
                      <a:sym typeface="+mn-ea"/>
                    </a:endParaRPr>
                  </a:p>
                </p:txBody>
              </p:sp>
              <p:sp>
                <p:nvSpPr>
                  <p:cNvPr id="70" name="文本框 69"/>
                  <p:cNvSpPr txBox="1"/>
                  <p:nvPr>
                    <p:custDataLst>
                      <p:tags r:id="rId18"/>
                    </p:custDataLst>
                  </p:nvPr>
                </p:nvSpPr>
                <p:spPr>
                  <a:xfrm>
                    <a:off x="8103871" y="3484442"/>
                    <a:ext cx="1767841" cy="368310"/>
                  </a:xfrm>
                  <a:prstGeom prst="rect">
                    <a:avLst/>
                  </a:prstGeom>
                  <a:noFill/>
                </p:spPr>
                <p:txBody>
                  <a:bodyPr wrap="square">
                    <a:spAutoFit/>
                  </a:bodyPr>
                  <a:p>
                    <a:pPr algn="ctr"/>
                    <a:r>
                      <a:rPr lang="zh-CN" altLang="en-US" sz="1600" b="1">
                        <a:solidFill>
                          <a:srgbClr val="00B0F0"/>
                        </a:solidFill>
                      </a:rPr>
                      <a:t>远程过程调用</a:t>
                    </a:r>
                    <a:endParaRPr lang="zh-CN" altLang="en-US" sz="1600" b="1" dirty="0">
                      <a:solidFill>
                        <a:schemeClr val="accent3">
                          <a:lumMod val="75000"/>
                        </a:schemeClr>
                      </a:solidFill>
                    </a:endParaRPr>
                  </a:p>
                </p:txBody>
              </p:sp>
            </p:grpSp>
            <p:sp>
              <p:nvSpPr>
                <p:cNvPr id="71" name="弧形 70"/>
                <p:cNvSpPr/>
                <p:nvPr>
                  <p:custDataLst>
                    <p:tags r:id="rId19"/>
                  </p:custDataLst>
                </p:nvPr>
              </p:nvSpPr>
              <p:spPr>
                <a:xfrm>
                  <a:off x="9151309" y="2464923"/>
                  <a:ext cx="861680" cy="861680"/>
                </a:xfrm>
                <a:prstGeom prst="arc">
                  <a:avLst>
                    <a:gd name="adj1" fmla="val 16200000"/>
                    <a:gd name="adj2" fmla="val 9069440"/>
                  </a:avLst>
                </a:prstGeom>
                <a:ln w="3175">
                  <a:solidFill>
                    <a:schemeClr val="accent3">
                      <a:lumMod val="75000"/>
                    </a:schemeClr>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72" name="文本框 71"/>
                <p:cNvSpPr txBox="1"/>
                <p:nvPr>
                  <p:custDataLst>
                    <p:tags r:id="rId20"/>
                  </p:custDataLst>
                </p:nvPr>
              </p:nvSpPr>
              <p:spPr>
                <a:xfrm>
                  <a:off x="10028229" y="5411283"/>
                  <a:ext cx="767952" cy="637433"/>
                </a:xfrm>
                <a:prstGeom prst="rect">
                  <a:avLst/>
                </a:prstGeom>
                <a:noFill/>
              </p:spPr>
              <p:txBody>
                <a:bodyPr wrap="square" rtlCol="0">
                  <a:spAutoFit/>
                </a:bodyPr>
                <a:p>
                  <a:r>
                    <a:rPr lang="en-US" altLang="zh-CN" sz="3200" b="1" i="1" dirty="0">
                      <a:solidFill>
                        <a:schemeClr val="accent3">
                          <a:lumMod val="75000"/>
                        </a:schemeClr>
                      </a:solidFill>
                    </a:rPr>
                    <a:t>03</a:t>
                  </a:r>
                  <a:endParaRPr lang="zh-CN" altLang="en-US" sz="3200" b="1" i="1" dirty="0">
                    <a:solidFill>
                      <a:schemeClr val="accent3">
                        <a:lumMod val="75000"/>
                      </a:schemeClr>
                    </a:solidFill>
                  </a:endParaRPr>
                </a:p>
              </p:txBody>
            </p:sp>
          </p:grpSp>
        </p:grpSp>
        <p:sp>
          <p:nvSpPr>
            <p:cNvPr id="74" name="椭圆 73"/>
            <p:cNvSpPr/>
            <p:nvPr>
              <p:custDataLst>
                <p:tags r:id="rId21"/>
              </p:custDataLst>
            </p:nvPr>
          </p:nvSpPr>
          <p:spPr>
            <a:xfrm>
              <a:off x="7335951" y="3011483"/>
              <a:ext cx="757792" cy="757792"/>
            </a:xfrm>
            <a:prstGeom prst="ellipse">
              <a:avLst/>
            </a:prstGeom>
            <a:gradFill>
              <a:gsLst>
                <a:gs pos="0">
                  <a:schemeClr val="bg1"/>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grpSp>
      <p:sp>
        <p:nvSpPr>
          <p:cNvPr id="2" name="文本框 1"/>
          <p:cNvSpPr txBox="1"/>
          <p:nvPr/>
        </p:nvSpPr>
        <p:spPr>
          <a:xfrm>
            <a:off x="2201545" y="5251450"/>
            <a:ext cx="1584960" cy="337185"/>
          </a:xfrm>
          <a:prstGeom prst="rect">
            <a:avLst/>
          </a:prstGeom>
          <a:noFill/>
        </p:spPr>
        <p:txBody>
          <a:bodyPr wrap="square" rtlCol="0">
            <a:spAutoFit/>
          </a:bodyPr>
          <a:p>
            <a:r>
              <a:rPr lang="zh-CN" altLang="en-US" sz="1600"/>
              <a:t>通信协议</a:t>
            </a:r>
            <a:endParaRPr lang="zh-CN" altLang="en-US" sz="1600"/>
          </a:p>
        </p:txBody>
      </p:sp>
      <p:sp>
        <p:nvSpPr>
          <p:cNvPr id="3" name="文本框 2"/>
          <p:cNvSpPr txBox="1"/>
          <p:nvPr/>
        </p:nvSpPr>
        <p:spPr>
          <a:xfrm>
            <a:off x="5353685" y="5251450"/>
            <a:ext cx="2195195" cy="337185"/>
          </a:xfrm>
          <a:prstGeom prst="rect">
            <a:avLst/>
          </a:prstGeom>
          <a:noFill/>
        </p:spPr>
        <p:txBody>
          <a:bodyPr wrap="square" rtlCol="0">
            <a:spAutoFit/>
          </a:bodyPr>
          <a:p>
            <a:r>
              <a:rPr lang="zh-CN" altLang="en-US" sz="1600"/>
              <a:t>支持主流注册中心</a:t>
            </a:r>
            <a:endParaRPr lang="zh-CN" altLang="en-US" sz="1600"/>
          </a:p>
        </p:txBody>
      </p:sp>
      <p:sp>
        <p:nvSpPr>
          <p:cNvPr id="4" name="文本框 3"/>
          <p:cNvSpPr txBox="1"/>
          <p:nvPr/>
        </p:nvSpPr>
        <p:spPr>
          <a:xfrm>
            <a:off x="9170670" y="5251450"/>
            <a:ext cx="1639570" cy="337185"/>
          </a:xfrm>
          <a:prstGeom prst="rect">
            <a:avLst/>
          </a:prstGeom>
          <a:noFill/>
        </p:spPr>
        <p:txBody>
          <a:bodyPr wrap="square" rtlCol="0">
            <a:spAutoFit/>
          </a:bodyPr>
          <a:p>
            <a:r>
              <a:rPr lang="zh-CN" altLang="en-US" sz="1600"/>
              <a:t>服务互操作</a:t>
            </a:r>
            <a:endParaRPr lang="zh-CN" altLang="en-US" sz="1600"/>
          </a:p>
        </p:txBody>
      </p:sp>
      <p:sp>
        <p:nvSpPr>
          <p:cNvPr id="6" name="文本框 5"/>
          <p:cNvSpPr txBox="1"/>
          <p:nvPr/>
        </p:nvSpPr>
        <p:spPr>
          <a:xfrm>
            <a:off x="9079230" y="5547995"/>
            <a:ext cx="2653665" cy="368300"/>
          </a:xfrm>
          <a:prstGeom prst="rect">
            <a:avLst/>
          </a:prstGeom>
          <a:noFill/>
        </p:spPr>
        <p:txBody>
          <a:bodyPr wrap="square" rtlCol="0">
            <a:spAutoFit/>
          </a:bodyPr>
          <a:p>
            <a:r>
              <a:rPr lang="zh-CN" altLang="en-US"/>
              <a:t>spring-ribbon</a:t>
            </a:r>
            <a:endParaRPr lang="zh-CN" altLang="en-US"/>
          </a:p>
        </p:txBody>
      </p:sp>
      <p:sp>
        <p:nvSpPr>
          <p:cNvPr id="7" name="文本框 6"/>
          <p:cNvSpPr txBox="1"/>
          <p:nvPr/>
        </p:nvSpPr>
        <p:spPr>
          <a:xfrm>
            <a:off x="2139950" y="5613400"/>
            <a:ext cx="1435100" cy="368300"/>
          </a:xfrm>
          <a:prstGeom prst="rect">
            <a:avLst/>
          </a:prstGeom>
          <a:noFill/>
        </p:spPr>
        <p:txBody>
          <a:bodyPr wrap="square" rtlCol="0">
            <a:spAutoFit/>
          </a:bodyPr>
          <a:p>
            <a:r>
              <a:rPr lang="en-US" altLang="zh-CN"/>
              <a:t>spring-</a:t>
            </a:r>
            <a:r>
              <a:rPr lang="en-US" altLang="zh-CN"/>
              <a:t>web</a:t>
            </a:r>
            <a:endParaRPr lang="en-US" altLang="zh-CN"/>
          </a:p>
        </p:txBody>
      </p:sp>
      <p:sp>
        <p:nvSpPr>
          <p:cNvPr id="8" name="文本框 7"/>
          <p:cNvSpPr txBox="1"/>
          <p:nvPr/>
        </p:nvSpPr>
        <p:spPr>
          <a:xfrm>
            <a:off x="5323840" y="5613400"/>
            <a:ext cx="1919605" cy="368300"/>
          </a:xfrm>
          <a:prstGeom prst="rect">
            <a:avLst/>
          </a:prstGeom>
          <a:noFill/>
        </p:spPr>
        <p:txBody>
          <a:bodyPr wrap="square" rtlCol="0">
            <a:spAutoFit/>
          </a:bodyPr>
          <a:p>
            <a:r>
              <a:rPr lang="en-US" altLang="zh-CN"/>
              <a:t>spring-discovery</a:t>
            </a:r>
            <a:endParaRPr lang="en-US" altLang="zh-CN"/>
          </a:p>
        </p:txBody>
      </p:sp>
      <p:sp>
        <p:nvSpPr>
          <p:cNvPr id="9" name="文本框 8"/>
          <p:cNvSpPr txBox="1"/>
          <p:nvPr/>
        </p:nvSpPr>
        <p:spPr>
          <a:xfrm>
            <a:off x="248920" y="5600700"/>
            <a:ext cx="1727200" cy="368300"/>
          </a:xfrm>
          <a:prstGeom prst="rect">
            <a:avLst/>
          </a:prstGeom>
          <a:noFill/>
        </p:spPr>
        <p:txBody>
          <a:bodyPr wrap="square" rtlCol="0">
            <a:spAutoFit/>
          </a:bodyPr>
          <a:p>
            <a:r>
              <a:rPr lang="zh-CN" altLang="en-US"/>
              <a:t>某框架</a:t>
            </a:r>
            <a:r>
              <a:rPr lang="zh-CN" altLang="en-US"/>
              <a:t>类比</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08400" y="288360"/>
            <a:ext cx="10969200" cy="705600"/>
          </a:xfrm>
        </p:spPr>
        <p:txBody>
          <a:bodyPr>
            <a:normAutofit/>
          </a:bodyPr>
          <a:lstStyle/>
          <a:p>
            <a:r>
              <a:rPr lang="zh-CN" altLang="en-US"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微服务设计</a:t>
            </a:r>
            <a:r>
              <a:rPr lang="en-US" altLang="zh-CN"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a:t>
            </a:r>
            <a:r>
              <a:rPr lang="zh-CN" altLang="en-US"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包图</a:t>
            </a:r>
            <a:r>
              <a:rPr lang="zh-CN" altLang="en-US"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设计</a:t>
            </a:r>
            <a:endParaRPr lang="zh-CN" altLang="en-US"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endParaRPr>
          </a:p>
        </p:txBody>
      </p:sp>
      <p:pic>
        <p:nvPicPr>
          <p:cNvPr id="6" name="图片 5"/>
          <p:cNvPicPr/>
          <p:nvPr/>
        </p:nvPicPr>
        <p:blipFill>
          <a:blip r:embed="rId1"/>
          <a:stretch>
            <a:fillRect/>
          </a:stretch>
        </p:blipFill>
        <p:spPr>
          <a:xfrm>
            <a:off x="1888490" y="993775"/>
            <a:ext cx="7766050" cy="4979035"/>
          </a:xfrm>
          <a:prstGeom prst="rect">
            <a:avLst/>
          </a:prstGeom>
        </p:spPr>
      </p:pic>
      <p:sp>
        <p:nvSpPr>
          <p:cNvPr id="8" name="椭圆 7"/>
          <p:cNvSpPr/>
          <p:nvPr/>
        </p:nvSpPr>
        <p:spPr>
          <a:xfrm>
            <a:off x="5627370" y="866140"/>
            <a:ext cx="1595120" cy="772795"/>
          </a:xfrm>
          <a:prstGeom prst="ellipse">
            <a:avLst/>
          </a:prstGeom>
          <a:solidFill>
            <a:schemeClr val="accent5">
              <a:alpha val="1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椭圆 8"/>
          <p:cNvSpPr/>
          <p:nvPr/>
        </p:nvSpPr>
        <p:spPr>
          <a:xfrm>
            <a:off x="5627370" y="1714500"/>
            <a:ext cx="1595120" cy="752475"/>
          </a:xfrm>
          <a:prstGeom prst="ellipse">
            <a:avLst/>
          </a:prstGeom>
          <a:solidFill>
            <a:schemeClr val="accent5">
              <a:alpha val="1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1" name="文本框 10"/>
          <p:cNvSpPr txBox="1"/>
          <p:nvPr/>
        </p:nvSpPr>
        <p:spPr>
          <a:xfrm>
            <a:off x="4063365" y="1504315"/>
            <a:ext cx="1285875" cy="337185"/>
          </a:xfrm>
          <a:prstGeom prst="rect">
            <a:avLst/>
          </a:prstGeom>
          <a:noFill/>
        </p:spPr>
        <p:txBody>
          <a:bodyPr wrap="square" rtlCol="0">
            <a:spAutoFit/>
          </a:bodyPr>
          <a:p>
            <a:r>
              <a:rPr lang="zh-CN" altLang="en-US" sz="1600"/>
              <a:t>外观</a:t>
            </a:r>
            <a:r>
              <a:rPr lang="zh-CN" altLang="en-US" sz="1600"/>
              <a:t>层</a:t>
            </a:r>
            <a:endParaRPr lang="zh-CN" altLang="en-US" sz="1600"/>
          </a:p>
        </p:txBody>
      </p:sp>
      <p:sp>
        <p:nvSpPr>
          <p:cNvPr id="13" name="文本框 12"/>
          <p:cNvSpPr txBox="1"/>
          <p:nvPr/>
        </p:nvSpPr>
        <p:spPr>
          <a:xfrm>
            <a:off x="4063365" y="2291080"/>
            <a:ext cx="1285875" cy="337185"/>
          </a:xfrm>
          <a:prstGeom prst="rect">
            <a:avLst/>
          </a:prstGeom>
          <a:noFill/>
        </p:spPr>
        <p:txBody>
          <a:bodyPr wrap="square" rtlCol="0">
            <a:spAutoFit/>
          </a:bodyPr>
          <a:p>
            <a:r>
              <a:rPr lang="zh-CN" altLang="en-US" sz="1600"/>
              <a:t>容器</a:t>
            </a:r>
            <a:r>
              <a:rPr lang="zh-CN" altLang="en-US" sz="1600"/>
              <a:t>层</a:t>
            </a:r>
            <a:endParaRPr lang="zh-CN" altLang="en-US" sz="1600"/>
          </a:p>
        </p:txBody>
      </p:sp>
      <p:sp>
        <p:nvSpPr>
          <p:cNvPr id="14" name="文本框 13"/>
          <p:cNvSpPr txBox="1"/>
          <p:nvPr/>
        </p:nvSpPr>
        <p:spPr>
          <a:xfrm>
            <a:off x="4093845" y="3209925"/>
            <a:ext cx="1285875" cy="337185"/>
          </a:xfrm>
          <a:prstGeom prst="rect">
            <a:avLst/>
          </a:prstGeom>
          <a:noFill/>
        </p:spPr>
        <p:txBody>
          <a:bodyPr wrap="square" rtlCol="0">
            <a:spAutoFit/>
          </a:bodyPr>
          <a:p>
            <a:r>
              <a:rPr lang="zh-CN" altLang="en-US" sz="1600"/>
              <a:t>协议</a:t>
            </a:r>
            <a:r>
              <a:rPr lang="zh-CN" altLang="en-US" sz="1600"/>
              <a:t>层</a:t>
            </a:r>
            <a:endParaRPr lang="zh-CN" altLang="en-US" sz="1600"/>
          </a:p>
        </p:txBody>
      </p:sp>
      <p:sp>
        <p:nvSpPr>
          <p:cNvPr id="15" name="文本框 14"/>
          <p:cNvSpPr txBox="1"/>
          <p:nvPr/>
        </p:nvSpPr>
        <p:spPr>
          <a:xfrm>
            <a:off x="4107815" y="4077970"/>
            <a:ext cx="1285875" cy="337185"/>
          </a:xfrm>
          <a:prstGeom prst="rect">
            <a:avLst/>
          </a:prstGeom>
          <a:noFill/>
        </p:spPr>
        <p:txBody>
          <a:bodyPr wrap="square" rtlCol="0">
            <a:spAutoFit/>
          </a:bodyPr>
          <a:p>
            <a:r>
              <a:rPr lang="zh-CN" altLang="en-US" sz="1600"/>
              <a:t>通信</a:t>
            </a:r>
            <a:r>
              <a:rPr lang="zh-CN" altLang="en-US" sz="1600"/>
              <a:t>层</a:t>
            </a:r>
            <a:endParaRPr lang="zh-CN" altLang="en-US" sz="16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08400" y="288360"/>
            <a:ext cx="10969200" cy="705600"/>
          </a:xfrm>
        </p:spPr>
        <p:txBody>
          <a:bodyPr>
            <a:normAutofit/>
          </a:bodyPr>
          <a:lstStyle/>
          <a:p>
            <a:r>
              <a:rPr lang="zh-CN" altLang="en-US"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微服务设计</a:t>
            </a:r>
            <a:r>
              <a:rPr lang="en-US" altLang="zh-CN"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a:t>
            </a:r>
            <a:r>
              <a:rPr lang="zh-CN" altLang="en-US"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框架设计</a:t>
            </a:r>
            <a:endParaRPr lang="zh-CN" altLang="en-US"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5" name="表格 4"/>
          <p:cNvGraphicFramePr/>
          <p:nvPr>
            <p:custDataLst>
              <p:tags r:id="rId1"/>
            </p:custDataLst>
          </p:nvPr>
        </p:nvGraphicFramePr>
        <p:xfrm>
          <a:off x="978535" y="1604010"/>
          <a:ext cx="10153650" cy="2894330"/>
        </p:xfrm>
        <a:graphic>
          <a:graphicData uri="http://schemas.openxmlformats.org/drawingml/2006/table">
            <a:tbl>
              <a:tblPr/>
              <a:tblGrid>
                <a:gridCol w="1932305"/>
                <a:gridCol w="8221345"/>
              </a:tblGrid>
              <a:tr h="460375">
                <a:tc>
                  <a:txBody>
                    <a:bodyPr/>
                    <a:p>
                      <a:pPr marL="54610" indent="0" algn="l" fontAlgn="base">
                        <a:spcAft>
                          <a:spcPts val="300"/>
                        </a:spcAft>
                        <a:buNone/>
                      </a:pPr>
                      <a:r>
                        <a:rPr lang="zh-CN" altLang="en-US" sz="1600" b="1" i="0">
                          <a:solidFill>
                            <a:srgbClr val="00B0F0"/>
                          </a:solidFill>
                        </a:rPr>
                        <a:t>编号</a:t>
                      </a:r>
                      <a:endParaRPr lang="zh-CN" altLang="en-US" sz="1600" b="1" i="0">
                        <a:solidFill>
                          <a:srgbClr val="00B0F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rgbClr val="EAFAF1"/>
                    </a:solidFill>
                  </a:tcPr>
                </a:tc>
                <a:tc>
                  <a:txBody>
                    <a:bodyPr/>
                    <a:p>
                      <a:pPr marL="54610" indent="0" algn="l" fontAlgn="base">
                        <a:spcAft>
                          <a:spcPts val="300"/>
                        </a:spcAft>
                      </a:pPr>
                      <a:r>
                        <a:rPr lang="zh-CN" altLang="en-US" sz="1600" b="1" i="0">
                          <a:solidFill>
                            <a:srgbClr val="00B0F0"/>
                          </a:solidFill>
                        </a:rPr>
                        <a:t>设计</a:t>
                      </a:r>
                      <a:r>
                        <a:rPr lang="zh-CN" altLang="en-US" sz="1600" b="1" i="0">
                          <a:solidFill>
                            <a:srgbClr val="00B0F0"/>
                          </a:solidFill>
                        </a:rPr>
                        <a:t>原则</a:t>
                      </a:r>
                      <a:endParaRPr lang="zh-CN" altLang="en-US" sz="1600" b="1" i="0">
                        <a:solidFill>
                          <a:srgbClr val="00B0F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rgbClr val="EAFAF1"/>
                    </a:solidFill>
                  </a:tcPr>
                </a:tc>
              </a:tr>
              <a:tr h="484505">
                <a:tc>
                  <a:txBody>
                    <a:bodyPr/>
                    <a:p>
                      <a:pPr marL="54610" indent="0" algn="l" fontAlgn="base">
                        <a:spcAft>
                          <a:spcPct val="0"/>
                        </a:spcAft>
                        <a:buNone/>
                      </a:pPr>
                      <a:r>
                        <a:rPr lang="en-US" altLang="zh-CN" sz="1600">
                          <a:sym typeface="+mn-ea"/>
                        </a:rPr>
                        <a:t>1</a:t>
                      </a:r>
                      <a:endParaRPr lang="en-US" altLang="zh-CN" sz="1600">
                        <a:sym typeface="+mn-ea"/>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ct val="0"/>
                        </a:spcAft>
                      </a:pPr>
                      <a:r>
                        <a:rPr lang="zh-CN" altLang="en-US" sz="1600">
                          <a:sym typeface="+mn-ea"/>
                        </a:rPr>
                        <a:t>开放适配</a:t>
                      </a:r>
                      <a:r>
                        <a:rPr lang="zh-CN" altLang="en-US" sz="1600">
                          <a:sym typeface="+mn-ea"/>
                        </a:rPr>
                        <a:t>原则</a:t>
                      </a:r>
                      <a:endParaRPr lang="zh-CN" altLang="en-US" sz="1600">
                        <a:sym typeface="+mn-ea"/>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r>
              <a:tr h="518795">
                <a:tc>
                  <a:txBody>
                    <a:bodyPr/>
                    <a:p>
                      <a:pPr marL="54610" indent="0" algn="l" fontAlgn="base">
                        <a:spcAft>
                          <a:spcPct val="0"/>
                        </a:spcAft>
                        <a:buNone/>
                      </a:pPr>
                      <a:r>
                        <a:rPr lang="en-US" altLang="zh-CN" sz="1600" b="0" i="0">
                          <a:solidFill>
                            <a:srgbClr val="000000"/>
                          </a:solidFill>
                        </a:rPr>
                        <a:t>2</a:t>
                      </a:r>
                      <a:endParaRPr lang="en-US" altLang="zh-CN"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ct val="0"/>
                        </a:spcAft>
                        <a:buNone/>
                      </a:pPr>
                      <a:r>
                        <a:rPr lang="zh-CN" altLang="en-US" sz="1600" b="0" i="0">
                          <a:solidFill>
                            <a:srgbClr val="000000"/>
                          </a:solidFill>
                        </a:rPr>
                        <a:t>最小控制</a:t>
                      </a:r>
                      <a:r>
                        <a:rPr lang="zh-CN" altLang="en-US" sz="1600" b="0" i="0">
                          <a:solidFill>
                            <a:srgbClr val="000000"/>
                          </a:solidFill>
                        </a:rPr>
                        <a:t>原则</a:t>
                      </a:r>
                      <a:endParaRPr lang="zh-CN" altLang="en-US"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r>
              <a:tr h="476885">
                <a:tc>
                  <a:txBody>
                    <a:bodyPr/>
                    <a:p>
                      <a:pPr marL="54610" indent="0" algn="l" fontAlgn="base">
                        <a:spcAft>
                          <a:spcPct val="0"/>
                        </a:spcAft>
                        <a:buNone/>
                      </a:pPr>
                      <a:r>
                        <a:rPr lang="en-US" altLang="zh-CN" sz="1600" b="0" i="0">
                          <a:solidFill>
                            <a:srgbClr val="000000"/>
                          </a:solidFill>
                        </a:rPr>
                        <a:t>3</a:t>
                      </a:r>
                      <a:endParaRPr lang="en-US" altLang="zh-CN"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ct val="0"/>
                        </a:spcAft>
                      </a:pPr>
                      <a:r>
                        <a:rPr lang="zh-CN" altLang="en-US" sz="1600" b="0" i="0">
                          <a:solidFill>
                            <a:srgbClr val="000000"/>
                          </a:solidFill>
                        </a:rPr>
                        <a:t>最大兼容</a:t>
                      </a:r>
                      <a:r>
                        <a:rPr lang="zh-CN" altLang="en-US" sz="1600" b="0" i="0">
                          <a:solidFill>
                            <a:srgbClr val="000000"/>
                          </a:solidFill>
                        </a:rPr>
                        <a:t>原则</a:t>
                      </a:r>
                      <a:endParaRPr lang="zh-CN" altLang="en-US"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r>
              <a:tr h="476885">
                <a:tc>
                  <a:txBody>
                    <a:bodyPr/>
                    <a:p>
                      <a:pPr marL="54610" indent="0" algn="l" fontAlgn="base">
                        <a:spcAft>
                          <a:spcPct val="0"/>
                        </a:spcAft>
                        <a:buNone/>
                      </a:pPr>
                      <a:r>
                        <a:rPr lang="en-US" altLang="zh-CN" sz="1600" b="0" i="0">
                          <a:solidFill>
                            <a:srgbClr val="000000"/>
                          </a:solidFill>
                        </a:rPr>
                        <a:t>4</a:t>
                      </a:r>
                      <a:endParaRPr lang="en-US" altLang="zh-CN"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ct val="0"/>
                        </a:spcAft>
                        <a:buNone/>
                      </a:pPr>
                      <a:r>
                        <a:rPr lang="zh-CN" altLang="en-US" sz="1600" b="0" i="0">
                          <a:solidFill>
                            <a:srgbClr val="000000"/>
                          </a:solidFill>
                        </a:rPr>
                        <a:t>现实思维</a:t>
                      </a:r>
                      <a:r>
                        <a:rPr lang="zh-CN" altLang="en-US" sz="1600" b="0" i="0">
                          <a:solidFill>
                            <a:srgbClr val="000000"/>
                          </a:solidFill>
                        </a:rPr>
                        <a:t>原则</a:t>
                      </a:r>
                      <a:endParaRPr lang="zh-CN" altLang="en-US"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r>
              <a:tr h="476885">
                <a:tc>
                  <a:txBody>
                    <a:bodyPr/>
                    <a:p>
                      <a:pPr marL="54610" indent="0" algn="l" fontAlgn="base">
                        <a:spcAft>
                          <a:spcPct val="0"/>
                        </a:spcAft>
                        <a:buNone/>
                      </a:pPr>
                      <a:r>
                        <a:rPr lang="en-US" altLang="zh-CN" sz="1600" b="0" i="0">
                          <a:solidFill>
                            <a:srgbClr val="000000"/>
                          </a:solidFill>
                        </a:rPr>
                        <a:t>5</a:t>
                      </a:r>
                      <a:endParaRPr lang="en-US" altLang="zh-CN"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ct val="0"/>
                        </a:spcAft>
                        <a:buNone/>
                      </a:pPr>
                      <a:r>
                        <a:rPr lang="zh-CN" altLang="en-US" sz="1600" b="0" i="0">
                          <a:solidFill>
                            <a:srgbClr val="000000"/>
                          </a:solidFill>
                        </a:rPr>
                        <a:t>约定配置</a:t>
                      </a:r>
                      <a:r>
                        <a:rPr lang="zh-CN" altLang="en-US" sz="1600" b="0" i="0">
                          <a:solidFill>
                            <a:srgbClr val="000000"/>
                          </a:solidFill>
                        </a:rPr>
                        <a:t>原则</a:t>
                      </a:r>
                      <a:endParaRPr lang="zh-CN" altLang="en-US"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6"/>
          <p:cNvSpPr/>
          <p:nvPr/>
        </p:nvSpPr>
        <p:spPr>
          <a:xfrm>
            <a:off x="805815" y="420370"/>
            <a:ext cx="7887335" cy="431800"/>
          </a:xfrm>
          <a:prstGeom prst="rect">
            <a:avLst/>
          </a:prstGeom>
          <a:noFill/>
          <a:ln w="0" cap="flat">
            <a:noFill/>
            <a:prstDash val="solid"/>
            <a:miter lim="0"/>
          </a:ln>
        </p:spPr>
        <p:txBody>
          <a:bodyPr vert="horz" wrap="square" lIns="0" tIns="0" rIns="0" bIns="0"/>
          <a:p>
            <a:pPr algn="l" rtl="0" eaLnBrk="0">
              <a:lnSpc>
                <a:spcPct val="75000"/>
              </a:lnSpc>
            </a:pPr>
            <a:endParaRPr sz="100" dirty="0">
              <a:latin typeface="Arial" panose="020B0604020202020204"/>
              <a:ea typeface="Arial" panose="020B0604020202020204"/>
              <a:cs typeface="Arial" panose="020B0604020202020204"/>
            </a:endParaRPr>
          </a:p>
          <a:p>
            <a:pPr marL="12700" algn="l" rtl="0" eaLnBrk="0">
              <a:lnSpc>
                <a:spcPct val="99000"/>
              </a:lnSpc>
            </a:pPr>
            <a:r>
              <a:rPr 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微服务设计</a:t>
            </a:r>
            <a:r>
              <a:rPr lang="en-US" alt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-1.</a:t>
            </a:r>
            <a:r>
              <a:rPr lang="zh-CN" altLang="en-US"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开放适配</a:t>
            </a:r>
            <a:r>
              <a:rPr lang="zh-CN" altLang="en-US"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原则</a:t>
            </a:r>
            <a:endParaRPr lang="zh-CN" altLang="en-US"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endParaRPr>
          </a:p>
        </p:txBody>
      </p:sp>
      <p:sp>
        <p:nvSpPr>
          <p:cNvPr id="2" name="矩形 1"/>
          <p:cNvSpPr/>
          <p:nvPr/>
        </p:nvSpPr>
        <p:spPr>
          <a:xfrm>
            <a:off x="4399280" y="1247775"/>
            <a:ext cx="1978660" cy="914400"/>
          </a:xfrm>
          <a:prstGeom prst="rect">
            <a:avLst/>
          </a:prstGeom>
          <a:solidFill>
            <a:schemeClr val="accent5">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矩形 3"/>
          <p:cNvSpPr/>
          <p:nvPr/>
        </p:nvSpPr>
        <p:spPr>
          <a:xfrm>
            <a:off x="4548505" y="1352550"/>
            <a:ext cx="1978660" cy="914400"/>
          </a:xfrm>
          <a:prstGeom prst="rect">
            <a:avLst/>
          </a:prstGeom>
          <a:solidFill>
            <a:schemeClr val="accent5">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矩形 5"/>
          <p:cNvSpPr/>
          <p:nvPr/>
        </p:nvSpPr>
        <p:spPr>
          <a:xfrm>
            <a:off x="4697730" y="1468755"/>
            <a:ext cx="1978660" cy="914400"/>
          </a:xfrm>
          <a:prstGeom prst="rect">
            <a:avLst/>
          </a:prstGeom>
          <a:solidFill>
            <a:schemeClr val="accent5">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注册中心</a:t>
            </a:r>
            <a:endParaRPr lang="zh-CN" altLang="en-US">
              <a:solidFill>
                <a:schemeClr val="tx1"/>
              </a:solidFill>
            </a:endParaRPr>
          </a:p>
        </p:txBody>
      </p:sp>
      <p:sp>
        <p:nvSpPr>
          <p:cNvPr id="7" name="矩形 6"/>
          <p:cNvSpPr/>
          <p:nvPr/>
        </p:nvSpPr>
        <p:spPr>
          <a:xfrm>
            <a:off x="3172460" y="2964815"/>
            <a:ext cx="1978660" cy="914400"/>
          </a:xfrm>
          <a:prstGeom prst="rect">
            <a:avLst/>
          </a:prstGeom>
          <a:solidFill>
            <a:schemeClr val="accent6">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仓颉</a:t>
            </a:r>
            <a:endParaRPr lang="zh-CN" altLang="en-US">
              <a:solidFill>
                <a:schemeClr val="tx1"/>
              </a:solidFill>
            </a:endParaRPr>
          </a:p>
          <a:p>
            <a:pPr algn="ctr"/>
            <a:r>
              <a:rPr lang="zh-CN" altLang="en-US">
                <a:solidFill>
                  <a:schemeClr val="tx1"/>
                </a:solidFill>
              </a:rPr>
              <a:t>服务消费者</a:t>
            </a:r>
            <a:endParaRPr lang="zh-CN" altLang="en-US">
              <a:solidFill>
                <a:schemeClr val="tx1"/>
              </a:solidFill>
            </a:endParaRPr>
          </a:p>
        </p:txBody>
      </p:sp>
      <p:sp>
        <p:nvSpPr>
          <p:cNvPr id="8" name="矩形 7"/>
          <p:cNvSpPr/>
          <p:nvPr/>
        </p:nvSpPr>
        <p:spPr>
          <a:xfrm>
            <a:off x="6079490" y="2863850"/>
            <a:ext cx="1978660" cy="914400"/>
          </a:xfrm>
          <a:prstGeom prst="rect">
            <a:avLst/>
          </a:prstGeom>
          <a:solidFill>
            <a:schemeClr val="accent6">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矩形 8"/>
          <p:cNvSpPr/>
          <p:nvPr/>
        </p:nvSpPr>
        <p:spPr>
          <a:xfrm>
            <a:off x="6228715" y="2968625"/>
            <a:ext cx="1978660" cy="914400"/>
          </a:xfrm>
          <a:prstGeom prst="rect">
            <a:avLst/>
          </a:prstGeom>
          <a:solidFill>
            <a:schemeClr val="accent6">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矩形 9"/>
          <p:cNvSpPr/>
          <p:nvPr/>
        </p:nvSpPr>
        <p:spPr>
          <a:xfrm>
            <a:off x="6377940" y="3084830"/>
            <a:ext cx="1978660" cy="914400"/>
          </a:xfrm>
          <a:prstGeom prst="rect">
            <a:avLst/>
          </a:prstGeom>
          <a:solidFill>
            <a:schemeClr val="accent6">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仓颉</a:t>
            </a:r>
            <a:endParaRPr lang="zh-CN" altLang="en-US">
              <a:solidFill>
                <a:schemeClr val="tx1"/>
              </a:solidFill>
            </a:endParaRPr>
          </a:p>
          <a:p>
            <a:pPr algn="ctr"/>
            <a:r>
              <a:rPr lang="zh-CN" altLang="en-US">
                <a:solidFill>
                  <a:schemeClr val="tx1"/>
                </a:solidFill>
              </a:rPr>
              <a:t>服务</a:t>
            </a:r>
            <a:r>
              <a:rPr lang="zh-CN" altLang="en-US">
                <a:solidFill>
                  <a:schemeClr val="tx1"/>
                </a:solidFill>
              </a:rPr>
              <a:t>生产者</a:t>
            </a:r>
            <a:endParaRPr lang="zh-CN" altLang="en-US">
              <a:solidFill>
                <a:schemeClr val="tx1"/>
              </a:solidFill>
            </a:endParaRPr>
          </a:p>
        </p:txBody>
      </p:sp>
      <p:sp>
        <p:nvSpPr>
          <p:cNvPr id="13" name="矩形 12"/>
          <p:cNvSpPr/>
          <p:nvPr/>
        </p:nvSpPr>
        <p:spPr>
          <a:xfrm>
            <a:off x="617855" y="4346575"/>
            <a:ext cx="1978660" cy="91440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原有</a:t>
            </a:r>
            <a:endParaRPr lang="zh-CN" altLang="en-US">
              <a:solidFill>
                <a:schemeClr val="tx1"/>
              </a:solidFill>
            </a:endParaRPr>
          </a:p>
          <a:p>
            <a:pPr algn="ctr"/>
            <a:r>
              <a:rPr lang="zh-CN" altLang="en-US">
                <a:solidFill>
                  <a:schemeClr val="tx1"/>
                </a:solidFill>
              </a:rPr>
              <a:t>服务</a:t>
            </a:r>
            <a:r>
              <a:rPr lang="zh-CN" altLang="en-US">
                <a:solidFill>
                  <a:schemeClr val="tx1"/>
                </a:solidFill>
              </a:rPr>
              <a:t>生产者</a:t>
            </a:r>
            <a:endParaRPr lang="zh-CN" altLang="en-US">
              <a:solidFill>
                <a:schemeClr val="tx1"/>
              </a:solidFill>
            </a:endParaRPr>
          </a:p>
        </p:txBody>
      </p:sp>
      <p:sp>
        <p:nvSpPr>
          <p:cNvPr id="16" name="矩形 15"/>
          <p:cNvSpPr/>
          <p:nvPr/>
        </p:nvSpPr>
        <p:spPr>
          <a:xfrm>
            <a:off x="9380855" y="4492625"/>
            <a:ext cx="1978660" cy="91440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其他</a:t>
            </a:r>
            <a:r>
              <a:rPr lang="zh-CN" altLang="en-US">
                <a:solidFill>
                  <a:schemeClr val="tx1"/>
                </a:solidFill>
              </a:rPr>
              <a:t>框架</a:t>
            </a:r>
            <a:endParaRPr lang="zh-CN" altLang="en-US">
              <a:solidFill>
                <a:schemeClr val="tx1"/>
              </a:solidFill>
            </a:endParaRPr>
          </a:p>
          <a:p>
            <a:pPr algn="ctr"/>
            <a:r>
              <a:rPr lang="zh-CN" altLang="en-US">
                <a:solidFill>
                  <a:schemeClr val="tx1"/>
                </a:solidFill>
              </a:rPr>
              <a:t>服务</a:t>
            </a:r>
            <a:r>
              <a:rPr lang="zh-CN" altLang="en-US">
                <a:solidFill>
                  <a:schemeClr val="tx1"/>
                </a:solidFill>
              </a:rPr>
              <a:t>消费者</a:t>
            </a:r>
            <a:endParaRPr lang="zh-CN" altLang="en-US">
              <a:solidFill>
                <a:schemeClr val="tx1"/>
              </a:solidFill>
            </a:endParaRPr>
          </a:p>
        </p:txBody>
      </p:sp>
      <p:cxnSp>
        <p:nvCxnSpPr>
          <p:cNvPr id="17" name="直接箭头连接符 16"/>
          <p:cNvCxnSpPr/>
          <p:nvPr/>
        </p:nvCxnSpPr>
        <p:spPr>
          <a:xfrm flipH="1">
            <a:off x="1488440" y="1758315"/>
            <a:ext cx="2817495" cy="2506980"/>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18" name="直接箭头连接符 17"/>
          <p:cNvCxnSpPr/>
          <p:nvPr/>
        </p:nvCxnSpPr>
        <p:spPr>
          <a:xfrm flipH="1">
            <a:off x="4627245" y="2400935"/>
            <a:ext cx="425450" cy="516890"/>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19" name="直接箭头连接符 18"/>
          <p:cNvCxnSpPr/>
          <p:nvPr/>
        </p:nvCxnSpPr>
        <p:spPr>
          <a:xfrm>
            <a:off x="6772910" y="1757680"/>
            <a:ext cx="3538855" cy="2616200"/>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20" name="直接箭头连接符 19"/>
          <p:cNvCxnSpPr>
            <a:stCxn id="33" idx="2"/>
          </p:cNvCxnSpPr>
          <p:nvPr/>
        </p:nvCxnSpPr>
        <p:spPr>
          <a:xfrm flipH="1" flipV="1">
            <a:off x="6109335" y="2378075"/>
            <a:ext cx="531495" cy="440055"/>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21" name="直接箭头连接符 20"/>
          <p:cNvCxnSpPr>
            <a:stCxn id="7" idx="3"/>
          </p:cNvCxnSpPr>
          <p:nvPr/>
        </p:nvCxnSpPr>
        <p:spPr>
          <a:xfrm flipV="1">
            <a:off x="5151120" y="3411220"/>
            <a:ext cx="838835" cy="1079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2" name="文本框 21"/>
          <p:cNvSpPr txBox="1"/>
          <p:nvPr/>
        </p:nvSpPr>
        <p:spPr>
          <a:xfrm>
            <a:off x="5106670" y="3020060"/>
            <a:ext cx="1087120" cy="368300"/>
          </a:xfrm>
          <a:prstGeom prst="rect">
            <a:avLst/>
          </a:prstGeom>
          <a:noFill/>
        </p:spPr>
        <p:txBody>
          <a:bodyPr wrap="square" rtlCol="0">
            <a:spAutoFit/>
          </a:bodyPr>
          <a:p>
            <a:r>
              <a:rPr lang="en-US" altLang="zh-CN"/>
              <a:t>rest call</a:t>
            </a:r>
            <a:endParaRPr lang="en-US" altLang="zh-CN"/>
          </a:p>
        </p:txBody>
      </p:sp>
      <p:cxnSp>
        <p:nvCxnSpPr>
          <p:cNvPr id="27" name="直接箭头连接符 26"/>
          <p:cNvCxnSpPr/>
          <p:nvPr/>
        </p:nvCxnSpPr>
        <p:spPr>
          <a:xfrm flipH="1">
            <a:off x="2911475" y="3953510"/>
            <a:ext cx="1217295" cy="93599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8" name="直接箭头连接符 27"/>
          <p:cNvCxnSpPr/>
          <p:nvPr/>
        </p:nvCxnSpPr>
        <p:spPr>
          <a:xfrm flipH="1" flipV="1">
            <a:off x="7506970" y="4058285"/>
            <a:ext cx="1868805" cy="91313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9" name="文本框 28"/>
          <p:cNvSpPr txBox="1"/>
          <p:nvPr/>
        </p:nvSpPr>
        <p:spPr>
          <a:xfrm>
            <a:off x="7721600" y="4605655"/>
            <a:ext cx="1249045" cy="368300"/>
          </a:xfrm>
          <a:prstGeom prst="rect">
            <a:avLst/>
          </a:prstGeom>
          <a:noFill/>
        </p:spPr>
        <p:txBody>
          <a:bodyPr wrap="square" rtlCol="0">
            <a:spAutoFit/>
          </a:bodyPr>
          <a:p>
            <a:r>
              <a:rPr lang="en-US" altLang="zh-CN"/>
              <a:t>rest call</a:t>
            </a:r>
            <a:endParaRPr lang="en-US" altLang="zh-CN"/>
          </a:p>
        </p:txBody>
      </p:sp>
      <p:sp>
        <p:nvSpPr>
          <p:cNvPr id="30" name="文本框 29"/>
          <p:cNvSpPr txBox="1"/>
          <p:nvPr/>
        </p:nvSpPr>
        <p:spPr>
          <a:xfrm>
            <a:off x="3403600" y="4561840"/>
            <a:ext cx="1260475" cy="368300"/>
          </a:xfrm>
          <a:prstGeom prst="rect">
            <a:avLst/>
          </a:prstGeom>
          <a:noFill/>
        </p:spPr>
        <p:txBody>
          <a:bodyPr wrap="square" rtlCol="0">
            <a:spAutoFit/>
          </a:bodyPr>
          <a:p>
            <a:r>
              <a:rPr lang="en-US" altLang="zh-CN"/>
              <a:t>rest call</a:t>
            </a:r>
            <a:endParaRPr lang="en-US" altLang="zh-CN"/>
          </a:p>
        </p:txBody>
      </p:sp>
      <p:sp>
        <p:nvSpPr>
          <p:cNvPr id="31" name="文本框 30"/>
          <p:cNvSpPr txBox="1"/>
          <p:nvPr/>
        </p:nvSpPr>
        <p:spPr>
          <a:xfrm>
            <a:off x="1511300" y="2406015"/>
            <a:ext cx="2162175" cy="368300"/>
          </a:xfrm>
          <a:prstGeom prst="rect">
            <a:avLst/>
          </a:prstGeom>
          <a:noFill/>
        </p:spPr>
        <p:txBody>
          <a:bodyPr wrap="square" rtlCol="0">
            <a:spAutoFit/>
          </a:bodyPr>
          <a:p>
            <a:r>
              <a:rPr lang="en-US" altLang="zh-CN"/>
              <a:t>register/discovery</a:t>
            </a:r>
            <a:endParaRPr lang="en-US" altLang="zh-CN"/>
          </a:p>
        </p:txBody>
      </p:sp>
      <p:sp>
        <p:nvSpPr>
          <p:cNvPr id="32" name="文本框 31"/>
          <p:cNvSpPr txBox="1"/>
          <p:nvPr/>
        </p:nvSpPr>
        <p:spPr>
          <a:xfrm>
            <a:off x="7611745" y="2430145"/>
            <a:ext cx="2162175" cy="368300"/>
          </a:xfrm>
          <a:prstGeom prst="rect">
            <a:avLst/>
          </a:prstGeom>
          <a:noFill/>
        </p:spPr>
        <p:txBody>
          <a:bodyPr wrap="square" rtlCol="0">
            <a:spAutoFit/>
          </a:bodyPr>
          <a:p>
            <a:r>
              <a:rPr lang="en-US" altLang="zh-CN"/>
              <a:t>register/discovery</a:t>
            </a:r>
            <a:endParaRPr lang="en-US" altLang="zh-CN"/>
          </a:p>
        </p:txBody>
      </p:sp>
      <p:sp>
        <p:nvSpPr>
          <p:cNvPr id="33" name="文本框 32"/>
          <p:cNvSpPr txBox="1"/>
          <p:nvPr/>
        </p:nvSpPr>
        <p:spPr>
          <a:xfrm>
            <a:off x="5559425" y="2449830"/>
            <a:ext cx="2162175" cy="368300"/>
          </a:xfrm>
          <a:prstGeom prst="rect">
            <a:avLst/>
          </a:prstGeom>
          <a:noFill/>
        </p:spPr>
        <p:txBody>
          <a:bodyPr wrap="square" rtlCol="0">
            <a:spAutoFit/>
          </a:bodyPr>
          <a:p>
            <a:r>
              <a:rPr lang="en-US" altLang="zh-CN"/>
              <a:t>register/discovery</a:t>
            </a:r>
            <a:endParaRPr lang="en-US" altLang="zh-CN"/>
          </a:p>
        </p:txBody>
      </p:sp>
      <p:sp>
        <p:nvSpPr>
          <p:cNvPr id="34" name="文本框 33"/>
          <p:cNvSpPr txBox="1"/>
          <p:nvPr/>
        </p:nvSpPr>
        <p:spPr>
          <a:xfrm>
            <a:off x="3495040" y="2414270"/>
            <a:ext cx="2162175" cy="368300"/>
          </a:xfrm>
          <a:prstGeom prst="rect">
            <a:avLst/>
          </a:prstGeom>
          <a:noFill/>
        </p:spPr>
        <p:txBody>
          <a:bodyPr wrap="square" rtlCol="0">
            <a:spAutoFit/>
          </a:bodyPr>
          <a:p>
            <a:r>
              <a:rPr lang="en-US" altLang="zh-CN"/>
              <a:t>register/discovery</a:t>
            </a:r>
            <a:endParaRPr lang="en-US" altLang="zh-CN"/>
          </a:p>
        </p:txBody>
      </p:sp>
      <p:sp>
        <p:nvSpPr>
          <p:cNvPr id="37" name="矩形 36"/>
          <p:cNvSpPr/>
          <p:nvPr/>
        </p:nvSpPr>
        <p:spPr>
          <a:xfrm>
            <a:off x="744855" y="4473575"/>
            <a:ext cx="1978660" cy="91440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原有</a:t>
            </a:r>
            <a:endParaRPr lang="zh-CN" altLang="en-US">
              <a:solidFill>
                <a:schemeClr val="tx1"/>
              </a:solidFill>
            </a:endParaRPr>
          </a:p>
          <a:p>
            <a:pPr algn="ctr"/>
            <a:r>
              <a:rPr lang="zh-CN" altLang="en-US">
                <a:solidFill>
                  <a:schemeClr val="tx1"/>
                </a:solidFill>
              </a:rPr>
              <a:t>服务</a:t>
            </a:r>
            <a:r>
              <a:rPr lang="zh-CN" altLang="en-US">
                <a:solidFill>
                  <a:schemeClr val="tx1"/>
                </a:solidFill>
              </a:rPr>
              <a:t>生产者</a:t>
            </a:r>
            <a:endParaRPr lang="zh-CN" altLang="en-US">
              <a:solidFill>
                <a:schemeClr val="tx1"/>
              </a:solidFill>
            </a:endParaRPr>
          </a:p>
        </p:txBody>
      </p:sp>
      <p:sp>
        <p:nvSpPr>
          <p:cNvPr id="38" name="矩形 37"/>
          <p:cNvSpPr/>
          <p:nvPr/>
        </p:nvSpPr>
        <p:spPr>
          <a:xfrm>
            <a:off x="871855" y="4600575"/>
            <a:ext cx="1978660" cy="914400"/>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solidFill>
                  <a:schemeClr val="tx1"/>
                </a:solidFill>
              </a:rPr>
              <a:t>其他</a:t>
            </a:r>
            <a:r>
              <a:rPr lang="zh-CN" altLang="en-US">
                <a:solidFill>
                  <a:schemeClr val="tx1"/>
                </a:solidFill>
              </a:rPr>
              <a:t>框架</a:t>
            </a:r>
            <a:endParaRPr lang="zh-CN" altLang="en-US">
              <a:solidFill>
                <a:schemeClr val="tx1"/>
              </a:solidFill>
            </a:endParaRPr>
          </a:p>
          <a:p>
            <a:pPr algn="ctr"/>
            <a:r>
              <a:rPr lang="zh-CN" altLang="en-US">
                <a:solidFill>
                  <a:schemeClr val="tx1"/>
                </a:solidFill>
              </a:rPr>
              <a:t>服务</a:t>
            </a:r>
            <a:r>
              <a:rPr lang="zh-CN" altLang="en-US">
                <a:solidFill>
                  <a:schemeClr val="tx1"/>
                </a:solidFill>
              </a:rPr>
              <a:t>生产者</a:t>
            </a:r>
            <a:endParaRPr lang="zh-CN" altLang="en-US">
              <a:solidFill>
                <a:schemeClr val="tx1"/>
              </a:solidFill>
            </a:endParaRPr>
          </a:p>
        </p:txBody>
      </p:sp>
      <p:sp>
        <p:nvSpPr>
          <p:cNvPr id="3" name="文本框 2"/>
          <p:cNvSpPr txBox="1"/>
          <p:nvPr/>
        </p:nvSpPr>
        <p:spPr>
          <a:xfrm>
            <a:off x="3403600" y="5668645"/>
            <a:ext cx="6645275" cy="337185"/>
          </a:xfrm>
          <a:prstGeom prst="rect">
            <a:avLst/>
          </a:prstGeom>
          <a:noFill/>
        </p:spPr>
        <p:txBody>
          <a:bodyPr wrap="square" rtlCol="0">
            <a:spAutoFit/>
          </a:bodyPr>
          <a:p>
            <a:r>
              <a:rPr lang="zh-CN" altLang="en-US" sz="1600">
                <a:latin typeface="微软雅黑" panose="020B0503020204020204" charset="-122"/>
                <a:ea typeface="微软雅黑" panose="020B0503020204020204" charset="-122"/>
                <a:cs typeface="微软雅黑" panose="020B0503020204020204" charset="-122"/>
              </a:rPr>
              <a:t>设计支持新仓颉服务和其他框架</a:t>
            </a:r>
            <a:r>
              <a:rPr lang="zh-CN" altLang="en-US" sz="1600">
                <a:latin typeface="微软雅黑" panose="020B0503020204020204" charset="-122"/>
                <a:ea typeface="微软雅黑" panose="020B0503020204020204" charset="-122"/>
                <a:cs typeface="微软雅黑" panose="020B0503020204020204" charset="-122"/>
              </a:rPr>
              <a:t>服务之间通过</a:t>
            </a:r>
            <a:r>
              <a:rPr lang="en-US" altLang="zh-CN" sz="1600">
                <a:latin typeface="微软雅黑" panose="020B0503020204020204" charset="-122"/>
                <a:ea typeface="微软雅黑" panose="020B0503020204020204" charset="-122"/>
                <a:cs typeface="微软雅黑" panose="020B0503020204020204" charset="-122"/>
              </a:rPr>
              <a:t>http</a:t>
            </a:r>
            <a:r>
              <a:rPr lang="zh-CN" altLang="en-US" sz="1600">
                <a:latin typeface="微软雅黑" panose="020B0503020204020204" charset="-122"/>
                <a:ea typeface="微软雅黑" panose="020B0503020204020204" charset="-122"/>
                <a:cs typeface="微软雅黑" panose="020B0503020204020204" charset="-122"/>
              </a:rPr>
              <a:t>协议互操作</a:t>
            </a:r>
            <a:endParaRPr lang="zh-CN" altLang="en-US" sz="1600">
              <a:latin typeface="微软雅黑" panose="020B0503020204020204" charset="-122"/>
              <a:ea typeface="微软雅黑" panose="020B0503020204020204" charset="-122"/>
              <a:cs typeface="微软雅黑" panose="020B0503020204020204" charset="-122"/>
            </a:endParaRPr>
          </a:p>
        </p:txBody>
      </p:sp>
      <p:sp>
        <p:nvSpPr>
          <p:cNvPr id="11" name="矩形 10"/>
          <p:cNvSpPr/>
          <p:nvPr/>
        </p:nvSpPr>
        <p:spPr>
          <a:xfrm>
            <a:off x="455930" y="4296410"/>
            <a:ext cx="11137900" cy="1301115"/>
          </a:xfrm>
          <a:prstGeom prst="rect">
            <a:avLst/>
          </a:prstGeom>
          <a:solidFill>
            <a:schemeClr val="accent5">
              <a:lumMod val="20000"/>
              <a:lumOff val="80000"/>
              <a:alpha val="25000"/>
            </a:schemeClr>
          </a:solidFill>
          <a:ln>
            <a:prstDash val="dash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矩形 11"/>
          <p:cNvSpPr/>
          <p:nvPr/>
        </p:nvSpPr>
        <p:spPr>
          <a:xfrm>
            <a:off x="455930" y="2784475"/>
            <a:ext cx="11137900" cy="1301115"/>
          </a:xfrm>
          <a:prstGeom prst="rect">
            <a:avLst/>
          </a:prstGeom>
          <a:solidFill>
            <a:schemeClr val="accent6">
              <a:lumMod val="40000"/>
              <a:lumOff val="60000"/>
              <a:alpha val="25000"/>
            </a:schemeClr>
          </a:solidFill>
          <a:ln>
            <a:prstDash val="dash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矩形 13"/>
          <p:cNvSpPr/>
          <p:nvPr/>
        </p:nvSpPr>
        <p:spPr>
          <a:xfrm>
            <a:off x="455930" y="1160780"/>
            <a:ext cx="11137900" cy="1301115"/>
          </a:xfrm>
          <a:prstGeom prst="rect">
            <a:avLst/>
          </a:prstGeom>
          <a:solidFill>
            <a:schemeClr val="accent5">
              <a:lumMod val="20000"/>
              <a:lumOff val="80000"/>
              <a:alpha val="25000"/>
            </a:schemeClr>
          </a:solidFill>
          <a:ln>
            <a:prstDash val="dashDot"/>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6"/>
          <p:cNvSpPr/>
          <p:nvPr/>
        </p:nvSpPr>
        <p:spPr>
          <a:xfrm>
            <a:off x="805815" y="420370"/>
            <a:ext cx="9593580" cy="431800"/>
          </a:xfrm>
          <a:prstGeom prst="rect">
            <a:avLst/>
          </a:prstGeom>
          <a:noFill/>
          <a:ln w="0" cap="flat">
            <a:noFill/>
            <a:prstDash val="solid"/>
            <a:miter lim="0"/>
          </a:ln>
        </p:spPr>
        <p:txBody>
          <a:bodyPr vert="horz" wrap="square" lIns="0" tIns="0" rIns="0" bIns="0"/>
          <a:p>
            <a:pPr algn="l" rtl="0" eaLnBrk="0">
              <a:lnSpc>
                <a:spcPct val="75000"/>
              </a:lnSpc>
            </a:pPr>
            <a:endParaRPr sz="100" dirty="0">
              <a:latin typeface="Arial" panose="020B0604020202020204"/>
              <a:ea typeface="Arial" panose="020B0604020202020204"/>
              <a:cs typeface="Arial" panose="020B0604020202020204"/>
            </a:endParaRPr>
          </a:p>
          <a:p>
            <a:pPr marL="12700" algn="l" rtl="0" eaLnBrk="0">
              <a:lnSpc>
                <a:spcPct val="99000"/>
              </a:lnSpc>
            </a:pPr>
            <a:r>
              <a:rPr 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微服务设计</a:t>
            </a:r>
            <a:r>
              <a:rPr lang="en-US" alt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-2.</a:t>
            </a:r>
            <a:r>
              <a:rPr lang="zh-CN" altLang="en-US"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最小控制</a:t>
            </a:r>
            <a:r>
              <a:rPr lang="zh-CN" altLang="en-US"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原则</a:t>
            </a:r>
            <a:endParaRPr lang="zh-CN" altLang="en-US"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endParaRPr>
          </a:p>
        </p:txBody>
      </p:sp>
      <p:cxnSp>
        <p:nvCxnSpPr>
          <p:cNvPr id="3" name="直接箭头连接符 2"/>
          <p:cNvCxnSpPr/>
          <p:nvPr/>
        </p:nvCxnSpPr>
        <p:spPr>
          <a:xfrm>
            <a:off x="1059051" y="6136965"/>
            <a:ext cx="9634331" cy="0"/>
          </a:xfrm>
          <a:prstGeom prst="straightConnector1">
            <a:avLst/>
          </a:prstGeom>
          <a:ln w="6350">
            <a:solidFill>
              <a:schemeClr val="bg1">
                <a:lumMod val="75000"/>
              </a:schemeClr>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 name="AutoShape 2"/>
          <p:cNvSpPr>
            <a:spLocks noChangeAspect="1" noChangeArrowheads="1"/>
          </p:cNvSpPr>
          <p:nvPr/>
        </p:nvSpPr>
        <p:spPr bwMode="auto">
          <a:xfrm>
            <a:off x="9927191" y="2659756"/>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
            <a:endParaRPr lang="zh-CN" altLang="en-US"/>
          </a:p>
        </p:txBody>
      </p:sp>
      <p:pic>
        <p:nvPicPr>
          <p:cNvPr id="14" name="图片 13" descr="文本&#10;&#10;描述已自动生成"/>
          <p:cNvPicPr>
            <a:picLocks noChangeAspect="1"/>
          </p:cNvPicPr>
          <p:nvPr/>
        </p:nvPicPr>
        <p:blipFill>
          <a:blip r:embed="rId1"/>
          <a:stretch>
            <a:fillRect/>
          </a:stretch>
        </p:blipFill>
        <p:spPr>
          <a:xfrm>
            <a:off x="4559407" y="4622104"/>
            <a:ext cx="3848298" cy="1320868"/>
          </a:xfrm>
          <a:prstGeom prst="rect">
            <a:avLst/>
          </a:prstGeom>
        </p:spPr>
      </p:pic>
      <p:pic>
        <p:nvPicPr>
          <p:cNvPr id="11" name="图片 10" descr="文本&#10;&#10;描述已自动生成"/>
          <p:cNvPicPr>
            <a:picLocks noChangeAspect="1"/>
          </p:cNvPicPr>
          <p:nvPr/>
        </p:nvPicPr>
        <p:blipFill>
          <a:blip r:embed="rId2"/>
          <a:stretch>
            <a:fillRect/>
          </a:stretch>
        </p:blipFill>
        <p:spPr>
          <a:xfrm>
            <a:off x="4559407" y="3399610"/>
            <a:ext cx="3911801" cy="787440"/>
          </a:xfrm>
          <a:prstGeom prst="rect">
            <a:avLst/>
          </a:prstGeom>
        </p:spPr>
      </p:pic>
      <p:pic>
        <p:nvPicPr>
          <p:cNvPr id="12" name="图片 11"/>
          <p:cNvPicPr>
            <a:picLocks noChangeAspect="1"/>
          </p:cNvPicPr>
          <p:nvPr/>
        </p:nvPicPr>
        <p:blipFill>
          <a:blip r:embed="rId3"/>
          <a:stretch>
            <a:fillRect/>
          </a:stretch>
        </p:blipFill>
        <p:spPr>
          <a:xfrm>
            <a:off x="4559407" y="1262669"/>
            <a:ext cx="5461281" cy="1701887"/>
          </a:xfrm>
          <a:prstGeom prst="rect">
            <a:avLst/>
          </a:prstGeom>
        </p:spPr>
      </p:pic>
      <p:grpSp>
        <p:nvGrpSpPr>
          <p:cNvPr id="15" name="组合 1"/>
          <p:cNvGrpSpPr/>
          <p:nvPr/>
        </p:nvGrpSpPr>
        <p:grpSpPr>
          <a:xfrm>
            <a:off x="770416" y="1612545"/>
            <a:ext cx="2953924" cy="1078991"/>
            <a:chOff x="1768673" y="1716257"/>
            <a:chExt cx="2724752" cy="998806"/>
          </a:xfrm>
        </p:grpSpPr>
        <p:grpSp>
          <p:nvGrpSpPr>
            <p:cNvPr id="23" name="组合 2"/>
            <p:cNvGrpSpPr/>
            <p:nvPr/>
          </p:nvGrpSpPr>
          <p:grpSpPr>
            <a:xfrm>
              <a:off x="1768673" y="1716257"/>
              <a:ext cx="2724752" cy="998806"/>
              <a:chOff x="2208627" y="2757268"/>
              <a:chExt cx="2098475" cy="769233"/>
            </a:xfrm>
          </p:grpSpPr>
          <p:sp>
            <p:nvSpPr>
              <p:cNvPr id="24" name="任意多边形 4"/>
              <p:cNvSpPr/>
              <p:nvPr/>
            </p:nvSpPr>
            <p:spPr>
              <a:xfrm rot="428685">
                <a:off x="2267286" y="2880533"/>
                <a:ext cx="2039816" cy="645968"/>
              </a:xfrm>
              <a:custGeom>
                <a:avLst/>
                <a:gdLst>
                  <a:gd name="connsiteX0" fmla="*/ 1948193 w 2039816"/>
                  <a:gd name="connsiteY0" fmla="*/ 0 h 645968"/>
                  <a:gd name="connsiteX1" fmla="*/ 2039816 w 2039816"/>
                  <a:gd name="connsiteY1" fmla="*/ 0 h 645968"/>
                  <a:gd name="connsiteX2" fmla="*/ 2039816 w 2039816"/>
                  <a:gd name="connsiteY2" fmla="*/ 645968 h 645968"/>
                  <a:gd name="connsiteX3" fmla="*/ 0 w 2039816"/>
                  <a:gd name="connsiteY3" fmla="*/ 645968 h 645968"/>
                  <a:gd name="connsiteX4" fmla="*/ 0 w 2039816"/>
                  <a:gd name="connsiteY4" fmla="*/ 636726 h 645968"/>
                  <a:gd name="connsiteX5" fmla="*/ 1996635 w 2039816"/>
                  <a:gd name="connsiteY5" fmla="*/ 386448 h 645968"/>
                  <a:gd name="connsiteX6" fmla="*/ 0 w 2039816"/>
                  <a:gd name="connsiteY6" fmla="*/ 0 h 645968"/>
                  <a:gd name="connsiteX7" fmla="*/ 8681 w 2039816"/>
                  <a:gd name="connsiteY7" fmla="*/ 0 h 645968"/>
                  <a:gd name="connsiteX8" fmla="*/ 0 w 2039816"/>
                  <a:gd name="connsiteY8" fmla="*/ 1088 h 645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816" h="645968">
                    <a:moveTo>
                      <a:pt x="1948193" y="0"/>
                    </a:moveTo>
                    <a:lnTo>
                      <a:pt x="2039816" y="0"/>
                    </a:lnTo>
                    <a:lnTo>
                      <a:pt x="2039816" y="645968"/>
                    </a:lnTo>
                    <a:lnTo>
                      <a:pt x="0" y="645968"/>
                    </a:lnTo>
                    <a:lnTo>
                      <a:pt x="0" y="636726"/>
                    </a:lnTo>
                    <a:lnTo>
                      <a:pt x="1996635" y="386448"/>
                    </a:lnTo>
                    <a:close/>
                    <a:moveTo>
                      <a:pt x="0" y="0"/>
                    </a:moveTo>
                    <a:lnTo>
                      <a:pt x="8681" y="0"/>
                    </a:lnTo>
                    <a:lnTo>
                      <a:pt x="0" y="1088"/>
                    </a:lnTo>
                    <a:close/>
                  </a:path>
                </a:pathLst>
              </a:custGeom>
              <a:solidFill>
                <a:srgbClr val="2D77E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sz="1400">
                  <a:solidFill>
                    <a:schemeClr val="bg1">
                      <a:lumMod val="50000"/>
                    </a:schemeClr>
                  </a:solidFill>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sp>
            <p:nvSpPr>
              <p:cNvPr id="25" name="矩形 24"/>
              <p:cNvSpPr/>
              <p:nvPr/>
            </p:nvSpPr>
            <p:spPr>
              <a:xfrm>
                <a:off x="2208627" y="2757268"/>
                <a:ext cx="2039816" cy="630702"/>
              </a:xfrm>
              <a:prstGeom prst="rect">
                <a:avLst/>
              </a:prstGeom>
              <a:noFill/>
              <a:ln>
                <a:solidFill>
                  <a:srgbClr val="2D77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solidFill>
                    <a:schemeClr val="bg1">
                      <a:lumMod val="50000"/>
                    </a:schemeClr>
                  </a:solidFill>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grpSp>
        <p:sp>
          <p:nvSpPr>
            <p:cNvPr id="26" name="矩形 25"/>
            <p:cNvSpPr/>
            <p:nvPr/>
          </p:nvSpPr>
          <p:spPr>
            <a:xfrm>
              <a:off x="2061273" y="1951992"/>
              <a:ext cx="596187" cy="341885"/>
            </a:xfrm>
            <a:prstGeom prst="rect">
              <a:avLst/>
            </a:prstGeom>
          </p:spPr>
          <p:txBody>
            <a:bodyPr wrap="none">
              <a:spAutoFit/>
            </a:bodyPr>
            <a:p>
              <a:r>
                <a:rPr lang="zh-CN" altLang="en-US" dirty="0">
                  <a:effectLst>
                    <a:outerShdw blurRad="50800" dist="25400" dir="2700000" algn="tl" rotWithShape="0">
                      <a:prstClr val="black">
                        <a:alpha val="40000"/>
                      </a:prstClr>
                    </a:outerShdw>
                  </a:effectLst>
                  <a:latin typeface="Source Han Serif SC" panose="02020400000000000000" pitchFamily="18" charset="-122"/>
                  <a:ea typeface="Source Han Serif SC" panose="02020400000000000000" pitchFamily="18" charset="-122"/>
                  <a:sym typeface="Source Han Serif SC" panose="02020400000000000000" pitchFamily="18" charset="-122"/>
                </a:rPr>
                <a:t>注册</a:t>
              </a:r>
              <a:endParaRPr lang="zh-CN" altLang="en-US" dirty="0">
                <a:effectLst>
                  <a:outerShdw blurRad="50800" dist="25400" dir="2700000" algn="tl" rotWithShape="0">
                    <a:prstClr val="black">
                      <a:alpha val="40000"/>
                    </a:prstClr>
                  </a:outerShdw>
                </a:effectLst>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grpSp>
      <p:grpSp>
        <p:nvGrpSpPr>
          <p:cNvPr id="35" name="组合 6"/>
          <p:cNvGrpSpPr/>
          <p:nvPr/>
        </p:nvGrpSpPr>
        <p:grpSpPr>
          <a:xfrm>
            <a:off x="770416" y="3181156"/>
            <a:ext cx="2953924" cy="1078992"/>
            <a:chOff x="1768673" y="3412696"/>
            <a:chExt cx="2724752" cy="998807"/>
          </a:xfrm>
        </p:grpSpPr>
        <p:grpSp>
          <p:nvGrpSpPr>
            <p:cNvPr id="39" name="组合 20"/>
            <p:cNvGrpSpPr/>
            <p:nvPr/>
          </p:nvGrpSpPr>
          <p:grpSpPr>
            <a:xfrm>
              <a:off x="1768673" y="3412696"/>
              <a:ext cx="2724752" cy="998807"/>
              <a:chOff x="2208627" y="2757267"/>
              <a:chExt cx="2098475" cy="769234"/>
            </a:xfrm>
          </p:grpSpPr>
          <p:sp>
            <p:nvSpPr>
              <p:cNvPr id="40" name="任意多边形 9"/>
              <p:cNvSpPr/>
              <p:nvPr/>
            </p:nvSpPr>
            <p:spPr>
              <a:xfrm rot="428685">
                <a:off x="2267286" y="2880533"/>
                <a:ext cx="2039816" cy="645968"/>
              </a:xfrm>
              <a:custGeom>
                <a:avLst/>
                <a:gdLst>
                  <a:gd name="connsiteX0" fmla="*/ 1948193 w 2039816"/>
                  <a:gd name="connsiteY0" fmla="*/ 0 h 645968"/>
                  <a:gd name="connsiteX1" fmla="*/ 2039816 w 2039816"/>
                  <a:gd name="connsiteY1" fmla="*/ 0 h 645968"/>
                  <a:gd name="connsiteX2" fmla="*/ 2039816 w 2039816"/>
                  <a:gd name="connsiteY2" fmla="*/ 645968 h 645968"/>
                  <a:gd name="connsiteX3" fmla="*/ 0 w 2039816"/>
                  <a:gd name="connsiteY3" fmla="*/ 645968 h 645968"/>
                  <a:gd name="connsiteX4" fmla="*/ 0 w 2039816"/>
                  <a:gd name="connsiteY4" fmla="*/ 636726 h 645968"/>
                  <a:gd name="connsiteX5" fmla="*/ 1996635 w 2039816"/>
                  <a:gd name="connsiteY5" fmla="*/ 386448 h 645968"/>
                  <a:gd name="connsiteX6" fmla="*/ 0 w 2039816"/>
                  <a:gd name="connsiteY6" fmla="*/ 0 h 645968"/>
                  <a:gd name="connsiteX7" fmla="*/ 8681 w 2039816"/>
                  <a:gd name="connsiteY7" fmla="*/ 0 h 645968"/>
                  <a:gd name="connsiteX8" fmla="*/ 0 w 2039816"/>
                  <a:gd name="connsiteY8" fmla="*/ 1088 h 645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816" h="645968">
                    <a:moveTo>
                      <a:pt x="1948193" y="0"/>
                    </a:moveTo>
                    <a:lnTo>
                      <a:pt x="2039816" y="0"/>
                    </a:lnTo>
                    <a:lnTo>
                      <a:pt x="2039816" y="645968"/>
                    </a:lnTo>
                    <a:lnTo>
                      <a:pt x="0" y="645968"/>
                    </a:lnTo>
                    <a:lnTo>
                      <a:pt x="0" y="636726"/>
                    </a:lnTo>
                    <a:lnTo>
                      <a:pt x="1996635" y="386448"/>
                    </a:lnTo>
                    <a:close/>
                    <a:moveTo>
                      <a:pt x="0" y="0"/>
                    </a:moveTo>
                    <a:lnTo>
                      <a:pt x="8681" y="0"/>
                    </a:lnTo>
                    <a:lnTo>
                      <a:pt x="0" y="1088"/>
                    </a:lnTo>
                    <a:close/>
                  </a:path>
                </a:pathLst>
              </a:custGeom>
              <a:solidFill>
                <a:srgbClr val="2D77E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sz="1400">
                  <a:solidFill>
                    <a:schemeClr val="bg1">
                      <a:lumMod val="50000"/>
                    </a:schemeClr>
                  </a:solidFill>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sp>
            <p:nvSpPr>
              <p:cNvPr id="41" name="矩形 40"/>
              <p:cNvSpPr/>
              <p:nvPr/>
            </p:nvSpPr>
            <p:spPr>
              <a:xfrm>
                <a:off x="2208627" y="2757267"/>
                <a:ext cx="2039817" cy="630702"/>
              </a:xfrm>
              <a:prstGeom prst="rect">
                <a:avLst/>
              </a:prstGeom>
              <a:noFill/>
              <a:ln>
                <a:solidFill>
                  <a:srgbClr val="2D77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solidFill>
                    <a:schemeClr val="bg1">
                      <a:lumMod val="50000"/>
                    </a:schemeClr>
                  </a:solidFill>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grpSp>
        <p:sp>
          <p:nvSpPr>
            <p:cNvPr id="42" name="矩形 41"/>
            <p:cNvSpPr/>
            <p:nvPr/>
          </p:nvSpPr>
          <p:spPr>
            <a:xfrm>
              <a:off x="2061273" y="3648432"/>
              <a:ext cx="596187" cy="341885"/>
            </a:xfrm>
            <a:prstGeom prst="rect">
              <a:avLst/>
            </a:prstGeom>
          </p:spPr>
          <p:txBody>
            <a:bodyPr wrap="none">
              <a:spAutoFit/>
            </a:bodyPr>
            <a:p>
              <a:r>
                <a:rPr lang="zh-CN" altLang="en-US" dirty="0">
                  <a:effectLst>
                    <a:outerShdw blurRad="50800" dist="25400" dir="2700000" algn="tl" rotWithShape="0">
                      <a:prstClr val="black">
                        <a:alpha val="40000"/>
                      </a:prstClr>
                    </a:outerShdw>
                  </a:effectLst>
                  <a:latin typeface="Source Han Serif SC" panose="02020400000000000000" pitchFamily="18" charset="-122"/>
                  <a:ea typeface="Source Han Serif SC" panose="02020400000000000000" pitchFamily="18" charset="-122"/>
                  <a:sym typeface="Source Han Serif SC" panose="02020400000000000000" pitchFamily="18" charset="-122"/>
                </a:rPr>
                <a:t>发现</a:t>
              </a:r>
              <a:endParaRPr lang="zh-CN" altLang="en-US" dirty="0">
                <a:effectLst>
                  <a:outerShdw blurRad="50800" dist="25400" dir="2700000" algn="tl" rotWithShape="0">
                    <a:prstClr val="black">
                      <a:alpha val="40000"/>
                    </a:prstClr>
                  </a:outerShdw>
                </a:effectLst>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grpSp>
      <p:grpSp>
        <p:nvGrpSpPr>
          <p:cNvPr id="43" name="组合 11"/>
          <p:cNvGrpSpPr/>
          <p:nvPr/>
        </p:nvGrpSpPr>
        <p:grpSpPr>
          <a:xfrm>
            <a:off x="770416" y="4640306"/>
            <a:ext cx="2953924" cy="1078991"/>
            <a:chOff x="1768673" y="5107737"/>
            <a:chExt cx="2724752" cy="998806"/>
          </a:xfrm>
        </p:grpSpPr>
        <p:grpSp>
          <p:nvGrpSpPr>
            <p:cNvPr id="44" name="组合 23"/>
            <p:cNvGrpSpPr/>
            <p:nvPr/>
          </p:nvGrpSpPr>
          <p:grpSpPr>
            <a:xfrm>
              <a:off x="1768673" y="5107737"/>
              <a:ext cx="2724752" cy="998806"/>
              <a:chOff x="2208627" y="2757268"/>
              <a:chExt cx="2098475" cy="769233"/>
            </a:xfrm>
          </p:grpSpPr>
          <p:sp>
            <p:nvSpPr>
              <p:cNvPr id="45" name="任意多边形 14"/>
              <p:cNvSpPr/>
              <p:nvPr/>
            </p:nvSpPr>
            <p:spPr>
              <a:xfrm rot="428685">
                <a:off x="2267286" y="2880533"/>
                <a:ext cx="2039816" cy="645968"/>
              </a:xfrm>
              <a:custGeom>
                <a:avLst/>
                <a:gdLst>
                  <a:gd name="connsiteX0" fmla="*/ 1948193 w 2039816"/>
                  <a:gd name="connsiteY0" fmla="*/ 0 h 645968"/>
                  <a:gd name="connsiteX1" fmla="*/ 2039816 w 2039816"/>
                  <a:gd name="connsiteY1" fmla="*/ 0 h 645968"/>
                  <a:gd name="connsiteX2" fmla="*/ 2039816 w 2039816"/>
                  <a:gd name="connsiteY2" fmla="*/ 645968 h 645968"/>
                  <a:gd name="connsiteX3" fmla="*/ 0 w 2039816"/>
                  <a:gd name="connsiteY3" fmla="*/ 645968 h 645968"/>
                  <a:gd name="connsiteX4" fmla="*/ 0 w 2039816"/>
                  <a:gd name="connsiteY4" fmla="*/ 636726 h 645968"/>
                  <a:gd name="connsiteX5" fmla="*/ 1996635 w 2039816"/>
                  <a:gd name="connsiteY5" fmla="*/ 386448 h 645968"/>
                  <a:gd name="connsiteX6" fmla="*/ 0 w 2039816"/>
                  <a:gd name="connsiteY6" fmla="*/ 0 h 645968"/>
                  <a:gd name="connsiteX7" fmla="*/ 8681 w 2039816"/>
                  <a:gd name="connsiteY7" fmla="*/ 0 h 645968"/>
                  <a:gd name="connsiteX8" fmla="*/ 0 w 2039816"/>
                  <a:gd name="connsiteY8" fmla="*/ 1088 h 645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816" h="645968">
                    <a:moveTo>
                      <a:pt x="1948193" y="0"/>
                    </a:moveTo>
                    <a:lnTo>
                      <a:pt x="2039816" y="0"/>
                    </a:lnTo>
                    <a:lnTo>
                      <a:pt x="2039816" y="645968"/>
                    </a:lnTo>
                    <a:lnTo>
                      <a:pt x="0" y="645968"/>
                    </a:lnTo>
                    <a:lnTo>
                      <a:pt x="0" y="636726"/>
                    </a:lnTo>
                    <a:lnTo>
                      <a:pt x="1996635" y="386448"/>
                    </a:lnTo>
                    <a:close/>
                    <a:moveTo>
                      <a:pt x="0" y="0"/>
                    </a:moveTo>
                    <a:lnTo>
                      <a:pt x="8681" y="0"/>
                    </a:lnTo>
                    <a:lnTo>
                      <a:pt x="0" y="1088"/>
                    </a:lnTo>
                    <a:close/>
                  </a:path>
                </a:pathLst>
              </a:custGeom>
              <a:solidFill>
                <a:srgbClr val="2D77E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sz="1400">
                  <a:solidFill>
                    <a:schemeClr val="bg1">
                      <a:lumMod val="50000"/>
                    </a:schemeClr>
                  </a:solidFill>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sp>
            <p:nvSpPr>
              <p:cNvPr id="46" name="矩形 45"/>
              <p:cNvSpPr/>
              <p:nvPr/>
            </p:nvSpPr>
            <p:spPr>
              <a:xfrm>
                <a:off x="2208627" y="2757268"/>
                <a:ext cx="2039816" cy="630702"/>
              </a:xfrm>
              <a:prstGeom prst="rect">
                <a:avLst/>
              </a:prstGeom>
              <a:noFill/>
              <a:ln>
                <a:solidFill>
                  <a:srgbClr val="2D77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solidFill>
                    <a:schemeClr val="bg1">
                      <a:lumMod val="50000"/>
                    </a:schemeClr>
                  </a:solidFill>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grpSp>
        <p:sp>
          <p:nvSpPr>
            <p:cNvPr id="47" name="矩形 46"/>
            <p:cNvSpPr/>
            <p:nvPr/>
          </p:nvSpPr>
          <p:spPr>
            <a:xfrm>
              <a:off x="2039444" y="5343468"/>
              <a:ext cx="809111" cy="341885"/>
            </a:xfrm>
            <a:prstGeom prst="rect">
              <a:avLst/>
            </a:prstGeom>
          </p:spPr>
          <p:txBody>
            <a:bodyPr wrap="none">
              <a:spAutoFit/>
            </a:bodyPr>
            <a:p>
              <a:r>
                <a:rPr lang="zh-CN" altLang="en-US" dirty="0">
                  <a:effectLst>
                    <a:outerShdw blurRad="50800" dist="25400" dir="2700000" algn="tl" rotWithShape="0">
                      <a:prstClr val="black">
                        <a:alpha val="40000"/>
                      </a:prstClr>
                    </a:outerShdw>
                  </a:effectLst>
                  <a:latin typeface="Source Han Serif SC" panose="02020400000000000000" pitchFamily="18" charset="-122"/>
                  <a:ea typeface="Source Han Serif SC" panose="02020400000000000000" pitchFamily="18" charset="-122"/>
                  <a:sym typeface="Source Han Serif SC" panose="02020400000000000000" pitchFamily="18" charset="-122"/>
                </a:rPr>
                <a:t>编解码</a:t>
              </a:r>
              <a:endParaRPr lang="zh-CN" altLang="en-US" dirty="0">
                <a:effectLst>
                  <a:outerShdw blurRad="50800" dist="25400" dir="2700000" algn="tl" rotWithShape="0">
                    <a:prstClr val="black">
                      <a:alpha val="40000"/>
                    </a:prstClr>
                  </a:outerShdw>
                </a:effectLst>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5"/>
                                        </p:tgtEl>
                                        <p:attrNameLst>
                                          <p:attrName>style.visibility</p:attrName>
                                        </p:attrNameLst>
                                      </p:cBhvr>
                                      <p:to>
                                        <p:strVal val="visible"/>
                                      </p:to>
                                    </p:set>
                                    <p:animEffect transition="in" filter="wipe(left)">
                                      <p:cBhvr>
                                        <p:cTn id="11" dur="500"/>
                                        <p:tgtEl>
                                          <p:spTgt spid="35"/>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wipe(left)">
                                      <p:cBhvr>
                                        <p:cTn id="15"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36"/>
          <p:cNvSpPr/>
          <p:nvPr/>
        </p:nvSpPr>
        <p:spPr>
          <a:xfrm>
            <a:off x="805815" y="420370"/>
            <a:ext cx="9472930" cy="431800"/>
          </a:xfrm>
          <a:prstGeom prst="rect">
            <a:avLst/>
          </a:prstGeom>
          <a:noFill/>
          <a:ln w="0" cap="flat">
            <a:noFill/>
            <a:prstDash val="solid"/>
            <a:miter lim="0"/>
          </a:ln>
        </p:spPr>
        <p:txBody>
          <a:bodyPr vert="horz" wrap="square" lIns="0" tIns="0" rIns="0" bIns="0"/>
          <a:p>
            <a:pPr algn="l" rtl="0" eaLnBrk="0">
              <a:lnSpc>
                <a:spcPct val="75000"/>
              </a:lnSpc>
            </a:pPr>
            <a:endParaRPr sz="100" dirty="0">
              <a:latin typeface="Arial" panose="020B0604020202020204"/>
              <a:ea typeface="Arial" panose="020B0604020202020204"/>
              <a:cs typeface="Arial" panose="020B0604020202020204"/>
            </a:endParaRPr>
          </a:p>
          <a:p>
            <a:pPr marL="12700" algn="l" rtl="0" eaLnBrk="0">
              <a:lnSpc>
                <a:spcPct val="99000"/>
              </a:lnSpc>
            </a:pPr>
            <a:r>
              <a:rPr 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微服务设计</a:t>
            </a:r>
            <a:r>
              <a:rPr lang="en-US" altLang="zh-CN"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-3.</a:t>
            </a:r>
            <a:r>
              <a:rPr lang="zh-CN" altLang="en-US"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最大兼容</a:t>
            </a:r>
            <a:r>
              <a:rPr lang="zh-CN" altLang="en-US"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rPr>
              <a:t>原则</a:t>
            </a:r>
            <a:endParaRPr lang="zh-CN" altLang="en-US" sz="36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endParaRPr>
          </a:p>
        </p:txBody>
      </p:sp>
      <p:sp>
        <p:nvSpPr>
          <p:cNvPr id="2" name="AutoShape 2"/>
          <p:cNvSpPr>
            <a:spLocks noChangeAspect="1" noChangeArrowheads="1"/>
          </p:cNvSpPr>
          <p:nvPr/>
        </p:nvSpPr>
        <p:spPr bwMode="auto">
          <a:xfrm>
            <a:off x="7437910" y="290490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
            <a:endParaRPr lang="zh-CN" altLang="en-US"/>
          </a:p>
        </p:txBody>
      </p:sp>
      <p:pic>
        <p:nvPicPr>
          <p:cNvPr id="6" name="图片 5"/>
          <p:cNvPicPr>
            <a:picLocks noChangeAspect="1"/>
          </p:cNvPicPr>
          <p:nvPr/>
        </p:nvPicPr>
        <p:blipFill>
          <a:blip r:embed="rId1"/>
          <a:stretch>
            <a:fillRect/>
          </a:stretch>
        </p:blipFill>
        <p:spPr>
          <a:xfrm>
            <a:off x="3373893" y="1705995"/>
            <a:ext cx="7036162" cy="711237"/>
          </a:xfrm>
          <a:prstGeom prst="rect">
            <a:avLst/>
          </a:prstGeom>
        </p:spPr>
      </p:pic>
      <p:pic>
        <p:nvPicPr>
          <p:cNvPr id="10" name="图片 9"/>
          <p:cNvPicPr>
            <a:picLocks noChangeAspect="1"/>
          </p:cNvPicPr>
          <p:nvPr/>
        </p:nvPicPr>
        <p:blipFill>
          <a:blip r:embed="rId2"/>
          <a:stretch>
            <a:fillRect/>
          </a:stretch>
        </p:blipFill>
        <p:spPr>
          <a:xfrm>
            <a:off x="3373892" y="3259617"/>
            <a:ext cx="8765151" cy="749339"/>
          </a:xfrm>
          <a:prstGeom prst="rect">
            <a:avLst/>
          </a:prstGeom>
        </p:spPr>
      </p:pic>
      <p:pic>
        <p:nvPicPr>
          <p:cNvPr id="4" name="图片 3"/>
          <p:cNvPicPr>
            <a:picLocks noChangeAspect="1"/>
          </p:cNvPicPr>
          <p:nvPr/>
        </p:nvPicPr>
        <p:blipFill>
          <a:blip r:embed="rId3"/>
          <a:stretch>
            <a:fillRect/>
          </a:stretch>
        </p:blipFill>
        <p:spPr>
          <a:xfrm>
            <a:off x="3373893" y="4690660"/>
            <a:ext cx="8382431" cy="800141"/>
          </a:xfrm>
          <a:prstGeom prst="rect">
            <a:avLst/>
          </a:prstGeom>
        </p:spPr>
      </p:pic>
      <p:grpSp>
        <p:nvGrpSpPr>
          <p:cNvPr id="7" name="组合 1"/>
          <p:cNvGrpSpPr/>
          <p:nvPr/>
        </p:nvGrpSpPr>
        <p:grpSpPr>
          <a:xfrm>
            <a:off x="176056" y="1550315"/>
            <a:ext cx="2953924" cy="1078991"/>
            <a:chOff x="1768673" y="1716257"/>
            <a:chExt cx="2724752" cy="998806"/>
          </a:xfrm>
        </p:grpSpPr>
        <p:grpSp>
          <p:nvGrpSpPr>
            <p:cNvPr id="8" name="组合 2"/>
            <p:cNvGrpSpPr/>
            <p:nvPr/>
          </p:nvGrpSpPr>
          <p:grpSpPr>
            <a:xfrm>
              <a:off x="1768673" y="1716257"/>
              <a:ext cx="2724752" cy="998806"/>
              <a:chOff x="2208627" y="2757268"/>
              <a:chExt cx="2098475" cy="769233"/>
            </a:xfrm>
          </p:grpSpPr>
          <p:sp>
            <p:nvSpPr>
              <p:cNvPr id="9" name="任意多边形 4"/>
              <p:cNvSpPr/>
              <p:nvPr/>
            </p:nvSpPr>
            <p:spPr>
              <a:xfrm rot="428685">
                <a:off x="2267286" y="2880533"/>
                <a:ext cx="2039816" cy="645968"/>
              </a:xfrm>
              <a:custGeom>
                <a:avLst/>
                <a:gdLst>
                  <a:gd name="connsiteX0" fmla="*/ 1948193 w 2039816"/>
                  <a:gd name="connsiteY0" fmla="*/ 0 h 645968"/>
                  <a:gd name="connsiteX1" fmla="*/ 2039816 w 2039816"/>
                  <a:gd name="connsiteY1" fmla="*/ 0 h 645968"/>
                  <a:gd name="connsiteX2" fmla="*/ 2039816 w 2039816"/>
                  <a:gd name="connsiteY2" fmla="*/ 645968 h 645968"/>
                  <a:gd name="connsiteX3" fmla="*/ 0 w 2039816"/>
                  <a:gd name="connsiteY3" fmla="*/ 645968 h 645968"/>
                  <a:gd name="connsiteX4" fmla="*/ 0 w 2039816"/>
                  <a:gd name="connsiteY4" fmla="*/ 636726 h 645968"/>
                  <a:gd name="connsiteX5" fmla="*/ 1996635 w 2039816"/>
                  <a:gd name="connsiteY5" fmla="*/ 386448 h 645968"/>
                  <a:gd name="connsiteX6" fmla="*/ 0 w 2039816"/>
                  <a:gd name="connsiteY6" fmla="*/ 0 h 645968"/>
                  <a:gd name="connsiteX7" fmla="*/ 8681 w 2039816"/>
                  <a:gd name="connsiteY7" fmla="*/ 0 h 645968"/>
                  <a:gd name="connsiteX8" fmla="*/ 0 w 2039816"/>
                  <a:gd name="connsiteY8" fmla="*/ 1088 h 645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816" h="645968">
                    <a:moveTo>
                      <a:pt x="1948193" y="0"/>
                    </a:moveTo>
                    <a:lnTo>
                      <a:pt x="2039816" y="0"/>
                    </a:lnTo>
                    <a:lnTo>
                      <a:pt x="2039816" y="645968"/>
                    </a:lnTo>
                    <a:lnTo>
                      <a:pt x="0" y="645968"/>
                    </a:lnTo>
                    <a:lnTo>
                      <a:pt x="0" y="636726"/>
                    </a:lnTo>
                    <a:lnTo>
                      <a:pt x="1996635" y="386448"/>
                    </a:lnTo>
                    <a:close/>
                    <a:moveTo>
                      <a:pt x="0" y="0"/>
                    </a:moveTo>
                    <a:lnTo>
                      <a:pt x="8681" y="0"/>
                    </a:lnTo>
                    <a:lnTo>
                      <a:pt x="0" y="1088"/>
                    </a:lnTo>
                    <a:close/>
                  </a:path>
                </a:pathLst>
              </a:custGeom>
              <a:solidFill>
                <a:srgbClr val="2D77E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sz="1400">
                  <a:solidFill>
                    <a:schemeClr val="bg1">
                      <a:lumMod val="50000"/>
                    </a:schemeClr>
                  </a:solidFill>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sp>
            <p:nvSpPr>
              <p:cNvPr id="13" name="矩形 12"/>
              <p:cNvSpPr/>
              <p:nvPr/>
            </p:nvSpPr>
            <p:spPr>
              <a:xfrm>
                <a:off x="2208627" y="2757268"/>
                <a:ext cx="2039816" cy="630702"/>
              </a:xfrm>
              <a:prstGeom prst="rect">
                <a:avLst/>
              </a:prstGeom>
              <a:noFill/>
              <a:ln>
                <a:solidFill>
                  <a:srgbClr val="2D77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solidFill>
                    <a:schemeClr val="bg1">
                      <a:lumMod val="50000"/>
                    </a:schemeClr>
                  </a:solidFill>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grpSp>
        <p:sp>
          <p:nvSpPr>
            <p:cNvPr id="16" name="矩形 15"/>
            <p:cNvSpPr/>
            <p:nvPr/>
          </p:nvSpPr>
          <p:spPr>
            <a:xfrm>
              <a:off x="2061273" y="1951992"/>
              <a:ext cx="596187" cy="341885"/>
            </a:xfrm>
            <a:prstGeom prst="rect">
              <a:avLst/>
            </a:prstGeom>
          </p:spPr>
          <p:txBody>
            <a:bodyPr wrap="none">
              <a:spAutoFit/>
            </a:bodyPr>
            <a:p>
              <a:r>
                <a:rPr lang="zh-CN" altLang="en-US" dirty="0">
                  <a:effectLst>
                    <a:outerShdw blurRad="50800" dist="25400" dir="2700000" algn="tl" rotWithShape="0">
                      <a:prstClr val="black">
                        <a:alpha val="40000"/>
                      </a:prstClr>
                    </a:outerShdw>
                  </a:effectLst>
                  <a:latin typeface="Source Han Serif SC" panose="02020400000000000000" pitchFamily="18" charset="-122"/>
                  <a:ea typeface="Source Han Serif SC" panose="02020400000000000000" pitchFamily="18" charset="-122"/>
                  <a:sym typeface="Source Han Serif SC" panose="02020400000000000000" pitchFamily="18" charset="-122"/>
                </a:rPr>
                <a:t>服务</a:t>
              </a:r>
              <a:endParaRPr lang="zh-CN" altLang="en-US" dirty="0">
                <a:effectLst>
                  <a:outerShdw blurRad="50800" dist="25400" dir="2700000" algn="tl" rotWithShape="0">
                    <a:prstClr val="black">
                      <a:alpha val="40000"/>
                    </a:prstClr>
                  </a:outerShdw>
                </a:effectLst>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grpSp>
      <p:grpSp>
        <p:nvGrpSpPr>
          <p:cNvPr id="17" name="组合 6"/>
          <p:cNvGrpSpPr/>
          <p:nvPr/>
        </p:nvGrpSpPr>
        <p:grpSpPr>
          <a:xfrm>
            <a:off x="176056" y="3118926"/>
            <a:ext cx="2953924" cy="1078992"/>
            <a:chOff x="1768673" y="3412696"/>
            <a:chExt cx="2724752" cy="998807"/>
          </a:xfrm>
        </p:grpSpPr>
        <p:grpSp>
          <p:nvGrpSpPr>
            <p:cNvPr id="18" name="组合 20"/>
            <p:cNvGrpSpPr/>
            <p:nvPr/>
          </p:nvGrpSpPr>
          <p:grpSpPr>
            <a:xfrm>
              <a:off x="1768673" y="3412696"/>
              <a:ext cx="2724752" cy="998807"/>
              <a:chOff x="2208627" y="2757267"/>
              <a:chExt cx="2098475" cy="769234"/>
            </a:xfrm>
          </p:grpSpPr>
          <p:sp>
            <p:nvSpPr>
              <p:cNvPr id="19" name="任意多边形 9"/>
              <p:cNvSpPr/>
              <p:nvPr/>
            </p:nvSpPr>
            <p:spPr>
              <a:xfrm rot="428685">
                <a:off x="2267286" y="2880533"/>
                <a:ext cx="2039816" cy="645968"/>
              </a:xfrm>
              <a:custGeom>
                <a:avLst/>
                <a:gdLst>
                  <a:gd name="connsiteX0" fmla="*/ 1948193 w 2039816"/>
                  <a:gd name="connsiteY0" fmla="*/ 0 h 645968"/>
                  <a:gd name="connsiteX1" fmla="*/ 2039816 w 2039816"/>
                  <a:gd name="connsiteY1" fmla="*/ 0 h 645968"/>
                  <a:gd name="connsiteX2" fmla="*/ 2039816 w 2039816"/>
                  <a:gd name="connsiteY2" fmla="*/ 645968 h 645968"/>
                  <a:gd name="connsiteX3" fmla="*/ 0 w 2039816"/>
                  <a:gd name="connsiteY3" fmla="*/ 645968 h 645968"/>
                  <a:gd name="connsiteX4" fmla="*/ 0 w 2039816"/>
                  <a:gd name="connsiteY4" fmla="*/ 636726 h 645968"/>
                  <a:gd name="connsiteX5" fmla="*/ 1996635 w 2039816"/>
                  <a:gd name="connsiteY5" fmla="*/ 386448 h 645968"/>
                  <a:gd name="connsiteX6" fmla="*/ 0 w 2039816"/>
                  <a:gd name="connsiteY6" fmla="*/ 0 h 645968"/>
                  <a:gd name="connsiteX7" fmla="*/ 8681 w 2039816"/>
                  <a:gd name="connsiteY7" fmla="*/ 0 h 645968"/>
                  <a:gd name="connsiteX8" fmla="*/ 0 w 2039816"/>
                  <a:gd name="connsiteY8" fmla="*/ 1088 h 645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816" h="645968">
                    <a:moveTo>
                      <a:pt x="1948193" y="0"/>
                    </a:moveTo>
                    <a:lnTo>
                      <a:pt x="2039816" y="0"/>
                    </a:lnTo>
                    <a:lnTo>
                      <a:pt x="2039816" y="645968"/>
                    </a:lnTo>
                    <a:lnTo>
                      <a:pt x="0" y="645968"/>
                    </a:lnTo>
                    <a:lnTo>
                      <a:pt x="0" y="636726"/>
                    </a:lnTo>
                    <a:lnTo>
                      <a:pt x="1996635" y="386448"/>
                    </a:lnTo>
                    <a:close/>
                    <a:moveTo>
                      <a:pt x="0" y="0"/>
                    </a:moveTo>
                    <a:lnTo>
                      <a:pt x="8681" y="0"/>
                    </a:lnTo>
                    <a:lnTo>
                      <a:pt x="0" y="1088"/>
                    </a:lnTo>
                    <a:close/>
                  </a:path>
                </a:pathLst>
              </a:custGeom>
              <a:solidFill>
                <a:srgbClr val="2D77E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sz="1400">
                  <a:solidFill>
                    <a:schemeClr val="bg1">
                      <a:lumMod val="50000"/>
                    </a:schemeClr>
                  </a:solidFill>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sp>
            <p:nvSpPr>
              <p:cNvPr id="20" name="矩形 19"/>
              <p:cNvSpPr/>
              <p:nvPr/>
            </p:nvSpPr>
            <p:spPr>
              <a:xfrm>
                <a:off x="2208627" y="2757267"/>
                <a:ext cx="2039817" cy="630702"/>
              </a:xfrm>
              <a:prstGeom prst="rect">
                <a:avLst/>
              </a:prstGeom>
              <a:noFill/>
              <a:ln>
                <a:solidFill>
                  <a:srgbClr val="2D77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solidFill>
                    <a:schemeClr val="bg1">
                      <a:lumMod val="50000"/>
                    </a:schemeClr>
                  </a:solidFill>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grpSp>
        <p:sp>
          <p:nvSpPr>
            <p:cNvPr id="21" name="矩形 20"/>
            <p:cNvSpPr/>
            <p:nvPr/>
          </p:nvSpPr>
          <p:spPr>
            <a:xfrm>
              <a:off x="2061273" y="3648432"/>
              <a:ext cx="809111" cy="341885"/>
            </a:xfrm>
            <a:prstGeom prst="rect">
              <a:avLst/>
            </a:prstGeom>
          </p:spPr>
          <p:txBody>
            <a:bodyPr wrap="none">
              <a:spAutoFit/>
            </a:bodyPr>
            <a:p>
              <a:r>
                <a:rPr lang="zh-CN" altLang="en-US" dirty="0">
                  <a:effectLst>
                    <a:outerShdw blurRad="50800" dist="25400" dir="2700000" algn="tl" rotWithShape="0">
                      <a:prstClr val="black">
                        <a:alpha val="40000"/>
                      </a:prstClr>
                    </a:outerShdw>
                  </a:effectLst>
                  <a:latin typeface="Source Han Serif SC" panose="02020400000000000000" pitchFamily="18" charset="-122"/>
                  <a:ea typeface="Source Han Serif SC" panose="02020400000000000000" pitchFamily="18" charset="-122"/>
                  <a:sym typeface="Source Han Serif SC" panose="02020400000000000000" pitchFamily="18" charset="-122"/>
                </a:rPr>
                <a:t>过滤器</a:t>
              </a:r>
              <a:endParaRPr lang="zh-CN" altLang="en-US" dirty="0">
                <a:effectLst>
                  <a:outerShdw blurRad="50800" dist="25400" dir="2700000" algn="tl" rotWithShape="0">
                    <a:prstClr val="black">
                      <a:alpha val="40000"/>
                    </a:prstClr>
                  </a:outerShdw>
                </a:effectLst>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grpSp>
      <p:grpSp>
        <p:nvGrpSpPr>
          <p:cNvPr id="22" name="组合 11"/>
          <p:cNvGrpSpPr/>
          <p:nvPr/>
        </p:nvGrpSpPr>
        <p:grpSpPr>
          <a:xfrm>
            <a:off x="176056" y="4578076"/>
            <a:ext cx="2953924" cy="1078991"/>
            <a:chOff x="1768673" y="5107737"/>
            <a:chExt cx="2724752" cy="998806"/>
          </a:xfrm>
        </p:grpSpPr>
        <p:grpSp>
          <p:nvGrpSpPr>
            <p:cNvPr id="27" name="组合 23"/>
            <p:cNvGrpSpPr/>
            <p:nvPr/>
          </p:nvGrpSpPr>
          <p:grpSpPr>
            <a:xfrm>
              <a:off x="1768673" y="5107737"/>
              <a:ext cx="2724752" cy="998806"/>
              <a:chOff x="2208627" y="2757268"/>
              <a:chExt cx="2098475" cy="769233"/>
            </a:xfrm>
          </p:grpSpPr>
          <p:sp>
            <p:nvSpPr>
              <p:cNvPr id="28" name="任意多边形 14"/>
              <p:cNvSpPr/>
              <p:nvPr/>
            </p:nvSpPr>
            <p:spPr>
              <a:xfrm rot="428685">
                <a:off x="2267286" y="2880533"/>
                <a:ext cx="2039816" cy="645968"/>
              </a:xfrm>
              <a:custGeom>
                <a:avLst/>
                <a:gdLst>
                  <a:gd name="connsiteX0" fmla="*/ 1948193 w 2039816"/>
                  <a:gd name="connsiteY0" fmla="*/ 0 h 645968"/>
                  <a:gd name="connsiteX1" fmla="*/ 2039816 w 2039816"/>
                  <a:gd name="connsiteY1" fmla="*/ 0 h 645968"/>
                  <a:gd name="connsiteX2" fmla="*/ 2039816 w 2039816"/>
                  <a:gd name="connsiteY2" fmla="*/ 645968 h 645968"/>
                  <a:gd name="connsiteX3" fmla="*/ 0 w 2039816"/>
                  <a:gd name="connsiteY3" fmla="*/ 645968 h 645968"/>
                  <a:gd name="connsiteX4" fmla="*/ 0 w 2039816"/>
                  <a:gd name="connsiteY4" fmla="*/ 636726 h 645968"/>
                  <a:gd name="connsiteX5" fmla="*/ 1996635 w 2039816"/>
                  <a:gd name="connsiteY5" fmla="*/ 386448 h 645968"/>
                  <a:gd name="connsiteX6" fmla="*/ 0 w 2039816"/>
                  <a:gd name="connsiteY6" fmla="*/ 0 h 645968"/>
                  <a:gd name="connsiteX7" fmla="*/ 8681 w 2039816"/>
                  <a:gd name="connsiteY7" fmla="*/ 0 h 645968"/>
                  <a:gd name="connsiteX8" fmla="*/ 0 w 2039816"/>
                  <a:gd name="connsiteY8" fmla="*/ 1088 h 645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816" h="645968">
                    <a:moveTo>
                      <a:pt x="1948193" y="0"/>
                    </a:moveTo>
                    <a:lnTo>
                      <a:pt x="2039816" y="0"/>
                    </a:lnTo>
                    <a:lnTo>
                      <a:pt x="2039816" y="645968"/>
                    </a:lnTo>
                    <a:lnTo>
                      <a:pt x="0" y="645968"/>
                    </a:lnTo>
                    <a:lnTo>
                      <a:pt x="0" y="636726"/>
                    </a:lnTo>
                    <a:lnTo>
                      <a:pt x="1996635" y="386448"/>
                    </a:lnTo>
                    <a:close/>
                    <a:moveTo>
                      <a:pt x="0" y="0"/>
                    </a:moveTo>
                    <a:lnTo>
                      <a:pt x="8681" y="0"/>
                    </a:lnTo>
                    <a:lnTo>
                      <a:pt x="0" y="1088"/>
                    </a:lnTo>
                    <a:close/>
                  </a:path>
                </a:pathLst>
              </a:custGeom>
              <a:solidFill>
                <a:srgbClr val="2D77EE"/>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sz="1400">
                  <a:solidFill>
                    <a:schemeClr val="bg1">
                      <a:lumMod val="50000"/>
                    </a:schemeClr>
                  </a:solidFill>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sp>
            <p:nvSpPr>
              <p:cNvPr id="29" name="矩形 28"/>
              <p:cNvSpPr/>
              <p:nvPr/>
            </p:nvSpPr>
            <p:spPr>
              <a:xfrm>
                <a:off x="2208627" y="2757268"/>
                <a:ext cx="2039816" cy="630702"/>
              </a:xfrm>
              <a:prstGeom prst="rect">
                <a:avLst/>
              </a:prstGeom>
              <a:noFill/>
              <a:ln>
                <a:solidFill>
                  <a:srgbClr val="2D77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solidFill>
                    <a:schemeClr val="bg1">
                      <a:lumMod val="50000"/>
                    </a:schemeClr>
                  </a:solidFill>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grpSp>
        <p:sp>
          <p:nvSpPr>
            <p:cNvPr id="30" name="矩形 29"/>
            <p:cNvSpPr/>
            <p:nvPr/>
          </p:nvSpPr>
          <p:spPr>
            <a:xfrm>
              <a:off x="2039444" y="5343468"/>
              <a:ext cx="1234959" cy="341885"/>
            </a:xfrm>
            <a:prstGeom prst="rect">
              <a:avLst/>
            </a:prstGeom>
          </p:spPr>
          <p:txBody>
            <a:bodyPr wrap="none">
              <a:spAutoFit/>
            </a:bodyPr>
            <a:p>
              <a:r>
                <a:rPr lang="zh-CN" altLang="en-US" dirty="0">
                  <a:effectLst>
                    <a:outerShdw blurRad="50800" dist="25400" dir="2700000" algn="tl" rotWithShape="0">
                      <a:prstClr val="black">
                        <a:alpha val="40000"/>
                      </a:prstClr>
                    </a:outerShdw>
                  </a:effectLst>
                  <a:latin typeface="Source Han Serif SC" panose="02020400000000000000" pitchFamily="18" charset="-122"/>
                  <a:ea typeface="Source Han Serif SC" panose="02020400000000000000" pitchFamily="18" charset="-122"/>
                  <a:sym typeface="Source Han Serif SC" panose="02020400000000000000" pitchFamily="18" charset="-122"/>
                </a:rPr>
                <a:t>异常处理器</a:t>
              </a:r>
              <a:endParaRPr lang="zh-CN" altLang="en-US" dirty="0">
                <a:effectLst>
                  <a:outerShdw blurRad="50800" dist="25400" dir="2700000" algn="tl" rotWithShape="0">
                    <a:prstClr val="black">
                      <a:alpha val="40000"/>
                    </a:prstClr>
                  </a:outerShdw>
                </a:effectLst>
                <a:latin typeface="Source Han Serif SC" panose="02020400000000000000" pitchFamily="18" charset="-122"/>
                <a:ea typeface="Source Han Serif SC" panose="02020400000000000000" pitchFamily="18" charset="-122"/>
                <a:sym typeface="Source Han Serif SC" panose="02020400000000000000" pitchFamily="18"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left)">
                                      <p:cBhvr>
                                        <p:cTn id="11" dur="500"/>
                                        <p:tgtEl>
                                          <p:spTgt spid="17"/>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left)">
                                      <p:cBhvr>
                                        <p:cTn id="1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08400" y="288360"/>
            <a:ext cx="10969200" cy="705600"/>
          </a:xfrm>
        </p:spPr>
        <p:txBody>
          <a:bodyPr/>
          <a:lstStyle/>
          <a:p>
            <a:r>
              <a:rPr lang="zh-CN"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微服务设计</a:t>
            </a:r>
            <a:r>
              <a:rPr lang="en-US" altLang="zh-CN"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-4.</a:t>
            </a:r>
            <a:r>
              <a:rPr lang="zh-CN" altLang="en-US"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现实思维原则</a:t>
            </a:r>
            <a:endParaRPr lang="zh-CN" altLang="en-US"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endParaRPr>
          </a:p>
        </p:txBody>
      </p:sp>
      <p:pic>
        <p:nvPicPr>
          <p:cNvPr id="8" name="图片 7" descr="文本&#10;&#10;描述已自动生成"/>
          <p:cNvPicPr>
            <a:picLocks noChangeAspect="1"/>
          </p:cNvPicPr>
          <p:nvPr/>
        </p:nvPicPr>
        <p:blipFill>
          <a:blip r:embed="rId1"/>
          <a:stretch>
            <a:fillRect/>
          </a:stretch>
        </p:blipFill>
        <p:spPr>
          <a:xfrm>
            <a:off x="3556635" y="3192145"/>
            <a:ext cx="4166235" cy="2847975"/>
          </a:xfrm>
          <a:prstGeom prst="rect">
            <a:avLst/>
          </a:prstGeom>
        </p:spPr>
      </p:pic>
      <p:pic>
        <p:nvPicPr>
          <p:cNvPr id="12" name="图片 11" descr="文本&#10;&#10;描述已自动生成"/>
          <p:cNvPicPr>
            <a:picLocks noChangeAspect="1"/>
          </p:cNvPicPr>
          <p:nvPr/>
        </p:nvPicPr>
        <p:blipFill>
          <a:blip r:embed="rId2"/>
          <a:stretch>
            <a:fillRect/>
          </a:stretch>
        </p:blipFill>
        <p:spPr>
          <a:xfrm>
            <a:off x="847090" y="993775"/>
            <a:ext cx="3759200" cy="2116455"/>
          </a:xfrm>
          <a:prstGeom prst="rect">
            <a:avLst/>
          </a:prstGeom>
        </p:spPr>
      </p:pic>
      <p:pic>
        <p:nvPicPr>
          <p:cNvPr id="14" name="图片 13" descr="文本&#10;&#10;描述已自动生成"/>
          <p:cNvPicPr>
            <a:picLocks noChangeAspect="1"/>
          </p:cNvPicPr>
          <p:nvPr/>
        </p:nvPicPr>
        <p:blipFill>
          <a:blip r:embed="rId3"/>
          <a:stretch>
            <a:fillRect/>
          </a:stretch>
        </p:blipFill>
        <p:spPr>
          <a:xfrm>
            <a:off x="6816725" y="994410"/>
            <a:ext cx="4971415" cy="2115185"/>
          </a:xfrm>
          <a:prstGeom prst="rect">
            <a:avLst/>
          </a:prstGeom>
        </p:spPr>
      </p:pic>
      <p:sp>
        <p:nvSpPr>
          <p:cNvPr id="52" name="椭圆 51"/>
          <p:cNvSpPr/>
          <p:nvPr>
            <p:custDataLst>
              <p:tags r:id="rId4"/>
            </p:custDataLst>
          </p:nvPr>
        </p:nvSpPr>
        <p:spPr>
          <a:xfrm>
            <a:off x="3876897" y="2382404"/>
            <a:ext cx="707710" cy="707949"/>
          </a:xfrm>
          <a:prstGeom prst="ellipse">
            <a:avLst/>
          </a:prstGeom>
          <a:gradFill flip="none" rotWithShape="1">
            <a:gsLst>
              <a:gs pos="75000">
                <a:srgbClr val="F9F8CA">
                  <a:alpha val="80000"/>
                </a:srgbClr>
              </a:gs>
              <a:gs pos="6000">
                <a:srgbClr val="4EAADD"/>
              </a:gs>
            </a:gsLst>
            <a:lin ang="18900000" scaled="1"/>
          </a:gradFill>
          <a:ln>
            <a:noFill/>
          </a:ln>
          <a:effectLst>
            <a:outerShdw blurRad="114300" sx="102000" sy="102000" algn="ctr"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p>
            <a:pPr algn="ctr"/>
            <a:r>
              <a:rPr lang="en-US" altLang="zh-CN" b="1" dirty="0">
                <a:solidFill>
                  <a:schemeClr val="bg1"/>
                </a:solidFill>
              </a:rPr>
              <a:t>1</a:t>
            </a:r>
            <a:endParaRPr lang="en-US" altLang="zh-CN" b="1" dirty="0">
              <a:solidFill>
                <a:schemeClr val="bg1"/>
              </a:solidFill>
            </a:endParaRPr>
          </a:p>
        </p:txBody>
      </p:sp>
      <p:sp>
        <p:nvSpPr>
          <p:cNvPr id="2" name="椭圆 1"/>
          <p:cNvSpPr/>
          <p:nvPr>
            <p:custDataLst>
              <p:tags r:id="rId5"/>
            </p:custDataLst>
          </p:nvPr>
        </p:nvSpPr>
        <p:spPr>
          <a:xfrm>
            <a:off x="6977602" y="5321184"/>
            <a:ext cx="707710" cy="707949"/>
          </a:xfrm>
          <a:prstGeom prst="ellipse">
            <a:avLst/>
          </a:prstGeom>
          <a:gradFill flip="none" rotWithShape="1">
            <a:gsLst>
              <a:gs pos="100000">
                <a:srgbClr val="F9F8CA">
                  <a:alpha val="80000"/>
                </a:srgbClr>
              </a:gs>
              <a:gs pos="6000">
                <a:srgbClr val="4EAADD"/>
              </a:gs>
            </a:gsLst>
            <a:lin ang="18900000" scaled="1"/>
          </a:gradFill>
          <a:ln>
            <a:noFill/>
          </a:ln>
          <a:effectLst>
            <a:outerShdw blurRad="114300" sx="102000" sy="102000" algn="ctr"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p>
            <a:pPr algn="ctr"/>
            <a:r>
              <a:rPr lang="en-US" altLang="zh-CN" b="1" dirty="0">
                <a:solidFill>
                  <a:schemeClr val="bg1"/>
                </a:solidFill>
              </a:rPr>
              <a:t>2</a:t>
            </a:r>
            <a:endParaRPr lang="en-US" altLang="zh-CN" b="1" dirty="0">
              <a:solidFill>
                <a:schemeClr val="bg1"/>
              </a:solidFill>
            </a:endParaRPr>
          </a:p>
        </p:txBody>
      </p:sp>
      <p:sp>
        <p:nvSpPr>
          <p:cNvPr id="4" name="椭圆 3"/>
          <p:cNvSpPr/>
          <p:nvPr>
            <p:custDataLst>
              <p:tags r:id="rId6"/>
            </p:custDataLst>
          </p:nvPr>
        </p:nvSpPr>
        <p:spPr>
          <a:xfrm>
            <a:off x="11026362" y="2391294"/>
            <a:ext cx="707710" cy="707949"/>
          </a:xfrm>
          <a:prstGeom prst="ellipse">
            <a:avLst/>
          </a:prstGeom>
          <a:gradFill flip="none" rotWithShape="1">
            <a:gsLst>
              <a:gs pos="100000">
                <a:srgbClr val="F9F8CA">
                  <a:alpha val="80000"/>
                </a:srgbClr>
              </a:gs>
              <a:gs pos="6000">
                <a:srgbClr val="4EAADD"/>
              </a:gs>
            </a:gsLst>
            <a:lin ang="18900000" scaled="1"/>
          </a:gradFill>
          <a:ln>
            <a:noFill/>
          </a:ln>
          <a:effectLst>
            <a:outerShdw blurRad="114300" sx="102000" sy="102000" algn="ctr"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p>
            <a:pPr algn="ctr"/>
            <a:r>
              <a:rPr lang="en-US" altLang="zh-CN" b="1" dirty="0">
                <a:solidFill>
                  <a:schemeClr val="bg1"/>
                </a:solidFill>
              </a:rPr>
              <a:t>3</a:t>
            </a:r>
            <a:endParaRPr lang="en-US" altLang="zh-CN" b="1" dirty="0">
              <a:solidFill>
                <a:schemeClr val="bg1"/>
              </a:solidFill>
            </a:endParaRPr>
          </a:p>
        </p:txBody>
      </p:sp>
      <p:sp>
        <p:nvSpPr>
          <p:cNvPr id="6" name="椭圆 5"/>
          <p:cNvSpPr/>
          <p:nvPr/>
        </p:nvSpPr>
        <p:spPr>
          <a:xfrm>
            <a:off x="682625" y="2419985"/>
            <a:ext cx="3118485" cy="236855"/>
          </a:xfrm>
          <a:prstGeom prst="ellipse">
            <a:avLst/>
          </a:prstGeom>
          <a:solidFill>
            <a:schemeClr val="accent5">
              <a:lumMod val="60000"/>
              <a:lumOff val="40000"/>
              <a:alpha val="36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椭圆 4"/>
          <p:cNvSpPr/>
          <p:nvPr/>
        </p:nvSpPr>
        <p:spPr>
          <a:xfrm>
            <a:off x="682625" y="1588770"/>
            <a:ext cx="3194050" cy="236855"/>
          </a:xfrm>
          <a:prstGeom prst="ellipse">
            <a:avLst/>
          </a:prstGeom>
          <a:solidFill>
            <a:schemeClr val="accent5">
              <a:lumMod val="60000"/>
              <a:lumOff val="40000"/>
              <a:alpha val="36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advClick="0"/>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08400" y="288360"/>
            <a:ext cx="10969200" cy="705600"/>
          </a:xfrm>
        </p:spPr>
        <p:txBody>
          <a:bodyPr/>
          <a:lstStyle/>
          <a:p>
            <a:r>
              <a:rPr lang="zh-CN"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微服务设计</a:t>
            </a:r>
            <a:r>
              <a:rPr lang="en-US" altLang="zh-CN"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-5.</a:t>
            </a:r>
            <a:r>
              <a:rPr lang="zh-CN" altLang="en-US"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约定配置</a:t>
            </a:r>
            <a:r>
              <a:rPr lang="zh-CN" altLang="en-US"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原则</a:t>
            </a:r>
            <a:endParaRPr lang="zh-CN" altLang="en-US"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endParaRPr>
          </a:p>
        </p:txBody>
      </p:sp>
      <p:pic>
        <p:nvPicPr>
          <p:cNvPr id="9" name="图片 8" descr="文本&#10;&#10;描述已自动生成"/>
          <p:cNvPicPr>
            <a:picLocks noChangeAspect="1"/>
          </p:cNvPicPr>
          <p:nvPr/>
        </p:nvPicPr>
        <p:blipFill>
          <a:blip r:embed="rId1"/>
          <a:stretch>
            <a:fillRect/>
          </a:stretch>
        </p:blipFill>
        <p:spPr>
          <a:xfrm>
            <a:off x="2113915" y="1477010"/>
            <a:ext cx="7512685" cy="3239135"/>
          </a:xfrm>
          <a:prstGeom prst="rect">
            <a:avLst/>
          </a:prstGeom>
        </p:spPr>
      </p:pic>
      <p:sp>
        <p:nvSpPr>
          <p:cNvPr id="2" name="文本框 1"/>
          <p:cNvSpPr txBox="1"/>
          <p:nvPr/>
        </p:nvSpPr>
        <p:spPr>
          <a:xfrm>
            <a:off x="3960495" y="5147310"/>
            <a:ext cx="4064000" cy="368300"/>
          </a:xfrm>
          <a:prstGeom prst="rect">
            <a:avLst/>
          </a:prstGeom>
          <a:noFill/>
        </p:spPr>
        <p:txBody>
          <a:bodyPr wrap="square" rtlCol="0">
            <a:spAutoFit/>
          </a:bodyPr>
          <a:p>
            <a:r>
              <a:rPr lang="zh-CN" altLang="en-US"/>
              <a:t>提升可读性、</a:t>
            </a:r>
            <a:r>
              <a:rPr lang="zh-CN" altLang="en-US"/>
              <a:t>提高配置</a:t>
            </a:r>
            <a:r>
              <a:rPr lang="zh-CN" altLang="en-US"/>
              <a:t>灵活性</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08400" y="288360"/>
            <a:ext cx="10969200" cy="705600"/>
          </a:xfrm>
        </p:spPr>
        <p:txBody>
          <a:bodyPr>
            <a:normAutofit/>
          </a:bodyPr>
          <a:lstStyle/>
          <a:p>
            <a:r>
              <a:rPr lang="zh-CN" altLang="en-US"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三</a:t>
            </a:r>
            <a:r>
              <a:rPr lang="en-US" altLang="zh-CN"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开发实践</a:t>
            </a:r>
            <a:endParaRPr lang="zh-CN" altLang="en-US"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endParaRPr>
          </a:p>
        </p:txBody>
      </p:sp>
      <p:graphicFrame>
        <p:nvGraphicFramePr>
          <p:cNvPr id="5" name="表格 4"/>
          <p:cNvGraphicFramePr/>
          <p:nvPr>
            <p:custDataLst>
              <p:tags r:id="rId1"/>
            </p:custDataLst>
          </p:nvPr>
        </p:nvGraphicFramePr>
        <p:xfrm>
          <a:off x="978535" y="1583690"/>
          <a:ext cx="9756775" cy="1920875"/>
        </p:xfrm>
        <a:graphic>
          <a:graphicData uri="http://schemas.openxmlformats.org/drawingml/2006/table">
            <a:tbl>
              <a:tblPr/>
              <a:tblGrid>
                <a:gridCol w="1153795"/>
                <a:gridCol w="2384425"/>
                <a:gridCol w="2168525"/>
                <a:gridCol w="4050030"/>
              </a:tblGrid>
              <a:tr h="455930">
                <a:tc>
                  <a:txBody>
                    <a:bodyPr/>
                    <a:p>
                      <a:pPr marL="54610" indent="0" algn="l" fontAlgn="base">
                        <a:spcAft>
                          <a:spcPts val="300"/>
                        </a:spcAft>
                        <a:buNone/>
                      </a:pPr>
                      <a:r>
                        <a:rPr lang="zh-CN" altLang="en-US" sz="1600" b="1" i="0">
                          <a:solidFill>
                            <a:srgbClr val="00B0F0"/>
                          </a:solidFill>
                        </a:rPr>
                        <a:t>编号</a:t>
                      </a:r>
                      <a:endParaRPr lang="zh-CN" altLang="en-US" sz="1600" b="1" i="0">
                        <a:solidFill>
                          <a:srgbClr val="00B0F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rgbClr val="EAFAF1"/>
                    </a:solidFill>
                  </a:tcPr>
                </a:tc>
                <a:tc>
                  <a:txBody>
                    <a:bodyPr/>
                    <a:p>
                      <a:pPr marL="54610" indent="0" algn="l" fontAlgn="base">
                        <a:spcAft>
                          <a:spcPts val="300"/>
                        </a:spcAft>
                      </a:pPr>
                      <a:r>
                        <a:rPr lang="en-US" altLang="zh-CN" sz="1600" b="1" i="0">
                          <a:solidFill>
                            <a:srgbClr val="00B0F0"/>
                          </a:solidFill>
                        </a:rPr>
                        <a:t>WEB</a:t>
                      </a:r>
                      <a:r>
                        <a:rPr lang="zh-CN" altLang="en-US" sz="1600" b="1" i="0">
                          <a:solidFill>
                            <a:srgbClr val="00B0F0"/>
                          </a:solidFill>
                        </a:rPr>
                        <a:t>容器</a:t>
                      </a:r>
                      <a:endParaRPr lang="zh-CN" altLang="en-US" sz="1600" b="1" i="0">
                        <a:solidFill>
                          <a:srgbClr val="00B0F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rgbClr val="EAFAF1"/>
                    </a:solidFill>
                  </a:tcPr>
                </a:tc>
                <a:tc>
                  <a:txBody>
                    <a:bodyPr/>
                    <a:p>
                      <a:pPr marL="54610" indent="0" algn="l" fontAlgn="base">
                        <a:spcAft>
                          <a:spcPts val="300"/>
                        </a:spcAft>
                      </a:pPr>
                      <a:r>
                        <a:rPr lang="zh-CN" altLang="en-US" sz="1600" b="1" i="0">
                          <a:solidFill>
                            <a:srgbClr val="00B0F0"/>
                          </a:solidFill>
                        </a:rPr>
                        <a:t>服务集成</a:t>
                      </a:r>
                      <a:r>
                        <a:rPr lang="zh-CN" altLang="en-US" sz="1600" b="1" i="0">
                          <a:solidFill>
                            <a:srgbClr val="00B0F0"/>
                          </a:solidFill>
                        </a:rPr>
                        <a:t>方式</a:t>
                      </a:r>
                      <a:endParaRPr lang="zh-CN" altLang="en-US" sz="1600" b="1" i="0">
                        <a:solidFill>
                          <a:srgbClr val="00B0F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rgbClr val="EAFAF1"/>
                    </a:solidFill>
                  </a:tcPr>
                </a:tc>
                <a:tc>
                  <a:txBody>
                    <a:bodyPr/>
                    <a:p>
                      <a:pPr marL="54610" indent="0" algn="l" fontAlgn="base">
                        <a:spcAft>
                          <a:spcPts val="300"/>
                        </a:spcAft>
                        <a:buNone/>
                      </a:pPr>
                      <a:r>
                        <a:rPr lang="zh-CN" altLang="en-US" sz="1600" b="1" i="0">
                          <a:solidFill>
                            <a:srgbClr val="00B0F0"/>
                          </a:solidFill>
                        </a:rPr>
                        <a:t>特点</a:t>
                      </a:r>
                      <a:endParaRPr lang="zh-CN" altLang="en-US" sz="1600" b="1" i="0">
                        <a:solidFill>
                          <a:srgbClr val="00B0F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solidFill>
                      <a:srgbClr val="EAFAF1"/>
                    </a:solidFill>
                  </a:tcPr>
                </a:tc>
              </a:tr>
              <a:tr h="479425">
                <a:tc>
                  <a:txBody>
                    <a:bodyPr/>
                    <a:p>
                      <a:pPr marL="54610" indent="0" algn="l" fontAlgn="base">
                        <a:spcAft>
                          <a:spcPct val="0"/>
                        </a:spcAft>
                        <a:buNone/>
                      </a:pPr>
                      <a:r>
                        <a:rPr lang="en-US" altLang="zh-CN" sz="1600">
                          <a:sym typeface="+mn-ea"/>
                        </a:rPr>
                        <a:t>1</a:t>
                      </a:r>
                      <a:endParaRPr lang="en-US" altLang="zh-CN" sz="1600">
                        <a:sym typeface="+mn-ea"/>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ct val="0"/>
                        </a:spcAft>
                      </a:pPr>
                      <a:r>
                        <a:rPr lang="zh-CN" altLang="en-US" sz="1600">
                          <a:sym typeface="+mn-ea"/>
                        </a:rPr>
                        <a:t>内置</a:t>
                      </a:r>
                      <a:r>
                        <a:rPr lang="en-US" altLang="zh-CN" sz="1600">
                          <a:sym typeface="+mn-ea"/>
                        </a:rPr>
                        <a:t>WEB</a:t>
                      </a:r>
                      <a:r>
                        <a:rPr lang="zh-CN" altLang="en-US" sz="1600">
                          <a:sym typeface="+mn-ea"/>
                        </a:rPr>
                        <a:t>容器</a:t>
                      </a:r>
                      <a:endParaRPr lang="zh-CN" altLang="en-US" sz="1600">
                        <a:sym typeface="+mn-ea"/>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ts val="300"/>
                        </a:spcAft>
                      </a:pPr>
                      <a:r>
                        <a:rPr lang="zh-CN" altLang="en-US" sz="1600" b="0" i="0">
                          <a:solidFill>
                            <a:srgbClr val="333333"/>
                          </a:solidFill>
                        </a:rPr>
                        <a:t>自动</a:t>
                      </a:r>
                      <a:r>
                        <a:rPr lang="zh-CN" altLang="en-US" sz="1600" b="0" i="0">
                          <a:solidFill>
                            <a:srgbClr val="333333"/>
                          </a:solidFill>
                        </a:rPr>
                        <a:t>装配</a:t>
                      </a:r>
                      <a:endParaRPr lang="zh-CN" altLang="en-US"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ts val="300"/>
                        </a:spcAft>
                        <a:buNone/>
                      </a:pPr>
                      <a:r>
                        <a:rPr lang="zh-CN" altLang="en-US" sz="1600" b="0" i="0">
                          <a:solidFill>
                            <a:srgbClr val="333333"/>
                          </a:solidFill>
                        </a:rPr>
                        <a:t>使用完整</a:t>
                      </a:r>
                      <a:r>
                        <a:rPr lang="zh-CN" altLang="en-US" sz="1600" b="0" i="0">
                          <a:solidFill>
                            <a:srgbClr val="333333"/>
                          </a:solidFill>
                        </a:rPr>
                        <a:t>框架</a:t>
                      </a:r>
                      <a:endParaRPr lang="zh-CN" altLang="en-US"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r>
              <a:tr h="513715">
                <a:tc>
                  <a:txBody>
                    <a:bodyPr/>
                    <a:p>
                      <a:pPr marL="54610" indent="0" algn="l" fontAlgn="base">
                        <a:spcAft>
                          <a:spcPct val="0"/>
                        </a:spcAft>
                        <a:buNone/>
                      </a:pPr>
                      <a:r>
                        <a:rPr lang="en-US" altLang="zh-CN" sz="1600" b="0" i="0">
                          <a:solidFill>
                            <a:srgbClr val="000000"/>
                          </a:solidFill>
                        </a:rPr>
                        <a:t>2</a:t>
                      </a:r>
                      <a:endParaRPr lang="en-US" altLang="zh-CN"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ct val="0"/>
                        </a:spcAft>
                        <a:buNone/>
                      </a:pPr>
                      <a:r>
                        <a:rPr lang="zh-CN" altLang="en-US" sz="1600" b="0" i="0">
                          <a:solidFill>
                            <a:srgbClr val="000000"/>
                          </a:solidFill>
                        </a:rPr>
                        <a:t>内置</a:t>
                      </a:r>
                      <a:r>
                        <a:rPr lang="en-US" altLang="zh-CN" sz="1600" b="0" i="0">
                          <a:solidFill>
                            <a:srgbClr val="000000"/>
                          </a:solidFill>
                        </a:rPr>
                        <a:t>WEB</a:t>
                      </a:r>
                      <a:r>
                        <a:rPr lang="zh-CN" altLang="en-US" sz="1600" b="0" i="0">
                          <a:solidFill>
                            <a:srgbClr val="000000"/>
                          </a:solidFill>
                        </a:rPr>
                        <a:t>容器</a:t>
                      </a:r>
                      <a:endParaRPr lang="zh-CN" altLang="en-US"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ts val="300"/>
                        </a:spcAft>
                        <a:buNone/>
                      </a:pPr>
                      <a:r>
                        <a:rPr lang="zh-CN" altLang="en-US" sz="1600" b="0" i="0">
                          <a:solidFill>
                            <a:srgbClr val="333333"/>
                          </a:solidFill>
                        </a:rPr>
                        <a:t>手动</a:t>
                      </a:r>
                      <a:r>
                        <a:rPr lang="zh-CN" altLang="en-US" sz="1600" b="0" i="0">
                          <a:solidFill>
                            <a:srgbClr val="333333"/>
                          </a:solidFill>
                        </a:rPr>
                        <a:t>装配</a:t>
                      </a:r>
                      <a:endParaRPr lang="zh-CN" altLang="en-US"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ts val="300"/>
                        </a:spcAft>
                        <a:buNone/>
                      </a:pPr>
                      <a:r>
                        <a:rPr lang="zh-CN" altLang="en-US" sz="1600" b="0" i="0">
                          <a:solidFill>
                            <a:srgbClr val="333333"/>
                          </a:solidFill>
                        </a:rPr>
                        <a:t>支持</a:t>
                      </a:r>
                      <a:r>
                        <a:rPr lang="zh-CN" altLang="en-US" sz="1600" b="0" i="0">
                          <a:solidFill>
                            <a:srgbClr val="333333"/>
                          </a:solidFill>
                        </a:rPr>
                        <a:t>自定义组件</a:t>
                      </a:r>
                      <a:endParaRPr lang="zh-CN" altLang="en-US"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r>
              <a:tr h="471805">
                <a:tc>
                  <a:txBody>
                    <a:bodyPr/>
                    <a:p>
                      <a:pPr marL="54610" indent="0" algn="l" fontAlgn="base">
                        <a:spcAft>
                          <a:spcPct val="0"/>
                        </a:spcAft>
                        <a:buNone/>
                      </a:pPr>
                      <a:r>
                        <a:rPr lang="en-US" altLang="zh-CN" sz="1600" b="0" i="0">
                          <a:solidFill>
                            <a:srgbClr val="000000"/>
                          </a:solidFill>
                        </a:rPr>
                        <a:t>3</a:t>
                      </a:r>
                      <a:endParaRPr lang="en-US" altLang="zh-CN"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ct val="0"/>
                        </a:spcAft>
                      </a:pPr>
                      <a:r>
                        <a:rPr lang="zh-CN" altLang="en-US" sz="1600" b="0" i="0">
                          <a:solidFill>
                            <a:srgbClr val="000000"/>
                          </a:solidFill>
                        </a:rPr>
                        <a:t>外部</a:t>
                      </a:r>
                      <a:r>
                        <a:rPr lang="en-US" altLang="zh-CN" sz="1600" b="0" i="0">
                          <a:solidFill>
                            <a:srgbClr val="000000"/>
                          </a:solidFill>
                        </a:rPr>
                        <a:t>WEB</a:t>
                      </a:r>
                      <a:r>
                        <a:rPr lang="zh-CN" altLang="en-US" sz="1600" b="0" i="0">
                          <a:solidFill>
                            <a:srgbClr val="000000"/>
                          </a:solidFill>
                        </a:rPr>
                        <a:t>容器</a:t>
                      </a:r>
                      <a:endParaRPr lang="zh-CN" altLang="en-US" sz="1600" b="0" i="0">
                        <a:solidFill>
                          <a:srgbClr val="000000"/>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ts val="300"/>
                        </a:spcAft>
                      </a:pPr>
                      <a:r>
                        <a:rPr lang="zh-CN" altLang="en-US" sz="1600" b="0" i="0">
                          <a:solidFill>
                            <a:srgbClr val="333333"/>
                          </a:solidFill>
                        </a:rPr>
                        <a:t>手动</a:t>
                      </a:r>
                      <a:r>
                        <a:rPr lang="zh-CN" altLang="en-US" sz="1600" b="0" i="0">
                          <a:solidFill>
                            <a:srgbClr val="333333"/>
                          </a:solidFill>
                        </a:rPr>
                        <a:t>装配</a:t>
                      </a:r>
                      <a:endParaRPr lang="zh-CN" altLang="en-US"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c>
                  <a:txBody>
                    <a:bodyPr/>
                    <a:p>
                      <a:pPr marL="54610" indent="0" algn="l" fontAlgn="base">
                        <a:spcAft>
                          <a:spcPts val="300"/>
                        </a:spcAft>
                        <a:buNone/>
                      </a:pPr>
                      <a:r>
                        <a:rPr lang="zh-CN" altLang="en-US" sz="1600" b="0" i="0">
                          <a:solidFill>
                            <a:srgbClr val="333333"/>
                          </a:solidFill>
                        </a:rPr>
                        <a:t>支持使用其他框架的</a:t>
                      </a:r>
                      <a:r>
                        <a:rPr lang="en-US" altLang="zh-CN" sz="1600" b="0" i="0">
                          <a:solidFill>
                            <a:srgbClr val="333333"/>
                          </a:solidFill>
                        </a:rPr>
                        <a:t>WEB</a:t>
                      </a:r>
                      <a:r>
                        <a:rPr lang="zh-CN" altLang="en-US" sz="1600" b="0" i="0">
                          <a:solidFill>
                            <a:srgbClr val="333333"/>
                          </a:solidFill>
                        </a:rPr>
                        <a:t>容器</a:t>
                      </a:r>
                      <a:endParaRPr lang="zh-CN" altLang="en-US" sz="1600" b="0" i="0">
                        <a:solidFill>
                          <a:srgbClr val="333333"/>
                        </a:solidFill>
                      </a:endParaRPr>
                    </a:p>
                  </a:txBody>
                  <a:tcPr marL="55181" marR="55181" marT="0" marB="0" anchor="ctr" anchorCtr="0">
                    <a:lnL w="12700">
                      <a:solidFill>
                        <a:srgbClr val="00B0F0"/>
                      </a:solidFill>
                      <a:prstDash val="solid"/>
                    </a:lnL>
                    <a:lnR w="12700">
                      <a:solidFill>
                        <a:srgbClr val="00B0F0"/>
                      </a:solidFill>
                      <a:prstDash val="solid"/>
                    </a:lnR>
                    <a:lnT w="12700">
                      <a:solidFill>
                        <a:srgbClr val="00B0F0"/>
                      </a:solidFill>
                      <a:prstDash val="solid"/>
                    </a:lnT>
                    <a:lnB w="12700">
                      <a:solidFill>
                        <a:srgbClr val="00B0F0"/>
                      </a:solidFill>
                      <a:prstDash val="solid"/>
                    </a:lnB>
                    <a:no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08400" y="288360"/>
            <a:ext cx="10969200" cy="705600"/>
          </a:xfrm>
        </p:spPr>
        <p:txBody>
          <a:bodyPr>
            <a:normAutofit/>
          </a:bodyPr>
          <a:lstStyle/>
          <a:p>
            <a:r>
              <a:rPr lang="en-US" altLang="zh-CN"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1.MicroBoot</a:t>
            </a:r>
            <a:r>
              <a:rPr lang="zh-CN" altLang="en-US" sz="28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（自动装配）</a:t>
            </a:r>
            <a:endParaRPr lang="zh-CN" altLang="en-US" sz="28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nvSpPr>
        <p:spPr>
          <a:xfrm>
            <a:off x="8437245" y="4137025"/>
            <a:ext cx="3754120" cy="829945"/>
          </a:xfrm>
          <a:prstGeom prst="rect">
            <a:avLst/>
          </a:prstGeom>
          <a:noFill/>
        </p:spPr>
        <p:txBody>
          <a:bodyPr wrap="square" rtlCol="0">
            <a:spAutoFit/>
          </a:bodyPr>
          <a:p>
            <a:pPr indent="0">
              <a:buFont typeface="Arial" panose="020B0604020202020204" pitchFamily="34" charset="0"/>
              <a:buNone/>
            </a:pPr>
            <a:r>
              <a:rPr lang="zh-CN" altLang="en-US" sz="1600" b="1"/>
              <a:t>自动装配（</a:t>
            </a:r>
            <a:r>
              <a:rPr lang="zh-CN" altLang="en-US" sz="1600"/>
              <a:t>从配置文件读取</a:t>
            </a:r>
            <a:r>
              <a:rPr lang="zh-CN" altLang="en-US" sz="1600" b="1"/>
              <a:t>）</a:t>
            </a:r>
            <a:endParaRPr lang="zh-CN" altLang="en-US" sz="1600" b="1"/>
          </a:p>
          <a:p>
            <a:pPr marL="285750" indent="-285750">
              <a:buFont typeface="Arial" panose="020B0604020202020204" pitchFamily="34" charset="0"/>
              <a:buChar char="•"/>
            </a:pPr>
            <a:r>
              <a:rPr lang="zh-CN" altLang="en-US" sz="1600"/>
              <a:t>MicroBootApplication //定义启动类</a:t>
            </a:r>
            <a:endParaRPr lang="zh-CN" altLang="en-US" sz="1600"/>
          </a:p>
          <a:p>
            <a:pPr marL="285750" indent="-285750">
              <a:buFont typeface="Arial" panose="020B0604020202020204" pitchFamily="34" charset="0"/>
              <a:buChar char="•"/>
            </a:pPr>
            <a:r>
              <a:rPr lang="zh-CN" altLang="en-US" sz="1600"/>
              <a:t>Url Router //定义路由器规则</a:t>
            </a:r>
            <a:endParaRPr lang="zh-CN" altLang="en-US" sz="1600"/>
          </a:p>
        </p:txBody>
      </p:sp>
      <p:pic>
        <p:nvPicPr>
          <p:cNvPr id="2" name="图片 1"/>
          <p:cNvPicPr/>
          <p:nvPr/>
        </p:nvPicPr>
        <p:blipFill>
          <a:blip r:embed="rId1"/>
          <a:stretch>
            <a:fillRect/>
          </a:stretch>
        </p:blipFill>
        <p:spPr>
          <a:xfrm>
            <a:off x="434975" y="1173480"/>
            <a:ext cx="7825740" cy="2255520"/>
          </a:xfrm>
          <a:prstGeom prst="rect">
            <a:avLst/>
          </a:prstGeom>
        </p:spPr>
      </p:pic>
      <p:pic>
        <p:nvPicPr>
          <p:cNvPr id="4" name="图片 3"/>
          <p:cNvPicPr/>
          <p:nvPr/>
        </p:nvPicPr>
        <p:blipFill>
          <a:blip r:embed="rId2"/>
          <a:stretch>
            <a:fillRect/>
          </a:stretch>
        </p:blipFill>
        <p:spPr>
          <a:xfrm>
            <a:off x="434975" y="3885565"/>
            <a:ext cx="7825105" cy="1386840"/>
          </a:xfrm>
          <a:prstGeom prst="rect">
            <a:avLst/>
          </a:prstGeom>
        </p:spPr>
      </p:pic>
      <p:pic>
        <p:nvPicPr>
          <p:cNvPr id="7" name="图片 6"/>
          <p:cNvPicPr/>
          <p:nvPr/>
        </p:nvPicPr>
        <p:blipFill>
          <a:blip r:embed="rId3"/>
          <a:stretch>
            <a:fillRect/>
          </a:stretch>
        </p:blipFill>
        <p:spPr>
          <a:xfrm>
            <a:off x="8585835" y="1173480"/>
            <a:ext cx="3314700" cy="967740"/>
          </a:xfrm>
          <a:prstGeom prst="rect">
            <a:avLst/>
          </a:prstGeom>
        </p:spPr>
      </p:pic>
      <p:sp>
        <p:nvSpPr>
          <p:cNvPr id="6" name="椭圆 5"/>
          <p:cNvSpPr/>
          <p:nvPr/>
        </p:nvSpPr>
        <p:spPr>
          <a:xfrm>
            <a:off x="384175" y="4086225"/>
            <a:ext cx="5022215" cy="236855"/>
          </a:xfrm>
          <a:prstGeom prst="ellipse">
            <a:avLst/>
          </a:prstGeom>
          <a:solidFill>
            <a:schemeClr val="accent5">
              <a:lumMod val="60000"/>
              <a:lumOff val="40000"/>
              <a:alpha val="36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08400" y="288360"/>
            <a:ext cx="10969200" cy="705600"/>
          </a:xfrm>
        </p:spPr>
        <p:txBody>
          <a:bodyPr>
            <a:normAutofit/>
          </a:bodyPr>
          <a:lstStyle/>
          <a:p>
            <a:r>
              <a:rPr lang="en-US" altLang="zh-CN"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2.ManualServer</a:t>
            </a:r>
            <a:r>
              <a:rPr lang="zh-CN" altLang="en-US" sz="28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a:t>
            </a:r>
            <a:r>
              <a:rPr lang="zh-CN" altLang="en-US" sz="28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手工装配）</a:t>
            </a:r>
            <a:endParaRPr lang="zh-CN" altLang="en-US" sz="28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10" name="文本框 9"/>
          <p:cNvSpPr txBox="1"/>
          <p:nvPr/>
        </p:nvSpPr>
        <p:spPr>
          <a:xfrm>
            <a:off x="6747510" y="2886075"/>
            <a:ext cx="4732020" cy="1322070"/>
          </a:xfrm>
          <a:prstGeom prst="rect">
            <a:avLst/>
          </a:prstGeom>
          <a:noFill/>
        </p:spPr>
        <p:txBody>
          <a:bodyPr wrap="square" rtlCol="0">
            <a:spAutoFit/>
          </a:bodyPr>
          <a:p>
            <a:pPr indent="0">
              <a:buFont typeface="Arial" panose="020B0604020202020204" pitchFamily="34" charset="0"/>
              <a:buNone/>
            </a:pPr>
            <a:r>
              <a:rPr lang="zh-CN" altLang="en-US" sz="1600" b="1"/>
              <a:t>手工装配组件</a:t>
            </a:r>
            <a:r>
              <a:rPr lang="zh-CN" altLang="en-US" sz="1600"/>
              <a:t>（不用配置</a:t>
            </a:r>
            <a:r>
              <a:rPr lang="zh-CN" altLang="en-US" sz="1600"/>
              <a:t>文件）</a:t>
            </a:r>
            <a:endParaRPr lang="zh-CN" altLang="en-US" sz="1600"/>
          </a:p>
          <a:p>
            <a:pPr marL="285750" indent="-285750">
              <a:buFont typeface="Arial" panose="020B0604020202020204" pitchFamily="34" charset="0"/>
              <a:buChar char="•"/>
            </a:pPr>
            <a:r>
              <a:rPr lang="zh-CN" altLang="en-US" sz="1600"/>
              <a:t>Application //定义应用服务</a:t>
            </a:r>
            <a:endParaRPr lang="zh-CN" altLang="en-US" sz="1600"/>
          </a:p>
          <a:p>
            <a:pPr marL="285750" indent="-285750">
              <a:buFont typeface="Arial" panose="020B0604020202020204" pitchFamily="34" charset="0"/>
              <a:buChar char="•"/>
            </a:pPr>
            <a:r>
              <a:rPr lang="zh-CN" altLang="en-US" sz="1600"/>
              <a:t>Registry //定义注册中心</a:t>
            </a:r>
            <a:endParaRPr lang="zh-CN" altLang="en-US" sz="1600"/>
          </a:p>
          <a:p>
            <a:pPr marL="285750" indent="-285750">
              <a:buFont typeface="Arial" panose="020B0604020202020204" pitchFamily="34" charset="0"/>
              <a:buChar char="•"/>
            </a:pPr>
            <a:r>
              <a:rPr lang="zh-CN" altLang="en-US" sz="1600"/>
              <a:t>RestTemplate //定义客户端远程过程调用器</a:t>
            </a:r>
            <a:endParaRPr lang="zh-CN" altLang="en-US" sz="1600"/>
          </a:p>
          <a:p>
            <a:pPr marL="285750" indent="-285750">
              <a:buFont typeface="Arial" panose="020B0604020202020204" pitchFamily="34" charset="0"/>
              <a:buChar char="•"/>
            </a:pPr>
            <a:r>
              <a:rPr lang="zh-CN" altLang="en-US" sz="1600"/>
              <a:t>Url Router //定义路由器规则</a:t>
            </a:r>
            <a:endParaRPr lang="zh-CN" altLang="en-US" sz="1600"/>
          </a:p>
        </p:txBody>
      </p:sp>
      <p:pic>
        <p:nvPicPr>
          <p:cNvPr id="2" name="图片 1"/>
          <p:cNvPicPr/>
          <p:nvPr/>
        </p:nvPicPr>
        <p:blipFill>
          <a:blip r:embed="rId1"/>
          <a:stretch>
            <a:fillRect/>
          </a:stretch>
        </p:blipFill>
        <p:spPr>
          <a:xfrm>
            <a:off x="708660" y="1420495"/>
            <a:ext cx="5608320" cy="982980"/>
          </a:xfrm>
          <a:prstGeom prst="rect">
            <a:avLst/>
          </a:prstGeom>
        </p:spPr>
      </p:pic>
      <p:pic>
        <p:nvPicPr>
          <p:cNvPr id="4" name="图片 3"/>
          <p:cNvPicPr/>
          <p:nvPr/>
        </p:nvPicPr>
        <p:blipFill>
          <a:blip r:embed="rId2"/>
          <a:stretch>
            <a:fillRect/>
          </a:stretch>
        </p:blipFill>
        <p:spPr>
          <a:xfrm>
            <a:off x="708660" y="2886075"/>
            <a:ext cx="5615940" cy="2621280"/>
          </a:xfrm>
          <a:prstGeom prst="rect">
            <a:avLst/>
          </a:prstGeom>
        </p:spPr>
      </p:pic>
      <p:pic>
        <p:nvPicPr>
          <p:cNvPr id="7" name="图片 6"/>
          <p:cNvPicPr/>
          <p:nvPr/>
        </p:nvPicPr>
        <p:blipFill>
          <a:blip r:embed="rId3"/>
          <a:stretch>
            <a:fillRect/>
          </a:stretch>
        </p:blipFill>
        <p:spPr>
          <a:xfrm>
            <a:off x="6764020" y="1420495"/>
            <a:ext cx="4564380" cy="982980"/>
          </a:xfrm>
          <a:prstGeom prst="rect">
            <a:avLst/>
          </a:prstGeom>
        </p:spPr>
      </p:pic>
      <p:sp>
        <p:nvSpPr>
          <p:cNvPr id="5" name="椭圆 4"/>
          <p:cNvSpPr/>
          <p:nvPr/>
        </p:nvSpPr>
        <p:spPr>
          <a:xfrm>
            <a:off x="608330" y="3408045"/>
            <a:ext cx="5795645" cy="473075"/>
          </a:xfrm>
          <a:prstGeom prst="ellipse">
            <a:avLst/>
          </a:prstGeom>
          <a:solidFill>
            <a:schemeClr val="accent5">
              <a:lumMod val="60000"/>
              <a:lumOff val="40000"/>
              <a:alpha val="36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椭圆 5"/>
          <p:cNvSpPr/>
          <p:nvPr/>
        </p:nvSpPr>
        <p:spPr>
          <a:xfrm>
            <a:off x="608965" y="4693920"/>
            <a:ext cx="5795010" cy="236855"/>
          </a:xfrm>
          <a:prstGeom prst="ellipse">
            <a:avLst/>
          </a:prstGeom>
          <a:solidFill>
            <a:schemeClr val="accent5">
              <a:lumMod val="60000"/>
              <a:lumOff val="40000"/>
              <a:alpha val="36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08400" y="288360"/>
            <a:ext cx="10969200" cy="705600"/>
          </a:xfrm>
        </p:spPr>
        <p:txBody>
          <a:bodyPr>
            <a:normAutofit/>
          </a:bodyPr>
          <a:lstStyle/>
          <a:p>
            <a:r>
              <a:rPr lang="en-US" altLang="zh-CN"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3.ExternServer</a:t>
            </a:r>
            <a:r>
              <a:rPr lang="zh-CN" altLang="en-US" sz="28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（外部</a:t>
            </a:r>
            <a:r>
              <a:rPr lang="en-US" altLang="zh-CN" sz="28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web</a:t>
            </a:r>
            <a:r>
              <a:rPr lang="zh-CN" altLang="en-US" sz="28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容器）</a:t>
            </a:r>
            <a:endParaRPr lang="zh-CN" altLang="en-US" sz="28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9" name="文本框 8"/>
          <p:cNvSpPr txBox="1"/>
          <p:nvPr/>
        </p:nvSpPr>
        <p:spPr>
          <a:xfrm>
            <a:off x="6734810" y="2585085"/>
            <a:ext cx="4064000" cy="829945"/>
          </a:xfrm>
          <a:prstGeom prst="rect">
            <a:avLst/>
          </a:prstGeom>
          <a:noFill/>
        </p:spPr>
        <p:txBody>
          <a:bodyPr wrap="square" rtlCol="0">
            <a:spAutoFit/>
          </a:bodyPr>
          <a:p>
            <a:r>
              <a:rPr lang="zh-CN" altLang="en-US" sz="1600" b="1"/>
              <a:t>使用外部</a:t>
            </a:r>
            <a:r>
              <a:rPr lang="en-US" altLang="zh-CN" sz="1600" b="1"/>
              <a:t>web</a:t>
            </a:r>
            <a:r>
              <a:rPr lang="zh-CN" altLang="en-US" sz="1600" b="1"/>
              <a:t>容器</a:t>
            </a:r>
            <a:endParaRPr lang="zh-CN" altLang="en-US" sz="1600" b="1"/>
          </a:p>
          <a:p>
            <a:r>
              <a:rPr lang="zh-CN" altLang="en-US" sz="1600"/>
              <a:t>仅使用提供的注册发现以及远程过程调用功能，这里是演示使用仓颉内置的web server</a:t>
            </a:r>
            <a:endParaRPr lang="zh-CN" altLang="en-US" sz="1600"/>
          </a:p>
        </p:txBody>
      </p:sp>
      <p:pic>
        <p:nvPicPr>
          <p:cNvPr id="4" name="图片 3"/>
          <p:cNvPicPr/>
          <p:nvPr/>
        </p:nvPicPr>
        <p:blipFill>
          <a:blip r:embed="rId1"/>
          <a:stretch>
            <a:fillRect/>
          </a:stretch>
        </p:blipFill>
        <p:spPr>
          <a:xfrm>
            <a:off x="685800" y="1191896"/>
            <a:ext cx="4945380" cy="998219"/>
          </a:xfrm>
          <a:prstGeom prst="rect">
            <a:avLst/>
          </a:prstGeom>
        </p:spPr>
      </p:pic>
      <p:pic>
        <p:nvPicPr>
          <p:cNvPr id="7" name="图片 6"/>
          <p:cNvPicPr/>
          <p:nvPr/>
        </p:nvPicPr>
        <p:blipFill>
          <a:blip r:embed="rId2"/>
          <a:stretch>
            <a:fillRect/>
          </a:stretch>
        </p:blipFill>
        <p:spPr>
          <a:xfrm>
            <a:off x="6616065" y="1191895"/>
            <a:ext cx="4457700" cy="1028700"/>
          </a:xfrm>
          <a:prstGeom prst="rect">
            <a:avLst/>
          </a:prstGeom>
        </p:spPr>
      </p:pic>
      <p:pic>
        <p:nvPicPr>
          <p:cNvPr id="11" name="图片 10"/>
          <p:cNvPicPr/>
          <p:nvPr/>
        </p:nvPicPr>
        <p:blipFill>
          <a:blip r:embed="rId3"/>
          <a:stretch>
            <a:fillRect/>
          </a:stretch>
        </p:blipFill>
        <p:spPr>
          <a:xfrm>
            <a:off x="685800" y="2585085"/>
            <a:ext cx="4968240" cy="2956560"/>
          </a:xfrm>
          <a:prstGeom prst="rect">
            <a:avLst/>
          </a:prstGeom>
        </p:spPr>
      </p:pic>
      <p:sp>
        <p:nvSpPr>
          <p:cNvPr id="2" name="椭圆 1"/>
          <p:cNvSpPr/>
          <p:nvPr/>
        </p:nvSpPr>
        <p:spPr>
          <a:xfrm>
            <a:off x="608965" y="3489960"/>
            <a:ext cx="5100955" cy="236855"/>
          </a:xfrm>
          <a:prstGeom prst="ellipse">
            <a:avLst/>
          </a:prstGeom>
          <a:solidFill>
            <a:schemeClr val="accent5">
              <a:lumMod val="60000"/>
              <a:lumOff val="40000"/>
              <a:alpha val="36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椭圆 4"/>
          <p:cNvSpPr/>
          <p:nvPr/>
        </p:nvSpPr>
        <p:spPr>
          <a:xfrm>
            <a:off x="649605" y="1572895"/>
            <a:ext cx="5022215" cy="236855"/>
          </a:xfrm>
          <a:prstGeom prst="ellipse">
            <a:avLst/>
          </a:prstGeom>
          <a:solidFill>
            <a:schemeClr val="accent5">
              <a:lumMod val="60000"/>
              <a:lumOff val="40000"/>
              <a:alpha val="36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608400" y="288360"/>
            <a:ext cx="10969200" cy="705600"/>
          </a:xfrm>
        </p:spPr>
        <p:txBody>
          <a:bodyPr>
            <a:normAutofit/>
          </a:bodyPr>
          <a:lstStyle/>
          <a:p>
            <a:r>
              <a:rPr lang="en-US" altLang="zh-CN"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4.Misc</a:t>
            </a:r>
            <a:r>
              <a:rPr lang="en-US" altLang="zh-CN" sz="28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a:t>
            </a:r>
            <a:r>
              <a:rPr lang="zh-CN" altLang="en-US" sz="28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常见功能</a:t>
            </a:r>
            <a:r>
              <a:rPr lang="en-US" altLang="zh-CN" sz="28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a:t>
            </a:r>
            <a:endParaRPr lang="en-US" altLang="zh-CN" sz="2800"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nvSpPr>
        <p:spPr>
          <a:xfrm>
            <a:off x="750570" y="1007110"/>
            <a:ext cx="4064000" cy="368300"/>
          </a:xfrm>
          <a:prstGeom prst="rect">
            <a:avLst/>
          </a:prstGeom>
          <a:noFill/>
        </p:spPr>
        <p:txBody>
          <a:bodyPr wrap="square" rtlCol="0">
            <a:spAutoFit/>
          </a:bodyPr>
          <a:p>
            <a:pPr marL="285750" indent="-285750">
              <a:buFont typeface="Wingdings" panose="05000000000000000000" charset="0"/>
              <a:buChar char="Ø"/>
            </a:pPr>
            <a:r>
              <a:rPr lang="zh-CN" altLang="en-US" b="1"/>
              <a:t>自定义异常处理</a:t>
            </a:r>
            <a:endParaRPr lang="zh-CN" altLang="en-US" b="1"/>
          </a:p>
        </p:txBody>
      </p:sp>
      <p:sp>
        <p:nvSpPr>
          <p:cNvPr id="7" name="文本框 6"/>
          <p:cNvSpPr txBox="1"/>
          <p:nvPr/>
        </p:nvSpPr>
        <p:spPr>
          <a:xfrm>
            <a:off x="750570" y="2792095"/>
            <a:ext cx="4064000" cy="368300"/>
          </a:xfrm>
          <a:prstGeom prst="rect">
            <a:avLst/>
          </a:prstGeom>
          <a:noFill/>
        </p:spPr>
        <p:txBody>
          <a:bodyPr wrap="square" rtlCol="0">
            <a:spAutoFit/>
          </a:bodyPr>
          <a:p>
            <a:pPr marL="285750" indent="-285750">
              <a:buFont typeface="Wingdings" panose="05000000000000000000" charset="0"/>
              <a:buChar char="Ø"/>
            </a:pPr>
            <a:r>
              <a:rPr lang="zh-CN" altLang="en-US" b="1"/>
              <a:t>自定义</a:t>
            </a:r>
            <a:r>
              <a:rPr lang="zh-CN" altLang="en-US" b="1"/>
              <a:t>过滤器</a:t>
            </a:r>
            <a:endParaRPr lang="zh-CN" altLang="en-US" b="1"/>
          </a:p>
        </p:txBody>
      </p:sp>
      <p:sp>
        <p:nvSpPr>
          <p:cNvPr id="11" name="文本框 10"/>
          <p:cNvSpPr txBox="1"/>
          <p:nvPr/>
        </p:nvSpPr>
        <p:spPr>
          <a:xfrm>
            <a:off x="748030" y="4761230"/>
            <a:ext cx="4064000" cy="368300"/>
          </a:xfrm>
          <a:prstGeom prst="rect">
            <a:avLst/>
          </a:prstGeom>
          <a:noFill/>
        </p:spPr>
        <p:txBody>
          <a:bodyPr wrap="square" rtlCol="0">
            <a:spAutoFit/>
          </a:bodyPr>
          <a:p>
            <a:pPr marL="285750" indent="-285750">
              <a:buFont typeface="Wingdings" panose="05000000000000000000" charset="0"/>
              <a:buChar char="Ø"/>
            </a:pPr>
            <a:r>
              <a:rPr lang="zh-CN" altLang="en-US" b="1"/>
              <a:t>跨域</a:t>
            </a:r>
            <a:r>
              <a:rPr lang="zh-CN" altLang="en-US" b="1"/>
              <a:t>设置</a:t>
            </a:r>
            <a:endParaRPr lang="zh-CN" altLang="en-US" b="1"/>
          </a:p>
        </p:txBody>
      </p:sp>
      <p:pic>
        <p:nvPicPr>
          <p:cNvPr id="13" name="图片 12"/>
          <p:cNvPicPr/>
          <p:nvPr/>
        </p:nvPicPr>
        <p:blipFill>
          <a:blip r:embed="rId1"/>
          <a:stretch>
            <a:fillRect/>
          </a:stretch>
        </p:blipFill>
        <p:spPr>
          <a:xfrm>
            <a:off x="1002030" y="1428750"/>
            <a:ext cx="10187940" cy="1249680"/>
          </a:xfrm>
          <a:prstGeom prst="rect">
            <a:avLst/>
          </a:prstGeom>
        </p:spPr>
      </p:pic>
      <p:pic>
        <p:nvPicPr>
          <p:cNvPr id="17" name="图片 16"/>
          <p:cNvPicPr/>
          <p:nvPr/>
        </p:nvPicPr>
        <p:blipFill>
          <a:blip r:embed="rId2"/>
          <a:stretch>
            <a:fillRect/>
          </a:stretch>
        </p:blipFill>
        <p:spPr>
          <a:xfrm>
            <a:off x="1002030" y="3284855"/>
            <a:ext cx="10187940" cy="1318260"/>
          </a:xfrm>
          <a:prstGeom prst="rect">
            <a:avLst/>
          </a:prstGeom>
        </p:spPr>
      </p:pic>
      <p:pic>
        <p:nvPicPr>
          <p:cNvPr id="18" name="图片 17"/>
          <p:cNvPicPr/>
          <p:nvPr/>
        </p:nvPicPr>
        <p:blipFill>
          <a:blip r:embed="rId3"/>
          <a:stretch>
            <a:fillRect/>
          </a:stretch>
        </p:blipFill>
        <p:spPr>
          <a:xfrm>
            <a:off x="1002030" y="5209540"/>
            <a:ext cx="10187940" cy="7162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nvSpPr>
        <p:spPr>
          <a:xfrm>
            <a:off x="608400" y="288360"/>
            <a:ext cx="10969200" cy="705600"/>
          </a:xfrm>
          <a:prstGeom prst="rect">
            <a:avLst/>
          </a:prstGeom>
        </p:spPr>
        <p:txBody>
          <a:bodyPr vert="horz" lIns="90170" tIns="46990" rIns="90170" bIns="46990" rtlCol="0" anchor="ctr" anchorCtr="0">
            <a:norm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r>
              <a:rPr lang="zh-CN" altLang="en-US"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四</a:t>
            </a:r>
            <a:r>
              <a:rPr lang="en-US" altLang="zh-CN"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 </a:t>
            </a:r>
            <a:r>
              <a:rPr lang="zh-CN" altLang="en-US"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项目</a:t>
            </a:r>
            <a:r>
              <a:rPr lang="zh-CN" altLang="en-US"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rPr>
              <a:t>规划</a:t>
            </a:r>
            <a:endParaRPr lang="zh-CN" altLang="en-US" kern="0" spc="460" dirty="0">
              <a:solidFill>
                <a:srgbClr val="262626">
                  <a:alpha val="100000"/>
                </a:srgbClr>
              </a:solidFill>
              <a:latin typeface="微软雅黑" panose="020B0503020204020204" charset="-122"/>
              <a:ea typeface="微软雅黑" panose="020B0503020204020204" charset="-122"/>
              <a:cs typeface="微软雅黑" panose="020B0503020204020204" charset="-122"/>
              <a:sym typeface="+mn-ea"/>
            </a:endParaRPr>
          </a:p>
        </p:txBody>
      </p:sp>
      <p:sp>
        <p:nvSpPr>
          <p:cNvPr id="4" name="矩形 3"/>
          <p:cNvSpPr/>
          <p:nvPr/>
        </p:nvSpPr>
        <p:spPr>
          <a:xfrm>
            <a:off x="3358515" y="1250950"/>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http1.1</a:t>
            </a:r>
            <a:r>
              <a:rPr lang="en-US" altLang="zh-CN"/>
              <a:t>1</a:t>
            </a:r>
            <a:endParaRPr lang="en-US" altLang="zh-CN"/>
          </a:p>
        </p:txBody>
      </p:sp>
      <p:sp>
        <p:nvSpPr>
          <p:cNvPr id="5" name="矩形 4"/>
          <p:cNvSpPr/>
          <p:nvPr/>
        </p:nvSpPr>
        <p:spPr>
          <a:xfrm>
            <a:off x="4684395" y="1250950"/>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dynamic route</a:t>
            </a:r>
            <a:endParaRPr lang="en-US" altLang="zh-CN">
              <a:solidFill>
                <a:schemeClr val="tx1"/>
              </a:solidFill>
            </a:endParaRPr>
          </a:p>
        </p:txBody>
      </p:sp>
      <p:sp>
        <p:nvSpPr>
          <p:cNvPr id="6" name="矩形 5"/>
          <p:cNvSpPr/>
          <p:nvPr/>
        </p:nvSpPr>
        <p:spPr>
          <a:xfrm>
            <a:off x="6010275" y="1250950"/>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encoder/decoder</a:t>
            </a:r>
            <a:endParaRPr lang="en-US" altLang="zh-CN">
              <a:solidFill>
                <a:schemeClr val="tx1"/>
              </a:solidFill>
            </a:endParaRPr>
          </a:p>
        </p:txBody>
      </p:sp>
      <p:sp>
        <p:nvSpPr>
          <p:cNvPr id="7" name="矩形 6"/>
          <p:cNvSpPr/>
          <p:nvPr/>
        </p:nvSpPr>
        <p:spPr>
          <a:xfrm>
            <a:off x="7336155" y="1250950"/>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filter</a:t>
            </a:r>
            <a:endParaRPr lang="en-US" altLang="zh-CN">
              <a:solidFill>
                <a:schemeClr val="tx1"/>
              </a:solidFill>
            </a:endParaRPr>
          </a:p>
        </p:txBody>
      </p:sp>
      <p:sp>
        <p:nvSpPr>
          <p:cNvPr id="8" name="矩形 7"/>
          <p:cNvSpPr/>
          <p:nvPr/>
        </p:nvSpPr>
        <p:spPr>
          <a:xfrm>
            <a:off x="6010275" y="1970405"/>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cross </a:t>
            </a:r>
            <a:r>
              <a:rPr lang="en-US" altLang="zh-CN">
                <a:solidFill>
                  <a:schemeClr val="tx1"/>
                </a:solidFill>
              </a:rPr>
              <a:t>domain</a:t>
            </a:r>
            <a:endParaRPr lang="en-US" altLang="zh-CN">
              <a:solidFill>
                <a:schemeClr val="tx1"/>
              </a:solidFill>
            </a:endParaRPr>
          </a:p>
        </p:txBody>
      </p:sp>
      <p:sp>
        <p:nvSpPr>
          <p:cNvPr id="9" name="矩形 8"/>
          <p:cNvSpPr/>
          <p:nvPr/>
        </p:nvSpPr>
        <p:spPr>
          <a:xfrm>
            <a:off x="3358515" y="1970405"/>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exception</a:t>
            </a:r>
            <a:endParaRPr lang="en-US" altLang="zh-CN">
              <a:solidFill>
                <a:schemeClr val="tx1"/>
              </a:solidFill>
            </a:endParaRPr>
          </a:p>
          <a:p>
            <a:pPr algn="ctr"/>
            <a:r>
              <a:rPr lang="en-US" altLang="zh-CN">
                <a:solidFill>
                  <a:schemeClr val="tx1"/>
                </a:solidFill>
              </a:rPr>
              <a:t>handler</a:t>
            </a:r>
            <a:endParaRPr lang="en-US" altLang="zh-CN">
              <a:solidFill>
                <a:schemeClr val="tx1"/>
              </a:solidFill>
            </a:endParaRPr>
          </a:p>
        </p:txBody>
      </p:sp>
      <p:sp>
        <p:nvSpPr>
          <p:cNvPr id="10" name="矩形 9"/>
          <p:cNvSpPr/>
          <p:nvPr/>
        </p:nvSpPr>
        <p:spPr>
          <a:xfrm>
            <a:off x="4684395" y="1970405"/>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cookie</a:t>
            </a:r>
            <a:endParaRPr lang="en-US" altLang="zh-CN">
              <a:solidFill>
                <a:schemeClr val="tx1"/>
              </a:solidFill>
            </a:endParaRPr>
          </a:p>
        </p:txBody>
      </p:sp>
      <p:sp>
        <p:nvSpPr>
          <p:cNvPr id="11" name="矩形 10"/>
          <p:cNvSpPr/>
          <p:nvPr/>
        </p:nvSpPr>
        <p:spPr>
          <a:xfrm>
            <a:off x="7336155" y="1970405"/>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log</a:t>
            </a:r>
            <a:endParaRPr lang="en-US" altLang="zh-CN">
              <a:solidFill>
                <a:schemeClr val="tx1"/>
              </a:solidFill>
            </a:endParaRPr>
          </a:p>
        </p:txBody>
      </p:sp>
      <p:sp>
        <p:nvSpPr>
          <p:cNvPr id="12" name="文本框 11"/>
          <p:cNvSpPr txBox="1"/>
          <p:nvPr/>
        </p:nvSpPr>
        <p:spPr>
          <a:xfrm>
            <a:off x="1597025" y="1765300"/>
            <a:ext cx="1132840" cy="368300"/>
          </a:xfrm>
          <a:prstGeom prst="rect">
            <a:avLst/>
          </a:prstGeom>
          <a:noFill/>
        </p:spPr>
        <p:txBody>
          <a:bodyPr wrap="square" rtlCol="0">
            <a:spAutoFit/>
          </a:bodyPr>
          <a:p>
            <a:r>
              <a:rPr lang="zh-CN" altLang="en-US" b="1">
                <a:solidFill>
                  <a:srgbClr val="00B0F0"/>
                </a:solidFill>
              </a:rPr>
              <a:t>基础功能</a:t>
            </a:r>
            <a:endParaRPr lang="zh-CN" altLang="en-US" b="1">
              <a:solidFill>
                <a:srgbClr val="00B0F0"/>
              </a:solidFill>
            </a:endParaRPr>
          </a:p>
        </p:txBody>
      </p:sp>
      <p:sp>
        <p:nvSpPr>
          <p:cNvPr id="13" name="矩形 12"/>
          <p:cNvSpPr/>
          <p:nvPr/>
        </p:nvSpPr>
        <p:spPr>
          <a:xfrm>
            <a:off x="3358515" y="2867660"/>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session</a:t>
            </a:r>
            <a:r>
              <a:rPr lang="en-US" altLang="zh-CN"/>
              <a:t>1</a:t>
            </a:r>
            <a:endParaRPr lang="en-US" altLang="zh-CN"/>
          </a:p>
        </p:txBody>
      </p:sp>
      <p:sp>
        <p:nvSpPr>
          <p:cNvPr id="14" name="矩形 13"/>
          <p:cNvSpPr/>
          <p:nvPr/>
        </p:nvSpPr>
        <p:spPr>
          <a:xfrm>
            <a:off x="4684395" y="2867660"/>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distributed</a:t>
            </a:r>
            <a:endParaRPr lang="en-US" altLang="zh-CN">
              <a:solidFill>
                <a:schemeClr val="tx1"/>
              </a:solidFill>
            </a:endParaRPr>
          </a:p>
          <a:p>
            <a:pPr algn="ctr"/>
            <a:r>
              <a:rPr lang="en-US" altLang="zh-CN">
                <a:solidFill>
                  <a:schemeClr val="tx1"/>
                </a:solidFill>
              </a:rPr>
              <a:t>trace</a:t>
            </a:r>
            <a:endParaRPr lang="en-US" altLang="zh-CN">
              <a:solidFill>
                <a:schemeClr val="tx1"/>
              </a:solidFill>
            </a:endParaRPr>
          </a:p>
        </p:txBody>
      </p:sp>
      <p:sp>
        <p:nvSpPr>
          <p:cNvPr id="15" name="矩形 14"/>
          <p:cNvSpPr/>
          <p:nvPr/>
        </p:nvSpPr>
        <p:spPr>
          <a:xfrm>
            <a:off x="6010275" y="2867660"/>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http</a:t>
            </a:r>
            <a:r>
              <a:rPr lang="en-US" altLang="zh-CN">
                <a:solidFill>
                  <a:schemeClr val="tx1"/>
                </a:solidFill>
              </a:rPr>
              <a:t>s/http2</a:t>
            </a:r>
            <a:endParaRPr lang="en-US" altLang="zh-CN">
              <a:solidFill>
                <a:schemeClr val="tx1"/>
              </a:solidFill>
            </a:endParaRPr>
          </a:p>
        </p:txBody>
      </p:sp>
      <p:sp>
        <p:nvSpPr>
          <p:cNvPr id="16" name="矩形 15"/>
          <p:cNvSpPr/>
          <p:nvPr/>
        </p:nvSpPr>
        <p:spPr>
          <a:xfrm>
            <a:off x="7336155" y="2867660"/>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csrf</a:t>
            </a:r>
            <a:endParaRPr lang="en-US" altLang="zh-CN">
              <a:solidFill>
                <a:schemeClr val="tx1"/>
              </a:solidFill>
            </a:endParaRPr>
          </a:p>
        </p:txBody>
      </p:sp>
      <p:sp>
        <p:nvSpPr>
          <p:cNvPr id="17" name="矩形 16"/>
          <p:cNvSpPr/>
          <p:nvPr/>
        </p:nvSpPr>
        <p:spPr>
          <a:xfrm>
            <a:off x="6010275" y="3587115"/>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circuit breaker</a:t>
            </a:r>
            <a:endParaRPr lang="en-US" altLang="zh-CN">
              <a:solidFill>
                <a:schemeClr val="tx1"/>
              </a:solidFill>
            </a:endParaRPr>
          </a:p>
        </p:txBody>
      </p:sp>
      <p:sp>
        <p:nvSpPr>
          <p:cNvPr id="18" name="矩形 17"/>
          <p:cNvSpPr/>
          <p:nvPr/>
        </p:nvSpPr>
        <p:spPr>
          <a:xfrm>
            <a:off x="3358515" y="3587115"/>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multiple</a:t>
            </a:r>
            <a:br>
              <a:rPr lang="en-US" altLang="zh-CN">
                <a:solidFill>
                  <a:schemeClr val="tx1"/>
                </a:solidFill>
              </a:rPr>
            </a:br>
            <a:r>
              <a:rPr lang="en-US" altLang="zh-CN">
                <a:solidFill>
                  <a:schemeClr val="tx1"/>
                </a:solidFill>
              </a:rPr>
              <a:t>port</a:t>
            </a:r>
            <a:endParaRPr lang="en-US" altLang="zh-CN">
              <a:solidFill>
                <a:schemeClr val="tx1"/>
              </a:solidFill>
            </a:endParaRPr>
          </a:p>
        </p:txBody>
      </p:sp>
      <p:sp>
        <p:nvSpPr>
          <p:cNvPr id="19" name="矩形 18"/>
          <p:cNvSpPr/>
          <p:nvPr/>
        </p:nvSpPr>
        <p:spPr>
          <a:xfrm>
            <a:off x="4684395" y="3587115"/>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failover</a:t>
            </a:r>
            <a:endParaRPr lang="en-US" altLang="zh-CN">
              <a:solidFill>
                <a:schemeClr val="tx1"/>
              </a:solidFill>
            </a:endParaRPr>
          </a:p>
        </p:txBody>
      </p:sp>
      <p:sp>
        <p:nvSpPr>
          <p:cNvPr id="20" name="矩形 19"/>
          <p:cNvSpPr/>
          <p:nvPr/>
        </p:nvSpPr>
        <p:spPr>
          <a:xfrm>
            <a:off x="7336155" y="3587115"/>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rate limiter</a:t>
            </a:r>
            <a:endParaRPr lang="en-US" altLang="zh-CN">
              <a:solidFill>
                <a:schemeClr val="tx1"/>
              </a:solidFill>
            </a:endParaRPr>
          </a:p>
        </p:txBody>
      </p:sp>
      <p:sp>
        <p:nvSpPr>
          <p:cNvPr id="21" name="文本框 20"/>
          <p:cNvSpPr txBox="1"/>
          <p:nvPr/>
        </p:nvSpPr>
        <p:spPr>
          <a:xfrm>
            <a:off x="1597025" y="4113530"/>
            <a:ext cx="1132840" cy="368300"/>
          </a:xfrm>
          <a:prstGeom prst="rect">
            <a:avLst/>
          </a:prstGeom>
          <a:noFill/>
        </p:spPr>
        <p:txBody>
          <a:bodyPr wrap="square" rtlCol="0">
            <a:spAutoFit/>
          </a:bodyPr>
          <a:p>
            <a:r>
              <a:rPr lang="zh-CN" altLang="en-US">
                <a:solidFill>
                  <a:schemeClr val="bg1">
                    <a:lumMod val="65000"/>
                  </a:schemeClr>
                </a:solidFill>
              </a:rPr>
              <a:t>扩展功能</a:t>
            </a:r>
            <a:endParaRPr lang="zh-CN" altLang="en-US">
              <a:solidFill>
                <a:schemeClr val="bg1">
                  <a:lumMod val="65000"/>
                </a:schemeClr>
              </a:solidFill>
            </a:endParaRPr>
          </a:p>
        </p:txBody>
      </p:sp>
      <p:sp>
        <p:nvSpPr>
          <p:cNvPr id="2" name="矩形 1"/>
          <p:cNvSpPr/>
          <p:nvPr/>
        </p:nvSpPr>
        <p:spPr>
          <a:xfrm>
            <a:off x="4684395" y="4306570"/>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retry</a:t>
            </a:r>
            <a:endParaRPr lang="en-US" altLang="zh-CN">
              <a:solidFill>
                <a:schemeClr val="tx1"/>
              </a:solidFill>
            </a:endParaRPr>
          </a:p>
        </p:txBody>
      </p:sp>
      <p:sp>
        <p:nvSpPr>
          <p:cNvPr id="22" name="矩形 21"/>
          <p:cNvSpPr/>
          <p:nvPr/>
        </p:nvSpPr>
        <p:spPr>
          <a:xfrm>
            <a:off x="6010275" y="4306570"/>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metrics</a:t>
            </a:r>
            <a:endParaRPr lang="en-US" altLang="zh-CN">
              <a:solidFill>
                <a:schemeClr val="tx1"/>
              </a:solidFill>
            </a:endParaRPr>
          </a:p>
        </p:txBody>
      </p:sp>
      <p:sp>
        <p:nvSpPr>
          <p:cNvPr id="23" name="矩形 22"/>
          <p:cNvSpPr/>
          <p:nvPr/>
        </p:nvSpPr>
        <p:spPr>
          <a:xfrm>
            <a:off x="3358515" y="4306570"/>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sym typeface="+mn-ea"/>
              </a:rPr>
              <a:t>validator</a:t>
            </a:r>
            <a:endParaRPr lang="en-US" altLang="zh-CN">
              <a:solidFill>
                <a:schemeClr val="tx1"/>
              </a:solidFill>
            </a:endParaRPr>
          </a:p>
        </p:txBody>
      </p:sp>
      <p:sp>
        <p:nvSpPr>
          <p:cNvPr id="24" name="矩形 23"/>
          <p:cNvSpPr/>
          <p:nvPr/>
        </p:nvSpPr>
        <p:spPr>
          <a:xfrm>
            <a:off x="7336155" y="4306570"/>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failback</a:t>
            </a:r>
            <a:endParaRPr lang="en-US" altLang="zh-CN">
              <a:solidFill>
                <a:schemeClr val="tx1"/>
              </a:solidFill>
            </a:endParaRPr>
          </a:p>
        </p:txBody>
      </p:sp>
      <p:sp>
        <p:nvSpPr>
          <p:cNvPr id="25" name="矩形 24"/>
          <p:cNvSpPr/>
          <p:nvPr/>
        </p:nvSpPr>
        <p:spPr>
          <a:xfrm>
            <a:off x="3358515" y="5026025"/>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mock</a:t>
            </a:r>
            <a:endParaRPr lang="en-US" altLang="zh-CN">
              <a:solidFill>
                <a:schemeClr val="tx1"/>
              </a:solidFill>
            </a:endParaRPr>
          </a:p>
        </p:txBody>
      </p:sp>
      <p:sp>
        <p:nvSpPr>
          <p:cNvPr id="26" name="矩形 25"/>
          <p:cNvSpPr/>
          <p:nvPr/>
        </p:nvSpPr>
        <p:spPr>
          <a:xfrm>
            <a:off x="4684395" y="5026025"/>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health</a:t>
            </a:r>
            <a:endParaRPr lang="en-US" altLang="zh-CN">
              <a:solidFill>
                <a:schemeClr val="tx1"/>
              </a:solidFill>
            </a:endParaRPr>
          </a:p>
          <a:p>
            <a:pPr algn="ctr"/>
            <a:r>
              <a:rPr lang="en-US" altLang="zh-CN">
                <a:solidFill>
                  <a:schemeClr val="tx1"/>
                </a:solidFill>
              </a:rPr>
              <a:t>check</a:t>
            </a:r>
            <a:endParaRPr lang="en-US" altLang="zh-CN">
              <a:solidFill>
                <a:schemeClr val="tx1"/>
              </a:solidFill>
            </a:endParaRPr>
          </a:p>
        </p:txBody>
      </p:sp>
      <p:sp>
        <p:nvSpPr>
          <p:cNvPr id="27" name="矩形 26"/>
          <p:cNvSpPr/>
          <p:nvPr/>
        </p:nvSpPr>
        <p:spPr>
          <a:xfrm>
            <a:off x="6010275" y="5026025"/>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api gateway</a:t>
            </a:r>
            <a:endParaRPr lang="en-US" altLang="zh-CN">
              <a:solidFill>
                <a:schemeClr val="tx1"/>
              </a:solidFill>
            </a:endParaRPr>
          </a:p>
        </p:txBody>
      </p:sp>
      <p:sp>
        <p:nvSpPr>
          <p:cNvPr id="28" name="矩形 27"/>
          <p:cNvSpPr/>
          <p:nvPr/>
        </p:nvSpPr>
        <p:spPr>
          <a:xfrm>
            <a:off x="7336155" y="5026025"/>
            <a:ext cx="1325880" cy="71945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solidFill>
                  <a:schemeClr val="tx1"/>
                </a:solidFill>
              </a:rPr>
              <a:t>thread pool</a:t>
            </a:r>
            <a:br>
              <a:rPr lang="en-US" altLang="zh-CN">
                <a:solidFill>
                  <a:schemeClr val="tx1"/>
                </a:solidFill>
              </a:rPr>
            </a:br>
            <a:r>
              <a:rPr lang="en-US" altLang="zh-CN">
                <a:solidFill>
                  <a:schemeClr val="tx1"/>
                </a:solidFill>
              </a:rPr>
              <a:t>sepearter</a:t>
            </a:r>
            <a:endParaRPr lang="en-US" altLang="zh-CN">
              <a:solidFill>
                <a:schemeClr val="tx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THANKE YOU"/>
          <p:cNvPicPr>
            <a:picLocks noChangeAspect="1"/>
          </p:cNvPicPr>
          <p:nvPr/>
        </p:nvPicPr>
        <p:blipFill>
          <a:blip r:embed="rId1"/>
          <a:stretch>
            <a:fillRect/>
          </a:stretch>
        </p:blipFill>
        <p:spPr>
          <a:xfrm>
            <a:off x="3157220" y="3099435"/>
            <a:ext cx="5876925" cy="704850"/>
          </a:xfrm>
          <a:prstGeom prst="rect">
            <a:avLst/>
          </a:prstGeom>
        </p:spPr>
      </p:pic>
      <p:sp>
        <p:nvSpPr>
          <p:cNvPr id="22" name="文本框 21"/>
          <p:cNvSpPr txBox="1"/>
          <p:nvPr/>
        </p:nvSpPr>
        <p:spPr>
          <a:xfrm>
            <a:off x="2924810" y="2148840"/>
            <a:ext cx="7002780" cy="521970"/>
          </a:xfrm>
          <a:prstGeom prst="rect">
            <a:avLst/>
          </a:prstGeom>
          <a:noFill/>
        </p:spPr>
        <p:txBody>
          <a:bodyPr wrap="square" rtlCol="0">
            <a:spAutoFit/>
          </a:bodyPr>
          <a:p>
            <a:r>
              <a:rPr lang="zh-CN" altLang="en-US" sz="2800"/>
              <a:t>欢迎开源爱好者多提意见以及项目共建</a:t>
            </a:r>
            <a:endParaRPr lang="zh-CN" altLang="en-US" sz="2800"/>
          </a:p>
        </p:txBody>
      </p:sp>
      <p:sp>
        <p:nvSpPr>
          <p:cNvPr id="3" name="文本框 2"/>
          <p:cNvSpPr txBox="1"/>
          <p:nvPr/>
        </p:nvSpPr>
        <p:spPr>
          <a:xfrm>
            <a:off x="2821305" y="1468755"/>
            <a:ext cx="8665845" cy="368300"/>
          </a:xfrm>
          <a:prstGeom prst="rect">
            <a:avLst/>
          </a:prstGeom>
          <a:noFill/>
        </p:spPr>
        <p:txBody>
          <a:bodyPr wrap="square" rtlCol="0" anchor="t">
            <a:spAutoFit/>
          </a:bodyPr>
          <a:p>
            <a:r>
              <a:rPr lang="zh-CN" altLang="en-US">
                <a:sym typeface="+mn-ea"/>
              </a:rPr>
              <a:t>开源仓库</a:t>
            </a:r>
            <a:r>
              <a:rPr lang="zh-CN" altLang="en-US">
                <a:sym typeface="+mn-ea"/>
              </a:rPr>
              <a:t>地址：https://gitcode.com/Cangjie-TPC/</a:t>
            </a:r>
            <a:r>
              <a:rPr lang="zh-CN" altLang="en-US" b="1">
                <a:sym typeface="+mn-ea"/>
              </a:rPr>
              <a:t>microservice</a:t>
            </a:r>
            <a:r>
              <a:rPr lang="en-US" altLang="zh-CN">
                <a:sym typeface="+mn-ea"/>
              </a:rPr>
              <a:t> </a:t>
            </a:r>
            <a:endParaRPr lang="en-US" altLang="zh-CN">
              <a:sym typeface="+mn-ea"/>
            </a:endParaRPr>
          </a:p>
        </p:txBody>
      </p:sp>
      <p:pic>
        <p:nvPicPr>
          <p:cNvPr id="6" name="图片 5"/>
          <p:cNvPicPr/>
          <p:nvPr/>
        </p:nvPicPr>
        <p:blipFill>
          <a:blip r:embed="rId2"/>
          <a:stretch>
            <a:fillRect/>
          </a:stretch>
        </p:blipFill>
        <p:spPr>
          <a:xfrm>
            <a:off x="9646920" y="1388745"/>
            <a:ext cx="2118360" cy="2415540"/>
          </a:xfrm>
          <a:prstGeom prst="rect">
            <a:avLst/>
          </a:prstGeom>
        </p:spPr>
      </p:pic>
      <p:sp>
        <p:nvSpPr>
          <p:cNvPr id="4" name="文本框 3"/>
          <p:cNvSpPr txBox="1"/>
          <p:nvPr/>
        </p:nvSpPr>
        <p:spPr>
          <a:xfrm>
            <a:off x="9845040" y="3804285"/>
            <a:ext cx="4064000" cy="337185"/>
          </a:xfrm>
          <a:prstGeom prst="rect">
            <a:avLst/>
          </a:prstGeom>
          <a:noFill/>
        </p:spPr>
        <p:txBody>
          <a:bodyPr wrap="square" rtlCol="0">
            <a:spAutoFit/>
          </a:bodyPr>
          <a:p>
            <a:r>
              <a:rPr lang="zh-CN" altLang="en-US" sz="1600"/>
              <a:t>个人微信号交流</a:t>
            </a:r>
            <a:endParaRPr lang="zh-CN" altLang="en-US" sz="1600"/>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3.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4.xml><?xml version="1.0" encoding="utf-8"?>
<p:tagLst xmlns:p="http://schemas.openxmlformats.org/presentationml/2006/main">
  <p:tag name="TABLE_ENDDRAG_ORIGIN_RECT" val="304*292"/>
  <p:tag name="TABLE_ENDDRAG_RECT" val="71*94*304*292"/>
</p:tagLst>
</file>

<file path=ppt/tags/tag25.xml><?xml version="1.0" encoding="utf-8"?>
<p:tagLst xmlns:p="http://schemas.openxmlformats.org/presentationml/2006/main">
  <p:tag name="TABLE_ENDDRAG_ORIGIN_RECT" val="392*149"/>
  <p:tag name="TABLE_ENDDRAG_RECT" val="539*202*392*149"/>
</p:tagLst>
</file>

<file path=ppt/tags/tag26.xml><?xml version="1.0" encoding="utf-8"?>
<p:tagLst xmlns:p="http://schemas.openxmlformats.org/presentationml/2006/main">
  <p:tag name="TABLE_ENDDRAG_ORIGIN_RECT" val="304*292"/>
  <p:tag name="TABLE_ENDDRAG_RECT" val="71*94*304*292"/>
</p:tagLst>
</file>

<file path=ppt/tags/tag27.xml><?xml version="1.0" encoding="utf-8"?>
<p:tagLst xmlns:p="http://schemas.openxmlformats.org/presentationml/2006/main">
  <p:tag name="TABLE_ENDDRAG_ORIGIN_RECT" val="304*164"/>
  <p:tag name="TABLE_ENDDRAG_RECT" val="514*94*304*164"/>
</p:tagLst>
</file>

<file path=ppt/tags/tag28.xml><?xml version="1.0" encoding="utf-8"?>
<p:tagLst xmlns:p="http://schemas.openxmlformats.org/presentationml/2006/main">
  <p:tag name="KSO_WM_DIAGRAM_VIRTUALLY_FRAME" val="{&quot;height&quot;:273.05,&quot;left&quot;:157.2,&quot;top&quot;:109.35,&quot;width&quot;:594.05}"/>
</p:tagLst>
</file>

<file path=ppt/tags/tag29.xml><?xml version="1.0" encoding="utf-8"?>
<p:tagLst xmlns:p="http://schemas.openxmlformats.org/presentationml/2006/main">
  <p:tag name="KSO_WM_DIAGRAM_VIRTUALLY_FRAME" val="{&quot;height&quot;:273.05,&quot;left&quot;:157.2,&quot;top&quot;:109.35,&quot;width&quot;:594.05}"/>
</p:tagLst>
</file>

<file path=ppt/tags/tag30.xml><?xml version="1.0" encoding="utf-8"?>
<p:tagLst xmlns:p="http://schemas.openxmlformats.org/presentationml/2006/main">
  <p:tag name="KSO_WM_DIAGRAM_VIRTUALLY_FRAME" val="{&quot;height&quot;:273.05,&quot;left&quot;:157.2,&quot;top&quot;:109.35,&quot;width&quot;:594.05}"/>
</p:tagLst>
</file>

<file path=ppt/tags/tag31.xml><?xml version="1.0" encoding="utf-8"?>
<p:tagLst xmlns:p="http://schemas.openxmlformats.org/presentationml/2006/main">
  <p:tag name="KSO_WM_DIAGRAM_VIRTUALLY_FRAME" val="{&quot;height&quot;:273.05,&quot;left&quot;:157.2,&quot;top&quot;:109.35,&quot;width&quot;:594.05}"/>
</p:tagLst>
</file>

<file path=ppt/tags/tag32.xml><?xml version="1.0" encoding="utf-8"?>
<p:tagLst xmlns:p="http://schemas.openxmlformats.org/presentationml/2006/main">
  <p:tag name="KSO_WM_DIAGRAM_VIRTUALLY_FRAME" val="{&quot;height&quot;:273.05,&quot;left&quot;:157.2,&quot;top&quot;:109.35,&quot;width&quot;:594.05}"/>
</p:tagLst>
</file>

<file path=ppt/tags/tag33.xml><?xml version="1.0" encoding="utf-8"?>
<p:tagLst xmlns:p="http://schemas.openxmlformats.org/presentationml/2006/main">
  <p:tag name="KSO_WM_DIAGRAM_VIRTUALLY_FRAME" val="{&quot;height&quot;:273.05,&quot;left&quot;:157.2,&quot;top&quot;:109.35,&quot;width&quot;:594.05}"/>
</p:tagLst>
</file>

<file path=ppt/tags/tag34.xml><?xml version="1.0" encoding="utf-8"?>
<p:tagLst xmlns:p="http://schemas.openxmlformats.org/presentationml/2006/main">
  <p:tag name="KSO_WM_DIAGRAM_VIRTUALLY_FRAME" val="{&quot;height&quot;:273.05,&quot;left&quot;:157.2,&quot;top&quot;:109.35,&quot;width&quot;:594.05}"/>
</p:tagLst>
</file>

<file path=ppt/tags/tag35.xml><?xml version="1.0" encoding="utf-8"?>
<p:tagLst xmlns:p="http://schemas.openxmlformats.org/presentationml/2006/main">
  <p:tag name="KSO_WM_DIAGRAM_VIRTUALLY_FRAME" val="{&quot;height&quot;:273.05,&quot;left&quot;:157.2,&quot;top&quot;:109.35,&quot;width&quot;:594.05}"/>
</p:tagLst>
</file>

<file path=ppt/tags/tag36.xml><?xml version="1.0" encoding="utf-8"?>
<p:tagLst xmlns:p="http://schemas.openxmlformats.org/presentationml/2006/main">
  <p:tag name="KSO_WM_DIAGRAM_VIRTUALLY_FRAME" val="{&quot;height&quot;:273.05,&quot;left&quot;:157.2,&quot;top&quot;:109.35,&quot;width&quot;:594.05}"/>
</p:tagLst>
</file>

<file path=ppt/tags/tag37.xml><?xml version="1.0" encoding="utf-8"?>
<p:tagLst xmlns:p="http://schemas.openxmlformats.org/presentationml/2006/main">
  <p:tag name="KSO_WM_DIAGRAM_VIRTUALLY_FRAME" val="{&quot;height&quot;:273.05,&quot;left&quot;:157.2,&quot;top&quot;:109.35,&quot;width&quot;:594.05}"/>
</p:tagLst>
</file>

<file path=ppt/tags/tag38.xml><?xml version="1.0" encoding="utf-8"?>
<p:tagLst xmlns:p="http://schemas.openxmlformats.org/presentationml/2006/main">
  <p:tag name="KSO_WM_DIAGRAM_VIRTUALLY_FRAME" val="{&quot;height&quot;:273.05,&quot;left&quot;:157.2,&quot;top&quot;:109.35,&quot;width&quot;:594.05}"/>
</p:tagLst>
</file>

<file path=ppt/tags/tag39.xml><?xml version="1.0" encoding="utf-8"?>
<p:tagLst xmlns:p="http://schemas.openxmlformats.org/presentationml/2006/main">
  <p:tag name="KSO_WM_DIAGRAM_VIRTUALLY_FRAME" val="{&quot;height&quot;:273.05,&quot;left&quot;:157.2,&quot;top&quot;:109.35,&quot;width&quot;:594.05}"/>
</p:tagLst>
</file>

<file path=ppt/tags/tag40.xml><?xml version="1.0" encoding="utf-8"?>
<p:tagLst xmlns:p="http://schemas.openxmlformats.org/presentationml/2006/main">
  <p:tag name="KSO_WM_DIAGRAM_VIRTUALLY_FRAME" val="{&quot;height&quot;:324.644094488189,&quot;left&quot;:69.13251968503933,&quot;top&quot;:117.53377952755905,&quot;width&quot;:793.1104724409448}"/>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 name="KSO_WM_DIAGRAM_VIRTUALLY_FRAME" val="{&quot;height&quot;:324.644094488189,&quot;left&quot;:69.13251968503933,&quot;top&quot;:117.53377952755905,&quot;width&quot;:793.1104724409448}"/>
</p:tagLst>
</file>

<file path=ppt/tags/tag43.xml><?xml version="1.0" encoding="utf-8"?>
<p:tagLst xmlns:p="http://schemas.openxmlformats.org/presentationml/2006/main">
  <p:tag name="KSO_WM_BEAUTIFY_FLAG" val=""/>
  <p:tag name="KSO_WM_DIAGRAM_VIRTUALLY_FRAME" val="{&quot;height&quot;:324.644094488189,&quot;left&quot;:69.13251968503933,&quot;top&quot;:117.53377952755905,&quot;width&quot;:793.1104724409448}"/>
</p:tagLst>
</file>

<file path=ppt/tags/tag44.xml><?xml version="1.0" encoding="utf-8"?>
<p:tagLst xmlns:p="http://schemas.openxmlformats.org/presentationml/2006/main">
  <p:tag name="KSO_WM_BEAUTIFY_FLAG" val=""/>
  <p:tag name="KSO_WM_DIAGRAM_VIRTUALLY_FRAME" val="{&quot;height&quot;:324.644094488189,&quot;left&quot;:69.13251968503933,&quot;top&quot;:117.53377952755905,&quot;width&quot;:793.1104724409448}"/>
</p:tagLst>
</file>

<file path=ppt/tags/tag45.xml><?xml version="1.0" encoding="utf-8"?>
<p:tagLst xmlns:p="http://schemas.openxmlformats.org/presentationml/2006/main">
  <p:tag name="KSO_WM_BEAUTIFY_FLAG" val=""/>
  <p:tag name="KSO_WM_DIAGRAM_VIRTUALLY_FRAME" val="{&quot;height&quot;:324.644094488189,&quot;left&quot;:69.13251968503933,&quot;top&quot;:117.53377952755905,&quot;width&quot;:793.1104724409448}"/>
</p:tagLst>
</file>

<file path=ppt/tags/tag46.xml><?xml version="1.0" encoding="utf-8"?>
<p:tagLst xmlns:p="http://schemas.openxmlformats.org/presentationml/2006/main">
  <p:tag name="KSO_WM_BEAUTIFY_FLAG" val=""/>
  <p:tag name="KSO_WM_DIAGRAM_VIRTUALLY_FRAME" val="{&quot;height&quot;:324.644094488189,&quot;left&quot;:69.13251968503933,&quot;top&quot;:117.53377952755905,&quot;width&quot;:793.1104724409448}"/>
</p:tagLst>
</file>

<file path=ppt/tags/tag47.xml><?xml version="1.0" encoding="utf-8"?>
<p:tagLst xmlns:p="http://schemas.openxmlformats.org/presentationml/2006/main">
  <p:tag name="KSO_WM_BEAUTIFY_FLAG" val=""/>
  <p:tag name="KSO_WM_DIAGRAM_VIRTUALLY_FRAME" val="{&quot;height&quot;:324.644094488189,&quot;left&quot;:69.13251968503933,&quot;top&quot;:117.53377952755905,&quot;width&quot;:793.1104724409448}"/>
</p:tagLst>
</file>

<file path=ppt/tags/tag48.xml><?xml version="1.0" encoding="utf-8"?>
<p:tagLst xmlns:p="http://schemas.openxmlformats.org/presentationml/2006/main">
  <p:tag name="KSO_WM_BEAUTIFY_FLAG" val=""/>
  <p:tag name="KSO_WM_DIAGRAM_VIRTUALLY_FRAME" val="{&quot;height&quot;:324.644094488189,&quot;left&quot;:69.13251968503933,&quot;top&quot;:117.53377952755905,&quot;width&quot;:793.1104724409448}"/>
</p:tagLst>
</file>

<file path=ppt/tags/tag49.xml><?xml version="1.0" encoding="utf-8"?>
<p:tagLst xmlns:p="http://schemas.openxmlformats.org/presentationml/2006/main">
  <p:tag name="KSO_WM_BEAUTIFY_FLAG" val=""/>
  <p:tag name="KSO_WM_DIAGRAM_VIRTUALLY_FRAME" val="{&quot;height&quot;:324.644094488189,&quot;left&quot;:69.13251968503933,&quot;top&quot;:117.53377952755905,&quot;width&quot;:793.1104724409448}"/>
</p:tagLst>
</file>

<file path=ppt/tags/tag50.xml><?xml version="1.0" encoding="utf-8"?>
<p:tagLst xmlns:p="http://schemas.openxmlformats.org/presentationml/2006/main">
  <p:tag name="KSO_WM_BEAUTIFY_FLAG" val=""/>
  <p:tag name="KSO_WM_DIAGRAM_VIRTUALLY_FRAME" val="{&quot;height&quot;:324.644094488189,&quot;left&quot;:69.13251968503933,&quot;top&quot;:117.53377952755905,&quot;width&quot;:793.1104724409448}"/>
</p:tagLst>
</file>

<file path=ppt/tags/tag51.xml><?xml version="1.0" encoding="utf-8"?>
<p:tagLst xmlns:p="http://schemas.openxmlformats.org/presentationml/2006/main">
  <p:tag name="KSO_WM_BEAUTIFY_FLAG" val=""/>
  <p:tag name="KSO_WM_DIAGRAM_VIRTUALLY_FRAME" val="{&quot;height&quot;:324.644094488189,&quot;left&quot;:69.13251968503933,&quot;top&quot;:117.53377952755905,&quot;width&quot;:793.1104724409448}"/>
</p:tagLst>
</file>

<file path=ppt/tags/tag52.xml><?xml version="1.0" encoding="utf-8"?>
<p:tagLst xmlns:p="http://schemas.openxmlformats.org/presentationml/2006/main">
  <p:tag name="KSO_WM_BEAUTIFY_FLAG" val=""/>
  <p:tag name="KSO_WM_DIAGRAM_VIRTUALLY_FRAME" val="{&quot;height&quot;:324.644094488189,&quot;left&quot;:69.13251968503933,&quot;top&quot;:117.53377952755905,&quot;width&quot;:793.1104724409448}"/>
</p:tagLst>
</file>

<file path=ppt/tags/tag53.xml><?xml version="1.0" encoding="utf-8"?>
<p:tagLst xmlns:p="http://schemas.openxmlformats.org/presentationml/2006/main">
  <p:tag name="KSO_WM_BEAUTIFY_FLAG" val=""/>
  <p:tag name="KSO_WM_DIAGRAM_VIRTUALLY_FRAME" val="{&quot;height&quot;:324.644094488189,&quot;left&quot;:69.13251968503933,&quot;top&quot;:117.53377952755905,&quot;width&quot;:793.1104724409448}"/>
</p:tagLst>
</file>

<file path=ppt/tags/tag54.xml><?xml version="1.0" encoding="utf-8"?>
<p:tagLst xmlns:p="http://schemas.openxmlformats.org/presentationml/2006/main">
  <p:tag name="KSO_WM_BEAUTIFY_FLAG" val=""/>
  <p:tag name="KSO_WM_DIAGRAM_VIRTUALLY_FRAME" val="{&quot;height&quot;:324.644094488189,&quot;left&quot;:69.13251968503933,&quot;top&quot;:117.53377952755905,&quot;width&quot;:793.1104724409448}"/>
</p:tagLst>
</file>

<file path=ppt/tags/tag55.xml><?xml version="1.0" encoding="utf-8"?>
<p:tagLst xmlns:p="http://schemas.openxmlformats.org/presentationml/2006/main">
  <p:tag name="KSO_WM_BEAUTIFY_FLAG" val=""/>
  <p:tag name="KSO_WM_DIAGRAM_VIRTUALLY_FRAME" val="{&quot;height&quot;:324.644094488189,&quot;left&quot;:69.13251968503933,&quot;top&quot;:117.53377952755905,&quot;width&quot;:793.1104724409448}"/>
</p:tagLst>
</file>

<file path=ppt/tags/tag56.xml><?xml version="1.0" encoding="utf-8"?>
<p:tagLst xmlns:p="http://schemas.openxmlformats.org/presentationml/2006/main">
  <p:tag name="KSO_WM_BEAUTIFY_FLAG" val=""/>
  <p:tag name="KSO_WM_DIAGRAM_VIRTUALLY_FRAME" val="{&quot;height&quot;:324.644094488189,&quot;left&quot;:69.13251968503933,&quot;top&quot;:117.53377952755905,&quot;width&quot;:793.1104724409448}"/>
</p:tagLst>
</file>

<file path=ppt/tags/tag57.xml><?xml version="1.0" encoding="utf-8"?>
<p:tagLst xmlns:p="http://schemas.openxmlformats.org/presentationml/2006/main">
  <p:tag name="KSO_WM_BEAUTIFY_FLAG" val=""/>
  <p:tag name="KSO_WM_DIAGRAM_VIRTUALLY_FRAME" val="{&quot;height&quot;:324.644094488189,&quot;left&quot;:69.13251968503933,&quot;top&quot;:117.53377952755905,&quot;width&quot;:793.1104724409448}"/>
</p:tagLst>
</file>

<file path=ppt/tags/tag58.xml><?xml version="1.0" encoding="utf-8"?>
<p:tagLst xmlns:p="http://schemas.openxmlformats.org/presentationml/2006/main">
  <p:tag name="KSO_WM_BEAUTIFY_FLAG" val=""/>
  <p:tag name="KSO_WM_DIAGRAM_VIRTUALLY_FRAME" val="{&quot;height&quot;:324.644094488189,&quot;left&quot;:69.13251968503933,&quot;top&quot;:117.53377952755905,&quot;width&quot;:793.1104724409448}"/>
</p:tagLst>
</file>

<file path=ppt/tags/tag59.xml><?xml version="1.0" encoding="utf-8"?>
<p:tagLst xmlns:p="http://schemas.openxmlformats.org/presentationml/2006/main">
  <p:tag name="KSO_WM_BEAUTIFY_FLAG" val=""/>
  <p:tag name="KSO_WM_DIAGRAM_VIRTUALLY_FRAME" val="{&quot;height&quot;:324.644094488189,&quot;left&quot;:69.13251968503933,&quot;top&quot;:117.53377952755905,&quot;width&quot;:793.1104724409448}"/>
</p:tagLst>
</file>

<file path=ppt/tags/tag60.xml><?xml version="1.0" encoding="utf-8"?>
<p:tagLst xmlns:p="http://schemas.openxmlformats.org/presentationml/2006/main">
  <p:tag name="KSO_WM_BEAUTIFY_FLAG" val=""/>
  <p:tag name="KSO_WM_DIAGRAM_VIRTUALLY_FRAME" val="{&quot;height&quot;:324.644094488189,&quot;left&quot;:69.13251968503933,&quot;top&quot;:117.53377952755905,&quot;width&quot;:793.1104724409448}"/>
</p:tagLst>
</file>

<file path=ppt/tags/tag61.xml><?xml version="1.0" encoding="utf-8"?>
<p:tagLst xmlns:p="http://schemas.openxmlformats.org/presentationml/2006/main">
  <p:tag name="TABLE_ENDDRAG_ORIGIN_RECT" val="799*152"/>
  <p:tag name="TABLE_ENDDRAG_RECT" val="77*126*799*152"/>
</p:tagLst>
</file>

<file path=ppt/tags/tag62.xml><?xml version="1.0" encoding="utf-8"?>
<p:tagLst xmlns:p="http://schemas.openxmlformats.org/presentationml/2006/main">
  <p:tag name="KSO_WM_DIAGRAM_VIRTUALLY_FRAME" val="{&quot;height&quot;:318.24409448818903,&quot;left&quot;:69.13251968503933,&quot;top&quot;:123.93377952755904,&quot;width&quot;:793.1104724409448}"/>
</p:tagLst>
</file>

<file path=ppt/tags/tag63.xml><?xml version="1.0" encoding="utf-8"?>
<p:tagLst xmlns:p="http://schemas.openxmlformats.org/presentationml/2006/main">
  <p:tag name="KSO_WM_DIAGRAM_VIRTUALLY_FRAME" val="{&quot;height&quot;:318.24409448818903,&quot;left&quot;:69.13251968503933,&quot;top&quot;:123.93377952755904,&quot;width&quot;:793.1104724409448}"/>
</p:tagLst>
</file>

<file path=ppt/tags/tag64.xml><?xml version="1.0" encoding="utf-8"?>
<p:tagLst xmlns:p="http://schemas.openxmlformats.org/presentationml/2006/main">
  <p:tag name="KSO_WM_DIAGRAM_VIRTUALLY_FRAME" val="{&quot;height&quot;:318.24409448818903,&quot;left&quot;:69.13251968503933,&quot;top&quot;:123.93377952755904,&quot;width&quot;:793.1104724409448}"/>
</p:tagLst>
</file>

<file path=ppt/tags/tag65.xml><?xml version="1.0" encoding="utf-8"?>
<p:tagLst xmlns:p="http://schemas.openxmlformats.org/presentationml/2006/main">
  <p:tag name="TABLE_ENDDRAG_ORIGIN_RECT" val="768*188"/>
  <p:tag name="TABLE_ENDDRAG_RECT" val="111*126*768*188"/>
</p:tagLst>
</file>

<file path=ppt/tags/tag66.xml><?xml version="1.0" encoding="utf-8"?>
<p:tagLst xmlns:p="http://schemas.openxmlformats.org/presentationml/2006/main">
  <p:tag name="COMMONDATA" val="eyJoZGlkIjoiZWIzMmFiNDgxNTNlMzk4ZTE2NTU3Nzk1Zjc1Yzg4YzMifQ=="/>
  <p:tag name="commondata" val="eyJoZGlkIjoiNGE4ZGYxMDk1YTQwOWZlMGEzZmMxN2UxOTc5NDQwNWQ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2268</Words>
  <Application>WPS 演示</Application>
  <PresentationFormat>宽屏</PresentationFormat>
  <Paragraphs>527</Paragraphs>
  <Slides>23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23</vt:i4>
      </vt:variant>
    </vt:vector>
  </HeadingPairs>
  <TitlesOfParts>
    <vt:vector size="33" baseType="lpstr">
      <vt:lpstr>Arial</vt:lpstr>
      <vt:lpstr>宋体</vt:lpstr>
      <vt:lpstr>Wingdings</vt:lpstr>
      <vt:lpstr>Wingdings</vt:lpstr>
      <vt:lpstr>Arial</vt:lpstr>
      <vt:lpstr>微软雅黑</vt:lpstr>
      <vt:lpstr>Arial Unicode MS</vt:lpstr>
      <vt:lpstr>Calibri</vt:lpstr>
      <vt:lpstr>Source Han Serif SC</vt:lpstr>
      <vt:lpstr>WPS</vt:lpstr>
      <vt:lpstr>仓颉语言开源微服务框架 microservice开发实践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微服务设计-包图设计</vt:lpstr>
      <vt:lpstr>微服务设计-框架设计</vt:lpstr>
      <vt:lpstr>PowerPoint 演示文稿</vt:lpstr>
      <vt:lpstr>PowerPoint 演示文稿</vt:lpstr>
      <vt:lpstr>PowerPoint 演示文稿</vt:lpstr>
      <vt:lpstr>微服务设计-4.现实思维原则</vt:lpstr>
      <vt:lpstr>微服务设计-5.约定配置原则</vt:lpstr>
      <vt:lpstr>三 开发实践</vt:lpstr>
      <vt:lpstr>1.MicroBoot（自动装配）</vt:lpstr>
      <vt:lpstr>2.ManualServer（手工装配）</vt:lpstr>
      <vt:lpstr>3.ExternServer（外部web容器）</vt:lpstr>
      <vt:lpstr>4.Misc(常见功能)</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123</cp:lastModifiedBy>
  <cp:revision>941</cp:revision>
  <dcterms:created xsi:type="dcterms:W3CDTF">2019-06-19T02:08:00Z</dcterms:created>
  <dcterms:modified xsi:type="dcterms:W3CDTF">2024-10-12T05:04:17Z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2052-12.1.0.18276</vt:lpwstr>
  </property>
  <property fmtid="{D5CDD505-2E9C-101B-9397-08002B2CF9AE}" pid="3" name="ICV">
    <vt:lpwstr>A242DF9DD3544B43AAF2466718442668_13</vt:lpwstr>
  </property>
</Properties>
</file>