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2" r:id="rId2"/>
    <p:sldId id="280" r:id="rId3"/>
    <p:sldId id="287" r:id="rId4"/>
    <p:sldId id="563" r:id="rId5"/>
    <p:sldId id="649" r:id="rId6"/>
    <p:sldId id="566" r:id="rId7"/>
    <p:sldId id="327" r:id="rId8"/>
    <p:sldId id="340" r:id="rId9"/>
    <p:sldId id="335" r:id="rId10"/>
    <p:sldId id="289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FC2DFAE-FB83-48CB-9811-7C4E6F4F3F73}">
          <p14:sldIdLst>
            <p14:sldId id="282"/>
            <p14:sldId id="280"/>
            <p14:sldId id="287"/>
            <p14:sldId id="563"/>
            <p14:sldId id="649"/>
            <p14:sldId id="566"/>
            <p14:sldId id="327"/>
            <p14:sldId id="340"/>
            <p14:sldId id="335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5F3"/>
    <a:srgbClr val="FFFFFF"/>
    <a:srgbClr val="CC99FF"/>
    <a:srgbClr val="E5F5FF"/>
    <a:srgbClr val="A2E0EE"/>
    <a:srgbClr val="2D77EE"/>
    <a:srgbClr val="01DFC0"/>
    <a:srgbClr val="91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51" autoAdjust="0"/>
    <p:restoredTop sz="95988"/>
  </p:normalViewPr>
  <p:slideViewPr>
    <p:cSldViewPr snapToGrid="0" snapToObjects="1">
      <p:cViewPr varScale="1">
        <p:scale>
          <a:sx n="123" d="100"/>
          <a:sy n="123" d="100"/>
        </p:scale>
        <p:origin x="173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75235-9A1A-D74C-B5F3-1C693EF9A0DE}" type="datetimeFigureOut">
              <a:rPr kumimoji="1" lang="zh-CN" altLang="en-US" smtClean="0"/>
              <a:t>2024/10/29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9C8D6-C46B-CF46-BEF0-81268CF6F78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7178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7450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6659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9422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01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连接数没有支持限制；当前海川也没有支持这个连接数量限制</a:t>
            </a:r>
            <a:r>
              <a:rPr lang="en-US" altLang="zh-CN" dirty="0"/>
              <a:t>--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267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4230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6244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5322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929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B396C5-89CD-9B42-B4EE-53A9D47B098F}" type="datetimeFigureOut">
              <a:rPr kumimoji="1" lang="zh-CN" altLang="en-US" smtClean="0"/>
              <a:t>2024/10/29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412462-3951-534C-B2EB-31A3E742C1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4197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B396C5-89CD-9B42-B4EE-53A9D47B098F}" type="datetimeFigureOut">
              <a:rPr kumimoji="1" lang="zh-CN" altLang="en-US" smtClean="0"/>
              <a:t>2024/10/29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412462-3951-534C-B2EB-31A3E742C1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851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406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5738" y="1512876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31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894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  <a:defRPr sz="15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13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  <a:defRPr sz="12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79468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17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9" r:id="rId3"/>
    <p:sldLayoutId id="2147483658" r:id="rId4"/>
    <p:sldLayoutId id="2147483657" r:id="rId5"/>
    <p:sldLayoutId id="2147483650" r:id="rId6"/>
    <p:sldLayoutId id="2147483651" r:id="rId7"/>
    <p:sldLayoutId id="2147483660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BFBB337-4DA7-4097-9230-BA1003605E51}"/>
              </a:ext>
            </a:extLst>
          </p:cNvPr>
          <p:cNvSpPr txBox="1"/>
          <p:nvPr/>
        </p:nvSpPr>
        <p:spPr>
          <a:xfrm>
            <a:off x="732449" y="2604771"/>
            <a:ext cx="73192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神农微服务开发套件介绍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FC9F5C-A5D4-4D13-B164-8CD1D088364A}"/>
              </a:ext>
            </a:extLst>
          </p:cNvPr>
          <p:cNvSpPr txBox="1"/>
          <p:nvPr/>
        </p:nvSpPr>
        <p:spPr>
          <a:xfrm>
            <a:off x="756420" y="3743670"/>
            <a:ext cx="48455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主讲人：昝望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54F8BF-753F-4421-AB3E-AE22A11120FB}"/>
              </a:ext>
            </a:extLst>
          </p:cNvPr>
          <p:cNvSpPr txBox="1"/>
          <p:nvPr/>
        </p:nvSpPr>
        <p:spPr>
          <a:xfrm>
            <a:off x="678226" y="4636347"/>
            <a:ext cx="28001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01 </a:t>
            </a:r>
            <a:r>
              <a:rPr kumimoji="1" lang="zh-CN" altLang="en-US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整体架构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1DBA46-611A-4973-8AF1-A6CDDEA1F945}"/>
              </a:ext>
            </a:extLst>
          </p:cNvPr>
          <p:cNvSpPr txBox="1"/>
          <p:nvPr/>
        </p:nvSpPr>
        <p:spPr>
          <a:xfrm>
            <a:off x="3573934" y="4636347"/>
            <a:ext cx="33244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02 </a:t>
            </a:r>
            <a:r>
              <a:rPr kumimoji="1" lang="zh-CN" altLang="en-US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开发框架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57F3A3-FF39-4DAD-9A6D-DAEE42716B77}"/>
              </a:ext>
            </a:extLst>
          </p:cNvPr>
          <p:cNvSpPr txBox="1"/>
          <p:nvPr/>
        </p:nvSpPr>
        <p:spPr>
          <a:xfrm>
            <a:off x="685733" y="5297117"/>
            <a:ext cx="28001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03 </a:t>
            </a:r>
            <a:r>
              <a:rPr kumimoji="1" lang="en-US" altLang="zh-CN" sz="22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Rest&amp;ORM</a:t>
            </a:r>
            <a:endParaRPr kumimoji="1" lang="zh-CN" altLang="en-US" sz="2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DE14A0-6868-4EEF-B43D-62B5673F4DDA}"/>
              </a:ext>
            </a:extLst>
          </p:cNvPr>
          <p:cNvSpPr txBox="1"/>
          <p:nvPr/>
        </p:nvSpPr>
        <p:spPr>
          <a:xfrm>
            <a:off x="3573934" y="5303531"/>
            <a:ext cx="28001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04 </a:t>
            </a:r>
            <a:r>
              <a:rPr kumimoji="1" lang="zh-CN" altLang="en-US" sz="22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全链路异步</a:t>
            </a:r>
            <a:endParaRPr kumimoji="1" lang="zh-CN" altLang="en-US" sz="2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294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6E24FF3-C617-44E8-B8E8-392D38150ED2}"/>
              </a:ext>
            </a:extLst>
          </p:cNvPr>
          <p:cNvSpPr txBox="1">
            <a:spLocks/>
          </p:cNvSpPr>
          <p:nvPr/>
        </p:nvSpPr>
        <p:spPr>
          <a:xfrm>
            <a:off x="410185" y="1090028"/>
            <a:ext cx="10740640" cy="42716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b="1" dirty="0">
                <a:solidFill>
                  <a:srgbClr val="A50021"/>
                </a:solidFill>
                <a:latin typeface="微软雅黑"/>
                <a:ea typeface="微软雅黑"/>
                <a:cs typeface="Arial" panose="020B0604020202020204" pitchFamily="34" charset="0"/>
              </a:rPr>
              <a:t>目标：仓颉微服务开发套件基础功能构筑，提供业界第二选择</a:t>
            </a:r>
            <a:endParaRPr lang="en-US" sz="2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4A29444-6B51-47DD-B98B-9079B9B81633}"/>
              </a:ext>
            </a:extLst>
          </p:cNvPr>
          <p:cNvGrpSpPr/>
          <p:nvPr/>
        </p:nvGrpSpPr>
        <p:grpSpPr>
          <a:xfrm>
            <a:off x="418154" y="1643744"/>
            <a:ext cx="4819602" cy="4891237"/>
            <a:chOff x="333991" y="1050262"/>
            <a:chExt cx="6097128" cy="525185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0E08B00-78F7-4623-8F89-61A3858F141A}"/>
                </a:ext>
              </a:extLst>
            </p:cNvPr>
            <p:cNvSpPr/>
            <p:nvPr/>
          </p:nvSpPr>
          <p:spPr bwMode="auto">
            <a:xfrm>
              <a:off x="333991" y="1062414"/>
              <a:ext cx="3034290" cy="5239704"/>
            </a:xfrm>
            <a:prstGeom prst="rect">
              <a:avLst/>
            </a:prstGeom>
            <a:noFill/>
            <a:ln>
              <a:solidFill>
                <a:schemeClr val="bg1">
                  <a:lumMod val="40000"/>
                  <a:lumOff val="60000"/>
                </a:schemeClr>
              </a:solidFill>
              <a:prstDash val="lgDash"/>
            </a:ln>
            <a:effectLst/>
          </p:spPr>
          <p:txBody>
            <a:bodyPr vert="horz" wrap="square" lIns="91260" tIns="45630" rIns="91260" bIns="45630" numCol="1" rtlCol="0" anchor="t" anchorCtr="0" compatLnSpc="1">
              <a:prstTxWarp prst="textNoShape">
                <a:avLst/>
              </a:prstTxWarp>
            </a:bodyPr>
            <a:lstStyle/>
            <a:p>
              <a:pPr defTabSz="912573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defRPr/>
              </a:pPr>
              <a:r>
                <a:rPr lang="en-US" altLang="zh-CN" sz="1000" kern="0" dirty="0">
                  <a:solidFill>
                    <a:srgbClr val="1D1D1A"/>
                  </a:solidFill>
                  <a:latin typeface="微软雅黑"/>
                  <a:ea typeface="微软雅黑"/>
                </a:rPr>
                <a:t>Spring Cloud </a:t>
              </a:r>
              <a:r>
                <a:rPr lang="zh-CN" altLang="en-US" sz="1000" kern="0" dirty="0">
                  <a:solidFill>
                    <a:srgbClr val="1D1D1A"/>
                  </a:solidFill>
                  <a:latin typeface="微软雅黑"/>
                  <a:ea typeface="微软雅黑"/>
                </a:rPr>
                <a:t>微服务框架</a:t>
              </a:r>
              <a:endParaRPr lang="en-US" altLang="zh-CN" sz="1000" kern="0" dirty="0">
                <a:solidFill>
                  <a:srgbClr val="1D1D1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50324D4-55C5-4513-82BE-DF9493677721}"/>
                </a:ext>
              </a:extLst>
            </p:cNvPr>
            <p:cNvSpPr/>
            <p:nvPr/>
          </p:nvSpPr>
          <p:spPr bwMode="auto">
            <a:xfrm>
              <a:off x="449062" y="1696402"/>
              <a:ext cx="2791626" cy="411364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40000"/>
                  <a:lumOff val="60000"/>
                </a:schemeClr>
              </a:solidFill>
              <a:prstDash val="lgDash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260" tIns="45630" rIns="91260" bIns="4563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2573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defRPr/>
              </a:pPr>
              <a:r>
                <a:rPr lang="en-US" altLang="zh-CN" sz="1050" b="1" kern="0" dirty="0">
                  <a:solidFill>
                    <a:srgbClr val="1D1D1A"/>
                  </a:solidFill>
                  <a:latin typeface="微软雅黑"/>
                  <a:ea typeface="微软雅黑"/>
                </a:rPr>
                <a:t>Spring boot </a:t>
              </a:r>
              <a:r>
                <a:rPr lang="zh-CN" altLang="en-US" sz="1050" b="1" kern="0" dirty="0">
                  <a:solidFill>
                    <a:srgbClr val="1D1D1A"/>
                  </a:solidFill>
                  <a:latin typeface="微软雅黑"/>
                  <a:ea typeface="微软雅黑"/>
                </a:rPr>
                <a:t>开发套件</a:t>
              </a:r>
              <a:r>
                <a:rPr lang="en-US" altLang="zh-CN" sz="1050" b="1" kern="0" dirty="0">
                  <a:solidFill>
                    <a:srgbClr val="1D1D1A"/>
                  </a:solidFill>
                  <a:latin typeface="微软雅黑"/>
                  <a:ea typeface="微软雅黑"/>
                </a:rPr>
                <a:t>(</a:t>
              </a:r>
              <a:r>
                <a:rPr lang="zh-CN" altLang="en-US" sz="1050" b="1" kern="0" dirty="0">
                  <a:solidFill>
                    <a:srgbClr val="1D1D1A"/>
                  </a:solidFill>
                  <a:latin typeface="微软雅黑"/>
                  <a:ea typeface="微软雅黑"/>
                </a:rPr>
                <a:t>核心组件</a:t>
              </a:r>
              <a:r>
                <a:rPr lang="en-US" altLang="zh-CN" sz="1050" b="1" kern="0" dirty="0">
                  <a:solidFill>
                    <a:srgbClr val="1D1D1A"/>
                  </a:solidFill>
                  <a:latin typeface="微软雅黑"/>
                  <a:ea typeface="微软雅黑"/>
                </a:rPr>
                <a:t>)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CA7517B-7721-4EE2-B447-F1CFF14F4668}"/>
                </a:ext>
              </a:extLst>
            </p:cNvPr>
            <p:cNvSpPr/>
            <p:nvPr/>
          </p:nvSpPr>
          <p:spPr bwMode="auto">
            <a:xfrm>
              <a:off x="3651800" y="5863023"/>
              <a:ext cx="2664246" cy="318544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>
              <a:solidFill>
                <a:schemeClr val="tx1"/>
              </a:solidFill>
              <a:prstDash val="lgDash"/>
            </a:ln>
            <a:effectLst/>
          </p:spPr>
          <p:txBody>
            <a:bodyPr vert="horz" wrap="square" lIns="91260" tIns="45630" rIns="91260" bIns="4563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2651">
                <a:defRPr/>
              </a:pPr>
              <a:r>
                <a:rPr kumimoji="1" lang="zh-CN" altLang="en-US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/>
                </a:rPr>
                <a:t>仓颉虚拟机</a:t>
              </a:r>
              <a:r>
                <a:rPr kumimoji="1" lang="en-US" altLang="zh-CN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/>
                </a:rPr>
                <a:t>/</a:t>
              </a:r>
              <a:r>
                <a:rPr kumimoji="1" lang="zh-CN" altLang="en-US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/>
                </a:rPr>
                <a:t>运行时</a:t>
              </a:r>
              <a:r>
                <a:rPr kumimoji="1" lang="en-US" altLang="zh-CN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/>
                </a:rPr>
                <a:t>/</a:t>
              </a:r>
              <a:r>
                <a:rPr kumimoji="1" lang="zh-CN" altLang="en-US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/>
                </a:rPr>
                <a:t>工具链</a:t>
              </a:r>
              <a:r>
                <a:rPr kumimoji="1" lang="en-US" altLang="zh-CN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/>
                </a:rPr>
                <a:t>/</a:t>
              </a:r>
              <a:r>
                <a:rPr kumimoji="1" lang="zh-CN" altLang="en-US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/>
                </a:rPr>
                <a:t>标准库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1B0E189-93C4-4F0C-B58D-AA282178ADD5}"/>
                </a:ext>
              </a:extLst>
            </p:cNvPr>
            <p:cNvSpPr/>
            <p:nvPr/>
          </p:nvSpPr>
          <p:spPr bwMode="auto">
            <a:xfrm>
              <a:off x="3651800" y="1696402"/>
              <a:ext cx="2664246" cy="4113648"/>
            </a:xfrm>
            <a:prstGeom prst="rect">
              <a:avLst/>
            </a:prstGeom>
            <a:solidFill>
              <a:srgbClr val="CCE5FF"/>
            </a:solidFill>
            <a:ln>
              <a:solidFill>
                <a:schemeClr val="bg1">
                  <a:lumMod val="40000"/>
                  <a:lumOff val="60000"/>
                </a:schemeClr>
              </a:solidFill>
              <a:prstDash val="lgDash"/>
            </a:ln>
            <a:effectLst/>
          </p:spPr>
          <p:txBody>
            <a:bodyPr vert="horz" wrap="square" lIns="91260" tIns="45630" rIns="91260" bIns="4563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2573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defRPr/>
              </a:pPr>
              <a:r>
                <a:rPr lang="zh-CN" altLang="en-US" sz="1050" b="1" kern="0" dirty="0">
                  <a:solidFill>
                    <a:srgbClr val="1D1D1A"/>
                  </a:solidFill>
                  <a:latin typeface="微软雅黑"/>
                  <a:ea typeface="微软雅黑"/>
                </a:rPr>
                <a:t>神农开发套件</a:t>
              </a:r>
              <a:r>
                <a:rPr lang="en-US" altLang="zh-CN" sz="1050" b="1" kern="0" dirty="0">
                  <a:solidFill>
                    <a:srgbClr val="1D1D1A"/>
                  </a:solidFill>
                  <a:latin typeface="微软雅黑"/>
                  <a:ea typeface="微软雅黑"/>
                </a:rPr>
                <a:t>(</a:t>
              </a:r>
              <a:r>
                <a:rPr lang="zh-CN" altLang="en-US" sz="1050" b="1" kern="0" dirty="0">
                  <a:solidFill>
                    <a:srgbClr val="1D1D1A"/>
                  </a:solidFill>
                  <a:latin typeface="微软雅黑"/>
                  <a:ea typeface="微软雅黑"/>
                </a:rPr>
                <a:t>核心组件</a:t>
              </a:r>
              <a:r>
                <a:rPr lang="en-US" altLang="zh-CN" sz="1050" b="1" kern="0" dirty="0">
                  <a:solidFill>
                    <a:srgbClr val="1D1D1A"/>
                  </a:solidFill>
                  <a:latin typeface="微软雅黑"/>
                  <a:ea typeface="微软雅黑"/>
                </a:rPr>
                <a:t>)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6DEE627-389A-43A5-97D5-6DC5CD3DD98A}"/>
                </a:ext>
              </a:extLst>
            </p:cNvPr>
            <p:cNvSpPr txBox="1"/>
            <p:nvPr/>
          </p:nvSpPr>
          <p:spPr>
            <a:xfrm>
              <a:off x="3785048" y="2071744"/>
              <a:ext cx="2401956" cy="287776"/>
            </a:xfrm>
            <a:prstGeom prst="rect">
              <a:avLst/>
            </a:prstGeom>
            <a:solidFill>
              <a:srgbClr val="E2F0D9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 anchor="ctr">
              <a:noAutofit/>
            </a:bodyPr>
            <a:lstStyle>
              <a:defPPr>
                <a:defRPr lang="en-US"/>
              </a:defPPr>
              <a:lvl1pPr algn="ctr" defTabSz="913746">
                <a:defRPr kumimoji="1"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defTabSz="912286">
                <a:defRPr/>
              </a:pPr>
              <a:r>
                <a:rPr lang="zh-CN" altLang="en-US" sz="800" dirty="0"/>
                <a:t>   神农</a:t>
              </a:r>
              <a:r>
                <a:rPr lang="en-US" altLang="zh-CN" sz="800" dirty="0"/>
                <a:t>-</a:t>
              </a:r>
              <a:r>
                <a:rPr lang="zh-CN" altLang="en-US" sz="800" dirty="0"/>
                <a:t>仓颉编程框架</a:t>
              </a: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7618C7E-9B31-4B85-A57C-110FF174D25B}"/>
                </a:ext>
              </a:extLst>
            </p:cNvPr>
            <p:cNvGrpSpPr/>
            <p:nvPr/>
          </p:nvGrpSpPr>
          <p:grpSpPr>
            <a:xfrm>
              <a:off x="3785045" y="2477482"/>
              <a:ext cx="2368521" cy="932332"/>
              <a:chOff x="5595075" y="1875918"/>
              <a:chExt cx="1457843" cy="900875"/>
            </a:xfrm>
          </p:grpSpPr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8AB5D523-90E1-4D1B-BC46-7BAD47559AC3}"/>
                  </a:ext>
                </a:extLst>
              </p:cNvPr>
              <p:cNvSpPr txBox="1"/>
              <p:nvPr/>
            </p:nvSpPr>
            <p:spPr>
              <a:xfrm>
                <a:off x="5633611" y="2102280"/>
                <a:ext cx="1368000" cy="288000"/>
              </a:xfrm>
              <a:prstGeom prst="rect">
                <a:avLst/>
              </a:prstGeom>
              <a:solidFill>
                <a:srgbClr val="E2F0D9"/>
              </a:solidFill>
              <a:ln>
                <a:solidFill>
                  <a:schemeClr val="bg2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>
                <a:defPPr>
                  <a:defRPr lang="en-US"/>
                </a:defPPr>
                <a:lvl1pPr algn="ctr" defTabSz="913746">
                  <a:defRPr kumimoji="1" sz="900" b="1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defTabSz="912286">
                  <a:defRPr/>
                </a:pPr>
                <a:r>
                  <a:rPr lang="zh-CN" altLang="en-US" sz="800" dirty="0"/>
                  <a:t>   神农</a:t>
                </a:r>
                <a:r>
                  <a:rPr lang="en-US" altLang="zh-CN" sz="800" dirty="0"/>
                  <a:t>-</a:t>
                </a:r>
                <a:r>
                  <a:rPr lang="zh-CN" altLang="en-US" sz="800" dirty="0"/>
                  <a:t>仓颉</a:t>
                </a:r>
                <a:r>
                  <a:rPr lang="en-US" altLang="zh-CN" sz="800" dirty="0"/>
                  <a:t>REST</a:t>
                </a:r>
                <a:r>
                  <a:rPr lang="zh-CN" altLang="en-US" sz="800" dirty="0"/>
                  <a:t>组件</a:t>
                </a: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6336413F-82AE-4524-8E04-7B403C0586AC}"/>
                  </a:ext>
                </a:extLst>
              </p:cNvPr>
              <p:cNvSpPr txBox="1"/>
              <p:nvPr/>
            </p:nvSpPr>
            <p:spPr>
              <a:xfrm>
                <a:off x="5636232" y="2447161"/>
                <a:ext cx="1368000" cy="288000"/>
              </a:xfrm>
              <a:prstGeom prst="rect">
                <a:avLst/>
              </a:prstGeom>
              <a:solidFill>
                <a:srgbClr val="E2F0D9"/>
              </a:solidFill>
              <a:ln>
                <a:solidFill>
                  <a:schemeClr val="bg2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>
                <a:defPPr>
                  <a:defRPr lang="zh-CN"/>
                </a:defPPr>
                <a:lvl1pPr defTabSz="913016">
                  <a:defRPr kumimoji="1" sz="900" b="1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algn="ctr" defTabSz="912286"/>
                <a:r>
                  <a:rPr lang="zh-CN" altLang="en-US" sz="800" dirty="0"/>
                  <a:t>  神农</a:t>
                </a:r>
                <a:r>
                  <a:rPr lang="en-US" altLang="zh-CN" sz="800" dirty="0"/>
                  <a:t>-</a:t>
                </a:r>
                <a:r>
                  <a:rPr lang="zh-CN" altLang="en-US" sz="800" dirty="0"/>
                  <a:t>仓颉</a:t>
                </a:r>
                <a:r>
                  <a:rPr lang="en-US" altLang="zh-CN" sz="800" dirty="0"/>
                  <a:t>RPC</a:t>
                </a:r>
                <a:r>
                  <a:rPr lang="zh-CN" altLang="en-US" sz="800" dirty="0"/>
                  <a:t>组件</a:t>
                </a:r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8D01A21F-8028-4CB4-B249-88F487AD6792}"/>
                  </a:ext>
                </a:extLst>
              </p:cNvPr>
              <p:cNvSpPr/>
              <p:nvPr/>
            </p:nvSpPr>
            <p:spPr>
              <a:xfrm>
                <a:off x="5595075" y="1891932"/>
                <a:ext cx="1457843" cy="884861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3668"/>
                <a:endParaRPr lang="zh-CN" altLang="en-US" sz="900">
                  <a:solidFill>
                    <a:srgbClr val="666666"/>
                  </a:solidFill>
                  <a:latin typeface="Arial"/>
                  <a:ea typeface="微软雅黑"/>
                </a:endParaRPr>
              </a:p>
            </p:txBody>
          </p:sp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D7BFF68E-3CC1-4D8C-BC35-536555F61668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784663" y="1875918"/>
                <a:ext cx="1065895" cy="2019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>
                <a:defPPr>
                  <a:defRPr lang="zh-CN"/>
                </a:defPPr>
                <a:lvl1pPr algn="ctr" defTabSz="914112">
                  <a:defRPr kumimoji="1" sz="100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defRPr>
                </a:lvl1pPr>
              </a:lstStyle>
              <a:p>
                <a:pPr defTabSz="912286">
                  <a:defRPr/>
                </a:pPr>
                <a:r>
                  <a:rPr lang="zh-CN" altLang="en-US" sz="9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接口开放层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F472EDE0-C44B-4AF9-A63D-71BEE9BFFDF3}"/>
                </a:ext>
              </a:extLst>
            </p:cNvPr>
            <p:cNvGrpSpPr/>
            <p:nvPr/>
          </p:nvGrpSpPr>
          <p:grpSpPr>
            <a:xfrm>
              <a:off x="3785049" y="3517944"/>
              <a:ext cx="2359574" cy="1289804"/>
              <a:chOff x="3729764" y="3560292"/>
              <a:chExt cx="2432125" cy="1290813"/>
            </a:xfrm>
          </p:grpSpPr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EA85DB99-FEFD-457E-B5DD-8F1834F266F0}"/>
                  </a:ext>
                </a:extLst>
              </p:cNvPr>
              <p:cNvSpPr txBox="1"/>
              <p:nvPr/>
            </p:nvSpPr>
            <p:spPr>
              <a:xfrm>
                <a:off x="3822480" y="3742984"/>
                <a:ext cx="2246692" cy="2880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>
                <a:defPPr>
                  <a:defRPr lang="zh-CN"/>
                </a:defPPr>
                <a:lvl1pPr algn="ctr" defTabSz="914112">
                  <a:defRPr kumimoji="1" sz="100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defRPr>
                </a:lvl1pPr>
              </a:lstStyle>
              <a:p>
                <a:pPr defTabSz="912286">
                  <a:defRPr/>
                </a:pPr>
                <a:r>
                  <a:rPr lang="zh-CN" altLang="en-US" sz="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神农</a:t>
                </a:r>
                <a:r>
                  <a:rPr lang="en-US" altLang="zh-CN" sz="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</a:t>
                </a:r>
                <a:r>
                  <a:rPr lang="zh-CN" altLang="en-US" sz="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分布式协调软件</a:t>
                </a:r>
                <a:r>
                  <a:rPr lang="en-US" altLang="zh-CN" sz="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(LSK)</a:t>
                </a:r>
                <a:endPara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B45D0A03-5DA3-426F-A364-84A55B3E1068}"/>
                  </a:ext>
                </a:extLst>
              </p:cNvPr>
              <p:cNvSpPr txBox="1"/>
              <p:nvPr/>
            </p:nvSpPr>
            <p:spPr>
              <a:xfrm>
                <a:off x="5449739" y="4460348"/>
                <a:ext cx="635452" cy="278989"/>
              </a:xfrm>
              <a:prstGeom prst="rect">
                <a:avLst/>
              </a:prstGeom>
              <a:solidFill>
                <a:srgbClr val="E2F0D9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912286">
                  <a:defRPr/>
                </a:pPr>
                <a:r>
                  <a:rPr kumimoji="1" lang="zh-CN" altLang="en-US" sz="6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/>
                  </a:rPr>
                  <a:t>仓颉高斯驱动</a:t>
                </a:r>
                <a:endParaRPr kumimoji="1" lang="en-US" altLang="zh-CN" sz="6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/>
                </a:endParaRP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7A2BB060-3EB2-4FC8-BDF0-B54C39826C93}"/>
                  </a:ext>
                </a:extLst>
              </p:cNvPr>
              <p:cNvSpPr txBox="1"/>
              <p:nvPr/>
            </p:nvSpPr>
            <p:spPr>
              <a:xfrm>
                <a:off x="3824427" y="4119183"/>
                <a:ext cx="2266170" cy="288000"/>
              </a:xfrm>
              <a:prstGeom prst="rect">
                <a:avLst/>
              </a:prstGeom>
              <a:solidFill>
                <a:srgbClr val="E2F0D9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>
                <a:defPPr>
                  <a:defRPr lang="zh-CN"/>
                </a:defPPr>
                <a:lvl1pPr algn="ctr" defTabSz="914112">
                  <a:defRPr kumimoji="1" sz="100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defRPr>
                </a:lvl1pPr>
              </a:lstStyle>
              <a:p>
                <a:pPr defTabSz="912286">
                  <a:defRPr/>
                </a:pPr>
                <a:r>
                  <a:rPr lang="zh-CN" altLang="en-US" sz="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神农</a:t>
                </a:r>
                <a:r>
                  <a:rPr lang="en-US" altLang="zh-CN" sz="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</a:t>
                </a:r>
                <a:r>
                  <a:rPr lang="zh-CN" altLang="en-US" sz="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仓颉分布式缓存客户端</a:t>
                </a:r>
                <a:endPara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7AE79AA4-418F-4CF1-B4A9-839C037EB3A2}"/>
                  </a:ext>
                </a:extLst>
              </p:cNvPr>
              <p:cNvSpPr txBox="1"/>
              <p:nvPr/>
            </p:nvSpPr>
            <p:spPr>
              <a:xfrm>
                <a:off x="3819178" y="4451337"/>
                <a:ext cx="1587017" cy="288000"/>
              </a:xfrm>
              <a:prstGeom prst="rect">
                <a:avLst/>
              </a:prstGeom>
              <a:solidFill>
                <a:srgbClr val="E2F0D9"/>
              </a:solidFill>
              <a:ln>
                <a:solidFill>
                  <a:schemeClr val="bg2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>
                <a:defPPr>
                  <a:defRPr lang="en-US"/>
                </a:defPPr>
                <a:lvl1pPr algn="ctr" defTabSz="913746">
                  <a:defRPr kumimoji="1" sz="900" b="1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defTabSz="912286">
                  <a:defRPr/>
                </a:pPr>
                <a:r>
                  <a:rPr lang="zh-CN" altLang="en-US" sz="800" dirty="0"/>
                  <a:t>神农</a:t>
                </a:r>
                <a:r>
                  <a:rPr lang="en-US" altLang="zh-CN" sz="800" dirty="0"/>
                  <a:t>-</a:t>
                </a:r>
                <a:r>
                  <a:rPr lang="zh-CN" altLang="en-US" sz="800" dirty="0"/>
                  <a:t>仓颉数据库中间件</a:t>
                </a:r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87BE44E5-15A5-4A70-9807-64BDEF369079}"/>
                  </a:ext>
                </a:extLst>
              </p:cNvPr>
              <p:cNvSpPr/>
              <p:nvPr/>
            </p:nvSpPr>
            <p:spPr>
              <a:xfrm>
                <a:off x="3729764" y="3583888"/>
                <a:ext cx="2432125" cy="126721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3668"/>
                <a:endParaRPr lang="zh-CN" altLang="en-US" sz="900">
                  <a:solidFill>
                    <a:srgbClr val="666666"/>
                  </a:solidFill>
                  <a:latin typeface="Arial"/>
                  <a:ea typeface="微软雅黑"/>
                </a:endParaRPr>
              </a:p>
            </p:txBody>
          </p:sp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56570C9E-435F-417D-9FB3-D4A8C246842A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4220556" y="3560292"/>
                <a:ext cx="1477895" cy="2019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>
                <a:defPPr>
                  <a:defRPr lang="zh-CN"/>
                </a:defPPr>
                <a:lvl1pPr algn="ctr" defTabSz="914112">
                  <a:defRPr kumimoji="1" sz="100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defRPr>
                </a:lvl1pPr>
              </a:lstStyle>
              <a:p>
                <a:pPr defTabSz="912286">
                  <a:defRPr/>
                </a:pPr>
                <a:r>
                  <a:rPr lang="zh-CN" altLang="en-US" sz="9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数据访问层</a:t>
                </a: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85E4DAD1-AD75-4C7D-B651-05005CD96633}"/>
                </a:ext>
              </a:extLst>
            </p:cNvPr>
            <p:cNvGrpSpPr/>
            <p:nvPr/>
          </p:nvGrpSpPr>
          <p:grpSpPr>
            <a:xfrm>
              <a:off x="3799088" y="4930256"/>
              <a:ext cx="2359574" cy="569992"/>
              <a:chOff x="5006361" y="6145538"/>
              <a:chExt cx="2432125" cy="570438"/>
            </a:xfrm>
          </p:grpSpPr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D832ACAE-5B59-4B5D-A358-BC698BA5B337}"/>
                  </a:ext>
                </a:extLst>
              </p:cNvPr>
              <p:cNvSpPr txBox="1"/>
              <p:nvPr/>
            </p:nvSpPr>
            <p:spPr>
              <a:xfrm>
                <a:off x="5058751" y="6381487"/>
                <a:ext cx="1111623" cy="288000"/>
              </a:xfrm>
              <a:prstGeom prst="rect">
                <a:avLst/>
              </a:prstGeom>
              <a:solidFill>
                <a:srgbClr val="E2F0D9"/>
              </a:solidFill>
              <a:ln>
                <a:solidFill>
                  <a:schemeClr val="bg2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>
                <a:defPPr>
                  <a:defRPr lang="en-US"/>
                </a:defPPr>
                <a:lvl1pPr algn="ctr" defTabSz="913746">
                  <a:defRPr kumimoji="1" sz="900" b="1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defTabSz="912286">
                  <a:defRPr/>
                </a:pPr>
                <a:r>
                  <a:rPr lang="zh-CN" altLang="en-US" sz="800" dirty="0"/>
                  <a:t>神农</a:t>
                </a:r>
                <a:r>
                  <a:rPr lang="en-US" altLang="zh-CN" sz="800" dirty="0"/>
                  <a:t>-</a:t>
                </a:r>
                <a:r>
                  <a:rPr lang="zh-CN" altLang="en-US" sz="800" dirty="0"/>
                  <a:t>仓颉</a:t>
                </a:r>
                <a:r>
                  <a:rPr lang="en-US" altLang="zh-CN" sz="800" dirty="0"/>
                  <a:t>WEB</a:t>
                </a:r>
                <a:r>
                  <a:rPr lang="zh-CN" altLang="en-US" sz="800" dirty="0"/>
                  <a:t>容器</a:t>
                </a:r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53BE60B7-6FB4-4EF6-B803-D83159D133AB}"/>
                  </a:ext>
                </a:extLst>
              </p:cNvPr>
              <p:cNvSpPr/>
              <p:nvPr/>
            </p:nvSpPr>
            <p:spPr>
              <a:xfrm>
                <a:off x="5006361" y="6145538"/>
                <a:ext cx="2432125" cy="570438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3668"/>
                <a:endParaRPr lang="zh-CN" altLang="en-US" sz="900">
                  <a:solidFill>
                    <a:srgbClr val="666666"/>
                  </a:solidFill>
                  <a:latin typeface="Arial"/>
                  <a:ea typeface="微软雅黑"/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6A159F65-515D-47D2-81C9-BB9D1D019EED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737491" y="6172851"/>
                <a:ext cx="991771" cy="2019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>
                <a:defPPr>
                  <a:defRPr lang="zh-CN"/>
                </a:defPPr>
                <a:lvl1pPr algn="ctr" defTabSz="914112">
                  <a:defRPr kumimoji="1" sz="100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defRPr>
                </a:lvl1pPr>
              </a:lstStyle>
              <a:p>
                <a:pPr defTabSz="912286">
                  <a:defRPr/>
                </a:pPr>
                <a:r>
                  <a:rPr lang="en-US" altLang="zh-CN" sz="9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WEB</a:t>
                </a:r>
                <a:r>
                  <a:rPr lang="zh-CN" altLang="en-US" sz="9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容器</a:t>
                </a:r>
              </a:p>
            </p:txBody>
          </p: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95D6F0CD-FB95-4C68-AE7D-AEF8B4711DD6}"/>
                  </a:ext>
                </a:extLst>
              </p:cNvPr>
              <p:cNvSpPr txBox="1"/>
              <p:nvPr/>
            </p:nvSpPr>
            <p:spPr>
              <a:xfrm>
                <a:off x="6274169" y="6372022"/>
                <a:ext cx="1111623" cy="288000"/>
              </a:xfrm>
              <a:prstGeom prst="rect">
                <a:avLst/>
              </a:prstGeom>
              <a:solidFill>
                <a:srgbClr val="E2F0D9"/>
              </a:solidFill>
              <a:ln>
                <a:solidFill>
                  <a:schemeClr val="bg2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>
                <a:defPPr>
                  <a:defRPr lang="en-US"/>
                </a:defPPr>
                <a:lvl1pPr algn="ctr" defTabSz="913746">
                  <a:defRPr kumimoji="1" sz="900" b="1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defTabSz="912286">
                  <a:defRPr/>
                </a:pPr>
                <a:r>
                  <a:rPr lang="zh-CN" altLang="en-US" sz="800" dirty="0"/>
                  <a:t>神农</a:t>
                </a:r>
                <a:r>
                  <a:rPr lang="en-US" altLang="zh-CN" sz="800" dirty="0"/>
                  <a:t>-</a:t>
                </a:r>
                <a:r>
                  <a:rPr lang="zh-CN" altLang="en-US" sz="800" dirty="0"/>
                  <a:t>仓颉</a:t>
                </a:r>
                <a:r>
                  <a:rPr lang="en-US" altLang="zh-CN" sz="800" dirty="0"/>
                  <a:t>HTTP</a:t>
                </a:r>
                <a:r>
                  <a:rPr lang="zh-CN" altLang="en-US" sz="800" dirty="0"/>
                  <a:t>组件</a:t>
                </a: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11166B1-F6F8-4B67-9A6D-5E570EB04F78}"/>
                </a:ext>
              </a:extLst>
            </p:cNvPr>
            <p:cNvSpPr txBox="1"/>
            <p:nvPr/>
          </p:nvSpPr>
          <p:spPr>
            <a:xfrm>
              <a:off x="576440" y="2031007"/>
              <a:ext cx="2455827" cy="2809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 anchor="ctr">
              <a:noAutofit/>
            </a:bodyPr>
            <a:lstStyle>
              <a:defPPr>
                <a:defRPr lang="en-US"/>
              </a:defPPr>
              <a:lvl1pPr algn="ctr" defTabSz="913746">
                <a:defRPr kumimoji="1"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defTabSz="912286">
                <a:defRPr/>
              </a:pPr>
              <a:r>
                <a:rPr lang="zh-CN" altLang="en-US" sz="800" dirty="0"/>
                <a:t>   编程框架</a:t>
              </a:r>
              <a:r>
                <a:rPr lang="en-US" altLang="zh-CN" sz="800" dirty="0"/>
                <a:t>Spring Framework</a:t>
              </a:r>
              <a:endParaRPr lang="zh-CN" altLang="en-US" sz="800" dirty="0"/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EADD99C3-9244-4797-B39A-50097A2F9521}"/>
                </a:ext>
              </a:extLst>
            </p:cNvPr>
            <p:cNvGrpSpPr/>
            <p:nvPr/>
          </p:nvGrpSpPr>
          <p:grpSpPr>
            <a:xfrm>
              <a:off x="627818" y="2464752"/>
              <a:ext cx="2368521" cy="861691"/>
              <a:chOff x="5595075" y="1914428"/>
              <a:chExt cx="1457843" cy="862366"/>
            </a:xfrm>
          </p:grpSpPr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88F7DD4E-B160-44D4-B424-828E61CD92EA}"/>
                  </a:ext>
                </a:extLst>
              </p:cNvPr>
              <p:cNvSpPr txBox="1"/>
              <p:nvPr/>
            </p:nvSpPr>
            <p:spPr>
              <a:xfrm>
                <a:off x="5633611" y="2102280"/>
                <a:ext cx="1368000" cy="28800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>
                <a:defPPr>
                  <a:defRPr lang="en-US"/>
                </a:defPPr>
                <a:lvl1pPr algn="ctr" defTabSz="913746">
                  <a:defRPr kumimoji="1" sz="900" b="1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defTabSz="912286">
                  <a:defRPr/>
                </a:pPr>
                <a:r>
                  <a:rPr lang="en-US" altLang="zh-CN" sz="800" dirty="0"/>
                  <a:t>REST</a:t>
                </a:r>
                <a:r>
                  <a:rPr lang="zh-CN" altLang="en-US" sz="800" dirty="0"/>
                  <a:t>通信组件</a:t>
                </a:r>
                <a:r>
                  <a:rPr lang="en-US" altLang="zh-CN" sz="800" dirty="0"/>
                  <a:t>Jersey</a:t>
                </a:r>
                <a:endParaRPr lang="zh-CN" altLang="en-US" sz="800" dirty="0"/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6B6420D7-8EAA-4957-8DF6-5FFA8AC3FDBD}"/>
                  </a:ext>
                </a:extLst>
              </p:cNvPr>
              <p:cNvSpPr txBox="1"/>
              <p:nvPr/>
            </p:nvSpPr>
            <p:spPr>
              <a:xfrm>
                <a:off x="5636232" y="2447161"/>
                <a:ext cx="1368000" cy="28800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>
                <a:defPPr>
                  <a:defRPr lang="zh-CN"/>
                </a:defPPr>
                <a:lvl1pPr defTabSz="913016">
                  <a:defRPr kumimoji="1" sz="900" b="1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algn="ctr" defTabSz="912286"/>
                <a:r>
                  <a:rPr lang="en-US" altLang="zh-CN" sz="800" dirty="0"/>
                  <a:t>RPC</a:t>
                </a:r>
                <a:r>
                  <a:rPr lang="zh-CN" altLang="en-US" sz="800" dirty="0"/>
                  <a:t>通信组件</a:t>
                </a:r>
                <a:r>
                  <a:rPr lang="en-US" altLang="zh-CN" sz="800" dirty="0" err="1"/>
                  <a:t>gRPC</a:t>
                </a:r>
                <a:r>
                  <a:rPr lang="en-US" altLang="zh-CN" sz="800" dirty="0"/>
                  <a:t>-java</a:t>
                </a:r>
                <a:endParaRPr lang="zh-CN" altLang="en-US" sz="800" dirty="0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9D08ED30-5018-4CA1-8BF3-79594CD5EA48}"/>
                  </a:ext>
                </a:extLst>
              </p:cNvPr>
              <p:cNvSpPr/>
              <p:nvPr/>
            </p:nvSpPr>
            <p:spPr>
              <a:xfrm>
                <a:off x="5595075" y="1921114"/>
                <a:ext cx="1457843" cy="855680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3668"/>
                <a:endParaRPr lang="zh-CN" altLang="en-US" sz="900">
                  <a:solidFill>
                    <a:srgbClr val="666666"/>
                  </a:solidFill>
                  <a:latin typeface="Arial"/>
                  <a:ea typeface="微软雅黑"/>
                </a:endParaRPr>
              </a:p>
            </p:txBody>
          </p: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29C28E37-C7C8-4290-B587-43EFC8313655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770377" y="1914428"/>
                <a:ext cx="1065895" cy="2019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>
                <a:defPPr>
                  <a:defRPr lang="zh-CN"/>
                </a:defPPr>
                <a:lvl1pPr algn="ctr" defTabSz="914112">
                  <a:defRPr kumimoji="1" sz="100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defRPr>
                </a:lvl1pPr>
              </a:lstStyle>
              <a:p>
                <a:pPr defTabSz="912286">
                  <a:defRPr/>
                </a:pPr>
                <a:r>
                  <a:rPr lang="zh-CN" altLang="en-US" sz="9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接口开放层</a:t>
                </a: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80CFE1D1-0354-4A9B-91AC-5A6EEE3ED354}"/>
                </a:ext>
              </a:extLst>
            </p:cNvPr>
            <p:cNvGrpSpPr/>
            <p:nvPr/>
          </p:nvGrpSpPr>
          <p:grpSpPr>
            <a:xfrm>
              <a:off x="645232" y="3445646"/>
              <a:ext cx="2359574" cy="1318812"/>
              <a:chOff x="493007" y="3366303"/>
              <a:chExt cx="2432125" cy="1319844"/>
            </a:xfrm>
          </p:grpSpPr>
          <p:sp>
            <p:nvSpPr>
              <p:cNvPr id="39" name="矩形: 圆角 56">
                <a:extLst>
                  <a:ext uri="{FF2B5EF4-FFF2-40B4-BE49-F238E27FC236}">
                    <a16:creationId xmlns:a16="http://schemas.microsoft.com/office/drawing/2014/main" id="{A03A01CC-A94B-41B1-8C43-64204A6B1769}"/>
                  </a:ext>
                </a:extLst>
              </p:cNvPr>
              <p:cNvSpPr/>
              <p:nvPr/>
            </p:nvSpPr>
            <p:spPr>
              <a:xfrm flipH="1">
                <a:off x="564451" y="3603858"/>
                <a:ext cx="2280361" cy="290754"/>
              </a:xfrm>
              <a:prstGeom prst="roundRect">
                <a:avLst>
                  <a:gd name="adj" fmla="val 621"/>
                </a:avLst>
              </a:prstGeom>
              <a:solidFill>
                <a:schemeClr val="bg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224" tIns="45612" rIns="91224" bIns="4561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2286">
                  <a:defRPr/>
                </a:pPr>
                <a:r>
                  <a:rPr lang="zh-CN" altLang="en-US" sz="8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/>
                  </a:rPr>
                  <a:t>分布式协调软件</a:t>
                </a:r>
                <a:r>
                  <a:rPr lang="en-US" altLang="zh-CN" sz="800" b="1" dirty="0" err="1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/>
                  </a:rPr>
                  <a:t>ZooKeeper</a:t>
                </a:r>
                <a:endParaRPr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/>
                </a:endParaRPr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845952C5-90DD-48A4-961D-76DD0484C99D}"/>
                  </a:ext>
                </a:extLst>
              </p:cNvPr>
              <p:cNvSpPr txBox="1"/>
              <p:nvPr/>
            </p:nvSpPr>
            <p:spPr>
              <a:xfrm>
                <a:off x="560280" y="4323572"/>
                <a:ext cx="769765" cy="27612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912286">
                  <a:defRPr/>
                </a:pPr>
                <a:r>
                  <a:rPr kumimoji="1" lang="en-US" altLang="zh-CN" sz="8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/>
                  </a:rPr>
                  <a:t>MySQL</a:t>
                </a:r>
                <a:r>
                  <a:rPr kumimoji="1" lang="zh-CN" altLang="en-US" sz="8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/>
                  </a:rPr>
                  <a:t>驱动</a:t>
                </a:r>
                <a:endParaRPr kumimoji="1" lang="en-US" altLang="zh-CN" sz="8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/>
                </a:endParaRPr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290FD84-BC4D-4F18-83F3-6284879859CB}"/>
                  </a:ext>
                </a:extLst>
              </p:cNvPr>
              <p:cNvSpPr txBox="1"/>
              <p:nvPr/>
            </p:nvSpPr>
            <p:spPr>
              <a:xfrm>
                <a:off x="564451" y="3956675"/>
                <a:ext cx="2277730" cy="288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>
                <a:defPPr>
                  <a:defRPr lang="zh-CN"/>
                </a:defPPr>
                <a:lvl1pPr algn="ctr" defTabSz="914112">
                  <a:defRPr kumimoji="1" sz="100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defRPr>
                </a:lvl1pPr>
              </a:lstStyle>
              <a:p>
                <a:pPr defTabSz="912286">
                  <a:defRPr/>
                </a:pPr>
                <a:r>
                  <a:rPr lang="zh-CN" altLang="en-US" sz="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分布式缓存客户端</a:t>
                </a:r>
                <a:r>
                  <a:rPr lang="en-US" altLang="zh-CN" sz="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Lettuce</a:t>
                </a:r>
                <a:endParaRPr lang="zh-CN" altLang="en-US" sz="8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8DDE9361-53C5-4DFF-BAEB-C60AC6041FF5}"/>
                  </a:ext>
                </a:extLst>
              </p:cNvPr>
              <p:cNvSpPr txBox="1"/>
              <p:nvPr/>
            </p:nvSpPr>
            <p:spPr>
              <a:xfrm>
                <a:off x="1368990" y="4331266"/>
                <a:ext cx="1467403" cy="26347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>
                <a:defPPr>
                  <a:defRPr lang="en-US"/>
                </a:defPPr>
                <a:lvl1pPr algn="ctr" defTabSz="913746">
                  <a:defRPr kumimoji="1" sz="900" b="1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defTabSz="912286">
                  <a:defRPr/>
                </a:pPr>
                <a:r>
                  <a:rPr lang="en-US" altLang="zh-CN" sz="800" dirty="0"/>
                  <a:t>Hibernate/</a:t>
                </a:r>
                <a:r>
                  <a:rPr lang="en-US" altLang="zh-CN" sz="800" dirty="0" err="1"/>
                  <a:t>MyBatis</a:t>
                </a:r>
                <a:endParaRPr lang="zh-CN" altLang="en-US" sz="800" dirty="0"/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1F0B907D-D045-47D0-816F-6971B6842B65}"/>
                  </a:ext>
                </a:extLst>
              </p:cNvPr>
              <p:cNvSpPr/>
              <p:nvPr/>
            </p:nvSpPr>
            <p:spPr>
              <a:xfrm>
                <a:off x="493007" y="3366303"/>
                <a:ext cx="2432125" cy="1319844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3668"/>
                <a:endParaRPr lang="zh-CN" altLang="en-US" sz="900">
                  <a:solidFill>
                    <a:srgbClr val="666666"/>
                  </a:solidFill>
                  <a:latin typeface="Arial"/>
                  <a:ea typeface="微软雅黑"/>
                </a:endParaRP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3EF08086-9D79-4AA4-B955-581E64817DCD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930945" y="3389100"/>
                <a:ext cx="1477895" cy="2019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>
                <a:defPPr>
                  <a:defRPr lang="zh-CN"/>
                </a:defPPr>
                <a:lvl1pPr algn="ctr" defTabSz="914112">
                  <a:defRPr kumimoji="1" sz="100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defRPr>
                </a:lvl1pPr>
              </a:lstStyle>
              <a:p>
                <a:pPr defTabSz="912286">
                  <a:defRPr/>
                </a:pPr>
                <a:r>
                  <a:rPr lang="zh-CN" altLang="en-US" sz="9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数据访问层</a:t>
                </a: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AC681B97-860D-4005-A750-99880B407A21}"/>
                </a:ext>
              </a:extLst>
            </p:cNvPr>
            <p:cNvGrpSpPr/>
            <p:nvPr/>
          </p:nvGrpSpPr>
          <p:grpSpPr>
            <a:xfrm>
              <a:off x="630040" y="4925577"/>
              <a:ext cx="2359574" cy="569992"/>
              <a:chOff x="5006361" y="6145538"/>
              <a:chExt cx="2432125" cy="570438"/>
            </a:xfrm>
          </p:grpSpPr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636CD85D-681E-4446-BA4E-3837D95082C9}"/>
                  </a:ext>
                </a:extLst>
              </p:cNvPr>
              <p:cNvSpPr txBox="1"/>
              <p:nvPr/>
            </p:nvSpPr>
            <p:spPr>
              <a:xfrm>
                <a:off x="5089292" y="6381487"/>
                <a:ext cx="1081082" cy="28800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>
                <a:defPPr>
                  <a:defRPr lang="en-US"/>
                </a:defPPr>
                <a:lvl1pPr algn="ctr" defTabSz="913746">
                  <a:defRPr kumimoji="1" sz="900" b="1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defTabSz="912286">
                  <a:defRPr/>
                </a:pPr>
                <a:r>
                  <a:rPr lang="en-US" altLang="zh-CN" sz="800" dirty="0"/>
                  <a:t>Tomcat/Jetty</a:t>
                </a:r>
                <a:endParaRPr lang="zh-CN" altLang="en-US" sz="800" dirty="0"/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994B5F26-6789-4160-8901-C7DECA439712}"/>
                  </a:ext>
                </a:extLst>
              </p:cNvPr>
              <p:cNvSpPr/>
              <p:nvPr/>
            </p:nvSpPr>
            <p:spPr>
              <a:xfrm>
                <a:off x="5006361" y="6145538"/>
                <a:ext cx="2432125" cy="570438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3668"/>
                <a:endParaRPr lang="zh-CN" altLang="en-US" sz="900">
                  <a:solidFill>
                    <a:srgbClr val="666666"/>
                  </a:solidFill>
                  <a:latin typeface="Arial"/>
                  <a:ea typeface="微软雅黑"/>
                </a:endParaRP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A24CA2B-D78A-4385-9C2E-6478827E1032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766033" y="6172851"/>
                <a:ext cx="991771" cy="2019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>
                <a:defPPr>
                  <a:defRPr lang="zh-CN"/>
                </a:defPPr>
                <a:lvl1pPr algn="ctr" defTabSz="914112">
                  <a:defRPr kumimoji="1" sz="100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defRPr>
                </a:lvl1pPr>
              </a:lstStyle>
              <a:p>
                <a:pPr defTabSz="912286">
                  <a:defRPr/>
                </a:pPr>
                <a:r>
                  <a:rPr lang="en-US" altLang="zh-CN" sz="9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WEB</a:t>
                </a:r>
                <a:r>
                  <a:rPr lang="zh-CN" altLang="en-US" sz="9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容器</a:t>
                </a:r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FD343795-C7D3-437F-8DBC-EDD813A24FBC}"/>
                  </a:ext>
                </a:extLst>
              </p:cNvPr>
              <p:cNvSpPr txBox="1"/>
              <p:nvPr/>
            </p:nvSpPr>
            <p:spPr>
              <a:xfrm>
                <a:off x="6274169" y="6372022"/>
                <a:ext cx="1111623" cy="28800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>
                <a:defPPr>
                  <a:defRPr lang="en-US"/>
                </a:defPPr>
                <a:lvl1pPr algn="ctr" defTabSz="913746">
                  <a:defRPr kumimoji="1" sz="900" b="1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defTabSz="912286">
                  <a:defRPr/>
                </a:pPr>
                <a:r>
                  <a:rPr lang="en-US" altLang="zh-CN" sz="800" dirty="0" err="1">
                    <a:solidFill>
                      <a:srgbClr val="1D1D1A"/>
                    </a:solidFill>
                  </a:rPr>
                  <a:t>HttpComponent</a:t>
                </a:r>
                <a:endParaRPr lang="zh-CN" altLang="en-US" sz="800" dirty="0"/>
              </a:p>
            </p:txBody>
          </p:sp>
        </p:grp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EADAC48-FC4D-4E32-BACB-469305621900}"/>
                </a:ext>
              </a:extLst>
            </p:cNvPr>
            <p:cNvSpPr/>
            <p:nvPr/>
          </p:nvSpPr>
          <p:spPr bwMode="auto">
            <a:xfrm>
              <a:off x="449169" y="5884170"/>
              <a:ext cx="2791518" cy="318544"/>
            </a:xfrm>
            <a:prstGeom prst="rect">
              <a:avLst/>
            </a:prstGeom>
            <a:solidFill>
              <a:schemeClr val="bg1">
                <a:lumMod val="40000"/>
                <a:lumOff val="60000"/>
              </a:schemeClr>
            </a:solidFill>
            <a:ln>
              <a:solidFill>
                <a:schemeClr val="tx1"/>
              </a:solidFill>
              <a:prstDash val="lgDash"/>
            </a:ln>
            <a:effectLst/>
          </p:spPr>
          <p:txBody>
            <a:bodyPr vert="horz" wrap="square" lIns="91260" tIns="45630" rIns="91260" bIns="4563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2651">
                <a:defRPr/>
              </a:pPr>
              <a:r>
                <a:rPr kumimoji="1" lang="en-US" altLang="zh-CN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/>
                </a:rPr>
                <a:t>JVM/JDK</a:t>
              </a:r>
              <a:endParaRPr kumimoji="1" lang="zh-CN" altLang="en-US" sz="1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17" name="箭头: 左右 16">
              <a:extLst>
                <a:ext uri="{FF2B5EF4-FFF2-40B4-BE49-F238E27FC236}">
                  <a16:creationId xmlns:a16="http://schemas.microsoft.com/office/drawing/2014/main" id="{C4B11114-C26E-41BC-B016-C88975499C65}"/>
                </a:ext>
              </a:extLst>
            </p:cNvPr>
            <p:cNvSpPr/>
            <p:nvPr/>
          </p:nvSpPr>
          <p:spPr>
            <a:xfrm>
              <a:off x="3032270" y="2126535"/>
              <a:ext cx="708867" cy="141274"/>
            </a:xfrm>
            <a:prstGeom prst="leftRightArrow">
              <a:avLst/>
            </a:prstGeom>
            <a:solidFill>
              <a:srgbClr val="8ED1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668"/>
              <a:endParaRPr lang="zh-CN" altLang="en-US" sz="1600">
                <a:solidFill>
                  <a:srgbClr val="666666"/>
                </a:solidFill>
                <a:latin typeface="Arial"/>
                <a:ea typeface="微软雅黑"/>
              </a:endParaRPr>
            </a:p>
          </p:txBody>
        </p:sp>
        <p:sp>
          <p:nvSpPr>
            <p:cNvPr id="18" name="箭头: 左右 17">
              <a:extLst>
                <a:ext uri="{FF2B5EF4-FFF2-40B4-BE49-F238E27FC236}">
                  <a16:creationId xmlns:a16="http://schemas.microsoft.com/office/drawing/2014/main" id="{B43F54F5-B3E9-46BF-9E8F-2C20E9612EEB}"/>
                </a:ext>
              </a:extLst>
            </p:cNvPr>
            <p:cNvSpPr/>
            <p:nvPr/>
          </p:nvSpPr>
          <p:spPr>
            <a:xfrm>
              <a:off x="3012065" y="3732828"/>
              <a:ext cx="772376" cy="124595"/>
            </a:xfrm>
            <a:prstGeom prst="leftRightArrow">
              <a:avLst/>
            </a:prstGeom>
            <a:solidFill>
              <a:srgbClr val="8ED1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668"/>
              <a:endParaRPr lang="zh-CN" altLang="en-US" sz="1600">
                <a:solidFill>
                  <a:srgbClr val="666666"/>
                </a:solidFill>
                <a:latin typeface="Arial"/>
                <a:ea typeface="微软雅黑"/>
              </a:endParaRPr>
            </a:p>
          </p:txBody>
        </p:sp>
        <p:sp>
          <p:nvSpPr>
            <p:cNvPr id="19" name="箭头: 左右 18">
              <a:extLst>
                <a:ext uri="{FF2B5EF4-FFF2-40B4-BE49-F238E27FC236}">
                  <a16:creationId xmlns:a16="http://schemas.microsoft.com/office/drawing/2014/main" id="{88DAE4BE-BA6E-4A9E-B559-9B9681D073D4}"/>
                </a:ext>
              </a:extLst>
            </p:cNvPr>
            <p:cNvSpPr/>
            <p:nvPr/>
          </p:nvSpPr>
          <p:spPr>
            <a:xfrm>
              <a:off x="2996340" y="4083580"/>
              <a:ext cx="788706" cy="146385"/>
            </a:xfrm>
            <a:prstGeom prst="leftRightArrow">
              <a:avLst/>
            </a:prstGeom>
            <a:solidFill>
              <a:srgbClr val="8ED1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668"/>
              <a:endParaRPr lang="zh-CN" altLang="en-US" sz="1600">
                <a:solidFill>
                  <a:srgbClr val="666666"/>
                </a:solidFill>
                <a:latin typeface="Arial"/>
                <a:ea typeface="微软雅黑"/>
              </a:endParaRPr>
            </a:p>
          </p:txBody>
        </p:sp>
        <p:sp>
          <p:nvSpPr>
            <p:cNvPr id="20" name="箭头: 左右 19">
              <a:extLst>
                <a:ext uri="{FF2B5EF4-FFF2-40B4-BE49-F238E27FC236}">
                  <a16:creationId xmlns:a16="http://schemas.microsoft.com/office/drawing/2014/main" id="{DE934AA1-6749-48EA-8368-39E0147CEAF1}"/>
                </a:ext>
              </a:extLst>
            </p:cNvPr>
            <p:cNvSpPr/>
            <p:nvPr/>
          </p:nvSpPr>
          <p:spPr>
            <a:xfrm>
              <a:off x="3006404" y="2704906"/>
              <a:ext cx="792681" cy="132375"/>
            </a:xfrm>
            <a:prstGeom prst="leftRightArrow">
              <a:avLst/>
            </a:prstGeom>
            <a:solidFill>
              <a:srgbClr val="8ED1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668"/>
              <a:endParaRPr lang="zh-CN" altLang="en-US" sz="1600">
                <a:solidFill>
                  <a:srgbClr val="666666"/>
                </a:solidFill>
                <a:latin typeface="Arial"/>
                <a:ea typeface="微软雅黑"/>
              </a:endParaRPr>
            </a:p>
          </p:txBody>
        </p:sp>
        <p:sp>
          <p:nvSpPr>
            <p:cNvPr id="21" name="箭头: 左右 20">
              <a:extLst>
                <a:ext uri="{FF2B5EF4-FFF2-40B4-BE49-F238E27FC236}">
                  <a16:creationId xmlns:a16="http://schemas.microsoft.com/office/drawing/2014/main" id="{65AED5D2-83CB-4D16-B560-065B0CFAE843}"/>
                </a:ext>
              </a:extLst>
            </p:cNvPr>
            <p:cNvSpPr/>
            <p:nvPr/>
          </p:nvSpPr>
          <p:spPr>
            <a:xfrm>
              <a:off x="3003852" y="3104111"/>
              <a:ext cx="795234" cy="150956"/>
            </a:xfrm>
            <a:prstGeom prst="leftRightArrow">
              <a:avLst/>
            </a:prstGeom>
            <a:solidFill>
              <a:srgbClr val="8ED1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668"/>
              <a:endParaRPr lang="zh-CN" altLang="en-US" sz="1600">
                <a:solidFill>
                  <a:srgbClr val="666666"/>
                </a:solidFill>
                <a:latin typeface="Arial"/>
                <a:ea typeface="微软雅黑"/>
              </a:endParaRPr>
            </a:p>
          </p:txBody>
        </p:sp>
        <p:sp>
          <p:nvSpPr>
            <p:cNvPr id="22" name="箭头: 左右 21">
              <a:extLst>
                <a:ext uri="{FF2B5EF4-FFF2-40B4-BE49-F238E27FC236}">
                  <a16:creationId xmlns:a16="http://schemas.microsoft.com/office/drawing/2014/main" id="{259164E5-7BF7-424A-ADB5-2E5082350E00}"/>
                </a:ext>
              </a:extLst>
            </p:cNvPr>
            <p:cNvSpPr/>
            <p:nvPr/>
          </p:nvSpPr>
          <p:spPr>
            <a:xfrm>
              <a:off x="3003851" y="4420978"/>
              <a:ext cx="777386" cy="147474"/>
            </a:xfrm>
            <a:prstGeom prst="leftRightArrow">
              <a:avLst/>
            </a:prstGeom>
            <a:solidFill>
              <a:srgbClr val="8ED1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668"/>
              <a:endParaRPr lang="zh-CN" altLang="en-US" sz="1600">
                <a:solidFill>
                  <a:srgbClr val="666666"/>
                </a:solidFill>
                <a:latin typeface="Arial"/>
                <a:ea typeface="微软雅黑"/>
              </a:endParaRPr>
            </a:p>
          </p:txBody>
        </p:sp>
        <p:sp>
          <p:nvSpPr>
            <p:cNvPr id="23" name="箭头: 左右 22">
              <a:extLst>
                <a:ext uri="{FF2B5EF4-FFF2-40B4-BE49-F238E27FC236}">
                  <a16:creationId xmlns:a16="http://schemas.microsoft.com/office/drawing/2014/main" id="{306BA470-0E1D-4B2B-9D13-7DAD5087779B}"/>
                </a:ext>
              </a:extLst>
            </p:cNvPr>
            <p:cNvSpPr/>
            <p:nvPr/>
          </p:nvSpPr>
          <p:spPr>
            <a:xfrm>
              <a:off x="2990693" y="5122095"/>
              <a:ext cx="735056" cy="124401"/>
            </a:xfrm>
            <a:prstGeom prst="leftRightArrow">
              <a:avLst/>
            </a:prstGeom>
            <a:solidFill>
              <a:srgbClr val="8ED1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668"/>
              <a:endParaRPr lang="zh-CN" altLang="en-US" sz="1600">
                <a:solidFill>
                  <a:srgbClr val="666666"/>
                </a:solidFill>
                <a:latin typeface="Arial"/>
                <a:ea typeface="微软雅黑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632EDF4-4B25-46FB-B13A-8870744815F9}"/>
                </a:ext>
              </a:extLst>
            </p:cNvPr>
            <p:cNvSpPr txBox="1"/>
            <p:nvPr/>
          </p:nvSpPr>
          <p:spPr>
            <a:xfrm>
              <a:off x="1532020" y="5282112"/>
              <a:ext cx="543071" cy="5279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defTabSz="913668">
                <a:lnSpc>
                  <a:spcPts val="3438"/>
                </a:lnSpc>
              </a:pPr>
              <a:r>
                <a:rPr lang="en-US" altLang="zh-CN" sz="16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……</a:t>
              </a:r>
              <a:endParaRPr lang="zh-CN" altLang="en-US" sz="16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A306D24-C7A8-4728-88B6-B9127ABBA570}"/>
                </a:ext>
              </a:extLst>
            </p:cNvPr>
            <p:cNvSpPr txBox="1"/>
            <p:nvPr/>
          </p:nvSpPr>
          <p:spPr>
            <a:xfrm>
              <a:off x="4678126" y="5321978"/>
              <a:ext cx="543071" cy="5279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defTabSz="913668">
                <a:lnSpc>
                  <a:spcPts val="3438"/>
                </a:lnSpc>
              </a:pPr>
              <a:r>
                <a:rPr lang="en-US" altLang="zh-CN" sz="16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……</a:t>
              </a:r>
              <a:endParaRPr lang="zh-CN" altLang="en-US" sz="16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6" name="箭头: 左右 172">
              <a:extLst>
                <a:ext uri="{FF2B5EF4-FFF2-40B4-BE49-F238E27FC236}">
                  <a16:creationId xmlns:a16="http://schemas.microsoft.com/office/drawing/2014/main" id="{0E26588E-96B6-4B06-94FC-E81CD853AD95}"/>
                </a:ext>
              </a:extLst>
            </p:cNvPr>
            <p:cNvSpPr/>
            <p:nvPr/>
          </p:nvSpPr>
          <p:spPr>
            <a:xfrm>
              <a:off x="3252062" y="5975313"/>
              <a:ext cx="399736" cy="156391"/>
            </a:xfrm>
            <a:prstGeom prst="leftRightArrow">
              <a:avLst/>
            </a:prstGeom>
            <a:solidFill>
              <a:srgbClr val="8ED1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668"/>
              <a:endParaRPr lang="zh-CN" altLang="en-US" sz="1600">
                <a:solidFill>
                  <a:srgbClr val="666666"/>
                </a:solidFill>
                <a:latin typeface="Arial"/>
                <a:ea typeface="微软雅黑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77C24D09-8846-4553-B381-BC63B33F6AC3}"/>
                </a:ext>
              </a:extLst>
            </p:cNvPr>
            <p:cNvSpPr txBox="1"/>
            <p:nvPr/>
          </p:nvSpPr>
          <p:spPr>
            <a:xfrm>
              <a:off x="459708" y="1365179"/>
              <a:ext cx="873365" cy="287776"/>
            </a:xfrm>
            <a:prstGeom prst="rect">
              <a:avLst/>
            </a:prstGeom>
            <a:noFill/>
            <a:ln>
              <a:solidFill>
                <a:schemeClr val="tx1">
                  <a:lumMod val="10000"/>
                  <a:lumOff val="90000"/>
                </a:schemeClr>
              </a:solidFill>
            </a:ln>
            <a:effectLst/>
          </p:spPr>
          <p:txBody>
            <a:bodyPr wrap="square" lIns="0" tIns="0" rIns="0" bIns="0" rtlCol="0" anchor="ctr">
              <a:noAutofit/>
            </a:bodyPr>
            <a:lstStyle>
              <a:defPPr>
                <a:defRPr lang="en-US"/>
              </a:defPPr>
              <a:lvl1pPr algn="ctr" defTabSz="913746">
                <a:defRPr kumimoji="1"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defTabSz="912286">
                <a:defRPr/>
              </a:pPr>
              <a:r>
                <a:rPr lang="zh-CN" altLang="en-US" sz="800" dirty="0">
                  <a:solidFill>
                    <a:srgbClr val="666666">
                      <a:lumMod val="40000"/>
                      <a:lumOff val="60000"/>
                    </a:srgbClr>
                  </a:solidFill>
                </a:rPr>
                <a:t>服务治理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4AB1979C-E079-48CB-B0F5-8777DFB692B9}"/>
                </a:ext>
              </a:extLst>
            </p:cNvPr>
            <p:cNvSpPr txBox="1"/>
            <p:nvPr/>
          </p:nvSpPr>
          <p:spPr>
            <a:xfrm>
              <a:off x="1392722" y="1357020"/>
              <a:ext cx="779768" cy="287776"/>
            </a:xfrm>
            <a:prstGeom prst="rect">
              <a:avLst/>
            </a:prstGeom>
            <a:noFill/>
            <a:ln>
              <a:solidFill>
                <a:schemeClr val="tx1">
                  <a:lumMod val="10000"/>
                  <a:lumOff val="90000"/>
                </a:schemeClr>
              </a:solidFill>
            </a:ln>
            <a:effectLst/>
          </p:spPr>
          <p:txBody>
            <a:bodyPr wrap="square" lIns="0" tIns="0" rIns="0" bIns="0" rtlCol="0" anchor="ctr">
              <a:noAutofit/>
            </a:bodyPr>
            <a:lstStyle>
              <a:defPPr>
                <a:defRPr lang="en-US"/>
              </a:defPPr>
              <a:lvl1pPr algn="ctr" defTabSz="913746">
                <a:defRPr kumimoji="1"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defTabSz="912286">
                <a:defRPr/>
              </a:pPr>
              <a:r>
                <a:rPr lang="zh-CN" altLang="en-US" sz="800" dirty="0">
                  <a:solidFill>
                    <a:srgbClr val="666666">
                      <a:lumMod val="40000"/>
                      <a:lumOff val="60000"/>
                    </a:srgbClr>
                  </a:solidFill>
                </a:rPr>
                <a:t>运维监控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D006E102-64FE-49B2-8E0F-E4233069ECC3}"/>
                </a:ext>
              </a:extLst>
            </p:cNvPr>
            <p:cNvSpPr txBox="1"/>
            <p:nvPr/>
          </p:nvSpPr>
          <p:spPr>
            <a:xfrm>
              <a:off x="3015027" y="1132845"/>
              <a:ext cx="543071" cy="5279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defTabSz="913668">
                <a:lnSpc>
                  <a:spcPts val="3438"/>
                </a:lnSpc>
              </a:pPr>
              <a:r>
                <a:rPr lang="en-US" altLang="zh-CN" sz="16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…</a:t>
              </a:r>
              <a:endParaRPr lang="zh-CN" altLang="en-US" sz="16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B7C39E07-0D70-4D4B-BB74-7CB6DC3A5EF7}"/>
                </a:ext>
              </a:extLst>
            </p:cNvPr>
            <p:cNvSpPr txBox="1"/>
            <p:nvPr/>
          </p:nvSpPr>
          <p:spPr>
            <a:xfrm>
              <a:off x="2236906" y="1368702"/>
              <a:ext cx="817968" cy="287776"/>
            </a:xfrm>
            <a:prstGeom prst="rect">
              <a:avLst/>
            </a:prstGeom>
            <a:noFill/>
            <a:ln>
              <a:solidFill>
                <a:schemeClr val="tx1">
                  <a:lumMod val="10000"/>
                  <a:lumOff val="90000"/>
                </a:schemeClr>
              </a:solidFill>
            </a:ln>
            <a:effectLst/>
          </p:spPr>
          <p:txBody>
            <a:bodyPr wrap="square" lIns="0" tIns="0" rIns="0" bIns="0" rtlCol="0" anchor="ctr">
              <a:noAutofit/>
            </a:bodyPr>
            <a:lstStyle>
              <a:defPPr>
                <a:defRPr lang="en-US"/>
              </a:defPPr>
              <a:lvl1pPr algn="ctr" defTabSz="913746">
                <a:defRPr kumimoji="1"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defTabSz="912286">
                <a:defRPr/>
              </a:pPr>
              <a:r>
                <a:rPr lang="zh-CN" altLang="en-US" sz="800" dirty="0">
                  <a:solidFill>
                    <a:srgbClr val="666666">
                      <a:lumMod val="40000"/>
                      <a:lumOff val="60000"/>
                    </a:srgbClr>
                  </a:solidFill>
                </a:rPr>
                <a:t>安装部署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9E277BA2-471E-4B2E-9E21-47264D5552E1}"/>
                </a:ext>
              </a:extLst>
            </p:cNvPr>
            <p:cNvSpPr/>
            <p:nvPr/>
          </p:nvSpPr>
          <p:spPr bwMode="auto">
            <a:xfrm>
              <a:off x="3576295" y="1050262"/>
              <a:ext cx="2854824" cy="5239704"/>
            </a:xfrm>
            <a:prstGeom prst="rect">
              <a:avLst/>
            </a:prstGeom>
            <a:noFill/>
            <a:ln>
              <a:solidFill>
                <a:schemeClr val="bg1">
                  <a:lumMod val="40000"/>
                  <a:lumOff val="60000"/>
                </a:schemeClr>
              </a:solidFill>
              <a:prstDash val="lgDash"/>
            </a:ln>
            <a:effectLst/>
          </p:spPr>
          <p:txBody>
            <a:bodyPr vert="horz" wrap="square" lIns="91260" tIns="45630" rIns="91260" bIns="45630" numCol="1" rtlCol="0" anchor="t" anchorCtr="0" compatLnSpc="1">
              <a:prstTxWarp prst="textNoShape">
                <a:avLst/>
              </a:prstTxWarp>
            </a:bodyPr>
            <a:lstStyle/>
            <a:p>
              <a:pPr defTabSz="912573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defRPr/>
              </a:pPr>
              <a:r>
                <a:rPr lang="zh-CN" altLang="en-US" sz="1000" kern="0" dirty="0">
                  <a:solidFill>
                    <a:srgbClr val="1D1D1A"/>
                  </a:solidFill>
                  <a:latin typeface="微软雅黑"/>
                  <a:ea typeface="微软雅黑"/>
                </a:rPr>
                <a:t>仓颉版微服务框架</a:t>
              </a:r>
              <a:endParaRPr lang="en-US" altLang="zh-CN" sz="1000" kern="0" dirty="0">
                <a:solidFill>
                  <a:srgbClr val="1D1D1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9D7305E-4D03-43B3-92A5-15C35C722F1C}"/>
                </a:ext>
              </a:extLst>
            </p:cNvPr>
            <p:cNvSpPr txBox="1"/>
            <p:nvPr/>
          </p:nvSpPr>
          <p:spPr>
            <a:xfrm>
              <a:off x="5240049" y="1346992"/>
              <a:ext cx="640828" cy="287776"/>
            </a:xfrm>
            <a:prstGeom prst="rect">
              <a:avLst/>
            </a:prstGeom>
            <a:noFill/>
            <a:ln>
              <a:solidFill>
                <a:schemeClr val="tx1">
                  <a:lumMod val="10000"/>
                  <a:lumOff val="90000"/>
                </a:schemeClr>
              </a:solidFill>
            </a:ln>
            <a:effectLst/>
          </p:spPr>
          <p:txBody>
            <a:bodyPr wrap="square" lIns="0" tIns="0" rIns="0" bIns="0" rtlCol="0" anchor="ctr">
              <a:noAutofit/>
            </a:bodyPr>
            <a:lstStyle>
              <a:defPPr>
                <a:defRPr lang="en-US"/>
              </a:defPPr>
              <a:lvl1pPr algn="ctr" defTabSz="913746">
                <a:defRPr kumimoji="1"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defTabSz="912286">
                <a:defRPr/>
              </a:pPr>
              <a:r>
                <a:rPr lang="en-US" altLang="zh-CN" sz="800" dirty="0">
                  <a:solidFill>
                    <a:srgbClr val="666666">
                      <a:lumMod val="40000"/>
                      <a:lumOff val="60000"/>
                    </a:srgbClr>
                  </a:solidFill>
                </a:rPr>
                <a:t>HIRO</a:t>
              </a:r>
              <a:endParaRPr lang="zh-CN" altLang="en-US" sz="800" dirty="0">
                <a:solidFill>
                  <a:srgbClr val="666666">
                    <a:lumMod val="40000"/>
                    <a:lumOff val="60000"/>
                  </a:srgbClr>
                </a:solidFill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1D3ED8E-F739-46A0-8706-F94718F80B25}"/>
                </a:ext>
              </a:extLst>
            </p:cNvPr>
            <p:cNvSpPr txBox="1"/>
            <p:nvPr/>
          </p:nvSpPr>
          <p:spPr>
            <a:xfrm>
              <a:off x="4438057" y="1340238"/>
              <a:ext cx="733729" cy="287776"/>
            </a:xfrm>
            <a:prstGeom prst="rect">
              <a:avLst/>
            </a:prstGeom>
            <a:noFill/>
            <a:ln>
              <a:solidFill>
                <a:schemeClr val="tx1">
                  <a:lumMod val="10000"/>
                  <a:lumOff val="90000"/>
                </a:schemeClr>
              </a:solidFill>
            </a:ln>
            <a:effectLst/>
          </p:spPr>
          <p:txBody>
            <a:bodyPr wrap="square" lIns="0" tIns="0" rIns="0" bIns="0" rtlCol="0" anchor="ctr">
              <a:noAutofit/>
            </a:bodyPr>
            <a:lstStyle>
              <a:defPPr>
                <a:defRPr lang="en-US"/>
              </a:defPPr>
              <a:lvl1pPr algn="ctr" defTabSz="913746">
                <a:defRPr kumimoji="1"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defTabSz="912286">
                <a:defRPr/>
              </a:pPr>
              <a:r>
                <a:rPr lang="zh-CN" altLang="en-US" sz="800" dirty="0">
                  <a:solidFill>
                    <a:srgbClr val="666666">
                      <a:lumMod val="40000"/>
                      <a:lumOff val="60000"/>
                    </a:srgbClr>
                  </a:solidFill>
                </a:rPr>
                <a:t>北斗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D0326DF-DA76-4D2E-A31B-7D9A9498FD44}"/>
                </a:ext>
              </a:extLst>
            </p:cNvPr>
            <p:cNvSpPr txBox="1"/>
            <p:nvPr/>
          </p:nvSpPr>
          <p:spPr>
            <a:xfrm>
              <a:off x="3666903" y="1346993"/>
              <a:ext cx="733729" cy="287776"/>
            </a:xfrm>
            <a:prstGeom prst="rect">
              <a:avLst/>
            </a:prstGeom>
            <a:noFill/>
            <a:ln>
              <a:solidFill>
                <a:schemeClr val="tx1">
                  <a:lumMod val="10000"/>
                  <a:lumOff val="90000"/>
                </a:schemeClr>
              </a:solidFill>
            </a:ln>
            <a:effectLst/>
          </p:spPr>
          <p:txBody>
            <a:bodyPr wrap="square" lIns="0" tIns="0" rIns="0" bIns="0" rtlCol="0" anchor="ctr">
              <a:noAutofit/>
            </a:bodyPr>
            <a:lstStyle>
              <a:defPPr>
                <a:defRPr lang="en-US"/>
              </a:defPPr>
              <a:lvl1pPr algn="ctr" defTabSz="913746">
                <a:defRPr kumimoji="1"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defTabSz="912286">
                <a:defRPr/>
              </a:pPr>
              <a:r>
                <a:rPr lang="en-US" altLang="zh-CN" sz="800" dirty="0" err="1">
                  <a:solidFill>
                    <a:srgbClr val="666666">
                      <a:lumMod val="40000"/>
                      <a:lumOff val="60000"/>
                    </a:srgbClr>
                  </a:solidFill>
                </a:rPr>
                <a:t>CaaSCore</a:t>
              </a:r>
              <a:endParaRPr lang="zh-CN" altLang="en-US" sz="800" dirty="0">
                <a:solidFill>
                  <a:srgbClr val="666666">
                    <a:lumMod val="40000"/>
                    <a:lumOff val="60000"/>
                  </a:srgbClr>
                </a:solidFill>
              </a:endParaRPr>
            </a:p>
          </p:txBody>
        </p:sp>
      </p:grpSp>
      <p:sp>
        <p:nvSpPr>
          <p:cNvPr id="237" name="文本框 236">
            <a:extLst>
              <a:ext uri="{FF2B5EF4-FFF2-40B4-BE49-F238E27FC236}">
                <a16:creationId xmlns:a16="http://schemas.microsoft.com/office/drawing/2014/main" id="{5882A020-8DD8-4B8D-8734-CF5E1899F6BB}"/>
              </a:ext>
            </a:extLst>
          </p:cNvPr>
          <p:cNvSpPr txBox="1"/>
          <p:nvPr/>
        </p:nvSpPr>
        <p:spPr>
          <a:xfrm>
            <a:off x="5778541" y="1608569"/>
            <a:ext cx="5103864" cy="81963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lvl="0" algn="l" defTabSz="914478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zh-CN" altLang="en-US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</a:t>
            </a:r>
            <a:r>
              <a:rPr kumimoji="1" lang="en-US" altLang="zh-CN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：打造仓颉版开发套件</a:t>
            </a:r>
            <a:r>
              <a:rPr kumimoji="1" lang="en-US" altLang="zh-CN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1" lang="zh-CN" altLang="en-US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神农</a:t>
            </a:r>
            <a:r>
              <a:rPr kumimoji="1" lang="en-US" altLang="zh-CN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kumimoji="1" lang="zh-CN" altLang="en-US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完成编程框架等</a:t>
            </a:r>
            <a:r>
              <a:rPr kumimoji="1"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8+</a:t>
            </a:r>
            <a:r>
              <a:rPr kumimoji="1"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核心软件基础功能，逐步打造仓颉版开发套件，</a:t>
            </a:r>
            <a:r>
              <a:rPr kumimoji="1" lang="zh-CN" altLang="en-US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具备类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SpringBoot</a:t>
            </a:r>
            <a:r>
              <a:rPr kumimoji="1" lang="zh-CN" altLang="en-US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体系的能力</a:t>
            </a:r>
          </a:p>
        </p:txBody>
      </p:sp>
      <p:sp>
        <p:nvSpPr>
          <p:cNvPr id="238" name="文本框 237">
            <a:extLst>
              <a:ext uri="{FF2B5EF4-FFF2-40B4-BE49-F238E27FC236}">
                <a16:creationId xmlns:a16="http://schemas.microsoft.com/office/drawing/2014/main" id="{60D8DA11-D1F1-46BD-95C3-1F7EC4DCBA0F}"/>
              </a:ext>
            </a:extLst>
          </p:cNvPr>
          <p:cNvSpPr txBox="1"/>
          <p:nvPr/>
        </p:nvSpPr>
        <p:spPr>
          <a:xfrm>
            <a:off x="5768215" y="2245517"/>
            <a:ext cx="4965120" cy="173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2573">
              <a:lnSpc>
                <a:spcPct val="200000"/>
              </a:lnSpc>
            </a:pPr>
            <a:r>
              <a:rPr lang="en-US" altLang="zh-CN" sz="1100" b="1" dirty="0">
                <a:solidFill>
                  <a:srgbClr val="1D1D1A"/>
                </a:solidFill>
                <a:latin typeface="微软雅黑"/>
                <a:ea typeface="微软雅黑"/>
              </a:rPr>
              <a:t>1</a:t>
            </a:r>
            <a:r>
              <a:rPr lang="zh-CN" altLang="en-US" sz="1100" b="1" dirty="0">
                <a:solidFill>
                  <a:srgbClr val="1D1D1A"/>
                </a:solidFill>
                <a:latin typeface="微软雅黑"/>
                <a:ea typeface="微软雅黑"/>
              </a:rPr>
              <a:t>、基于语言特性</a:t>
            </a:r>
            <a:r>
              <a:rPr lang="zh-CN" altLang="en-US" sz="1100" dirty="0">
                <a:solidFill>
                  <a:srgbClr val="1D1D1A"/>
                </a:solidFill>
                <a:latin typeface="微软雅黑"/>
                <a:ea typeface="微软雅黑"/>
              </a:rPr>
              <a:t>完成</a:t>
            </a:r>
            <a:r>
              <a:rPr lang="zh-CN" altLang="en-US" sz="1100" dirty="0">
                <a:solidFill>
                  <a:srgbClr val="000000"/>
                </a:solidFill>
                <a:latin typeface="微软雅黑"/>
                <a:ea typeface="微软雅黑"/>
              </a:rPr>
              <a:t>基础功能构筑</a:t>
            </a:r>
            <a:r>
              <a:rPr lang="zh-CN" altLang="en-US" sz="1100" dirty="0">
                <a:solidFill>
                  <a:srgbClr val="1D1D1A"/>
                </a:solidFill>
                <a:latin typeface="微软雅黑"/>
                <a:ea typeface="微软雅黑"/>
              </a:rPr>
              <a:t>：充分利用仓颉语言多模式特点，发挥函数编程，宏处理等优势，优化面向对象编程下开发框架设计过于复杂和性能开销大的问题。</a:t>
            </a:r>
            <a:endParaRPr lang="en-US" altLang="zh-CN" sz="1100" dirty="0">
              <a:solidFill>
                <a:srgbClr val="1D1D1A"/>
              </a:solidFill>
              <a:latin typeface="微软雅黑"/>
              <a:ea typeface="微软雅黑"/>
            </a:endParaRPr>
          </a:p>
          <a:p>
            <a:pPr defTabSz="912573">
              <a:lnSpc>
                <a:spcPct val="200000"/>
              </a:lnSpc>
            </a:pPr>
            <a:r>
              <a:rPr lang="en-US" altLang="zh-CN" sz="1100" dirty="0">
                <a:solidFill>
                  <a:srgbClr val="1D1D1A"/>
                </a:solidFill>
                <a:latin typeface="微软雅黑"/>
                <a:ea typeface="微软雅黑"/>
              </a:rPr>
              <a:t>2</a:t>
            </a:r>
            <a:r>
              <a:rPr lang="zh-CN" altLang="en-US" sz="1100" dirty="0">
                <a:solidFill>
                  <a:srgbClr val="1D1D1A"/>
                </a:solidFill>
                <a:latin typeface="微软雅黑"/>
                <a:ea typeface="微软雅黑"/>
              </a:rPr>
              <a:t>、</a:t>
            </a:r>
            <a:r>
              <a:rPr lang="zh-CN" altLang="en-US" sz="1100" b="1" dirty="0">
                <a:solidFill>
                  <a:srgbClr val="1D1D1A"/>
                </a:solidFill>
                <a:latin typeface="微软雅黑"/>
                <a:ea typeface="微软雅黑"/>
              </a:rPr>
              <a:t>基于声明式</a:t>
            </a:r>
            <a:r>
              <a:rPr lang="en-US" altLang="zh-CN" sz="1100" b="1" dirty="0">
                <a:solidFill>
                  <a:srgbClr val="1D1D1A"/>
                </a:solidFill>
                <a:latin typeface="微软雅黑"/>
                <a:ea typeface="微软雅黑"/>
              </a:rPr>
              <a:t>API</a:t>
            </a:r>
            <a:r>
              <a:rPr lang="zh-CN" altLang="en-US" sz="1100" dirty="0">
                <a:solidFill>
                  <a:srgbClr val="1D1D1A"/>
                </a:solidFill>
                <a:latin typeface="微软雅黑"/>
                <a:ea typeface="微软雅黑"/>
              </a:rPr>
              <a:t>：</a:t>
            </a:r>
            <a:r>
              <a:rPr lang="zh-CN" altLang="en-US" sz="1100" dirty="0">
                <a:solidFill>
                  <a:srgbClr val="000000"/>
                </a:solidFill>
                <a:latin typeface="微软雅黑"/>
                <a:ea typeface="微软雅黑"/>
              </a:rPr>
              <a:t>从组件的易集成，易使用入手，提供一站式的开发套件对应的声明式编程</a:t>
            </a:r>
            <a:r>
              <a:rPr lang="en-US" altLang="zh-CN" sz="1100" dirty="0">
                <a:solidFill>
                  <a:srgbClr val="000000"/>
                </a:solidFill>
                <a:latin typeface="微软雅黑"/>
                <a:ea typeface="微软雅黑"/>
              </a:rPr>
              <a:t>API</a:t>
            </a:r>
            <a:r>
              <a:rPr lang="zh-CN" altLang="en-US" sz="1100" dirty="0">
                <a:solidFill>
                  <a:srgbClr val="000000"/>
                </a:solidFill>
                <a:latin typeface="微软雅黑"/>
                <a:ea typeface="微软雅黑"/>
              </a:rPr>
              <a:t>，对业务代码无侵入。</a:t>
            </a:r>
            <a:endParaRPr lang="en-US" altLang="zh-CN" sz="1100" dirty="0">
              <a:solidFill>
                <a:srgbClr val="1D1D1A"/>
              </a:solidFill>
              <a:latin typeface="微软雅黑"/>
              <a:ea typeface="微软雅黑"/>
            </a:endParaRPr>
          </a:p>
        </p:txBody>
      </p:sp>
      <p:sp>
        <p:nvSpPr>
          <p:cNvPr id="239" name="文本框 238">
            <a:extLst>
              <a:ext uri="{FF2B5EF4-FFF2-40B4-BE49-F238E27FC236}">
                <a16:creationId xmlns:a16="http://schemas.microsoft.com/office/drawing/2014/main" id="{ECD45ACE-90DB-4908-A0BB-093F7939DEDA}"/>
              </a:ext>
            </a:extLst>
          </p:cNvPr>
          <p:cNvSpPr txBox="1"/>
          <p:nvPr/>
        </p:nvSpPr>
        <p:spPr>
          <a:xfrm>
            <a:off x="5778541" y="4242474"/>
            <a:ext cx="5103864" cy="7345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lvl="0" algn="l" defTabSz="914478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zh-CN" altLang="en-US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</a:t>
            </a:r>
            <a:r>
              <a:rPr kumimoji="1" lang="en-US" altLang="zh-CN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：协同仓颉语言，打造全栈原生支持响应式编程、全异步无阻塞的下一代微服务应用开发技术栈。</a:t>
            </a:r>
            <a:endParaRPr kumimoji="1" lang="en-US" altLang="zh-CN" sz="12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R="0" lvl="0" algn="l" defTabSz="914478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1" lang="en-US" altLang="zh-CN" sz="12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0" name="文本框 239">
            <a:extLst>
              <a:ext uri="{FF2B5EF4-FFF2-40B4-BE49-F238E27FC236}">
                <a16:creationId xmlns:a16="http://schemas.microsoft.com/office/drawing/2014/main" id="{75717D4D-AACD-4740-886A-87CFF8DF7BFF}"/>
              </a:ext>
            </a:extLst>
          </p:cNvPr>
          <p:cNvSpPr txBox="1"/>
          <p:nvPr/>
        </p:nvSpPr>
        <p:spPr>
          <a:xfrm>
            <a:off x="5758276" y="5023365"/>
            <a:ext cx="4965120" cy="1056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2573">
              <a:lnSpc>
                <a:spcPct val="200000"/>
              </a:lnSpc>
            </a:pPr>
            <a:r>
              <a:rPr lang="en-US" altLang="zh-CN" sz="1100" b="1" dirty="0">
                <a:solidFill>
                  <a:srgbClr val="1D1D1A"/>
                </a:solidFill>
                <a:latin typeface="微软雅黑"/>
                <a:ea typeface="微软雅黑"/>
              </a:rPr>
              <a:t>1</a:t>
            </a:r>
            <a:r>
              <a:rPr lang="zh-CN" altLang="en-US" sz="1100" b="1" dirty="0">
                <a:solidFill>
                  <a:srgbClr val="1D1D1A"/>
                </a:solidFill>
                <a:latin typeface="微软雅黑"/>
                <a:ea typeface="微软雅黑"/>
              </a:rPr>
              <a:t>、利用语言优势：</a:t>
            </a:r>
            <a:r>
              <a:rPr lang="zh-CN" altLang="en-US" sz="1100" dirty="0">
                <a:solidFill>
                  <a:srgbClr val="1D1D1A"/>
                </a:solidFill>
                <a:latin typeface="微软雅黑"/>
                <a:ea typeface="微软雅黑"/>
              </a:rPr>
              <a:t>基于仓颉协程技术打造异步编程体系，充分利用语言的低开销，高性能的优势。</a:t>
            </a:r>
            <a:endParaRPr lang="en-US" altLang="zh-CN" sz="1100" dirty="0">
              <a:solidFill>
                <a:srgbClr val="1D1D1A"/>
              </a:solidFill>
              <a:latin typeface="微软雅黑"/>
              <a:ea typeface="微软雅黑"/>
            </a:endParaRPr>
          </a:p>
          <a:p>
            <a:pPr defTabSz="912573">
              <a:lnSpc>
                <a:spcPct val="200000"/>
              </a:lnSpc>
            </a:pPr>
            <a:r>
              <a:rPr lang="en-US" altLang="zh-CN" sz="1100" dirty="0">
                <a:solidFill>
                  <a:srgbClr val="1D1D1A"/>
                </a:solidFill>
                <a:latin typeface="微软雅黑"/>
                <a:ea typeface="微软雅黑"/>
              </a:rPr>
              <a:t>2</a:t>
            </a:r>
            <a:r>
              <a:rPr lang="zh-CN" altLang="en-US" sz="1100" dirty="0">
                <a:solidFill>
                  <a:srgbClr val="1D1D1A"/>
                </a:solidFill>
                <a:latin typeface="微软雅黑"/>
                <a:ea typeface="微软雅黑"/>
              </a:rPr>
              <a:t>、注重</a:t>
            </a:r>
            <a:r>
              <a:rPr lang="zh-CN" altLang="en-US" sz="1100" b="1" dirty="0">
                <a:solidFill>
                  <a:srgbClr val="000000"/>
                </a:solidFill>
                <a:latin typeface="微软雅黑"/>
                <a:ea typeface="微软雅黑"/>
              </a:rPr>
              <a:t>端到端性能</a:t>
            </a:r>
            <a:r>
              <a:rPr lang="zh-CN" altLang="en-US" sz="1100" dirty="0">
                <a:solidFill>
                  <a:srgbClr val="1D1D1A"/>
                </a:solidFill>
                <a:latin typeface="微软雅黑"/>
                <a:ea typeface="微软雅黑"/>
              </a:rPr>
              <a:t>：采用</a:t>
            </a:r>
            <a:r>
              <a:rPr lang="zh-CN" altLang="en-US" sz="1100" dirty="0">
                <a:solidFill>
                  <a:srgbClr val="000000"/>
                </a:solidFill>
                <a:latin typeface="微软雅黑"/>
                <a:ea typeface="微软雅黑"/>
              </a:rPr>
              <a:t>响应式和全异步方案，提高端到端性能。</a:t>
            </a:r>
            <a:endParaRPr lang="en-US" altLang="zh-CN" sz="1100" dirty="0">
              <a:solidFill>
                <a:srgbClr val="1D1D1A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06771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12471399" y="2340429"/>
            <a:ext cx="332014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小</a:t>
            </a:r>
            <a:r>
              <a:rPr lang="zh-CN" altLang="zh-CN" sz="1600" b="1" dirty="0"/>
              <a:t>标题：</a:t>
            </a:r>
            <a:endParaRPr lang="en-US" altLang="zh-CN" sz="16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</a:t>
            </a:r>
            <a:r>
              <a:rPr lang="zh-CN" altLang="en-US" sz="1600" dirty="0"/>
              <a:t>：</a:t>
            </a:r>
            <a:r>
              <a:rPr lang="zh-CN" altLang="zh-CN" sz="1600" dirty="0"/>
              <a:t>等线</a:t>
            </a:r>
            <a:r>
              <a:rPr lang="zh-CN" altLang="en-US" sz="1600" dirty="0"/>
              <a:t>、微软雅黑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字号</a:t>
            </a:r>
            <a:r>
              <a:rPr lang="zh-CN" altLang="en-US" sz="1600" dirty="0"/>
              <a:t>：</a:t>
            </a:r>
            <a:r>
              <a:rPr lang="en-US" altLang="zh-CN" sz="1600" dirty="0"/>
              <a:t>72</a:t>
            </a:r>
            <a:r>
              <a:rPr lang="zh-CN" altLang="en-US" sz="1600" dirty="0"/>
              <a:t>、加粗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字体颜色</a:t>
            </a:r>
            <a:r>
              <a:rPr lang="zh-CN" altLang="en-US" sz="1600" dirty="0"/>
              <a:t>：</a:t>
            </a:r>
            <a:r>
              <a:rPr lang="zh-CN" altLang="zh-CN" sz="1600" dirty="0"/>
              <a:t>黑色</a:t>
            </a:r>
          </a:p>
          <a:p>
            <a:r>
              <a:rPr lang="zh-CN" altLang="zh-CN" sz="1600" b="1" dirty="0"/>
              <a:t>分享内容关键词</a:t>
            </a:r>
            <a:r>
              <a:rPr lang="zh-CN" altLang="zh-CN" sz="1600" dirty="0"/>
              <a:t>：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</a:t>
            </a:r>
            <a:r>
              <a:rPr lang="zh-CN" altLang="en-US" sz="1600" dirty="0"/>
              <a:t>：</a:t>
            </a:r>
            <a:r>
              <a:rPr lang="zh-CN" altLang="zh-CN" sz="1600" dirty="0"/>
              <a:t>等线</a:t>
            </a:r>
            <a:r>
              <a:rPr lang="zh-CN" altLang="en-US" sz="1600" dirty="0"/>
              <a:t>、微软雅黑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字号</a:t>
            </a:r>
            <a:r>
              <a:rPr lang="zh-CN" altLang="en-US" sz="1600" dirty="0"/>
              <a:t>：</a:t>
            </a:r>
            <a:r>
              <a:rPr lang="en-US" altLang="zh-CN" sz="1600" dirty="0"/>
              <a:t>22</a:t>
            </a:r>
            <a:r>
              <a:rPr lang="zh-CN" altLang="en-US" sz="1600" dirty="0"/>
              <a:t>、加粗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字体颜</a:t>
            </a:r>
            <a:r>
              <a:rPr lang="zh-CN" altLang="en-US" sz="1600" dirty="0"/>
              <a:t>色：黑色</a:t>
            </a:r>
            <a:endParaRPr lang="zh-CN" altLang="zh-CN" sz="16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23CD17E-DC3B-4E28-A776-2D04EFCBE846}"/>
              </a:ext>
            </a:extLst>
          </p:cNvPr>
          <p:cNvGrpSpPr/>
          <p:nvPr/>
        </p:nvGrpSpPr>
        <p:grpSpPr>
          <a:xfrm>
            <a:off x="237675" y="1763584"/>
            <a:ext cx="5523222" cy="4714166"/>
            <a:chOff x="6220064" y="1125539"/>
            <a:chExt cx="5566155" cy="432048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BAEA86D8-B0B3-4E2A-9FD2-E77D27F6C5D0}"/>
                </a:ext>
              </a:extLst>
            </p:cNvPr>
            <p:cNvSpPr/>
            <p:nvPr/>
          </p:nvSpPr>
          <p:spPr>
            <a:xfrm>
              <a:off x="8297426" y="1209712"/>
              <a:ext cx="1440160" cy="304613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神农套件</a:t>
              </a:r>
            </a:p>
          </p:txBody>
        </p:sp>
        <p:sp>
          <p:nvSpPr>
            <p:cNvPr id="6" name="流程">
              <a:extLst>
                <a:ext uri="{FF2B5EF4-FFF2-40B4-BE49-F238E27FC236}">
                  <a16:creationId xmlns:a16="http://schemas.microsoft.com/office/drawing/2014/main" id="{8FC2AD19-0F54-4486-8D63-DCE6BC318E9F}"/>
                </a:ext>
              </a:extLst>
            </p:cNvPr>
            <p:cNvSpPr/>
            <p:nvPr/>
          </p:nvSpPr>
          <p:spPr>
            <a:xfrm>
              <a:off x="8760451" y="4432860"/>
              <a:ext cx="725271" cy="304613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静态织入</a:t>
              </a:r>
            </a:p>
          </p:txBody>
        </p:sp>
        <p:sp>
          <p:nvSpPr>
            <p:cNvPr id="7" name="流程">
              <a:extLst>
                <a:ext uri="{FF2B5EF4-FFF2-40B4-BE49-F238E27FC236}">
                  <a16:creationId xmlns:a16="http://schemas.microsoft.com/office/drawing/2014/main" id="{5C026A90-B4F1-4C20-9970-CDE21FE9A00B}"/>
                </a:ext>
              </a:extLst>
            </p:cNvPr>
            <p:cNvSpPr/>
            <p:nvPr/>
          </p:nvSpPr>
          <p:spPr>
            <a:xfrm>
              <a:off x="8760450" y="4829066"/>
              <a:ext cx="725271" cy="304613"/>
            </a:xfrm>
            <a:prstGeom prst="roundRect">
              <a:avLst/>
            </a:prstGeom>
            <a:solidFill>
              <a:srgbClr val="DFF3D2"/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自定义切点处理</a:t>
              </a:r>
            </a:p>
          </p:txBody>
        </p:sp>
        <p:sp>
          <p:nvSpPr>
            <p:cNvPr id="8" name="圆角矩形">
              <a:extLst>
                <a:ext uri="{FF2B5EF4-FFF2-40B4-BE49-F238E27FC236}">
                  <a16:creationId xmlns:a16="http://schemas.microsoft.com/office/drawing/2014/main" id="{EB4C8E17-F688-4EBB-93DD-B3AB6BFD7CD6}"/>
                </a:ext>
              </a:extLst>
            </p:cNvPr>
            <p:cNvSpPr/>
            <p:nvPr/>
          </p:nvSpPr>
          <p:spPr>
            <a:xfrm>
              <a:off x="6574715" y="4111921"/>
              <a:ext cx="5054662" cy="1210017"/>
            </a:xfrm>
            <a:prstGeom prst="rect">
              <a:avLst/>
            </a:prstGeom>
            <a:noFill/>
            <a:ln w="7600" cap="flat">
              <a:solidFill>
                <a:srgbClr val="DDDDDD">
                  <a:lumMod val="10000"/>
                </a:srgbClr>
              </a:solidFill>
              <a:prstDash val="lgDash"/>
              <a:round/>
            </a:ln>
            <a:effectLst/>
          </p:spPr>
          <p:txBody>
            <a:bodyPr/>
            <a:lstStyle/>
            <a:p>
              <a:pPr marL="0" marR="0" lvl="0" indent="0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Rectangle">
              <a:extLst>
                <a:ext uri="{FF2B5EF4-FFF2-40B4-BE49-F238E27FC236}">
                  <a16:creationId xmlns:a16="http://schemas.microsoft.com/office/drawing/2014/main" id="{32DD1CA7-2FA6-42A8-A10E-195B8B7A8CB5}"/>
                </a:ext>
              </a:extLst>
            </p:cNvPr>
            <p:cNvSpPr/>
            <p:nvPr/>
          </p:nvSpPr>
          <p:spPr>
            <a:xfrm>
              <a:off x="6239661" y="4120308"/>
              <a:ext cx="371470" cy="1187059"/>
            </a:xfrm>
            <a:custGeom>
              <a:avLst/>
              <a:gdLst>
                <a:gd name="connsiteX0" fmla="*/ 850584 w 850584"/>
                <a:gd name="connsiteY0" fmla="*/ 199611 h 394581"/>
              </a:gdLst>
              <a:ahLst/>
              <a:cxnLst>
                <a:cxn ang="0">
                  <a:pos x="connsiteX0" y="connsiteY0"/>
                </a:cxn>
              </a:cxnLst>
              <a:rect l="l" t="t" r="r" b="b"/>
              <a:pathLst>
                <a:path w="850584" h="394581" stroke="0">
                  <a:moveTo>
                    <a:pt x="0" y="0"/>
                  </a:moveTo>
                  <a:lnTo>
                    <a:pt x="850584" y="0"/>
                  </a:lnTo>
                  <a:lnTo>
                    <a:pt x="850584" y="394581"/>
                  </a:lnTo>
                  <a:lnTo>
                    <a:pt x="0" y="394581"/>
                  </a:lnTo>
                  <a:lnTo>
                    <a:pt x="0" y="0"/>
                  </a:lnTo>
                  <a:close/>
                </a:path>
                <a:path w="850584" h="394581" fill="none">
                  <a:moveTo>
                    <a:pt x="0" y="0"/>
                  </a:moveTo>
                  <a:lnTo>
                    <a:pt x="850584" y="0"/>
                  </a:lnTo>
                  <a:lnTo>
                    <a:pt x="850584" y="394581"/>
                  </a:lnTo>
                  <a:lnTo>
                    <a:pt x="0" y="39458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vert="eaVert"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/>
                </a:rPr>
                <a:t>框架能力层</a:t>
              </a:r>
            </a:p>
          </p:txBody>
        </p:sp>
        <p:sp>
          <p:nvSpPr>
            <p:cNvPr id="10" name="流程">
              <a:extLst>
                <a:ext uri="{FF2B5EF4-FFF2-40B4-BE49-F238E27FC236}">
                  <a16:creationId xmlns:a16="http://schemas.microsoft.com/office/drawing/2014/main" id="{46A35B82-D3A2-4EC1-91BC-E91F062C6655}"/>
                </a:ext>
              </a:extLst>
            </p:cNvPr>
            <p:cNvSpPr/>
            <p:nvPr/>
          </p:nvSpPr>
          <p:spPr>
            <a:xfrm>
              <a:off x="6826617" y="4463422"/>
              <a:ext cx="725271" cy="304613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对象实例化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(IOC)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流程">
              <a:extLst>
                <a:ext uri="{FF2B5EF4-FFF2-40B4-BE49-F238E27FC236}">
                  <a16:creationId xmlns:a16="http://schemas.microsoft.com/office/drawing/2014/main" id="{7C05509C-A747-4C12-879E-E37E4D9F900A}"/>
                </a:ext>
              </a:extLst>
            </p:cNvPr>
            <p:cNvSpPr/>
            <p:nvPr/>
          </p:nvSpPr>
          <p:spPr>
            <a:xfrm>
              <a:off x="7680529" y="4463422"/>
              <a:ext cx="725271" cy="304613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注解式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依赖管理</a:t>
              </a:r>
            </a:p>
          </p:txBody>
        </p:sp>
        <p:sp>
          <p:nvSpPr>
            <p:cNvPr id="12" name="流程">
              <a:extLst>
                <a:ext uri="{FF2B5EF4-FFF2-40B4-BE49-F238E27FC236}">
                  <a16:creationId xmlns:a16="http://schemas.microsoft.com/office/drawing/2014/main" id="{E8F9EF37-AD26-40CD-A8D7-31AB232AAD52}"/>
                </a:ext>
              </a:extLst>
            </p:cNvPr>
            <p:cNvSpPr/>
            <p:nvPr/>
          </p:nvSpPr>
          <p:spPr>
            <a:xfrm>
              <a:off x="7680529" y="4859430"/>
              <a:ext cx="725271" cy="304613"/>
            </a:xfrm>
            <a:prstGeom prst="roundRect">
              <a:avLst/>
            </a:prstGeom>
            <a:gradFill>
              <a:gsLst>
                <a:gs pos="80000">
                  <a:srgbClr val="FCC800">
                    <a:lumMod val="40000"/>
                    <a:lumOff val="60000"/>
                  </a:srgbClr>
                </a:gs>
                <a:gs pos="79000">
                  <a:srgbClr val="61B230">
                    <a:lumMod val="20000"/>
                    <a:lumOff val="80000"/>
                  </a:srgbClr>
                </a:gs>
              </a:gsLst>
              <a:lin ang="0" scaled="1"/>
            </a:gra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配置式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依赖管理</a:t>
              </a:r>
            </a:p>
          </p:txBody>
        </p:sp>
        <p:sp>
          <p:nvSpPr>
            <p:cNvPr id="13" name="流程">
              <a:extLst>
                <a:ext uri="{FF2B5EF4-FFF2-40B4-BE49-F238E27FC236}">
                  <a16:creationId xmlns:a16="http://schemas.microsoft.com/office/drawing/2014/main" id="{96304E24-A2A7-465D-A752-B459CAC79EC5}"/>
                </a:ext>
              </a:extLst>
            </p:cNvPr>
            <p:cNvSpPr/>
            <p:nvPr/>
          </p:nvSpPr>
          <p:spPr>
            <a:xfrm>
              <a:off x="6826617" y="4859430"/>
              <a:ext cx="725271" cy="304613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依赖注入</a:t>
              </a:r>
            </a:p>
          </p:txBody>
        </p:sp>
        <p:sp>
          <p:nvSpPr>
            <p:cNvPr id="14" name="圆角矩形">
              <a:extLst>
                <a:ext uri="{FF2B5EF4-FFF2-40B4-BE49-F238E27FC236}">
                  <a16:creationId xmlns:a16="http://schemas.microsoft.com/office/drawing/2014/main" id="{E5A1570B-0DFB-4B2B-8A99-3A472E81139C}"/>
                </a:ext>
              </a:extLst>
            </p:cNvPr>
            <p:cNvSpPr/>
            <p:nvPr/>
          </p:nvSpPr>
          <p:spPr>
            <a:xfrm>
              <a:off x="6730556" y="4320728"/>
              <a:ext cx="1783572" cy="913843"/>
            </a:xfrm>
            <a:prstGeom prst="rect">
              <a:avLst/>
            </a:prstGeom>
            <a:noFill/>
            <a:ln w="7600" cap="flat">
              <a:solidFill>
                <a:srgbClr val="1D1D1A"/>
              </a:solidFill>
              <a:round/>
            </a:ln>
          </p:spPr>
          <p:txBody>
            <a:bodyPr/>
            <a:lstStyle/>
            <a:p>
              <a:pPr marL="0" marR="0" lvl="0" indent="0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流程">
              <a:extLst>
                <a:ext uri="{FF2B5EF4-FFF2-40B4-BE49-F238E27FC236}">
                  <a16:creationId xmlns:a16="http://schemas.microsoft.com/office/drawing/2014/main" id="{7DE4CF35-89AE-4007-B15C-87AB27D84494}"/>
                </a:ext>
              </a:extLst>
            </p:cNvPr>
            <p:cNvSpPr/>
            <p:nvPr/>
          </p:nvSpPr>
          <p:spPr>
            <a:xfrm>
              <a:off x="6849562" y="4200238"/>
              <a:ext cx="570052" cy="182199"/>
            </a:xfrm>
            <a:custGeom>
              <a:avLst/>
              <a:gdLst>
                <a:gd name="connsiteX0" fmla="*/ 0 w 1260650"/>
                <a:gd name="connsiteY0" fmla="*/ 181080 h 362159"/>
                <a:gd name="connsiteX1" fmla="*/ 630325 w 1260650"/>
                <a:gd name="connsiteY1" fmla="*/ 0 h 362159"/>
                <a:gd name="connsiteX2" fmla="*/ 1260650 w 1260650"/>
                <a:gd name="connsiteY2" fmla="*/ 181080 h 362159"/>
                <a:gd name="connsiteX3" fmla="*/ 630325 w 1260650"/>
                <a:gd name="connsiteY3" fmla="*/ 362159 h 36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0650" h="362159" stroke="0">
                  <a:moveTo>
                    <a:pt x="1260650" y="362159"/>
                  </a:moveTo>
                  <a:lnTo>
                    <a:pt x="1260650" y="0"/>
                  </a:lnTo>
                  <a:lnTo>
                    <a:pt x="0" y="0"/>
                  </a:lnTo>
                  <a:lnTo>
                    <a:pt x="0" y="362159"/>
                  </a:lnTo>
                  <a:lnTo>
                    <a:pt x="1260650" y="362159"/>
                  </a:lnTo>
                  <a:close/>
                </a:path>
                <a:path w="1260650" h="362159" fill="none">
                  <a:moveTo>
                    <a:pt x="1260650" y="362159"/>
                  </a:moveTo>
                  <a:lnTo>
                    <a:pt x="1260650" y="0"/>
                  </a:lnTo>
                  <a:lnTo>
                    <a:pt x="0" y="0"/>
                  </a:lnTo>
                  <a:lnTo>
                    <a:pt x="0" y="362159"/>
                  </a:lnTo>
                  <a:lnTo>
                    <a:pt x="1260650" y="362159"/>
                  </a:lnTo>
                  <a:close/>
                </a:path>
              </a:pathLst>
            </a:custGeom>
            <a:solidFill>
              <a:srgbClr val="FFFFFF"/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t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/>
                </a:rPr>
                <a:t>对象容器</a:t>
              </a:r>
            </a:p>
          </p:txBody>
        </p:sp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7427244B-7B9E-402A-8F8A-019ECC0E8EBB}"/>
                </a:ext>
              </a:extLst>
            </p:cNvPr>
            <p:cNvSpPr/>
            <p:nvPr/>
          </p:nvSpPr>
          <p:spPr>
            <a:xfrm>
              <a:off x="8638131" y="4317894"/>
              <a:ext cx="1798863" cy="916666"/>
            </a:xfrm>
            <a:prstGeom prst="rect">
              <a:avLst/>
            </a:prstGeom>
            <a:noFill/>
            <a:ln w="7600" cap="flat">
              <a:solidFill>
                <a:srgbClr val="1D1D1A"/>
              </a:solidFill>
              <a:round/>
            </a:ln>
          </p:spPr>
          <p:txBody>
            <a:bodyPr/>
            <a:lstStyle/>
            <a:p>
              <a:pPr marL="0" marR="0" lvl="0" indent="0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流程">
              <a:extLst>
                <a:ext uri="{FF2B5EF4-FFF2-40B4-BE49-F238E27FC236}">
                  <a16:creationId xmlns:a16="http://schemas.microsoft.com/office/drawing/2014/main" id="{197D006F-7190-4983-8AC0-0781EA6F4191}"/>
                </a:ext>
              </a:extLst>
            </p:cNvPr>
            <p:cNvSpPr/>
            <p:nvPr/>
          </p:nvSpPr>
          <p:spPr>
            <a:xfrm>
              <a:off x="8727331" y="4200233"/>
              <a:ext cx="570049" cy="217410"/>
            </a:xfrm>
            <a:custGeom>
              <a:avLst/>
              <a:gdLst>
                <a:gd name="connsiteX0" fmla="*/ 0 w 1260650"/>
                <a:gd name="connsiteY0" fmla="*/ 181080 h 362159"/>
                <a:gd name="connsiteX1" fmla="*/ 630325 w 1260650"/>
                <a:gd name="connsiteY1" fmla="*/ 0 h 362159"/>
                <a:gd name="connsiteX2" fmla="*/ 1260650 w 1260650"/>
                <a:gd name="connsiteY2" fmla="*/ 181080 h 362159"/>
                <a:gd name="connsiteX3" fmla="*/ 630325 w 1260650"/>
                <a:gd name="connsiteY3" fmla="*/ 362159 h 36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0650" h="362159" stroke="0">
                  <a:moveTo>
                    <a:pt x="1260650" y="362159"/>
                  </a:moveTo>
                  <a:lnTo>
                    <a:pt x="1260650" y="0"/>
                  </a:lnTo>
                  <a:lnTo>
                    <a:pt x="0" y="0"/>
                  </a:lnTo>
                  <a:lnTo>
                    <a:pt x="0" y="362159"/>
                  </a:lnTo>
                  <a:lnTo>
                    <a:pt x="1260650" y="362159"/>
                  </a:lnTo>
                  <a:close/>
                </a:path>
                <a:path w="1260650" h="362159" fill="none">
                  <a:moveTo>
                    <a:pt x="1260650" y="362159"/>
                  </a:moveTo>
                  <a:lnTo>
                    <a:pt x="1260650" y="0"/>
                  </a:lnTo>
                  <a:lnTo>
                    <a:pt x="0" y="0"/>
                  </a:lnTo>
                  <a:lnTo>
                    <a:pt x="0" y="362159"/>
                  </a:lnTo>
                  <a:lnTo>
                    <a:pt x="1260650" y="362159"/>
                  </a:lnTo>
                  <a:close/>
                </a:path>
              </a:pathLst>
            </a:custGeom>
            <a:solidFill>
              <a:srgbClr val="FFFFFF"/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t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/>
                </a:rPr>
                <a:t>切面增强</a:t>
              </a:r>
            </a:p>
          </p:txBody>
        </p:sp>
        <p:sp>
          <p:nvSpPr>
            <p:cNvPr id="19" name="流程">
              <a:extLst>
                <a:ext uri="{FF2B5EF4-FFF2-40B4-BE49-F238E27FC236}">
                  <a16:creationId xmlns:a16="http://schemas.microsoft.com/office/drawing/2014/main" id="{61D15A77-820F-4A48-A803-6B87F0023F8E}"/>
                </a:ext>
              </a:extLst>
            </p:cNvPr>
            <p:cNvSpPr/>
            <p:nvPr/>
          </p:nvSpPr>
          <p:spPr>
            <a:xfrm>
              <a:off x="9619692" y="4430464"/>
              <a:ext cx="725271" cy="304613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注解式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切点定义</a:t>
              </a:r>
            </a:p>
          </p:txBody>
        </p:sp>
        <p:sp>
          <p:nvSpPr>
            <p:cNvPr id="20" name="流程">
              <a:extLst>
                <a:ext uri="{FF2B5EF4-FFF2-40B4-BE49-F238E27FC236}">
                  <a16:creationId xmlns:a16="http://schemas.microsoft.com/office/drawing/2014/main" id="{CDBAF5B9-9E3E-49A5-B98C-3933AD17D028}"/>
                </a:ext>
              </a:extLst>
            </p:cNvPr>
            <p:cNvSpPr/>
            <p:nvPr/>
          </p:nvSpPr>
          <p:spPr>
            <a:xfrm>
              <a:off x="9619692" y="4822457"/>
              <a:ext cx="725271" cy="304613"/>
            </a:xfrm>
            <a:prstGeom prst="roundRect">
              <a:avLst/>
            </a:prstGeom>
            <a:gradFill>
              <a:gsLst>
                <a:gs pos="81000">
                  <a:srgbClr val="FCC800">
                    <a:lumMod val="40000"/>
                    <a:lumOff val="60000"/>
                  </a:srgbClr>
                </a:gs>
                <a:gs pos="75000">
                  <a:srgbClr val="61B230">
                    <a:lumMod val="20000"/>
                    <a:lumOff val="80000"/>
                  </a:srgbClr>
                </a:gs>
              </a:gsLst>
              <a:lin ang="0" scaled="1"/>
            </a:gra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配置式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切点定义</a:t>
              </a:r>
            </a:p>
          </p:txBody>
        </p:sp>
        <p:sp>
          <p:nvSpPr>
            <p:cNvPr id="21" name="圆角矩形">
              <a:extLst>
                <a:ext uri="{FF2B5EF4-FFF2-40B4-BE49-F238E27FC236}">
                  <a16:creationId xmlns:a16="http://schemas.microsoft.com/office/drawing/2014/main" id="{CBF5A68F-B7F8-434A-9430-04E26494561C}"/>
                </a:ext>
              </a:extLst>
            </p:cNvPr>
            <p:cNvSpPr/>
            <p:nvPr/>
          </p:nvSpPr>
          <p:spPr>
            <a:xfrm>
              <a:off x="6574715" y="2877118"/>
              <a:ext cx="5054662" cy="1127192"/>
            </a:xfrm>
            <a:prstGeom prst="rect">
              <a:avLst/>
            </a:prstGeom>
            <a:noFill/>
            <a:ln w="7600" cap="flat">
              <a:solidFill>
                <a:srgbClr val="DDDDDD">
                  <a:lumMod val="10000"/>
                </a:srgbClr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322AB8D9-0629-42BC-9250-77CA28D7E797}"/>
                </a:ext>
              </a:extLst>
            </p:cNvPr>
            <p:cNvSpPr/>
            <p:nvPr/>
          </p:nvSpPr>
          <p:spPr>
            <a:xfrm>
              <a:off x="6220064" y="2877118"/>
              <a:ext cx="371470" cy="1121557"/>
            </a:xfrm>
            <a:custGeom>
              <a:avLst/>
              <a:gdLst>
                <a:gd name="connsiteX0" fmla="*/ 850584 w 850584"/>
                <a:gd name="connsiteY0" fmla="*/ 199611 h 394581"/>
              </a:gdLst>
              <a:ahLst/>
              <a:cxnLst>
                <a:cxn ang="0">
                  <a:pos x="connsiteX0" y="connsiteY0"/>
                </a:cxn>
              </a:cxnLst>
              <a:rect l="l" t="t" r="r" b="b"/>
              <a:pathLst>
                <a:path w="850584" h="394581" stroke="0">
                  <a:moveTo>
                    <a:pt x="0" y="0"/>
                  </a:moveTo>
                  <a:lnTo>
                    <a:pt x="850584" y="0"/>
                  </a:lnTo>
                  <a:lnTo>
                    <a:pt x="850584" y="394581"/>
                  </a:lnTo>
                  <a:lnTo>
                    <a:pt x="0" y="394581"/>
                  </a:lnTo>
                  <a:lnTo>
                    <a:pt x="0" y="0"/>
                  </a:lnTo>
                  <a:close/>
                </a:path>
                <a:path w="850584" h="394581" fill="none">
                  <a:moveTo>
                    <a:pt x="0" y="0"/>
                  </a:moveTo>
                  <a:lnTo>
                    <a:pt x="850584" y="0"/>
                  </a:lnTo>
                  <a:lnTo>
                    <a:pt x="850584" y="394581"/>
                  </a:lnTo>
                  <a:lnTo>
                    <a:pt x="0" y="39458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  <a:effectLst/>
          </p:spPr>
          <p:txBody>
            <a:bodyPr vert="eaVert"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/>
                </a:rPr>
                <a:t>框架生态层</a:t>
              </a:r>
            </a:p>
          </p:txBody>
        </p:sp>
        <p:sp>
          <p:nvSpPr>
            <p:cNvPr id="23" name="流程">
              <a:extLst>
                <a:ext uri="{FF2B5EF4-FFF2-40B4-BE49-F238E27FC236}">
                  <a16:creationId xmlns:a16="http://schemas.microsoft.com/office/drawing/2014/main" id="{9284F621-1332-497A-ACE7-FAD977A2656D}"/>
                </a:ext>
              </a:extLst>
            </p:cNvPr>
            <p:cNvSpPr/>
            <p:nvPr/>
          </p:nvSpPr>
          <p:spPr>
            <a:xfrm>
              <a:off x="7692957" y="3135990"/>
              <a:ext cx="725271" cy="304613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ORM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支持</a:t>
              </a:r>
            </a:p>
          </p:txBody>
        </p:sp>
        <p:sp>
          <p:nvSpPr>
            <p:cNvPr id="24" name="流程">
              <a:extLst>
                <a:ext uri="{FF2B5EF4-FFF2-40B4-BE49-F238E27FC236}">
                  <a16:creationId xmlns:a16="http://schemas.microsoft.com/office/drawing/2014/main" id="{719A5593-A750-4D77-96BF-F65EC142207C}"/>
                </a:ext>
              </a:extLst>
            </p:cNvPr>
            <p:cNvSpPr/>
            <p:nvPr/>
          </p:nvSpPr>
          <p:spPr>
            <a:xfrm>
              <a:off x="6834142" y="3541380"/>
              <a:ext cx="725271" cy="304613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编程式</a:t>
              </a:r>
            </a:p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事务框架</a:t>
              </a:r>
            </a:p>
          </p:txBody>
        </p:sp>
        <p:sp>
          <p:nvSpPr>
            <p:cNvPr id="25" name="流程">
              <a:extLst>
                <a:ext uri="{FF2B5EF4-FFF2-40B4-BE49-F238E27FC236}">
                  <a16:creationId xmlns:a16="http://schemas.microsoft.com/office/drawing/2014/main" id="{0CFD3916-155F-480A-B3CB-3EA35BBB4809}"/>
                </a:ext>
              </a:extLst>
            </p:cNvPr>
            <p:cNvSpPr/>
            <p:nvPr/>
          </p:nvSpPr>
          <p:spPr>
            <a:xfrm>
              <a:off x="6834142" y="3135990"/>
              <a:ext cx="725271" cy="304613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CDBC</a:t>
              </a:r>
            </a:p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支持</a:t>
              </a:r>
            </a:p>
          </p:txBody>
        </p:sp>
        <p:sp>
          <p:nvSpPr>
            <p:cNvPr id="26" name="流程">
              <a:extLst>
                <a:ext uri="{FF2B5EF4-FFF2-40B4-BE49-F238E27FC236}">
                  <a16:creationId xmlns:a16="http://schemas.microsoft.com/office/drawing/2014/main" id="{AD3B7388-8077-480D-B5F5-15DBF13537B8}"/>
                </a:ext>
              </a:extLst>
            </p:cNvPr>
            <p:cNvSpPr/>
            <p:nvPr/>
          </p:nvSpPr>
          <p:spPr>
            <a:xfrm>
              <a:off x="7692957" y="3541380"/>
              <a:ext cx="725271" cy="304613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声明式</a:t>
              </a:r>
            </a:p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事务框架</a:t>
              </a:r>
            </a:p>
          </p:txBody>
        </p:sp>
        <p:sp>
          <p:nvSpPr>
            <p:cNvPr id="27" name="圆角矩形">
              <a:extLst>
                <a:ext uri="{FF2B5EF4-FFF2-40B4-BE49-F238E27FC236}">
                  <a16:creationId xmlns:a16="http://schemas.microsoft.com/office/drawing/2014/main" id="{1093F1A9-77B6-45EA-A764-DA2A6000570F}"/>
                </a:ext>
              </a:extLst>
            </p:cNvPr>
            <p:cNvSpPr/>
            <p:nvPr/>
          </p:nvSpPr>
          <p:spPr>
            <a:xfrm>
              <a:off x="6714427" y="2991966"/>
              <a:ext cx="1798863" cy="916666"/>
            </a:xfrm>
            <a:prstGeom prst="rect">
              <a:avLst/>
            </a:prstGeom>
            <a:noFill/>
            <a:ln w="7600" cap="flat">
              <a:solidFill>
                <a:srgbClr val="1D1D1A"/>
              </a:solidFill>
              <a:round/>
            </a:ln>
          </p:spPr>
          <p:txBody>
            <a:bodyPr/>
            <a:lstStyle/>
            <a:p>
              <a:pPr marL="0" marR="0" lvl="0" indent="0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流程">
              <a:extLst>
                <a:ext uri="{FF2B5EF4-FFF2-40B4-BE49-F238E27FC236}">
                  <a16:creationId xmlns:a16="http://schemas.microsoft.com/office/drawing/2014/main" id="{03687E30-9E88-4471-94E8-FBB0C9E5C2FC}"/>
                </a:ext>
              </a:extLst>
            </p:cNvPr>
            <p:cNvSpPr/>
            <p:nvPr/>
          </p:nvSpPr>
          <p:spPr>
            <a:xfrm>
              <a:off x="6803627" y="2890590"/>
              <a:ext cx="570050" cy="154003"/>
            </a:xfrm>
            <a:custGeom>
              <a:avLst/>
              <a:gdLst>
                <a:gd name="connsiteX0" fmla="*/ 0 w 1260650"/>
                <a:gd name="connsiteY0" fmla="*/ 181080 h 362159"/>
                <a:gd name="connsiteX1" fmla="*/ 630325 w 1260650"/>
                <a:gd name="connsiteY1" fmla="*/ 0 h 362159"/>
                <a:gd name="connsiteX2" fmla="*/ 1260650 w 1260650"/>
                <a:gd name="connsiteY2" fmla="*/ 181080 h 362159"/>
                <a:gd name="connsiteX3" fmla="*/ 630325 w 1260650"/>
                <a:gd name="connsiteY3" fmla="*/ 362159 h 36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0650" h="362159" stroke="0">
                  <a:moveTo>
                    <a:pt x="1260650" y="362159"/>
                  </a:moveTo>
                  <a:lnTo>
                    <a:pt x="1260650" y="0"/>
                  </a:lnTo>
                  <a:lnTo>
                    <a:pt x="0" y="0"/>
                  </a:lnTo>
                  <a:lnTo>
                    <a:pt x="0" y="362159"/>
                  </a:lnTo>
                  <a:lnTo>
                    <a:pt x="1260650" y="362159"/>
                  </a:lnTo>
                  <a:close/>
                </a:path>
                <a:path w="1260650" h="362159" fill="none">
                  <a:moveTo>
                    <a:pt x="1260650" y="362159"/>
                  </a:moveTo>
                  <a:lnTo>
                    <a:pt x="1260650" y="0"/>
                  </a:lnTo>
                  <a:lnTo>
                    <a:pt x="0" y="0"/>
                  </a:lnTo>
                  <a:lnTo>
                    <a:pt x="0" y="362159"/>
                  </a:lnTo>
                  <a:lnTo>
                    <a:pt x="1260650" y="362159"/>
                  </a:lnTo>
                  <a:close/>
                </a:path>
              </a:pathLst>
            </a:custGeom>
            <a:solidFill>
              <a:srgbClr val="FFFFFF"/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t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/>
                </a:rPr>
                <a:t>数据接入</a:t>
              </a:r>
            </a:p>
          </p:txBody>
        </p:sp>
        <p:sp>
          <p:nvSpPr>
            <p:cNvPr id="29" name="流程">
              <a:extLst>
                <a:ext uri="{FF2B5EF4-FFF2-40B4-BE49-F238E27FC236}">
                  <a16:creationId xmlns:a16="http://schemas.microsoft.com/office/drawing/2014/main" id="{B483714E-5D17-47D3-990B-13D60A7C8297}"/>
                </a:ext>
              </a:extLst>
            </p:cNvPr>
            <p:cNvSpPr/>
            <p:nvPr/>
          </p:nvSpPr>
          <p:spPr>
            <a:xfrm>
              <a:off x="9737586" y="3136585"/>
              <a:ext cx="725271" cy="304613"/>
            </a:xfrm>
            <a:prstGeom prst="roundRect">
              <a:avLst/>
            </a:prstGeom>
            <a:solidFill>
              <a:srgbClr val="FCC800">
                <a:lumMod val="40000"/>
                <a:lumOff val="60000"/>
              </a:srgb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表达式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解析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注入</a:t>
              </a:r>
            </a:p>
          </p:txBody>
        </p:sp>
        <p:sp>
          <p:nvSpPr>
            <p:cNvPr id="30" name="流程">
              <a:extLst>
                <a:ext uri="{FF2B5EF4-FFF2-40B4-BE49-F238E27FC236}">
                  <a16:creationId xmlns:a16="http://schemas.microsoft.com/office/drawing/2014/main" id="{88AA0125-5F81-4AC4-98AA-55006A584980}"/>
                </a:ext>
              </a:extLst>
            </p:cNvPr>
            <p:cNvSpPr/>
            <p:nvPr/>
          </p:nvSpPr>
          <p:spPr>
            <a:xfrm>
              <a:off x="8688279" y="3667622"/>
              <a:ext cx="769133" cy="217582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Yaml</a:t>
              </a: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生成接口</a:t>
              </a:r>
            </a:p>
          </p:txBody>
        </p:sp>
        <p:sp>
          <p:nvSpPr>
            <p:cNvPr id="31" name="流程">
              <a:extLst>
                <a:ext uri="{FF2B5EF4-FFF2-40B4-BE49-F238E27FC236}">
                  <a16:creationId xmlns:a16="http://schemas.microsoft.com/office/drawing/2014/main" id="{408DE0FC-A226-426B-95E4-9BE05DF67644}"/>
                </a:ext>
              </a:extLst>
            </p:cNvPr>
            <p:cNvSpPr/>
            <p:nvPr/>
          </p:nvSpPr>
          <p:spPr>
            <a:xfrm>
              <a:off x="8688279" y="3418844"/>
              <a:ext cx="769133" cy="217582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声明式接口</a:t>
              </a:r>
            </a:p>
          </p:txBody>
        </p:sp>
        <p:sp>
          <p:nvSpPr>
            <p:cNvPr id="32" name="流程">
              <a:extLst>
                <a:ext uri="{FF2B5EF4-FFF2-40B4-BE49-F238E27FC236}">
                  <a16:creationId xmlns:a16="http://schemas.microsoft.com/office/drawing/2014/main" id="{7604AD28-5FED-44A7-9890-85CBAA5CC1DF}"/>
                </a:ext>
              </a:extLst>
            </p:cNvPr>
            <p:cNvSpPr/>
            <p:nvPr/>
          </p:nvSpPr>
          <p:spPr>
            <a:xfrm>
              <a:off x="8693445" y="3154318"/>
              <a:ext cx="769133" cy="217582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响应式</a:t>
              </a:r>
              <a:r>
                <a:rPr kumimoji="0" lang="en-US" altLang="zh-CN" sz="800" b="0" i="0" u="none" strike="noStrike" kern="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API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圆角矩形">
              <a:extLst>
                <a:ext uri="{FF2B5EF4-FFF2-40B4-BE49-F238E27FC236}">
                  <a16:creationId xmlns:a16="http://schemas.microsoft.com/office/drawing/2014/main" id="{BA0536AB-7AF8-4998-A153-A63CC976C72C}"/>
                </a:ext>
              </a:extLst>
            </p:cNvPr>
            <p:cNvSpPr/>
            <p:nvPr/>
          </p:nvSpPr>
          <p:spPr>
            <a:xfrm>
              <a:off x="8622142" y="2991967"/>
              <a:ext cx="902498" cy="934992"/>
            </a:xfrm>
            <a:prstGeom prst="rect">
              <a:avLst/>
            </a:prstGeom>
            <a:noFill/>
            <a:ln w="7600" cap="flat">
              <a:solidFill>
                <a:srgbClr val="1D1D1A"/>
              </a:solidFill>
              <a:round/>
            </a:ln>
          </p:spPr>
          <p:txBody>
            <a:bodyPr/>
            <a:lstStyle/>
            <a:p>
              <a:pPr marL="0" marR="0" lvl="0" indent="0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流程">
              <a:extLst>
                <a:ext uri="{FF2B5EF4-FFF2-40B4-BE49-F238E27FC236}">
                  <a16:creationId xmlns:a16="http://schemas.microsoft.com/office/drawing/2014/main" id="{737F5AEA-2CA5-45E8-A4ED-6A33F4E92714}"/>
                </a:ext>
              </a:extLst>
            </p:cNvPr>
            <p:cNvSpPr/>
            <p:nvPr/>
          </p:nvSpPr>
          <p:spPr>
            <a:xfrm>
              <a:off x="8755885" y="2908919"/>
              <a:ext cx="599831" cy="154003"/>
            </a:xfrm>
            <a:custGeom>
              <a:avLst/>
              <a:gdLst>
                <a:gd name="connsiteX0" fmla="*/ 0 w 1260650"/>
                <a:gd name="connsiteY0" fmla="*/ 181080 h 362159"/>
                <a:gd name="connsiteX1" fmla="*/ 630325 w 1260650"/>
                <a:gd name="connsiteY1" fmla="*/ 0 h 362159"/>
                <a:gd name="connsiteX2" fmla="*/ 1260650 w 1260650"/>
                <a:gd name="connsiteY2" fmla="*/ 181080 h 362159"/>
                <a:gd name="connsiteX3" fmla="*/ 630325 w 1260650"/>
                <a:gd name="connsiteY3" fmla="*/ 362159 h 36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0650" h="362159" stroke="0">
                  <a:moveTo>
                    <a:pt x="1260650" y="362159"/>
                  </a:moveTo>
                  <a:lnTo>
                    <a:pt x="1260650" y="0"/>
                  </a:lnTo>
                  <a:lnTo>
                    <a:pt x="0" y="0"/>
                  </a:lnTo>
                  <a:lnTo>
                    <a:pt x="0" y="362159"/>
                  </a:lnTo>
                  <a:lnTo>
                    <a:pt x="1260650" y="362159"/>
                  </a:lnTo>
                  <a:close/>
                </a:path>
                <a:path w="1260650" h="362159" fill="none">
                  <a:moveTo>
                    <a:pt x="1260650" y="362159"/>
                  </a:moveTo>
                  <a:lnTo>
                    <a:pt x="1260650" y="0"/>
                  </a:lnTo>
                  <a:lnTo>
                    <a:pt x="0" y="0"/>
                  </a:lnTo>
                  <a:lnTo>
                    <a:pt x="0" y="362159"/>
                  </a:lnTo>
                  <a:lnTo>
                    <a:pt x="1260650" y="362159"/>
                  </a:lnTo>
                  <a:close/>
                </a:path>
              </a:pathLst>
            </a:custGeom>
            <a:solidFill>
              <a:srgbClr val="FFFFFF"/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t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/>
                </a:rPr>
                <a:t>Web</a:t>
              </a: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/>
                </a:rPr>
                <a:t>服务</a:t>
              </a:r>
            </a:p>
          </p:txBody>
        </p:sp>
        <p:sp>
          <p:nvSpPr>
            <p:cNvPr id="35" name="流程">
              <a:extLst>
                <a:ext uri="{FF2B5EF4-FFF2-40B4-BE49-F238E27FC236}">
                  <a16:creationId xmlns:a16="http://schemas.microsoft.com/office/drawing/2014/main" id="{BF786188-EA70-49E5-97FF-9882F5BF3C3B}"/>
                </a:ext>
              </a:extLst>
            </p:cNvPr>
            <p:cNvSpPr/>
            <p:nvPr/>
          </p:nvSpPr>
          <p:spPr>
            <a:xfrm>
              <a:off x="10636374" y="4859430"/>
              <a:ext cx="833946" cy="317548"/>
            </a:xfrm>
            <a:prstGeom prst="roundRect">
              <a:avLst/>
            </a:prstGeom>
            <a:solidFill>
              <a:srgbClr val="FCC800">
                <a:lumMod val="40000"/>
                <a:lumOff val="60000"/>
              </a:srgbClr>
            </a:solidFill>
            <a:ln w="7600" cap="flat">
              <a:solidFill>
                <a:srgbClr val="000000"/>
              </a:solidFill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/>
                </a:rPr>
                <a:t>测试工具支持</a:t>
              </a:r>
            </a:p>
          </p:txBody>
        </p:sp>
        <p:sp>
          <p:nvSpPr>
            <p:cNvPr id="36" name="流程">
              <a:extLst>
                <a:ext uri="{FF2B5EF4-FFF2-40B4-BE49-F238E27FC236}">
                  <a16:creationId xmlns:a16="http://schemas.microsoft.com/office/drawing/2014/main" id="{3BAA2B94-8428-4B56-B13D-C5BA7F9A2FA1}"/>
                </a:ext>
              </a:extLst>
            </p:cNvPr>
            <p:cNvSpPr/>
            <p:nvPr/>
          </p:nvSpPr>
          <p:spPr>
            <a:xfrm>
              <a:off x="10641540" y="4446091"/>
              <a:ext cx="833946" cy="321944"/>
            </a:xfrm>
            <a:prstGeom prst="roundRect">
              <a:avLst/>
            </a:prstGeom>
            <a:solidFill>
              <a:srgbClr val="FCC800">
                <a:lumMod val="40000"/>
                <a:lumOff val="60000"/>
              </a:srgbClr>
            </a:solidFill>
            <a:ln w="7600" cap="flat">
              <a:solidFill>
                <a:srgbClr val="000000"/>
              </a:solidFill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独立测试上下文</a:t>
              </a:r>
            </a:p>
          </p:txBody>
        </p:sp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83E7A291-BF78-49B3-BD8B-CE8B2438B2FB}"/>
                </a:ext>
              </a:extLst>
            </p:cNvPr>
            <p:cNvSpPr/>
            <p:nvPr/>
          </p:nvSpPr>
          <p:spPr>
            <a:xfrm>
              <a:off x="10570239" y="4302066"/>
              <a:ext cx="978549" cy="916665"/>
            </a:xfrm>
            <a:prstGeom prst="rect">
              <a:avLst/>
            </a:prstGeom>
            <a:noFill/>
            <a:ln w="7600" cap="flat">
              <a:solidFill>
                <a:srgbClr val="1D1D1A"/>
              </a:solidFill>
              <a:round/>
            </a:ln>
          </p:spPr>
          <p:txBody>
            <a:bodyPr/>
            <a:lstStyle/>
            <a:p>
              <a:pPr marL="0" marR="0" lvl="0" indent="0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流程">
              <a:extLst>
                <a:ext uri="{FF2B5EF4-FFF2-40B4-BE49-F238E27FC236}">
                  <a16:creationId xmlns:a16="http://schemas.microsoft.com/office/drawing/2014/main" id="{7AAB5C3B-03B5-43AA-9986-3F53F8ABF948}"/>
                </a:ext>
              </a:extLst>
            </p:cNvPr>
            <p:cNvSpPr/>
            <p:nvPr/>
          </p:nvSpPr>
          <p:spPr>
            <a:xfrm>
              <a:off x="10687495" y="4200690"/>
              <a:ext cx="742621" cy="154003"/>
            </a:xfrm>
            <a:custGeom>
              <a:avLst/>
              <a:gdLst>
                <a:gd name="connsiteX0" fmla="*/ 0 w 1260650"/>
                <a:gd name="connsiteY0" fmla="*/ 181080 h 362159"/>
                <a:gd name="connsiteX1" fmla="*/ 630325 w 1260650"/>
                <a:gd name="connsiteY1" fmla="*/ 0 h 362159"/>
                <a:gd name="connsiteX2" fmla="*/ 1260650 w 1260650"/>
                <a:gd name="connsiteY2" fmla="*/ 181080 h 362159"/>
                <a:gd name="connsiteX3" fmla="*/ 630325 w 1260650"/>
                <a:gd name="connsiteY3" fmla="*/ 362159 h 36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0650" h="362159" stroke="0">
                  <a:moveTo>
                    <a:pt x="1260650" y="362159"/>
                  </a:moveTo>
                  <a:lnTo>
                    <a:pt x="1260650" y="0"/>
                  </a:lnTo>
                  <a:lnTo>
                    <a:pt x="0" y="0"/>
                  </a:lnTo>
                  <a:lnTo>
                    <a:pt x="0" y="362159"/>
                  </a:lnTo>
                  <a:lnTo>
                    <a:pt x="1260650" y="362159"/>
                  </a:lnTo>
                  <a:close/>
                </a:path>
                <a:path w="1260650" h="362159" fill="none">
                  <a:moveTo>
                    <a:pt x="1260650" y="362159"/>
                  </a:moveTo>
                  <a:lnTo>
                    <a:pt x="1260650" y="0"/>
                  </a:lnTo>
                  <a:lnTo>
                    <a:pt x="0" y="0"/>
                  </a:lnTo>
                  <a:lnTo>
                    <a:pt x="0" y="362159"/>
                  </a:lnTo>
                  <a:lnTo>
                    <a:pt x="1260650" y="362159"/>
                  </a:lnTo>
                  <a:close/>
                </a:path>
              </a:pathLst>
            </a:custGeom>
            <a:solidFill>
              <a:srgbClr val="FFFFFF"/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t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/>
                </a:rPr>
                <a:t>测试</a:t>
              </a: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/>
                </a:rPr>
                <a:t>&amp;</a:t>
              </a: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/>
                </a:rPr>
                <a:t>调测</a:t>
              </a:r>
            </a:p>
          </p:txBody>
        </p:sp>
        <p:sp>
          <p:nvSpPr>
            <p:cNvPr id="39" name="圆角矩形">
              <a:extLst>
                <a:ext uri="{FF2B5EF4-FFF2-40B4-BE49-F238E27FC236}">
                  <a16:creationId xmlns:a16="http://schemas.microsoft.com/office/drawing/2014/main" id="{8C4D8FB6-BB98-4DD4-9A8C-407B0244C3F6}"/>
                </a:ext>
              </a:extLst>
            </p:cNvPr>
            <p:cNvSpPr/>
            <p:nvPr/>
          </p:nvSpPr>
          <p:spPr>
            <a:xfrm>
              <a:off x="9619691" y="2996796"/>
              <a:ext cx="1929096" cy="930163"/>
            </a:xfrm>
            <a:prstGeom prst="rect">
              <a:avLst/>
            </a:prstGeom>
            <a:noFill/>
            <a:ln w="7600" cap="flat">
              <a:solidFill>
                <a:srgbClr val="1D1D1A"/>
              </a:solidFill>
              <a:round/>
            </a:ln>
          </p:spPr>
          <p:txBody>
            <a:bodyPr/>
            <a:lstStyle/>
            <a:p>
              <a:pPr marL="0" marR="0" lvl="0" indent="0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流程">
              <a:extLst>
                <a:ext uri="{FF2B5EF4-FFF2-40B4-BE49-F238E27FC236}">
                  <a16:creationId xmlns:a16="http://schemas.microsoft.com/office/drawing/2014/main" id="{821D9CB9-9895-4972-9937-29BCE75C41B3}"/>
                </a:ext>
              </a:extLst>
            </p:cNvPr>
            <p:cNvSpPr/>
            <p:nvPr/>
          </p:nvSpPr>
          <p:spPr>
            <a:xfrm>
              <a:off x="9910528" y="2893928"/>
              <a:ext cx="574562" cy="156271"/>
            </a:xfrm>
            <a:custGeom>
              <a:avLst/>
              <a:gdLst>
                <a:gd name="connsiteX0" fmla="*/ 0 w 1260650"/>
                <a:gd name="connsiteY0" fmla="*/ 181080 h 362159"/>
                <a:gd name="connsiteX1" fmla="*/ 630325 w 1260650"/>
                <a:gd name="connsiteY1" fmla="*/ 0 h 362159"/>
                <a:gd name="connsiteX2" fmla="*/ 1260650 w 1260650"/>
                <a:gd name="connsiteY2" fmla="*/ 181080 h 362159"/>
                <a:gd name="connsiteX3" fmla="*/ 630325 w 1260650"/>
                <a:gd name="connsiteY3" fmla="*/ 362159 h 36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0650" h="362159" stroke="0">
                  <a:moveTo>
                    <a:pt x="1260650" y="362159"/>
                  </a:moveTo>
                  <a:lnTo>
                    <a:pt x="1260650" y="0"/>
                  </a:lnTo>
                  <a:lnTo>
                    <a:pt x="0" y="0"/>
                  </a:lnTo>
                  <a:lnTo>
                    <a:pt x="0" y="362159"/>
                  </a:lnTo>
                  <a:lnTo>
                    <a:pt x="1260650" y="362159"/>
                  </a:lnTo>
                  <a:close/>
                </a:path>
                <a:path w="1260650" h="362159" fill="none">
                  <a:moveTo>
                    <a:pt x="1260650" y="362159"/>
                  </a:moveTo>
                  <a:lnTo>
                    <a:pt x="1260650" y="0"/>
                  </a:lnTo>
                  <a:lnTo>
                    <a:pt x="0" y="0"/>
                  </a:lnTo>
                  <a:lnTo>
                    <a:pt x="0" y="362159"/>
                  </a:lnTo>
                  <a:lnTo>
                    <a:pt x="1260650" y="362159"/>
                  </a:lnTo>
                  <a:close/>
                </a:path>
              </a:pathLst>
            </a:custGeom>
            <a:solidFill>
              <a:srgbClr val="FFFFFF"/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t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/>
                </a:rPr>
                <a:t>功能扩展</a:t>
              </a:r>
            </a:p>
          </p:txBody>
        </p:sp>
        <p:sp>
          <p:nvSpPr>
            <p:cNvPr id="41" name="流程">
              <a:extLst>
                <a:ext uri="{FF2B5EF4-FFF2-40B4-BE49-F238E27FC236}">
                  <a16:creationId xmlns:a16="http://schemas.microsoft.com/office/drawing/2014/main" id="{376E5B8D-4938-426A-80D0-31342B5FF0D6}"/>
                </a:ext>
              </a:extLst>
            </p:cNvPr>
            <p:cNvSpPr/>
            <p:nvPr/>
          </p:nvSpPr>
          <p:spPr>
            <a:xfrm>
              <a:off x="9737586" y="3532447"/>
              <a:ext cx="725271" cy="304613"/>
            </a:xfrm>
            <a:prstGeom prst="roundRect">
              <a:avLst/>
            </a:prstGeom>
            <a:solidFill>
              <a:srgbClr val="FCC800">
                <a:lumMod val="40000"/>
                <a:lumOff val="60000"/>
              </a:srgb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应用缓存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框架</a:t>
              </a:r>
            </a:p>
          </p:txBody>
        </p:sp>
        <p:sp>
          <p:nvSpPr>
            <p:cNvPr id="42" name="流程">
              <a:extLst>
                <a:ext uri="{FF2B5EF4-FFF2-40B4-BE49-F238E27FC236}">
                  <a16:creationId xmlns:a16="http://schemas.microsoft.com/office/drawing/2014/main" id="{DC15E682-6A18-41C4-B90A-7E14BEE4AA0A}"/>
                </a:ext>
              </a:extLst>
            </p:cNvPr>
            <p:cNvSpPr/>
            <p:nvPr/>
          </p:nvSpPr>
          <p:spPr>
            <a:xfrm>
              <a:off x="10613827" y="3132879"/>
              <a:ext cx="725271" cy="304613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任务调度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</a:t>
              </a:r>
            </a:p>
          </p:txBody>
        </p:sp>
        <p:sp>
          <p:nvSpPr>
            <p:cNvPr id="43" name="流程">
              <a:extLst>
                <a:ext uri="{FF2B5EF4-FFF2-40B4-BE49-F238E27FC236}">
                  <a16:creationId xmlns:a16="http://schemas.microsoft.com/office/drawing/2014/main" id="{02B94115-6F67-448C-B647-271AE564DA85}"/>
                </a:ext>
              </a:extLst>
            </p:cNvPr>
            <p:cNvSpPr/>
            <p:nvPr/>
          </p:nvSpPr>
          <p:spPr>
            <a:xfrm>
              <a:off x="10603953" y="3524065"/>
              <a:ext cx="725271" cy="304613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事件发布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订阅机制</a:t>
              </a:r>
            </a:p>
          </p:txBody>
        </p:sp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8173E601-F44F-4350-8BAA-03C80E26AF41}"/>
                </a:ext>
              </a:extLst>
            </p:cNvPr>
            <p:cNvSpPr/>
            <p:nvPr/>
          </p:nvSpPr>
          <p:spPr>
            <a:xfrm>
              <a:off x="6574715" y="1633929"/>
              <a:ext cx="5060823" cy="1127192"/>
            </a:xfrm>
            <a:prstGeom prst="rect">
              <a:avLst/>
            </a:prstGeom>
            <a:noFill/>
            <a:ln w="7600" cap="flat">
              <a:solidFill>
                <a:srgbClr val="DDDDDD">
                  <a:lumMod val="10000"/>
                </a:srgbClr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Rectangle">
              <a:extLst>
                <a:ext uri="{FF2B5EF4-FFF2-40B4-BE49-F238E27FC236}">
                  <a16:creationId xmlns:a16="http://schemas.microsoft.com/office/drawing/2014/main" id="{7CD2153B-650C-4111-B8B6-B20ADC0B170B}"/>
                </a:ext>
              </a:extLst>
            </p:cNvPr>
            <p:cNvSpPr/>
            <p:nvPr/>
          </p:nvSpPr>
          <p:spPr>
            <a:xfrm>
              <a:off x="6220064" y="1633929"/>
              <a:ext cx="371470" cy="1115294"/>
            </a:xfrm>
            <a:custGeom>
              <a:avLst/>
              <a:gdLst>
                <a:gd name="connsiteX0" fmla="*/ 850584 w 850584"/>
                <a:gd name="connsiteY0" fmla="*/ 199611 h 394581"/>
              </a:gdLst>
              <a:ahLst/>
              <a:cxnLst>
                <a:cxn ang="0">
                  <a:pos x="connsiteX0" y="connsiteY0"/>
                </a:cxn>
              </a:cxnLst>
              <a:rect l="l" t="t" r="r" b="b"/>
              <a:pathLst>
                <a:path w="850584" h="394581" stroke="0">
                  <a:moveTo>
                    <a:pt x="0" y="0"/>
                  </a:moveTo>
                  <a:lnTo>
                    <a:pt x="850584" y="0"/>
                  </a:lnTo>
                  <a:lnTo>
                    <a:pt x="850584" y="394581"/>
                  </a:lnTo>
                  <a:lnTo>
                    <a:pt x="0" y="394581"/>
                  </a:lnTo>
                  <a:lnTo>
                    <a:pt x="0" y="0"/>
                  </a:lnTo>
                  <a:close/>
                </a:path>
                <a:path w="850584" h="394581" fill="none">
                  <a:moveTo>
                    <a:pt x="0" y="0"/>
                  </a:moveTo>
                  <a:lnTo>
                    <a:pt x="850584" y="0"/>
                  </a:lnTo>
                  <a:lnTo>
                    <a:pt x="850584" y="394581"/>
                  </a:lnTo>
                  <a:lnTo>
                    <a:pt x="0" y="39458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vert="eaVert"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/>
                </a:rPr>
                <a:t>应用生态层</a:t>
              </a:r>
            </a:p>
          </p:txBody>
        </p:sp>
        <p:sp>
          <p:nvSpPr>
            <p:cNvPr id="46" name="流程">
              <a:extLst>
                <a:ext uri="{FF2B5EF4-FFF2-40B4-BE49-F238E27FC236}">
                  <a16:creationId xmlns:a16="http://schemas.microsoft.com/office/drawing/2014/main" id="{50C30D8F-F592-4DDE-9F8E-D8F4FD27587E}"/>
                </a:ext>
              </a:extLst>
            </p:cNvPr>
            <p:cNvSpPr/>
            <p:nvPr/>
          </p:nvSpPr>
          <p:spPr>
            <a:xfrm>
              <a:off x="6746470" y="2270273"/>
              <a:ext cx="725271" cy="304613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CAX-RS</a:t>
              </a:r>
            </a:p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应用打包</a:t>
              </a:r>
            </a:p>
          </p:txBody>
        </p:sp>
        <p:sp>
          <p:nvSpPr>
            <p:cNvPr id="47" name="流程">
              <a:extLst>
                <a:ext uri="{FF2B5EF4-FFF2-40B4-BE49-F238E27FC236}">
                  <a16:creationId xmlns:a16="http://schemas.microsoft.com/office/drawing/2014/main" id="{522F2F5A-54BB-418F-9D88-2EACBE7567E1}"/>
                </a:ext>
              </a:extLst>
            </p:cNvPr>
            <p:cNvSpPr/>
            <p:nvPr/>
          </p:nvSpPr>
          <p:spPr>
            <a:xfrm>
              <a:off x="6742458" y="1830471"/>
              <a:ext cx="725271" cy="304613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Quick Start</a:t>
              </a: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向导</a:t>
              </a:r>
            </a:p>
          </p:txBody>
        </p:sp>
        <p:sp>
          <p:nvSpPr>
            <p:cNvPr id="48" name="流程">
              <a:extLst>
                <a:ext uri="{FF2B5EF4-FFF2-40B4-BE49-F238E27FC236}">
                  <a16:creationId xmlns:a16="http://schemas.microsoft.com/office/drawing/2014/main" id="{F365EDB7-A156-4783-BFB6-E089D4D4C197}"/>
                </a:ext>
              </a:extLst>
            </p:cNvPr>
            <p:cNvSpPr/>
            <p:nvPr/>
          </p:nvSpPr>
          <p:spPr>
            <a:xfrm>
              <a:off x="8688279" y="2424433"/>
              <a:ext cx="735964" cy="217582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Snmp4cj</a:t>
              </a: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组件</a:t>
              </a:r>
            </a:p>
          </p:txBody>
        </p:sp>
        <p:sp>
          <p:nvSpPr>
            <p:cNvPr id="49" name="流程">
              <a:extLst>
                <a:ext uri="{FF2B5EF4-FFF2-40B4-BE49-F238E27FC236}">
                  <a16:creationId xmlns:a16="http://schemas.microsoft.com/office/drawing/2014/main" id="{34A30FD6-B012-43DC-A5D5-AB7375A74E9E}"/>
                </a:ext>
              </a:extLst>
            </p:cNvPr>
            <p:cNvSpPr/>
            <p:nvPr/>
          </p:nvSpPr>
          <p:spPr>
            <a:xfrm>
              <a:off x="8688279" y="2175655"/>
              <a:ext cx="735964" cy="217582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ORM</a:t>
              </a: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组件</a:t>
              </a:r>
            </a:p>
          </p:txBody>
        </p:sp>
        <p:sp>
          <p:nvSpPr>
            <p:cNvPr id="50" name="流程">
              <a:extLst>
                <a:ext uri="{FF2B5EF4-FFF2-40B4-BE49-F238E27FC236}">
                  <a16:creationId xmlns:a16="http://schemas.microsoft.com/office/drawing/2014/main" id="{A858A5C6-7804-4FD6-8235-656B22E90BDF}"/>
                </a:ext>
              </a:extLst>
            </p:cNvPr>
            <p:cNvSpPr/>
            <p:nvPr/>
          </p:nvSpPr>
          <p:spPr>
            <a:xfrm>
              <a:off x="8693445" y="1911128"/>
              <a:ext cx="735964" cy="217582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Rest</a:t>
              </a: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组件</a:t>
              </a:r>
            </a:p>
          </p:txBody>
        </p:sp>
        <p:sp>
          <p:nvSpPr>
            <p:cNvPr id="51" name="圆角矩形">
              <a:extLst>
                <a:ext uri="{FF2B5EF4-FFF2-40B4-BE49-F238E27FC236}">
                  <a16:creationId xmlns:a16="http://schemas.microsoft.com/office/drawing/2014/main" id="{66D6A1D5-FE07-48E7-B747-060B32932607}"/>
                </a:ext>
              </a:extLst>
            </p:cNvPr>
            <p:cNvSpPr/>
            <p:nvPr/>
          </p:nvSpPr>
          <p:spPr>
            <a:xfrm>
              <a:off x="8622155" y="1767106"/>
              <a:ext cx="910559" cy="916664"/>
            </a:xfrm>
            <a:prstGeom prst="rect">
              <a:avLst/>
            </a:prstGeom>
            <a:noFill/>
            <a:ln w="7600" cap="flat">
              <a:solidFill>
                <a:srgbClr val="D8D2B9"/>
              </a:solidFill>
              <a:round/>
            </a:ln>
          </p:spPr>
          <p:txBody>
            <a:bodyPr/>
            <a:lstStyle/>
            <a:p>
              <a:pPr marL="0" marR="0" lvl="0" indent="0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流程">
              <a:extLst>
                <a:ext uri="{FF2B5EF4-FFF2-40B4-BE49-F238E27FC236}">
                  <a16:creationId xmlns:a16="http://schemas.microsoft.com/office/drawing/2014/main" id="{84E31BFD-F0B5-4909-A21B-95E603C4CF93}"/>
                </a:ext>
              </a:extLst>
            </p:cNvPr>
            <p:cNvSpPr/>
            <p:nvPr/>
          </p:nvSpPr>
          <p:spPr>
            <a:xfrm>
              <a:off x="8755885" y="1665730"/>
              <a:ext cx="578455" cy="154003"/>
            </a:xfrm>
            <a:custGeom>
              <a:avLst/>
              <a:gdLst>
                <a:gd name="connsiteX0" fmla="*/ 0 w 1260650"/>
                <a:gd name="connsiteY0" fmla="*/ 181080 h 362159"/>
                <a:gd name="connsiteX1" fmla="*/ 630325 w 1260650"/>
                <a:gd name="connsiteY1" fmla="*/ 0 h 362159"/>
                <a:gd name="connsiteX2" fmla="*/ 1260650 w 1260650"/>
                <a:gd name="connsiteY2" fmla="*/ 181080 h 362159"/>
                <a:gd name="connsiteX3" fmla="*/ 630325 w 1260650"/>
                <a:gd name="connsiteY3" fmla="*/ 362159 h 36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0650" h="362159" stroke="0">
                  <a:moveTo>
                    <a:pt x="1260650" y="362159"/>
                  </a:moveTo>
                  <a:lnTo>
                    <a:pt x="1260650" y="0"/>
                  </a:lnTo>
                  <a:lnTo>
                    <a:pt x="0" y="0"/>
                  </a:lnTo>
                  <a:lnTo>
                    <a:pt x="0" y="362159"/>
                  </a:lnTo>
                  <a:lnTo>
                    <a:pt x="1260650" y="362159"/>
                  </a:lnTo>
                  <a:close/>
                </a:path>
                <a:path w="1260650" h="362159" fill="none">
                  <a:moveTo>
                    <a:pt x="1260650" y="362159"/>
                  </a:moveTo>
                  <a:lnTo>
                    <a:pt x="1260650" y="0"/>
                  </a:lnTo>
                  <a:lnTo>
                    <a:pt x="0" y="0"/>
                  </a:lnTo>
                  <a:lnTo>
                    <a:pt x="0" y="362159"/>
                  </a:lnTo>
                  <a:lnTo>
                    <a:pt x="1260650" y="362159"/>
                  </a:lnTo>
                  <a:close/>
                </a:path>
              </a:pathLst>
            </a:custGeom>
            <a:solidFill>
              <a:srgbClr val="FFFFFF"/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t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/>
                </a:rPr>
                <a:t>生态套件</a:t>
              </a:r>
            </a:p>
          </p:txBody>
        </p:sp>
        <p:sp>
          <p:nvSpPr>
            <p:cNvPr id="53" name="流程">
              <a:extLst>
                <a:ext uri="{FF2B5EF4-FFF2-40B4-BE49-F238E27FC236}">
                  <a16:creationId xmlns:a16="http://schemas.microsoft.com/office/drawing/2014/main" id="{801B0222-A9E4-445B-A39F-AE813278585A}"/>
                </a:ext>
              </a:extLst>
            </p:cNvPr>
            <p:cNvSpPr/>
            <p:nvPr/>
          </p:nvSpPr>
          <p:spPr>
            <a:xfrm>
              <a:off x="7682865" y="1831533"/>
              <a:ext cx="725271" cy="304613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RAD</a:t>
              </a:r>
            </a:p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应用原型</a:t>
              </a:r>
            </a:p>
          </p:txBody>
        </p:sp>
        <p:sp>
          <p:nvSpPr>
            <p:cNvPr id="54" name="流程">
              <a:extLst>
                <a:ext uri="{FF2B5EF4-FFF2-40B4-BE49-F238E27FC236}">
                  <a16:creationId xmlns:a16="http://schemas.microsoft.com/office/drawing/2014/main" id="{2DF566E1-27BA-4B4C-9E6F-54CDF8112EDF}"/>
                </a:ext>
              </a:extLst>
            </p:cNvPr>
            <p:cNvSpPr/>
            <p:nvPr/>
          </p:nvSpPr>
          <p:spPr>
            <a:xfrm>
              <a:off x="9818864" y="2317423"/>
              <a:ext cx="725271" cy="304614"/>
            </a:xfrm>
            <a:prstGeom prst="roundRect">
              <a:avLst/>
            </a:prstGeom>
            <a:solidFill>
              <a:srgbClr val="FCC800">
                <a:lumMod val="40000"/>
                <a:lumOff val="60000"/>
              </a:srgb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统一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配置文件</a:t>
              </a:r>
            </a:p>
          </p:txBody>
        </p:sp>
        <p:sp>
          <p:nvSpPr>
            <p:cNvPr id="55" name="流程">
              <a:extLst>
                <a:ext uri="{FF2B5EF4-FFF2-40B4-BE49-F238E27FC236}">
                  <a16:creationId xmlns:a16="http://schemas.microsoft.com/office/drawing/2014/main" id="{DB39399A-AC09-4200-A03D-8622286928FA}"/>
                </a:ext>
              </a:extLst>
            </p:cNvPr>
            <p:cNvSpPr/>
            <p:nvPr/>
          </p:nvSpPr>
          <p:spPr>
            <a:xfrm>
              <a:off x="9818864" y="1912033"/>
              <a:ext cx="725271" cy="304614"/>
            </a:xfrm>
            <a:prstGeom prst="roundRect">
              <a:avLst/>
            </a:prstGeom>
            <a:solidFill>
              <a:srgbClr val="FCC800">
                <a:lumMod val="40000"/>
                <a:lumOff val="60000"/>
              </a:srgb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/>
                </a:rPr>
                <a:t>组件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endParaRPr>
            </a:p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/>
                </a:rPr>
                <a:t>注册发现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86176DD5-2FE0-4573-9724-7AD3C64CA010}"/>
                </a:ext>
              </a:extLst>
            </p:cNvPr>
            <p:cNvGrpSpPr/>
            <p:nvPr/>
          </p:nvGrpSpPr>
          <p:grpSpPr>
            <a:xfrm>
              <a:off x="9619464" y="1666635"/>
              <a:ext cx="1929323" cy="1018041"/>
              <a:chOff x="8774427" y="2353563"/>
              <a:chExt cx="966133" cy="704947"/>
            </a:xfrm>
          </p:grpSpPr>
          <p:sp>
            <p:nvSpPr>
              <p:cNvPr id="61" name="圆角矩形">
                <a:extLst>
                  <a:ext uri="{FF2B5EF4-FFF2-40B4-BE49-F238E27FC236}">
                    <a16:creationId xmlns:a16="http://schemas.microsoft.com/office/drawing/2014/main" id="{7C1413ED-A065-45CF-A9A9-4301A79F92BF}"/>
                  </a:ext>
                </a:extLst>
              </p:cNvPr>
              <p:cNvSpPr/>
              <p:nvPr/>
            </p:nvSpPr>
            <p:spPr>
              <a:xfrm>
                <a:off x="8774427" y="2423759"/>
                <a:ext cx="966133" cy="634751"/>
              </a:xfrm>
              <a:prstGeom prst="rect">
                <a:avLst/>
              </a:prstGeom>
              <a:noFill/>
              <a:ln w="7600" cap="flat">
                <a:solidFill>
                  <a:srgbClr val="D8D2B9"/>
                </a:solidFill>
                <a:round/>
              </a:ln>
            </p:spPr>
            <p:txBody>
              <a:bodyPr/>
              <a:lstStyle/>
              <a:p>
                <a:pPr marL="0" marR="0" lvl="0" indent="0" defTabSz="91447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" name="流程">
                <a:extLst>
                  <a:ext uri="{FF2B5EF4-FFF2-40B4-BE49-F238E27FC236}">
                    <a16:creationId xmlns:a16="http://schemas.microsoft.com/office/drawing/2014/main" id="{9C419A8B-1927-4C67-9581-ACB367187F9D}"/>
                  </a:ext>
                </a:extLst>
              </p:cNvPr>
              <p:cNvSpPr/>
              <p:nvPr/>
            </p:nvSpPr>
            <p:spPr>
              <a:xfrm>
                <a:off x="8822335" y="2353563"/>
                <a:ext cx="325971" cy="90729"/>
              </a:xfrm>
              <a:prstGeom prst="rect">
                <a:avLst/>
              </a:prstGeom>
              <a:solidFill>
                <a:srgbClr val="FFFFFF"/>
              </a:solidFill>
              <a:ln w="7600" cap="flat">
                <a:noFill/>
                <a:miter/>
              </a:ln>
            </p:spPr>
            <p:txBody>
              <a:bodyPr wrap="square" lIns="38095" tIns="38095" rIns="38095" bIns="38095" rtlCol="0" anchor="t"/>
              <a:lstStyle/>
              <a:p>
                <a:pPr marL="0" marR="0" lvl="0" indent="0" algn="ctr" defTabSz="91447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/>
                  </a:rPr>
                  <a:t>套件系统</a:t>
                </a:r>
              </a:p>
            </p:txBody>
          </p:sp>
        </p:grpSp>
        <p:sp>
          <p:nvSpPr>
            <p:cNvPr id="57" name="流程">
              <a:extLst>
                <a:ext uri="{FF2B5EF4-FFF2-40B4-BE49-F238E27FC236}">
                  <a16:creationId xmlns:a16="http://schemas.microsoft.com/office/drawing/2014/main" id="{1478997B-2A60-4E70-871C-425617837CAE}"/>
                </a:ext>
              </a:extLst>
            </p:cNvPr>
            <p:cNvSpPr/>
            <p:nvPr/>
          </p:nvSpPr>
          <p:spPr>
            <a:xfrm>
              <a:off x="10667027" y="1886845"/>
              <a:ext cx="725271" cy="304614"/>
            </a:xfrm>
            <a:prstGeom prst="roundRect">
              <a:avLst/>
            </a:prstGeom>
            <a:solidFill>
              <a:srgbClr val="FCC800">
                <a:lumMod val="40000"/>
                <a:lumOff val="60000"/>
              </a:srgb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自动化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依赖管理</a:t>
              </a:r>
            </a:p>
          </p:txBody>
        </p:sp>
        <p:sp>
          <p:nvSpPr>
            <p:cNvPr id="58" name="流程">
              <a:extLst>
                <a:ext uri="{FF2B5EF4-FFF2-40B4-BE49-F238E27FC236}">
                  <a16:creationId xmlns:a16="http://schemas.microsoft.com/office/drawing/2014/main" id="{C0C2BAA3-0BE5-4920-9DBD-155B170869B5}"/>
                </a:ext>
              </a:extLst>
            </p:cNvPr>
            <p:cNvSpPr/>
            <p:nvPr/>
          </p:nvSpPr>
          <p:spPr>
            <a:xfrm>
              <a:off x="10665947" y="2328161"/>
              <a:ext cx="725271" cy="304614"/>
            </a:xfrm>
            <a:prstGeom prst="roundRect">
              <a:avLst/>
            </a:prstGeom>
            <a:solidFill>
              <a:srgbClr val="FCC800">
                <a:lumMod val="40000"/>
                <a:lumOff val="60000"/>
              </a:srgb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Boot</a:t>
              </a: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测试工具支持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流程">
              <a:extLst>
                <a:ext uri="{FF2B5EF4-FFF2-40B4-BE49-F238E27FC236}">
                  <a16:creationId xmlns:a16="http://schemas.microsoft.com/office/drawing/2014/main" id="{379B793D-226D-4C3F-84B6-5E7F65D088C8}"/>
                </a:ext>
              </a:extLst>
            </p:cNvPr>
            <p:cNvSpPr/>
            <p:nvPr/>
          </p:nvSpPr>
          <p:spPr>
            <a:xfrm>
              <a:off x="7682865" y="2272126"/>
              <a:ext cx="725271" cy="304613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7600" cap="flat">
              <a:noFill/>
              <a:miter/>
            </a:ln>
          </p:spPr>
          <p:txBody>
            <a:bodyPr wrap="square" lIns="38095" tIns="38095" rIns="38095" bIns="38095" rtlCol="0" anchor="ctr"/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MVC</a:t>
              </a:r>
            </a:p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应用打包</a:t>
              </a: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ED458435-A18D-4E8B-B514-B6327AB58E9E}"/>
                </a:ext>
              </a:extLst>
            </p:cNvPr>
            <p:cNvSpPr/>
            <p:nvPr/>
          </p:nvSpPr>
          <p:spPr>
            <a:xfrm>
              <a:off x="6273034" y="1125539"/>
              <a:ext cx="5513185" cy="4320480"/>
            </a:xfrm>
            <a:prstGeom prst="rect">
              <a:avLst/>
            </a:prstGeom>
            <a:noFill/>
            <a:ln w="12700" cap="flat" cmpd="sng" algn="ctr">
              <a:solidFill>
                <a:srgbClr val="DDDDDD">
                  <a:lumMod val="25000"/>
                </a:srgbClr>
              </a:solidFill>
              <a:prstDash val="dash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2" name="表格 63">
            <a:extLst>
              <a:ext uri="{FF2B5EF4-FFF2-40B4-BE49-F238E27FC236}">
                <a16:creationId xmlns:a16="http://schemas.microsoft.com/office/drawing/2014/main" id="{7799FE47-5DB8-4979-9B2F-C78ECB5B1E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714579"/>
              </p:ext>
            </p:extLst>
          </p:nvPr>
        </p:nvGraphicFramePr>
        <p:xfrm>
          <a:off x="6353716" y="1763583"/>
          <a:ext cx="5171304" cy="466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3768">
                  <a:extLst>
                    <a:ext uri="{9D8B030D-6E8A-4147-A177-3AD203B41FA5}">
                      <a16:colId xmlns:a16="http://schemas.microsoft.com/office/drawing/2014/main" val="2801671107"/>
                    </a:ext>
                  </a:extLst>
                </a:gridCol>
                <a:gridCol w="1723768">
                  <a:extLst>
                    <a:ext uri="{9D8B030D-6E8A-4147-A177-3AD203B41FA5}">
                      <a16:colId xmlns:a16="http://schemas.microsoft.com/office/drawing/2014/main" val="453480773"/>
                    </a:ext>
                  </a:extLst>
                </a:gridCol>
                <a:gridCol w="1723768">
                  <a:extLst>
                    <a:ext uri="{9D8B030D-6E8A-4147-A177-3AD203B41FA5}">
                      <a16:colId xmlns:a16="http://schemas.microsoft.com/office/drawing/2014/main" val="1612553951"/>
                    </a:ext>
                  </a:extLst>
                </a:gridCol>
              </a:tblGrid>
              <a:tr h="388537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2024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35909"/>
                  </a:ext>
                </a:extLst>
              </a:tr>
              <a:tr h="38853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Ioc</a:t>
                      </a:r>
                      <a:r>
                        <a:rPr lang="zh-CN" altLang="en-US" dirty="0"/>
                        <a:t>容器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37948"/>
                  </a:ext>
                </a:extLst>
              </a:tr>
              <a:tr h="38853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aop</a:t>
                      </a:r>
                      <a:r>
                        <a:rPr lang="zh-CN" altLang="en-US" dirty="0"/>
                        <a:t>框架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增强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992810"/>
                  </a:ext>
                </a:extLst>
              </a:tr>
              <a:tr h="38853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数据库事务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71788"/>
                  </a:ext>
                </a:extLst>
              </a:tr>
              <a:tr h="38853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集成系统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807804"/>
                  </a:ext>
                </a:extLst>
              </a:tr>
              <a:tr h="38853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RestAPI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增强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013327"/>
                  </a:ext>
                </a:extLst>
              </a:tr>
              <a:tr h="38853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测试支持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541836"/>
                  </a:ext>
                </a:extLst>
              </a:tr>
              <a:tr h="38853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缓存</a:t>
                      </a:r>
                      <a:r>
                        <a:rPr lang="en-US" altLang="zh-CN" dirty="0"/>
                        <a:t>API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776335"/>
                  </a:ext>
                </a:extLst>
              </a:tr>
              <a:tr h="38853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ORM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增强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177383"/>
                  </a:ext>
                </a:extLst>
              </a:tr>
              <a:tr h="38853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表达式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879700"/>
                  </a:ext>
                </a:extLst>
              </a:tr>
              <a:tr h="38853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自定义扩展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548998"/>
                  </a:ext>
                </a:extLst>
              </a:tr>
              <a:tr h="38853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应用打包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272955"/>
                  </a:ext>
                </a:extLst>
              </a:tr>
            </a:tbl>
          </a:graphicData>
        </a:graphic>
      </p:graphicFrame>
      <p:sp>
        <p:nvSpPr>
          <p:cNvPr id="64" name="Subtitle 1">
            <a:extLst>
              <a:ext uri="{FF2B5EF4-FFF2-40B4-BE49-F238E27FC236}">
                <a16:creationId xmlns:a16="http://schemas.microsoft.com/office/drawing/2014/main" id="{AACD7B20-9178-43AD-BA19-A06CCBFAE42C}"/>
              </a:ext>
            </a:extLst>
          </p:cNvPr>
          <p:cNvSpPr txBox="1">
            <a:spLocks/>
          </p:cNvSpPr>
          <p:nvPr/>
        </p:nvSpPr>
        <p:spPr>
          <a:xfrm>
            <a:off x="234944" y="1217281"/>
            <a:ext cx="10740640" cy="42716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b="1" dirty="0">
                <a:solidFill>
                  <a:srgbClr val="A50021"/>
                </a:solidFill>
                <a:latin typeface="微软雅黑"/>
                <a:ea typeface="微软雅黑"/>
                <a:cs typeface="Arial" panose="020B0604020202020204" pitchFamily="34" charset="0"/>
              </a:rPr>
              <a:t>变化：在基础能力之上，增加了对测试、缓存、集成系统的支持。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659931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 rot="1399132">
            <a:off x="12731189" y="205381"/>
            <a:ext cx="1216700" cy="44147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2799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昝望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BB3AAF79-42CD-4403-A28D-ABA8BC3E95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180220"/>
              </p:ext>
            </p:extLst>
          </p:nvPr>
        </p:nvGraphicFramePr>
        <p:xfrm>
          <a:off x="6008490" y="1047243"/>
          <a:ext cx="5866506" cy="4319339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955502">
                  <a:extLst>
                    <a:ext uri="{9D8B030D-6E8A-4147-A177-3AD203B41FA5}">
                      <a16:colId xmlns:a16="http://schemas.microsoft.com/office/drawing/2014/main" val="1083070367"/>
                    </a:ext>
                  </a:extLst>
                </a:gridCol>
                <a:gridCol w="1955502">
                  <a:extLst>
                    <a:ext uri="{9D8B030D-6E8A-4147-A177-3AD203B41FA5}">
                      <a16:colId xmlns:a16="http://schemas.microsoft.com/office/drawing/2014/main" val="2295242844"/>
                    </a:ext>
                  </a:extLst>
                </a:gridCol>
                <a:gridCol w="1955502">
                  <a:extLst>
                    <a:ext uri="{9D8B030D-6E8A-4147-A177-3AD203B41FA5}">
                      <a16:colId xmlns:a16="http://schemas.microsoft.com/office/drawing/2014/main" val="3951207524"/>
                    </a:ext>
                  </a:extLst>
                </a:gridCol>
              </a:tblGrid>
              <a:tr h="2345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特性</a:t>
                      </a:r>
                      <a:endParaRPr lang="zh-CN" altLang="en-US" sz="1000" dirty="0">
                        <a:solidFill>
                          <a:schemeClr val="tx2"/>
                        </a:solidFill>
                        <a:effectLst/>
                      </a:endParaRP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功能点</a:t>
                      </a:r>
                      <a:endParaRPr lang="zh-CN" altLang="en-US" sz="1000" dirty="0">
                        <a:solidFill>
                          <a:schemeClr val="tx2"/>
                        </a:solidFill>
                        <a:effectLst/>
                      </a:endParaRP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effectLst/>
                        </a:rPr>
                        <a:t>AOT</a:t>
                      </a:r>
                      <a:r>
                        <a:rPr lang="zh-CN" altLang="en-US" sz="1000" dirty="0">
                          <a:effectLst/>
                        </a:rPr>
                        <a:t>支持情况</a:t>
                      </a:r>
                      <a:endParaRPr lang="zh-CN" altLang="en-US" sz="1000" dirty="0">
                        <a:solidFill>
                          <a:schemeClr val="tx2"/>
                        </a:solidFill>
                        <a:effectLst/>
                      </a:endParaRP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974740727"/>
                  </a:ext>
                </a:extLst>
              </a:tr>
              <a:tr h="234506"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effectLst/>
                        </a:rPr>
                        <a:t>IOC</a:t>
                      </a:r>
                      <a:r>
                        <a:rPr lang="zh-CN" altLang="en-US" sz="1000" dirty="0">
                          <a:effectLst/>
                        </a:rPr>
                        <a:t>容器</a:t>
                      </a:r>
                      <a:endParaRPr lang="zh-CN" altLang="en-US" sz="1000" b="0" dirty="0">
                        <a:effectLst/>
                      </a:endParaRPr>
                    </a:p>
                  </a:txBody>
                  <a:tcPr marL="40082" marR="40082" marT="20041" marB="2004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自动实例化</a:t>
                      </a: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支持</a:t>
                      </a: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2856722451"/>
                  </a:ext>
                </a:extLst>
              </a:tr>
              <a:tr h="297533">
                <a:tc vMerge="1">
                  <a:txBody>
                    <a:bodyPr/>
                    <a:lstStyle/>
                    <a:p>
                      <a:endParaRPr lang="zh-CN" altLang="en-US" sz="1000" b="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依赖注入（构造函数方式）</a:t>
                      </a: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支持</a:t>
                      </a: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728153515"/>
                  </a:ext>
                </a:extLst>
              </a:tr>
              <a:tr h="297533">
                <a:tc vMerge="1">
                  <a:txBody>
                    <a:bodyPr/>
                    <a:lstStyle/>
                    <a:p>
                      <a:endParaRPr lang="zh-CN" altLang="en-US" sz="1000" b="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>
                          <a:effectLst/>
                        </a:rPr>
                        <a:t>依赖注入（</a:t>
                      </a:r>
                      <a:r>
                        <a:rPr lang="en-US" altLang="zh-CN" sz="1000">
                          <a:effectLst/>
                        </a:rPr>
                        <a:t>set</a:t>
                      </a:r>
                      <a:r>
                        <a:rPr lang="zh-CN" altLang="en-US" sz="1000">
                          <a:effectLst/>
                        </a:rPr>
                        <a:t>方法方式）</a:t>
                      </a: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>
                          <a:effectLst/>
                        </a:rPr>
                        <a:t>支持</a:t>
                      </a: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3608142702"/>
                  </a:ext>
                </a:extLst>
              </a:tr>
              <a:tr h="234506">
                <a:tc vMerge="1">
                  <a:txBody>
                    <a:bodyPr/>
                    <a:lstStyle/>
                    <a:p>
                      <a:endParaRPr lang="zh-CN" altLang="en-US" sz="1000" b="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effectLst/>
                        </a:rPr>
                        <a:t>Lazy</a:t>
                      </a:r>
                      <a:r>
                        <a:rPr lang="zh-CN" altLang="en-US" sz="1000" dirty="0">
                          <a:effectLst/>
                        </a:rPr>
                        <a:t>、单例、原型</a:t>
                      </a: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支持</a:t>
                      </a: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1274354541"/>
                  </a:ext>
                </a:extLst>
              </a:tr>
              <a:tr h="234506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effectLst/>
                      </a:endParaRP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工厂模式</a:t>
                      </a: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支持</a:t>
                      </a: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2065674468"/>
                  </a:ext>
                </a:extLst>
              </a:tr>
              <a:tr h="234506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effectLst/>
                        </a:rPr>
                        <a:t>Config</a:t>
                      </a:r>
                      <a:r>
                        <a:rPr lang="zh-CN" altLang="en-US" sz="1000" dirty="0">
                          <a:effectLst/>
                        </a:rPr>
                        <a:t>模式</a:t>
                      </a: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支持</a:t>
                      </a: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2976374084"/>
                  </a:ext>
                </a:extLst>
              </a:tr>
              <a:tr h="297533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配置注入</a:t>
                      </a: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自动反序列化模型</a:t>
                      </a: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支持</a:t>
                      </a: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3259186427"/>
                  </a:ext>
                </a:extLst>
              </a:tr>
              <a:tr h="297533">
                <a:tc vMerge="1">
                  <a:txBody>
                    <a:bodyPr/>
                    <a:lstStyle/>
                    <a:p>
                      <a:endParaRPr lang="zh-CN" altLang="en-US" sz="100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声明式配置传递</a:t>
                      </a: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支持</a:t>
                      </a: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1719543660"/>
                  </a:ext>
                </a:extLst>
              </a:tr>
              <a:tr h="234506">
                <a:tc vMerge="1"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配置注入</a:t>
                      </a: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effectLst/>
                        </a:rPr>
                        <a:t>Field</a:t>
                      </a:r>
                      <a:r>
                        <a:rPr lang="zh-CN" altLang="en-US" sz="1000" dirty="0">
                          <a:effectLst/>
                        </a:rPr>
                        <a:t>注入</a:t>
                      </a: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支持</a:t>
                      </a: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3798862322"/>
                  </a:ext>
                </a:extLst>
              </a:tr>
              <a:tr h="297533">
                <a:tc rowSpan="6"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切面编程</a:t>
                      </a: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前置处理（</a:t>
                      </a:r>
                      <a:r>
                        <a:rPr lang="en-US" sz="1000" dirty="0">
                          <a:effectLst/>
                        </a:rPr>
                        <a:t>Before）</a:t>
                      </a: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>
                          <a:effectLst/>
                        </a:rPr>
                        <a:t>支持</a:t>
                      </a: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999436315"/>
                  </a:ext>
                </a:extLst>
              </a:tr>
              <a:tr h="234506">
                <a:tc vMerge="1">
                  <a:txBody>
                    <a:bodyPr/>
                    <a:lstStyle/>
                    <a:p>
                      <a:endParaRPr lang="zh-CN" altLang="en-US" sz="100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后置处理（</a:t>
                      </a:r>
                      <a:r>
                        <a:rPr lang="en-US" sz="1000" dirty="0">
                          <a:effectLst/>
                        </a:rPr>
                        <a:t>After）</a:t>
                      </a: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支持</a:t>
                      </a: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2030024088"/>
                  </a:ext>
                </a:extLst>
              </a:tr>
              <a:tr h="297533">
                <a:tc vMerge="1">
                  <a:txBody>
                    <a:bodyPr/>
                    <a:lstStyle/>
                    <a:p>
                      <a:endParaRPr lang="zh-CN" altLang="en-US" sz="100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环绕处理（</a:t>
                      </a:r>
                      <a:r>
                        <a:rPr lang="en-US" sz="1000" dirty="0">
                          <a:effectLst/>
                        </a:rPr>
                        <a:t>Around）</a:t>
                      </a: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>
                          <a:effectLst/>
                        </a:rPr>
                        <a:t>支持</a:t>
                      </a: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3846356854"/>
                  </a:ext>
                </a:extLst>
              </a:tr>
              <a:tr h="297533">
                <a:tc vMerge="1">
                  <a:txBody>
                    <a:bodyPr/>
                    <a:lstStyle/>
                    <a:p>
                      <a:endParaRPr lang="zh-CN" altLang="en-US" sz="100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异常处理（</a:t>
                      </a:r>
                      <a:r>
                        <a:rPr lang="en-US" sz="1000" dirty="0" err="1">
                          <a:effectLst/>
                        </a:rPr>
                        <a:t>AfterThrow</a:t>
                      </a:r>
                      <a:r>
                        <a:rPr lang="en-US" sz="1000" dirty="0">
                          <a:effectLst/>
                        </a:rPr>
                        <a:t>）</a:t>
                      </a: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>
                          <a:effectLst/>
                        </a:rPr>
                        <a:t>支持</a:t>
                      </a: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1270225885"/>
                  </a:ext>
                </a:extLst>
              </a:tr>
              <a:tr h="297533">
                <a:tc vMerge="1">
                  <a:txBody>
                    <a:bodyPr/>
                    <a:lstStyle/>
                    <a:p>
                      <a:endParaRPr lang="zh-CN" altLang="en-US" sz="100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自定义切面（</a:t>
                      </a:r>
                      <a:r>
                        <a:rPr lang="en-US" altLang="zh-CN" sz="1000" dirty="0">
                          <a:effectLst/>
                        </a:rPr>
                        <a:t>or </a:t>
                      </a:r>
                      <a:r>
                        <a:rPr lang="zh-CN" altLang="en-US" sz="1000" dirty="0">
                          <a:effectLst/>
                        </a:rPr>
                        <a:t>切点）</a:t>
                      </a: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>
                          <a:effectLst/>
                        </a:rPr>
                        <a:t>支持</a:t>
                      </a: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1893487253"/>
                  </a:ext>
                </a:extLst>
              </a:tr>
              <a:tr h="297533">
                <a:tc vMerge="1">
                  <a:txBody>
                    <a:bodyPr/>
                    <a:lstStyle/>
                    <a:p>
                      <a:endParaRPr lang="zh-CN" altLang="en-US" sz="100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自定义处理器（</a:t>
                      </a:r>
                      <a:r>
                        <a:rPr lang="en-US" altLang="zh-CN" sz="1000" dirty="0">
                          <a:effectLst/>
                        </a:rPr>
                        <a:t>Advice</a:t>
                      </a:r>
                      <a:r>
                        <a:rPr lang="zh-CN" altLang="en-US" sz="1000" dirty="0">
                          <a:effectLst/>
                        </a:rPr>
                        <a:t>）</a:t>
                      </a: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支持</a:t>
                      </a: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540468231"/>
                  </a:ext>
                </a:extLst>
              </a:tr>
            </a:tbl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2026FBE9-3DCD-435E-998A-62721FEE6DA7}"/>
              </a:ext>
            </a:extLst>
          </p:cNvPr>
          <p:cNvSpPr txBox="1"/>
          <p:nvPr/>
        </p:nvSpPr>
        <p:spPr>
          <a:xfrm>
            <a:off x="6008490" y="541902"/>
            <a:ext cx="5866506" cy="331328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  <a:ln w="9525" cap="flat" cmpd="sng" algn="ctr">
            <a:solidFill>
              <a:srgbClr val="558ED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71" tIns="45685" rIns="91371" bIns="45685" numCol="1" rtlCol="0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eaLnBrk="1" hangingPunct="1">
              <a:buClr>
                <a:srgbClr val="CC9900"/>
              </a:buClr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3760">
              <a:defRPr/>
            </a:pPr>
            <a:r>
              <a:rPr lang="en-US" altLang="zh-CN" sz="1200" kern="0" dirty="0">
                <a:solidFill>
                  <a:prstClr val="white"/>
                </a:solidFill>
              </a:rPr>
              <a:t>IOC</a:t>
            </a:r>
            <a:r>
              <a:rPr lang="zh-CN" altLang="en-US" sz="1200" kern="0" dirty="0">
                <a:solidFill>
                  <a:prstClr val="white"/>
                </a:solidFill>
              </a:rPr>
              <a:t>、</a:t>
            </a:r>
            <a:r>
              <a:rPr lang="en-US" altLang="zh-CN" sz="1200" kern="0" dirty="0">
                <a:solidFill>
                  <a:prstClr val="white"/>
                </a:solidFill>
              </a:rPr>
              <a:t>AOP</a:t>
            </a:r>
            <a:r>
              <a:rPr lang="zh-CN" altLang="en-US" sz="1200" kern="0" dirty="0">
                <a:solidFill>
                  <a:prstClr val="white"/>
                </a:solidFill>
              </a:rPr>
              <a:t>支持情况</a:t>
            </a:r>
            <a:endParaRPr lang="en-US" altLang="zh-CN" sz="1200" kern="0" dirty="0">
              <a:solidFill>
                <a:prstClr val="white"/>
              </a:solidFill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FBEC9DEF-8B2E-4CF4-98F2-16638A5B904B}"/>
              </a:ext>
            </a:extLst>
          </p:cNvPr>
          <p:cNvSpPr txBox="1">
            <a:spLocks noChangeArrowheads="1"/>
          </p:cNvSpPr>
          <p:nvPr/>
        </p:nvSpPr>
        <p:spPr>
          <a:xfrm>
            <a:off x="250916" y="541902"/>
            <a:ext cx="5362322" cy="331328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  <a:ln w="9525" cap="flat" cmpd="sng" algn="ctr">
            <a:solidFill>
              <a:srgbClr val="558ED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71" tIns="45685" rIns="91371" bIns="45685" numCol="1" rtlCol="0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defTabSz="913760">
              <a:buClr>
                <a:srgbClr val="CC9900"/>
              </a:buClr>
              <a:defRPr sz="12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核心技术：基于</a:t>
            </a:r>
            <a:r>
              <a:rPr lang="en-US" altLang="zh-CN" dirty="0"/>
              <a:t>AOT</a:t>
            </a:r>
            <a:r>
              <a:rPr lang="zh-CN" altLang="en-US" dirty="0"/>
              <a:t>，而非反射</a:t>
            </a:r>
          </a:p>
        </p:txBody>
      </p:sp>
      <p:pic>
        <p:nvPicPr>
          <p:cNvPr id="12" name="pic">
            <a:extLst>
              <a:ext uri="{FF2B5EF4-FFF2-40B4-BE49-F238E27FC236}">
                <a16:creationId xmlns:a16="http://schemas.microsoft.com/office/drawing/2014/main" id="{31F18B9B-4081-41B3-9763-82EA22E03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7004" y="1047243"/>
            <a:ext cx="5315051" cy="106419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6BCA960-8F0C-46D9-B05A-799E72E8D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004" y="4420651"/>
            <a:ext cx="5272082" cy="23099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5E50217-F393-4805-B66D-0439883E01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004" y="2285448"/>
            <a:ext cx="2848547" cy="1873205"/>
          </a:xfrm>
          <a:prstGeom prst="rect">
            <a:avLst/>
          </a:prstGeom>
        </p:spPr>
      </p:pic>
      <p:sp>
        <p:nvSpPr>
          <p:cNvPr id="22" name="箭头: 右弧形 21">
            <a:extLst>
              <a:ext uri="{FF2B5EF4-FFF2-40B4-BE49-F238E27FC236}">
                <a16:creationId xmlns:a16="http://schemas.microsoft.com/office/drawing/2014/main" id="{E3C9C102-4A8E-4BE7-9F31-4E85EB4807EA}"/>
              </a:ext>
            </a:extLst>
          </p:cNvPr>
          <p:cNvSpPr/>
          <p:nvPr/>
        </p:nvSpPr>
        <p:spPr>
          <a:xfrm>
            <a:off x="3234070" y="3101101"/>
            <a:ext cx="761702" cy="919285"/>
          </a:xfrm>
          <a:prstGeom prst="curvedLeftArrow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799">
              <a:solidFill>
                <a:schemeClr val="tx1"/>
              </a:solidFill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CC175595-54CC-4A0D-9A85-39FE6FCB8C7D}"/>
              </a:ext>
            </a:extLst>
          </p:cNvPr>
          <p:cNvSpPr txBox="1">
            <a:spLocks noChangeArrowheads="1"/>
          </p:cNvSpPr>
          <p:nvPr/>
        </p:nvSpPr>
        <p:spPr>
          <a:xfrm>
            <a:off x="188008" y="14818"/>
            <a:ext cx="7476640" cy="576014"/>
          </a:xfrm>
          <a:prstGeom prst="rect">
            <a:avLst/>
          </a:prstGeom>
        </p:spPr>
        <p:txBody>
          <a:bodyPr anchor="ctr"/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199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开发框架关键特性：</a:t>
            </a:r>
            <a:r>
              <a:rPr lang="en-US" altLang="zh-CN" sz="2199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IOC&amp;AOP</a:t>
            </a:r>
            <a:endParaRPr lang="zh-CN" altLang="en-US" sz="2199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036FF7BD-7B75-4A3F-A429-9BBCE398510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1794" b="15682"/>
          <a:stretch/>
        </p:blipFill>
        <p:spPr>
          <a:xfrm>
            <a:off x="3995772" y="2283871"/>
            <a:ext cx="1700520" cy="211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819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 rot="1399132">
            <a:off x="12731189" y="205381"/>
            <a:ext cx="1216700" cy="44147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2799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昝望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BDA2BDD-B609-454A-95D8-3A24C0703AC3}"/>
              </a:ext>
            </a:extLst>
          </p:cNvPr>
          <p:cNvSpPr/>
          <p:nvPr/>
        </p:nvSpPr>
        <p:spPr>
          <a:xfrm>
            <a:off x="6518572" y="583740"/>
            <a:ext cx="4478964" cy="369060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>
            <a:r>
              <a:rPr lang="zh-CN" altLang="en-US" sz="1799" dirty="0"/>
              <a:t>采用代码生成</a:t>
            </a:r>
            <a:r>
              <a:rPr lang="en-US" altLang="zh-CN" sz="1799" dirty="0"/>
              <a:t>+AOP</a:t>
            </a:r>
            <a:r>
              <a:rPr lang="zh-CN" altLang="en-US" sz="1799" dirty="0"/>
              <a:t>切面方式实现事务框架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BB3AAF79-42CD-4403-A28D-ABA8BC3E95DA}"/>
              </a:ext>
            </a:extLst>
          </p:cNvPr>
          <p:cNvGraphicFramePr>
            <a:graphicFrameLocks noGrp="1"/>
          </p:cNvGraphicFramePr>
          <p:nvPr/>
        </p:nvGraphicFramePr>
        <p:xfrm>
          <a:off x="212194" y="621024"/>
          <a:ext cx="5866506" cy="5857421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955502">
                  <a:extLst>
                    <a:ext uri="{9D8B030D-6E8A-4147-A177-3AD203B41FA5}">
                      <a16:colId xmlns:a16="http://schemas.microsoft.com/office/drawing/2014/main" val="1083070367"/>
                    </a:ext>
                  </a:extLst>
                </a:gridCol>
                <a:gridCol w="1955502">
                  <a:extLst>
                    <a:ext uri="{9D8B030D-6E8A-4147-A177-3AD203B41FA5}">
                      <a16:colId xmlns:a16="http://schemas.microsoft.com/office/drawing/2014/main" val="2295242844"/>
                    </a:ext>
                  </a:extLst>
                </a:gridCol>
                <a:gridCol w="1955502">
                  <a:extLst>
                    <a:ext uri="{9D8B030D-6E8A-4147-A177-3AD203B41FA5}">
                      <a16:colId xmlns:a16="http://schemas.microsoft.com/office/drawing/2014/main" val="3951207524"/>
                    </a:ext>
                  </a:extLst>
                </a:gridCol>
              </a:tblGrid>
              <a:tr h="3394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当前已支持事务属性</a:t>
                      </a:r>
                      <a:endParaRPr lang="zh-CN" altLang="en-US" sz="1000" dirty="0">
                        <a:solidFill>
                          <a:schemeClr val="tx2"/>
                        </a:solidFill>
                        <a:effectLst/>
                      </a:endParaRP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功能点</a:t>
                      </a:r>
                      <a:endParaRPr lang="zh-CN" altLang="en-US" sz="1000" dirty="0">
                        <a:solidFill>
                          <a:schemeClr val="tx2"/>
                        </a:solidFill>
                        <a:effectLst/>
                      </a:endParaRP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effectLst/>
                        </a:rPr>
                        <a:t>AOT</a:t>
                      </a:r>
                      <a:r>
                        <a:rPr lang="zh-CN" altLang="en-US" sz="1000" dirty="0">
                          <a:effectLst/>
                        </a:rPr>
                        <a:t>支持情况</a:t>
                      </a:r>
                      <a:endParaRPr lang="zh-CN" altLang="en-US" sz="1000" dirty="0">
                        <a:solidFill>
                          <a:schemeClr val="tx2"/>
                        </a:solidFill>
                        <a:effectLst/>
                      </a:endParaRP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974740727"/>
                  </a:ext>
                </a:extLst>
              </a:tr>
              <a:tr h="249964">
                <a:tc rowSpan="7"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事务传播模式</a:t>
                      </a:r>
                      <a:endParaRPr lang="zh-CN" altLang="en-US" sz="1000" b="0" dirty="0">
                        <a:effectLst/>
                      </a:endParaRP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effectLst/>
                        </a:rPr>
                        <a:t>DEMANDED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支持</a:t>
                      </a: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2856722451"/>
                  </a:ext>
                </a:extLst>
              </a:tr>
              <a:tr h="317146">
                <a:tc vMerge="1">
                  <a:txBody>
                    <a:bodyPr/>
                    <a:lstStyle/>
                    <a:p>
                      <a:endParaRPr lang="zh-CN" altLang="en-US" sz="1000" b="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effectLst/>
                        </a:rPr>
                        <a:t>PREFERRED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支持</a:t>
                      </a: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728153515"/>
                  </a:ext>
                </a:extLst>
              </a:tr>
              <a:tr h="317146">
                <a:tc vMerge="1">
                  <a:txBody>
                    <a:bodyPr/>
                    <a:lstStyle/>
                    <a:p>
                      <a:endParaRPr lang="zh-CN" altLang="en-US" sz="1000" b="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effectLst/>
                        </a:rPr>
                        <a:t>OBLIGATORY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>
                          <a:effectLst/>
                        </a:rPr>
                        <a:t>支持</a:t>
                      </a: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3608142702"/>
                  </a:ext>
                </a:extLst>
              </a:tr>
              <a:tr h="249964">
                <a:tc vMerge="1">
                  <a:txBody>
                    <a:bodyPr/>
                    <a:lstStyle/>
                    <a:p>
                      <a:endParaRPr lang="zh-CN" altLang="en-US" sz="1000" b="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effectLst/>
                        </a:rPr>
                        <a:t>DEMANDS_NEW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支持</a:t>
                      </a: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1274354541"/>
                  </a:ext>
                </a:extLst>
              </a:tr>
              <a:tr h="249964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effectLst/>
                        </a:rPr>
                        <a:t>UN_PREFERRED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>
                          <a:effectLst/>
                        </a:rPr>
                        <a:t>支持</a:t>
                      </a: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707848732"/>
                  </a:ext>
                </a:extLst>
              </a:tr>
              <a:tr h="249964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effectLst/>
                        </a:rPr>
                        <a:t>NOT_AT_ALL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>
                          <a:effectLst/>
                        </a:rPr>
                        <a:t>支持</a:t>
                      </a: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3023445364"/>
                  </a:ext>
                </a:extLst>
              </a:tr>
              <a:tr h="249964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effectLst/>
                        </a:rPr>
                        <a:t>EMBEDDED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>
                          <a:effectLst/>
                        </a:rPr>
                        <a:t>支持</a:t>
                      </a: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231877334"/>
                  </a:ext>
                </a:extLst>
              </a:tr>
              <a:tr h="249964">
                <a:tc rowSpan="8"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隔离级别</a:t>
                      </a:r>
                      <a:endParaRPr lang="zh-CN" altLang="en-US" sz="1000" b="0" dirty="0">
                        <a:effectLst/>
                      </a:endParaRP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effectLst/>
                        </a:rPr>
                        <a:t>Unspecified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支持</a:t>
                      </a: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2065674468"/>
                  </a:ext>
                </a:extLst>
              </a:tr>
              <a:tr h="249964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err="1">
                          <a:effectLst/>
                        </a:rPr>
                        <a:t>ReadCommitted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支持</a:t>
                      </a: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2976374084"/>
                  </a:ext>
                </a:extLst>
              </a:tr>
              <a:tr h="249964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err="1">
                          <a:effectLst/>
                        </a:rPr>
                        <a:t>ReadUncommitted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支持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756629689"/>
                  </a:ext>
                </a:extLst>
              </a:tr>
              <a:tr h="249964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err="1">
                          <a:effectLst/>
                        </a:rPr>
                        <a:t>RepeatableRead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支持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2781159050"/>
                  </a:ext>
                </a:extLst>
              </a:tr>
              <a:tr h="249964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effectLst/>
                        </a:rPr>
                        <a:t>Snapshot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支持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3994568748"/>
                  </a:ext>
                </a:extLst>
              </a:tr>
              <a:tr h="249964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effectLst/>
                        </a:rPr>
                        <a:t>Serializable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支持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2012974217"/>
                  </a:ext>
                </a:extLst>
              </a:tr>
              <a:tr h="249964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effectLst/>
                        </a:rPr>
                        <a:t>Linearizable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支持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1796702387"/>
                  </a:ext>
                </a:extLst>
              </a:tr>
              <a:tr h="249964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effectLst/>
                        </a:rPr>
                        <a:t>Chaos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支持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1969391098"/>
                  </a:ext>
                </a:extLst>
              </a:tr>
              <a:tr h="317146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访问模式 </a:t>
                      </a: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err="1">
                          <a:effectLst/>
                        </a:rPr>
                        <a:t>ReadOnly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支持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3259186427"/>
                  </a:ext>
                </a:extLst>
              </a:tr>
              <a:tr h="317146">
                <a:tc vMerge="1">
                  <a:txBody>
                    <a:bodyPr/>
                    <a:lstStyle/>
                    <a:p>
                      <a:endParaRPr lang="zh-CN" altLang="en-US" sz="100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err="1">
                          <a:effectLst/>
                        </a:rPr>
                        <a:t>ReadWrite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支持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1719543660"/>
                  </a:ext>
                </a:extLst>
              </a:tr>
              <a:tr h="249964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其他</a:t>
                      </a: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事务超时时间</a:t>
                      </a: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支持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3798862322"/>
                  </a:ext>
                </a:extLst>
              </a:tr>
              <a:tr h="249964">
                <a:tc v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异常回滚 </a:t>
                      </a: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支持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1015073611"/>
                  </a:ext>
                </a:extLst>
              </a:tr>
              <a:tr h="249964">
                <a:tc v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异常不回滚 </a:t>
                      </a: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支持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343573219"/>
                  </a:ext>
                </a:extLst>
              </a:tr>
              <a:tr h="249964">
                <a:tc v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effectLst/>
                      </a:endParaRPr>
                    </a:p>
                  </a:txBody>
                  <a:tcPr marL="40098" marR="40098" marT="20049" marB="20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自定义异常处理类型</a:t>
                      </a:r>
                    </a:p>
                  </a:txBody>
                  <a:tcPr marL="40082" marR="40082" marT="20041" marB="20041" anchor="ctr"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支持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0082" marR="40082" marT="20041" marB="20041" anchor="ctr"/>
                </a:tc>
                <a:extLst>
                  <a:ext uri="{0D108BD9-81ED-4DB2-BD59-A6C34878D82A}">
                    <a16:rowId xmlns:a16="http://schemas.microsoft.com/office/drawing/2014/main" val="1078740505"/>
                  </a:ext>
                </a:extLst>
              </a:tr>
            </a:tbl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E439D0A6-0F4D-49EE-9B56-36A2A4036B14}"/>
              </a:ext>
            </a:extLst>
          </p:cNvPr>
          <p:cNvSpPr txBox="1">
            <a:spLocks noChangeArrowheads="1"/>
          </p:cNvSpPr>
          <p:nvPr/>
        </p:nvSpPr>
        <p:spPr>
          <a:xfrm>
            <a:off x="61884" y="58532"/>
            <a:ext cx="7476640" cy="576014"/>
          </a:xfrm>
          <a:prstGeom prst="rect">
            <a:avLst/>
          </a:prstGeom>
        </p:spPr>
        <p:txBody>
          <a:bodyPr anchor="ctr"/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199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数据库事务支持情况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D56B62A6-2EBA-4934-929C-59DBE25C2A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749" b="48525"/>
          <a:stretch/>
        </p:blipFill>
        <p:spPr>
          <a:xfrm>
            <a:off x="6584001" y="1201202"/>
            <a:ext cx="4781565" cy="122550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73FD197-0809-40C9-84DC-6FB666F662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000" y="3462768"/>
            <a:ext cx="4781565" cy="2749034"/>
          </a:xfrm>
          <a:prstGeom prst="rect">
            <a:avLst/>
          </a:prstGeom>
        </p:spPr>
      </p:pic>
      <p:sp>
        <p:nvSpPr>
          <p:cNvPr id="21" name="箭头: 下 20">
            <a:extLst>
              <a:ext uri="{FF2B5EF4-FFF2-40B4-BE49-F238E27FC236}">
                <a16:creationId xmlns:a16="http://schemas.microsoft.com/office/drawing/2014/main" id="{9E101C23-6556-4E68-B0CF-666384FFDD92}"/>
              </a:ext>
            </a:extLst>
          </p:cNvPr>
          <p:cNvSpPr/>
          <p:nvPr/>
        </p:nvSpPr>
        <p:spPr>
          <a:xfrm>
            <a:off x="6868562" y="2710688"/>
            <a:ext cx="363925" cy="4501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E1391CF-DAF7-4FA1-BE30-51C286218CCB}"/>
              </a:ext>
            </a:extLst>
          </p:cNvPr>
          <p:cNvSpPr txBox="1"/>
          <p:nvPr/>
        </p:nvSpPr>
        <p:spPr>
          <a:xfrm>
            <a:off x="7435451" y="2814540"/>
            <a:ext cx="5391230" cy="215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399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直接生成事务增强代理类，并纳入</a:t>
            </a:r>
            <a:r>
              <a:rPr kumimoji="1" lang="en-US" altLang="zh-CN" sz="1399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AOP</a:t>
            </a:r>
            <a:r>
              <a:rPr kumimoji="1" lang="zh-CN" altLang="en-US" sz="1399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框架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1A44910-46BF-470E-BC8B-F3FA0F454945}"/>
              </a:ext>
            </a:extLst>
          </p:cNvPr>
          <p:cNvCxnSpPr>
            <a:cxnSpLocks/>
          </p:cNvCxnSpPr>
          <p:nvPr/>
        </p:nvCxnSpPr>
        <p:spPr>
          <a:xfrm>
            <a:off x="6400697" y="583741"/>
            <a:ext cx="0" cy="5780039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123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70503" y="-17401"/>
            <a:ext cx="7476640" cy="576014"/>
          </a:xfrm>
          <a:prstGeom prst="rect">
            <a:avLst/>
          </a:prstGeom>
        </p:spPr>
        <p:txBody>
          <a:bodyPr anchor="ctr"/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1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Rest</a:t>
            </a:r>
            <a:r>
              <a:rPr lang="zh-CN" altLang="en-US" sz="21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组件基础功能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AC312B8-68C5-447C-BDA6-B9DE593413AA}"/>
              </a:ext>
            </a:extLst>
          </p:cNvPr>
          <p:cNvSpPr txBox="1"/>
          <p:nvPr/>
        </p:nvSpPr>
        <p:spPr>
          <a:xfrm>
            <a:off x="401348" y="4760465"/>
            <a:ext cx="5843189" cy="14441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defTabSz="1218540">
              <a:lnSpc>
                <a:spcPct val="150000"/>
              </a:lnSpc>
            </a:pPr>
            <a:r>
              <a:rPr lang="en-US" altLang="zh-CN" sz="1200" b="1" dirty="0" err="1">
                <a:latin typeface="微软雅黑"/>
                <a:ea typeface="微软雅黑"/>
              </a:rPr>
              <a:t>RestServer</a:t>
            </a:r>
            <a:r>
              <a:rPr lang="zh-CN" altLang="en-US" sz="1200" dirty="0">
                <a:latin typeface="微软雅黑"/>
                <a:ea typeface="微软雅黑"/>
              </a:rPr>
              <a:t>按照</a:t>
            </a:r>
            <a:r>
              <a:rPr lang="en-US" altLang="zh-CN" sz="1200" dirty="0">
                <a:latin typeface="微软雅黑"/>
                <a:ea typeface="微软雅黑"/>
              </a:rPr>
              <a:t>CAX-RS</a:t>
            </a:r>
            <a:r>
              <a:rPr lang="zh-CN" altLang="en-US" sz="1200" dirty="0">
                <a:latin typeface="微软雅黑"/>
                <a:ea typeface="微软雅黑"/>
              </a:rPr>
              <a:t>规范进行实现，依托于仓颉元编程能力，实现了能够以类似标签的方式进行</a:t>
            </a:r>
            <a:r>
              <a:rPr lang="en-US" altLang="zh-CN" sz="1200" dirty="0">
                <a:latin typeface="微软雅黑"/>
                <a:ea typeface="微软雅黑"/>
              </a:rPr>
              <a:t>web</a:t>
            </a:r>
            <a:r>
              <a:rPr lang="zh-CN" altLang="en-US" sz="1200" dirty="0">
                <a:latin typeface="微软雅黑"/>
                <a:ea typeface="微软雅黑"/>
              </a:rPr>
              <a:t>服务的自动发现与注册的功能。</a:t>
            </a:r>
            <a:endParaRPr lang="en-US" altLang="zh-CN" sz="1200" dirty="0">
              <a:latin typeface="微软雅黑"/>
              <a:ea typeface="微软雅黑"/>
            </a:endParaRPr>
          </a:p>
          <a:p>
            <a:pPr defTabSz="1218540">
              <a:lnSpc>
                <a:spcPct val="150000"/>
              </a:lnSpc>
            </a:pPr>
            <a:r>
              <a:rPr lang="en-US" altLang="zh-CN" sz="1200" b="1" dirty="0" err="1">
                <a:latin typeface="微软雅黑"/>
                <a:ea typeface="微软雅黑"/>
              </a:rPr>
              <a:t>RestClient</a:t>
            </a:r>
            <a:r>
              <a:rPr lang="zh-CN" altLang="en-US" sz="1200" dirty="0">
                <a:latin typeface="微软雅黑"/>
                <a:ea typeface="微软雅黑"/>
              </a:rPr>
              <a:t>在仓颉</a:t>
            </a:r>
            <a:r>
              <a:rPr lang="en-US" altLang="zh-CN" sz="1200" dirty="0">
                <a:latin typeface="微软雅黑"/>
                <a:ea typeface="微软雅黑"/>
              </a:rPr>
              <a:t>Http</a:t>
            </a:r>
            <a:r>
              <a:rPr lang="zh-CN" altLang="en-US" sz="1200" dirty="0">
                <a:latin typeface="微软雅黑"/>
                <a:ea typeface="微软雅黑"/>
              </a:rPr>
              <a:t>基础之上进行了二次封装开发，提供了基于模型的</a:t>
            </a:r>
            <a:r>
              <a:rPr lang="en-US" altLang="zh-CN" sz="1200" dirty="0">
                <a:latin typeface="微软雅黑"/>
                <a:ea typeface="微软雅黑"/>
              </a:rPr>
              <a:t>Rest</a:t>
            </a:r>
            <a:r>
              <a:rPr lang="zh-CN" altLang="en-US" sz="1200" dirty="0">
                <a:latin typeface="微软雅黑"/>
                <a:ea typeface="微软雅黑"/>
              </a:rPr>
              <a:t>请求能力，尽可能贴近华为现有</a:t>
            </a:r>
            <a:r>
              <a:rPr lang="en-US" altLang="zh-CN" sz="1200" dirty="0">
                <a:latin typeface="微软雅黑"/>
                <a:ea typeface="微软雅黑"/>
              </a:rPr>
              <a:t>Rest</a:t>
            </a:r>
            <a:r>
              <a:rPr lang="zh-CN" altLang="en-US" sz="1200" dirty="0">
                <a:latin typeface="微软雅黑"/>
                <a:ea typeface="微软雅黑"/>
              </a:rPr>
              <a:t>开发实际使用方式，无论是全新开发还是切换开发都能够应对。</a:t>
            </a:r>
            <a:endParaRPr lang="en-US" altLang="zh-CN" sz="1200" dirty="0">
              <a:latin typeface="微软雅黑"/>
              <a:ea typeface="微软雅黑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01476E6-24CC-4DBA-921D-E850D21D2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864754"/>
              </p:ext>
            </p:extLst>
          </p:nvPr>
        </p:nvGraphicFramePr>
        <p:xfrm>
          <a:off x="401348" y="612427"/>
          <a:ext cx="5875764" cy="37706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958588">
                  <a:extLst>
                    <a:ext uri="{9D8B030D-6E8A-4147-A177-3AD203B41FA5}">
                      <a16:colId xmlns:a16="http://schemas.microsoft.com/office/drawing/2014/main" val="2226018847"/>
                    </a:ext>
                  </a:extLst>
                </a:gridCol>
                <a:gridCol w="2317330">
                  <a:extLst>
                    <a:ext uri="{9D8B030D-6E8A-4147-A177-3AD203B41FA5}">
                      <a16:colId xmlns:a16="http://schemas.microsoft.com/office/drawing/2014/main" val="752098087"/>
                    </a:ext>
                  </a:extLst>
                </a:gridCol>
                <a:gridCol w="1599846">
                  <a:extLst>
                    <a:ext uri="{9D8B030D-6E8A-4147-A177-3AD203B41FA5}">
                      <a16:colId xmlns:a16="http://schemas.microsoft.com/office/drawing/2014/main" val="1244553660"/>
                    </a:ext>
                  </a:extLst>
                </a:gridCol>
              </a:tblGrid>
              <a:tr h="1983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2"/>
                          </a:solidFill>
                          <a:effectLst/>
                        </a:rPr>
                        <a:t>特性</a:t>
                      </a:r>
                    </a:p>
                  </a:txBody>
                  <a:tcPr marL="46002" marR="46002" marT="23001" marB="230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2"/>
                          </a:solidFill>
                          <a:effectLst/>
                        </a:rPr>
                        <a:t>功能点</a:t>
                      </a:r>
                    </a:p>
                  </a:txBody>
                  <a:tcPr marL="46002" marR="46002" marT="23001" marB="230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2"/>
                          </a:solidFill>
                          <a:effectLst/>
                        </a:rPr>
                        <a:t>是否支持</a:t>
                      </a:r>
                    </a:p>
                  </a:txBody>
                  <a:tcPr marL="46002" marR="46002" marT="23001" marB="23001" anchor="ctr"/>
                </a:tc>
                <a:extLst>
                  <a:ext uri="{0D108BD9-81ED-4DB2-BD59-A6C34878D82A}">
                    <a16:rowId xmlns:a16="http://schemas.microsoft.com/office/drawing/2014/main" val="284939763"/>
                  </a:ext>
                </a:extLst>
              </a:tr>
              <a:tr h="198343">
                <a:tc rowSpan="11">
                  <a:txBody>
                    <a:bodyPr/>
                    <a:lstStyle/>
                    <a:p>
                      <a:pPr algn="ctr"/>
                      <a:r>
                        <a:rPr lang="en-US" sz="1000" dirty="0" err="1">
                          <a:effectLst/>
                        </a:rPr>
                        <a:t>RestServer</a:t>
                      </a:r>
                      <a:r>
                        <a:rPr lang="zh-CN" altLang="en-US" sz="1000" dirty="0">
                          <a:effectLst/>
                        </a:rPr>
                        <a:t>请求分发</a:t>
                      </a:r>
                      <a:endParaRPr lang="en-US" sz="1000" dirty="0">
                        <a:effectLst/>
                      </a:endParaRPr>
                    </a:p>
                  </a:txBody>
                  <a:tcPr marL="46002" marR="46002" marT="23001" marB="230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资源映射</a:t>
                      </a:r>
                      <a:r>
                        <a:rPr lang="en-US" altLang="zh-CN" sz="1000" dirty="0">
                          <a:effectLst/>
                        </a:rPr>
                        <a:t>(@</a:t>
                      </a:r>
                      <a:r>
                        <a:rPr lang="en-US" sz="1000" dirty="0">
                          <a:effectLst/>
                        </a:rPr>
                        <a:t>Rest)</a:t>
                      </a:r>
                    </a:p>
                  </a:txBody>
                  <a:tcPr marL="46002" marR="46002" marT="23001" marB="230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支持</a:t>
                      </a:r>
                    </a:p>
                  </a:txBody>
                  <a:tcPr marL="46002" marR="46002" marT="23001" marB="23001" anchor="ctr"/>
                </a:tc>
                <a:extLst>
                  <a:ext uri="{0D108BD9-81ED-4DB2-BD59-A6C34878D82A}">
                    <a16:rowId xmlns:a16="http://schemas.microsoft.com/office/drawing/2014/main" val="3682419408"/>
                  </a:ext>
                </a:extLst>
              </a:tr>
              <a:tr h="198343">
                <a:tc vMerge="1">
                  <a:txBody>
                    <a:bodyPr/>
                    <a:lstStyle/>
                    <a:p>
                      <a:endParaRPr lang="zh-CN" altLang="en-US" sz="1000" dirty="0">
                        <a:effectLst/>
                      </a:endParaRPr>
                    </a:p>
                  </a:txBody>
                  <a:tcPr marL="46020" marR="46020" marT="23010" marB="23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>
                          <a:effectLst/>
                        </a:rPr>
                        <a:t>资源映射</a:t>
                      </a:r>
                      <a:r>
                        <a:rPr lang="en-US" altLang="zh-CN" sz="1000">
                          <a:effectLst/>
                        </a:rPr>
                        <a:t>(@</a:t>
                      </a:r>
                      <a:r>
                        <a:rPr lang="en-US" sz="1000">
                          <a:effectLst/>
                        </a:rPr>
                        <a:t>GET)</a:t>
                      </a:r>
                    </a:p>
                  </a:txBody>
                  <a:tcPr marL="46002" marR="46002" marT="23001" marB="230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>
                          <a:effectLst/>
                        </a:rPr>
                        <a:t>支持</a:t>
                      </a:r>
                    </a:p>
                  </a:txBody>
                  <a:tcPr marL="46002" marR="46002" marT="23001" marB="23001" anchor="ctr"/>
                </a:tc>
                <a:extLst>
                  <a:ext uri="{0D108BD9-81ED-4DB2-BD59-A6C34878D82A}">
                    <a16:rowId xmlns:a16="http://schemas.microsoft.com/office/drawing/2014/main" val="3383595210"/>
                  </a:ext>
                </a:extLst>
              </a:tr>
              <a:tr h="198343">
                <a:tc vMerge="1">
                  <a:txBody>
                    <a:bodyPr/>
                    <a:lstStyle/>
                    <a:p>
                      <a:endParaRPr lang="zh-CN" altLang="en-US" sz="1000" dirty="0">
                        <a:effectLst/>
                      </a:endParaRPr>
                    </a:p>
                  </a:txBody>
                  <a:tcPr marL="46020" marR="46020" marT="23010" marB="23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资源映射</a:t>
                      </a:r>
                      <a:r>
                        <a:rPr lang="en-US" altLang="zh-CN" sz="1000" dirty="0">
                          <a:effectLst/>
                        </a:rPr>
                        <a:t>(@</a:t>
                      </a:r>
                      <a:r>
                        <a:rPr lang="en-US" sz="1000" dirty="0">
                          <a:effectLst/>
                        </a:rPr>
                        <a:t>POST)</a:t>
                      </a:r>
                    </a:p>
                  </a:txBody>
                  <a:tcPr marL="46002" marR="46002" marT="23001" marB="230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>
                          <a:effectLst/>
                        </a:rPr>
                        <a:t>支持</a:t>
                      </a:r>
                    </a:p>
                  </a:txBody>
                  <a:tcPr marL="46002" marR="46002" marT="23001" marB="23001" anchor="ctr"/>
                </a:tc>
                <a:extLst>
                  <a:ext uri="{0D108BD9-81ED-4DB2-BD59-A6C34878D82A}">
                    <a16:rowId xmlns:a16="http://schemas.microsoft.com/office/drawing/2014/main" val="1181323354"/>
                  </a:ext>
                </a:extLst>
              </a:tr>
              <a:tr h="198343">
                <a:tc vMerge="1">
                  <a:txBody>
                    <a:bodyPr/>
                    <a:lstStyle/>
                    <a:p>
                      <a:endParaRPr lang="zh-CN" altLang="en-US" sz="1000" dirty="0">
                        <a:effectLst/>
                      </a:endParaRPr>
                    </a:p>
                  </a:txBody>
                  <a:tcPr marL="46020" marR="46020" marT="23010" marB="23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资源映射</a:t>
                      </a:r>
                      <a:r>
                        <a:rPr lang="en-US" altLang="zh-CN" sz="1000" dirty="0">
                          <a:effectLst/>
                        </a:rPr>
                        <a:t>(@</a:t>
                      </a:r>
                      <a:r>
                        <a:rPr lang="en-US" sz="1000" dirty="0">
                          <a:effectLst/>
                        </a:rPr>
                        <a:t>PUT)</a:t>
                      </a:r>
                    </a:p>
                  </a:txBody>
                  <a:tcPr marL="46002" marR="46002" marT="23001" marB="230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>
                          <a:effectLst/>
                        </a:rPr>
                        <a:t>支持</a:t>
                      </a:r>
                    </a:p>
                  </a:txBody>
                  <a:tcPr marL="46002" marR="46002" marT="23001" marB="23001" anchor="ctr"/>
                </a:tc>
                <a:extLst>
                  <a:ext uri="{0D108BD9-81ED-4DB2-BD59-A6C34878D82A}">
                    <a16:rowId xmlns:a16="http://schemas.microsoft.com/office/drawing/2014/main" val="1009684045"/>
                  </a:ext>
                </a:extLst>
              </a:tr>
              <a:tr h="198343">
                <a:tc vMerge="1">
                  <a:txBody>
                    <a:bodyPr/>
                    <a:lstStyle/>
                    <a:p>
                      <a:endParaRPr lang="zh-CN" altLang="en-US" sz="1000" dirty="0">
                        <a:effectLst/>
                      </a:endParaRPr>
                    </a:p>
                  </a:txBody>
                  <a:tcPr marL="46020" marR="46020" marT="23010" marB="23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资源映射</a:t>
                      </a:r>
                      <a:r>
                        <a:rPr lang="en-US" altLang="zh-CN" sz="1000" dirty="0">
                          <a:effectLst/>
                        </a:rPr>
                        <a:t>(@</a:t>
                      </a:r>
                      <a:r>
                        <a:rPr lang="en-US" sz="1000" dirty="0">
                          <a:effectLst/>
                        </a:rPr>
                        <a:t>PATCH)</a:t>
                      </a:r>
                    </a:p>
                  </a:txBody>
                  <a:tcPr marL="46002" marR="46002" marT="23001" marB="230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>
                          <a:effectLst/>
                        </a:rPr>
                        <a:t>支持</a:t>
                      </a:r>
                    </a:p>
                  </a:txBody>
                  <a:tcPr marL="46002" marR="46002" marT="23001" marB="23001" anchor="ctr"/>
                </a:tc>
                <a:extLst>
                  <a:ext uri="{0D108BD9-81ED-4DB2-BD59-A6C34878D82A}">
                    <a16:rowId xmlns:a16="http://schemas.microsoft.com/office/drawing/2014/main" val="2142358733"/>
                  </a:ext>
                </a:extLst>
              </a:tr>
              <a:tr h="198343">
                <a:tc vMerge="1">
                  <a:txBody>
                    <a:bodyPr/>
                    <a:lstStyle/>
                    <a:p>
                      <a:endParaRPr lang="zh-CN" altLang="en-US" sz="1000" dirty="0">
                        <a:effectLst/>
                      </a:endParaRPr>
                    </a:p>
                  </a:txBody>
                  <a:tcPr marL="46020" marR="46020" marT="23010" marB="23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资源映射</a:t>
                      </a:r>
                      <a:r>
                        <a:rPr lang="en-US" altLang="zh-CN" sz="1000" dirty="0">
                          <a:effectLst/>
                        </a:rPr>
                        <a:t>(@</a:t>
                      </a:r>
                      <a:r>
                        <a:rPr lang="en-US" sz="1000" dirty="0">
                          <a:effectLst/>
                        </a:rPr>
                        <a:t>DELETE)</a:t>
                      </a:r>
                    </a:p>
                  </a:txBody>
                  <a:tcPr marL="46002" marR="46002" marT="23001" marB="230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支持</a:t>
                      </a:r>
                    </a:p>
                  </a:txBody>
                  <a:tcPr marL="46002" marR="46002" marT="23001" marB="23001" anchor="ctr"/>
                </a:tc>
                <a:extLst>
                  <a:ext uri="{0D108BD9-81ED-4DB2-BD59-A6C34878D82A}">
                    <a16:rowId xmlns:a16="http://schemas.microsoft.com/office/drawing/2014/main" val="4210745002"/>
                  </a:ext>
                </a:extLst>
              </a:tr>
              <a:tr h="198343">
                <a:tc vMerge="1">
                  <a:txBody>
                    <a:bodyPr/>
                    <a:lstStyle/>
                    <a:p>
                      <a:endParaRPr lang="zh-CN" altLang="en-US" sz="1000" dirty="0">
                        <a:effectLst/>
                      </a:endParaRPr>
                    </a:p>
                  </a:txBody>
                  <a:tcPr marL="46020" marR="46020" marT="23010" marB="23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媒体类型</a:t>
                      </a:r>
                      <a:r>
                        <a:rPr lang="en-US" altLang="zh-CN" sz="1000" dirty="0">
                          <a:effectLst/>
                        </a:rPr>
                        <a:t>(@</a:t>
                      </a:r>
                      <a:r>
                        <a:rPr lang="en-US" sz="1000" dirty="0">
                          <a:effectLst/>
                        </a:rPr>
                        <a:t>Consumes)</a:t>
                      </a:r>
                    </a:p>
                  </a:txBody>
                  <a:tcPr marL="46002" marR="46002" marT="23001" marB="230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支持</a:t>
                      </a:r>
                    </a:p>
                  </a:txBody>
                  <a:tcPr marL="46002" marR="46002" marT="23001" marB="23001" anchor="ctr"/>
                </a:tc>
                <a:extLst>
                  <a:ext uri="{0D108BD9-81ED-4DB2-BD59-A6C34878D82A}">
                    <a16:rowId xmlns:a16="http://schemas.microsoft.com/office/drawing/2014/main" val="1806828447"/>
                  </a:ext>
                </a:extLst>
              </a:tr>
              <a:tr h="347464">
                <a:tc vMerge="1">
                  <a:txBody>
                    <a:bodyPr/>
                    <a:lstStyle/>
                    <a:p>
                      <a:endParaRPr lang="zh-CN" altLang="en-US" sz="1000" dirty="0">
                        <a:effectLst/>
                      </a:endParaRPr>
                    </a:p>
                  </a:txBody>
                  <a:tcPr marL="46020" marR="46020" marT="23010" marB="23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路径参数（</a:t>
                      </a:r>
                      <a:r>
                        <a:rPr lang="en-US" altLang="zh-CN" sz="1000" dirty="0">
                          <a:effectLst/>
                        </a:rPr>
                        <a:t>@</a:t>
                      </a:r>
                      <a:r>
                        <a:rPr lang="en-US" sz="1000" dirty="0" err="1">
                          <a:effectLst/>
                        </a:rPr>
                        <a:t>PathParameter</a:t>
                      </a:r>
                      <a:r>
                        <a:rPr lang="en-US" sz="1000" dirty="0">
                          <a:effectLst/>
                        </a:rPr>
                        <a:t>）</a:t>
                      </a:r>
                    </a:p>
                  </a:txBody>
                  <a:tcPr marL="46002" marR="46002" marT="23001" marB="230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>
                          <a:effectLst/>
                        </a:rPr>
                        <a:t>支持</a:t>
                      </a:r>
                    </a:p>
                  </a:txBody>
                  <a:tcPr marL="46002" marR="46002" marT="23001" marB="23001" anchor="ctr"/>
                </a:tc>
                <a:extLst>
                  <a:ext uri="{0D108BD9-81ED-4DB2-BD59-A6C34878D82A}">
                    <a16:rowId xmlns:a16="http://schemas.microsoft.com/office/drawing/2014/main" val="280247512"/>
                  </a:ext>
                </a:extLst>
              </a:tr>
              <a:tr h="347464">
                <a:tc vMerge="1">
                  <a:txBody>
                    <a:bodyPr/>
                    <a:lstStyle/>
                    <a:p>
                      <a:endParaRPr lang="zh-CN" altLang="en-US" sz="1000" dirty="0">
                        <a:effectLst/>
                      </a:endParaRPr>
                    </a:p>
                  </a:txBody>
                  <a:tcPr marL="46020" marR="46020" marT="23010" marB="23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查询参数（</a:t>
                      </a:r>
                      <a:r>
                        <a:rPr lang="en-US" altLang="zh-CN" sz="1000" dirty="0">
                          <a:effectLst/>
                        </a:rPr>
                        <a:t>@</a:t>
                      </a:r>
                      <a:r>
                        <a:rPr lang="en-US" sz="1000" dirty="0" err="1">
                          <a:effectLst/>
                        </a:rPr>
                        <a:t>QueryParamter</a:t>
                      </a:r>
                      <a:r>
                        <a:rPr lang="en-US" sz="1000" dirty="0">
                          <a:effectLst/>
                        </a:rPr>
                        <a:t>）</a:t>
                      </a:r>
                    </a:p>
                  </a:txBody>
                  <a:tcPr marL="46002" marR="46002" marT="23001" marB="230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支持</a:t>
                      </a:r>
                    </a:p>
                  </a:txBody>
                  <a:tcPr marL="46002" marR="46002" marT="23001" marB="23001" anchor="ctr"/>
                </a:tc>
                <a:extLst>
                  <a:ext uri="{0D108BD9-81ED-4DB2-BD59-A6C34878D82A}">
                    <a16:rowId xmlns:a16="http://schemas.microsoft.com/office/drawing/2014/main" val="505265427"/>
                  </a:ext>
                </a:extLst>
              </a:tr>
              <a:tr h="347464">
                <a:tc vMerge="1">
                  <a:txBody>
                    <a:bodyPr/>
                    <a:lstStyle/>
                    <a:p>
                      <a:endParaRPr lang="zh-CN" altLang="en-US" sz="1000" dirty="0">
                        <a:effectLst/>
                      </a:endParaRPr>
                    </a:p>
                  </a:txBody>
                  <a:tcPr marL="46020" marR="46020" marT="23010" marB="23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>
                          <a:effectLst/>
                        </a:rPr>
                        <a:t>请求头参数（</a:t>
                      </a:r>
                      <a:r>
                        <a:rPr lang="en-US" altLang="zh-CN" sz="1000">
                          <a:effectLst/>
                        </a:rPr>
                        <a:t>@</a:t>
                      </a:r>
                      <a:r>
                        <a:rPr lang="en-US" sz="1000">
                          <a:effectLst/>
                        </a:rPr>
                        <a:t>HeaderParameter）</a:t>
                      </a:r>
                    </a:p>
                  </a:txBody>
                  <a:tcPr marL="46002" marR="46002" marT="23001" marB="230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支持</a:t>
                      </a:r>
                    </a:p>
                  </a:txBody>
                  <a:tcPr marL="46002" marR="46002" marT="23001" marB="23001" anchor="ctr"/>
                </a:tc>
                <a:extLst>
                  <a:ext uri="{0D108BD9-81ED-4DB2-BD59-A6C34878D82A}">
                    <a16:rowId xmlns:a16="http://schemas.microsoft.com/office/drawing/2014/main" val="388987685"/>
                  </a:ext>
                </a:extLst>
              </a:tr>
              <a:tr h="198343">
                <a:tc vMerge="1">
                  <a:txBody>
                    <a:bodyPr/>
                    <a:lstStyle/>
                    <a:p>
                      <a:endParaRPr lang="zh-CN" altLang="en-US" sz="1000" dirty="0">
                        <a:effectLst/>
                      </a:endParaRPr>
                    </a:p>
                  </a:txBody>
                  <a:tcPr marL="46020" marR="46020" marT="23010" marB="23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上下文（</a:t>
                      </a:r>
                      <a:r>
                        <a:rPr lang="en-US" altLang="zh-CN" sz="1000" dirty="0">
                          <a:effectLst/>
                        </a:rPr>
                        <a:t>@</a:t>
                      </a:r>
                      <a:r>
                        <a:rPr lang="en-US" sz="1000" dirty="0">
                          <a:effectLst/>
                        </a:rPr>
                        <a:t>Context）</a:t>
                      </a:r>
                    </a:p>
                  </a:txBody>
                  <a:tcPr marL="46002" marR="46002" marT="23001" marB="2300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>
                        <a:effectLst/>
                      </a:endParaRPr>
                    </a:p>
                  </a:txBody>
                  <a:tcPr marL="46002" marR="46002" marT="23001" marB="23001" anchor="ctr"/>
                </a:tc>
                <a:extLst>
                  <a:ext uri="{0D108BD9-81ED-4DB2-BD59-A6C34878D82A}">
                    <a16:rowId xmlns:a16="http://schemas.microsoft.com/office/drawing/2014/main" val="1177831399"/>
                  </a:ext>
                </a:extLst>
              </a:tr>
              <a:tr h="198343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000" dirty="0" err="1">
                          <a:effectLst/>
                        </a:rPr>
                        <a:t>RestServer</a:t>
                      </a:r>
                      <a:r>
                        <a:rPr lang="zh-CN" altLang="en-US" sz="1000" dirty="0">
                          <a:effectLst/>
                        </a:rPr>
                        <a:t>扩展配置</a:t>
                      </a:r>
                      <a:endParaRPr lang="en-US" sz="1000" dirty="0">
                        <a:effectLst/>
                      </a:endParaRPr>
                    </a:p>
                  </a:txBody>
                  <a:tcPr marL="46002" marR="46002" marT="23001" marB="230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effectLst/>
                        </a:rPr>
                        <a:t>Cookie</a:t>
                      </a:r>
                      <a:r>
                        <a:rPr lang="zh-CN" altLang="en-US" sz="1000" dirty="0">
                          <a:effectLst/>
                        </a:rPr>
                        <a:t>参数（</a:t>
                      </a:r>
                      <a:r>
                        <a:rPr lang="en-US" altLang="zh-CN" sz="1000" dirty="0">
                          <a:effectLst/>
                        </a:rPr>
                        <a:t>@</a:t>
                      </a:r>
                      <a:r>
                        <a:rPr lang="en-US" sz="1000" dirty="0" err="1">
                          <a:effectLst/>
                        </a:rPr>
                        <a:t>CookieParameter</a:t>
                      </a:r>
                      <a:r>
                        <a:rPr lang="en-US" sz="1000" dirty="0">
                          <a:effectLst/>
                        </a:rPr>
                        <a:t>）</a:t>
                      </a:r>
                    </a:p>
                  </a:txBody>
                  <a:tcPr marL="46002" marR="46002" marT="23001" marB="230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后续支持</a:t>
                      </a:r>
                    </a:p>
                  </a:txBody>
                  <a:tcPr marL="46002" marR="46002" marT="23001" marB="23001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8343">
                <a:tc vMerge="1">
                  <a:txBody>
                    <a:bodyPr/>
                    <a:lstStyle/>
                    <a:p>
                      <a:pPr algn="ctr"/>
                      <a:endParaRPr lang="en-US" sz="1000" dirty="0">
                        <a:effectLst/>
                      </a:endParaRPr>
                    </a:p>
                  </a:txBody>
                  <a:tcPr marL="46020" marR="46020" marT="23010" marB="23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媒体类型</a:t>
                      </a:r>
                      <a:r>
                        <a:rPr lang="en-US" altLang="zh-CN" sz="1000" dirty="0">
                          <a:effectLst/>
                        </a:rPr>
                        <a:t>(@</a:t>
                      </a:r>
                      <a:r>
                        <a:rPr lang="en-US" sz="1000" dirty="0">
                          <a:effectLst/>
                        </a:rPr>
                        <a:t>Produces)</a:t>
                      </a:r>
                    </a:p>
                  </a:txBody>
                  <a:tcPr marL="46002" marR="46002" marT="23001" marB="230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后续支持</a:t>
                      </a:r>
                    </a:p>
                  </a:txBody>
                  <a:tcPr marL="46002" marR="46002" marT="23001" marB="23001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8343">
                <a:tc rowSpan="2">
                  <a:txBody>
                    <a:bodyPr/>
                    <a:lstStyle/>
                    <a:p>
                      <a:pPr algn="ctr"/>
                      <a:r>
                        <a:rPr lang="en-US" sz="1000" dirty="0" err="1">
                          <a:effectLst/>
                        </a:rPr>
                        <a:t>RestClient</a:t>
                      </a:r>
                      <a:endParaRPr lang="en-US" sz="1000" dirty="0">
                        <a:effectLst/>
                      </a:endParaRPr>
                    </a:p>
                  </a:txBody>
                  <a:tcPr marL="46002" marR="46002" marT="23001" marB="230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自动序列化</a:t>
                      </a:r>
                      <a:r>
                        <a:rPr lang="en-US" altLang="zh-CN" sz="1000" dirty="0">
                          <a:effectLst/>
                        </a:rPr>
                        <a:t>/</a:t>
                      </a:r>
                      <a:r>
                        <a:rPr lang="zh-CN" altLang="en-US" sz="1000" dirty="0">
                          <a:effectLst/>
                        </a:rPr>
                        <a:t>反序列化</a:t>
                      </a:r>
                    </a:p>
                  </a:txBody>
                  <a:tcPr marL="46002" marR="46002" marT="23001" marB="230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支持</a:t>
                      </a:r>
                    </a:p>
                  </a:txBody>
                  <a:tcPr marL="46002" marR="46002" marT="23001" marB="23001" anchor="ctr"/>
                </a:tc>
                <a:extLst>
                  <a:ext uri="{0D108BD9-81ED-4DB2-BD59-A6C34878D82A}">
                    <a16:rowId xmlns:a16="http://schemas.microsoft.com/office/drawing/2014/main" val="2885499364"/>
                  </a:ext>
                </a:extLst>
              </a:tr>
              <a:tr h="347464">
                <a:tc vMerge="1">
                  <a:txBody>
                    <a:bodyPr/>
                    <a:lstStyle/>
                    <a:p>
                      <a:endParaRPr lang="zh-CN" altLang="en-US" sz="1000" dirty="0">
                        <a:effectLst/>
                      </a:endParaRPr>
                    </a:p>
                  </a:txBody>
                  <a:tcPr marL="46020" marR="46020" marT="23010" marB="23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请求参数配置（</a:t>
                      </a:r>
                      <a:r>
                        <a:rPr lang="en-US" sz="1000" dirty="0" err="1">
                          <a:effectLst/>
                        </a:rPr>
                        <a:t>RestOption</a:t>
                      </a:r>
                      <a:r>
                        <a:rPr lang="en-US" sz="1000" dirty="0">
                          <a:effectLst/>
                        </a:rPr>
                        <a:t>）</a:t>
                      </a:r>
                    </a:p>
                  </a:txBody>
                  <a:tcPr marL="46002" marR="46002" marT="23001" marB="230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effectLst/>
                        </a:rPr>
                        <a:t>支持</a:t>
                      </a:r>
                    </a:p>
                  </a:txBody>
                  <a:tcPr marL="46002" marR="46002" marT="23001" marB="23001" anchor="ctr"/>
                </a:tc>
                <a:extLst>
                  <a:ext uri="{0D108BD9-81ED-4DB2-BD59-A6C34878D82A}">
                    <a16:rowId xmlns:a16="http://schemas.microsoft.com/office/drawing/2014/main" val="531748410"/>
                  </a:ext>
                </a:extLst>
              </a:tr>
            </a:tbl>
          </a:graphicData>
        </a:graphic>
      </p:graphicFrame>
      <p:pic>
        <p:nvPicPr>
          <p:cNvPr id="17" name="图片 16">
            <a:extLst>
              <a:ext uri="{FF2B5EF4-FFF2-40B4-BE49-F238E27FC236}">
                <a16:creationId xmlns:a16="http://schemas.microsoft.com/office/drawing/2014/main" id="{FB08107E-4677-48BD-A307-E84EBF882E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4724"/>
          <a:stretch/>
        </p:blipFill>
        <p:spPr>
          <a:xfrm>
            <a:off x="6587725" y="604983"/>
            <a:ext cx="4365308" cy="341268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F80E0028-2D4B-4E07-96A2-E5D6919D68B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0482"/>
          <a:stretch/>
        </p:blipFill>
        <p:spPr>
          <a:xfrm>
            <a:off x="6587725" y="4135932"/>
            <a:ext cx="4365308" cy="2163456"/>
          </a:xfrm>
          <a:prstGeom prst="rect">
            <a:avLst/>
          </a:prstGeom>
        </p:spPr>
      </p:pic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BA21C30-D023-43DC-99E8-CF818C785F5A}"/>
              </a:ext>
            </a:extLst>
          </p:cNvPr>
          <p:cNvCxnSpPr/>
          <p:nvPr/>
        </p:nvCxnSpPr>
        <p:spPr>
          <a:xfrm>
            <a:off x="6587725" y="4067549"/>
            <a:ext cx="4426595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351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FFFBA79B-0FBE-454A-BB4F-005A28B4B887}"/>
              </a:ext>
            </a:extLst>
          </p:cNvPr>
          <p:cNvSpPr txBox="1">
            <a:spLocks noChangeArrowheads="1"/>
          </p:cNvSpPr>
          <p:nvPr/>
        </p:nvSpPr>
        <p:spPr>
          <a:xfrm>
            <a:off x="84242" y="149553"/>
            <a:ext cx="11025081" cy="576014"/>
          </a:xfrm>
          <a:prstGeom prst="rect">
            <a:avLst/>
          </a:prstGeom>
        </p:spPr>
        <p:txBody>
          <a:bodyPr anchor="ctr"/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Rest</a:t>
            </a:r>
            <a:r>
              <a:rPr lang="zh-CN" altLang="en-US" sz="2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组件支持自定义媒体类型</a:t>
            </a:r>
            <a:r>
              <a:rPr lang="en-US" altLang="zh-CN" sz="2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拦截器</a:t>
            </a:r>
            <a:endParaRPr lang="zh-CN" altLang="en-US" sz="1999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日期占位符 3">
            <a:extLst>
              <a:ext uri="{FF2B5EF4-FFF2-40B4-BE49-F238E27FC236}">
                <a16:creationId xmlns:a16="http://schemas.microsoft.com/office/drawing/2014/main" id="{1DE4A234-CDE2-41D2-9767-4CF358F261B0}"/>
              </a:ext>
            </a:extLst>
          </p:cNvPr>
          <p:cNvSpPr txBox="1">
            <a:spLocks/>
          </p:cNvSpPr>
          <p:nvPr/>
        </p:nvSpPr>
        <p:spPr>
          <a:xfrm>
            <a:off x="-906108" y="7379675"/>
            <a:ext cx="2132767" cy="36498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799"/>
              <a:t>www.themegallery.com</a:t>
            </a:r>
          </a:p>
        </p:txBody>
      </p:sp>
      <p:sp>
        <p:nvSpPr>
          <p:cNvPr id="18" name="页脚占位符 4">
            <a:extLst>
              <a:ext uri="{FF2B5EF4-FFF2-40B4-BE49-F238E27FC236}">
                <a16:creationId xmlns:a16="http://schemas.microsoft.com/office/drawing/2014/main" id="{50146976-CF2B-4EAF-9E38-DB06CD3979F9}"/>
              </a:ext>
            </a:extLst>
          </p:cNvPr>
          <p:cNvSpPr txBox="1">
            <a:spLocks/>
          </p:cNvSpPr>
          <p:nvPr/>
        </p:nvSpPr>
        <p:spPr>
          <a:xfrm>
            <a:off x="1759851" y="7379675"/>
            <a:ext cx="2896057" cy="36498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799"/>
              <a:t>LOGO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B79373B-6110-4EB2-A480-D6A4D294FB1F}"/>
              </a:ext>
            </a:extLst>
          </p:cNvPr>
          <p:cNvSpPr txBox="1"/>
          <p:nvPr/>
        </p:nvSpPr>
        <p:spPr>
          <a:xfrm>
            <a:off x="3245585" y="3745076"/>
            <a:ext cx="4245235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接口请求用到此模型，使用时无变化，无侵入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BD5C05D-2FCD-4957-90E4-232FD7FBC462}"/>
              </a:ext>
            </a:extLst>
          </p:cNvPr>
          <p:cNvSpPr/>
          <p:nvPr/>
        </p:nvSpPr>
        <p:spPr>
          <a:xfrm>
            <a:off x="3320708" y="2077951"/>
            <a:ext cx="3100506" cy="4157974"/>
          </a:xfrm>
          <a:prstGeom prst="rect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799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E3D18F-2BDB-4B35-AE44-35990272AD75}"/>
              </a:ext>
            </a:extLst>
          </p:cNvPr>
          <p:cNvSpPr/>
          <p:nvPr/>
        </p:nvSpPr>
        <p:spPr>
          <a:xfrm>
            <a:off x="61701" y="2081090"/>
            <a:ext cx="3278279" cy="4157974"/>
          </a:xfrm>
          <a:prstGeom prst="rect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799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D3473E5-77B1-463D-AEE1-F71675B1ECD8}"/>
              </a:ext>
            </a:extLst>
          </p:cNvPr>
          <p:cNvSpPr txBox="1"/>
          <p:nvPr/>
        </p:nvSpPr>
        <p:spPr>
          <a:xfrm>
            <a:off x="158635" y="717624"/>
            <a:ext cx="6178592" cy="481419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  <a:ln w="9525" cap="flat" cmpd="sng" algn="ctr">
            <a:solidFill>
              <a:srgbClr val="558ED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71" tIns="45685" rIns="91371" bIns="45685" numCol="1" rtlCol="0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defTabSz="913760">
              <a:buClr>
                <a:srgbClr val="CC9900"/>
              </a:buClr>
              <a:defRPr sz="1399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支持</a:t>
            </a:r>
            <a:r>
              <a:rPr lang="en-US" altLang="zh-CN" dirty="0"/>
              <a:t>Json</a:t>
            </a:r>
            <a:r>
              <a:rPr lang="zh-CN" altLang="en-US" dirty="0"/>
              <a:t>格式的自定义媒体类型，对</a:t>
            </a:r>
            <a:r>
              <a:rPr lang="en-US" altLang="zh-CN" dirty="0"/>
              <a:t>Json</a:t>
            </a:r>
            <a:r>
              <a:rPr lang="zh-CN" altLang="en-US" dirty="0"/>
              <a:t>格式的数据进行资源实体映射与</a:t>
            </a:r>
            <a:r>
              <a:rPr lang="en-US" altLang="zh-CN" dirty="0"/>
              <a:t>Bean</a:t>
            </a:r>
            <a:r>
              <a:rPr lang="zh-CN" altLang="en-US" dirty="0"/>
              <a:t>校验处理。</a:t>
            </a:r>
            <a:endParaRPr lang="en-US" altLang="zh-CN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1C4A5E9-FEB4-451E-9BE1-A06750B3F660}"/>
              </a:ext>
            </a:extLst>
          </p:cNvPr>
          <p:cNvSpPr/>
          <p:nvPr/>
        </p:nvSpPr>
        <p:spPr>
          <a:xfrm>
            <a:off x="5847633" y="1829425"/>
            <a:ext cx="519817" cy="548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799"/>
          </a:p>
        </p:txBody>
      </p:sp>
      <p:pic>
        <p:nvPicPr>
          <p:cNvPr id="1030" name="Picture 6" descr="C:\Users\z00504590\AppData\Roaming\eSpace_Desktop\UserData\z00504590\imagefiles\BEFD2DB2-4555-47F1-AFC7-D0E7E8CE85F0.png">
            <a:extLst>
              <a:ext uri="{FF2B5EF4-FFF2-40B4-BE49-F238E27FC236}">
                <a16:creationId xmlns:a16="http://schemas.microsoft.com/office/drawing/2014/main" id="{695397D0-27C9-4D42-A1F4-59F741698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668" y="3993349"/>
            <a:ext cx="2909171" cy="1254341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  <a:ln w="9525" cap="flat" cmpd="sng" algn="ctr">
            <a:solidFill>
              <a:srgbClr val="558ED5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9798170-C995-4F6E-9E53-476F57F4A9C4}"/>
              </a:ext>
            </a:extLst>
          </p:cNvPr>
          <p:cNvSpPr txBox="1"/>
          <p:nvPr/>
        </p:nvSpPr>
        <p:spPr>
          <a:xfrm>
            <a:off x="3451244" y="1997972"/>
            <a:ext cx="382734" cy="1937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defTabSz="912938">
              <a:lnSpc>
                <a:spcPts val="1679"/>
              </a:lnSpc>
            </a:pPr>
            <a:r>
              <a:rPr lang="en-US" altLang="zh-CN" sz="1399" b="1" dirty="0">
                <a:solidFill>
                  <a:schemeClr val="accent5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After</a:t>
            </a:r>
            <a:endParaRPr lang="zh-CN" altLang="en-US" sz="1399" b="1" dirty="0">
              <a:solidFill>
                <a:schemeClr val="accent5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32" name="Picture 8" descr="C:\Users\z00504590\AppData\Roaming\eSpace_Desktop\UserData\z00504590\imagefiles\4ABC09F7-AD2B-454E-BA7A-5322FFA32451.png">
            <a:extLst>
              <a:ext uri="{FF2B5EF4-FFF2-40B4-BE49-F238E27FC236}">
                <a16:creationId xmlns:a16="http://schemas.microsoft.com/office/drawing/2014/main" id="{58D68161-839F-4CDA-820F-83A572D68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9922" y="2524490"/>
            <a:ext cx="2556763" cy="969551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  <a:ln w="9525" cap="flat" cmpd="sng" algn="ctr">
            <a:solidFill>
              <a:srgbClr val="558ED5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椭圆 32">
            <a:extLst>
              <a:ext uri="{FF2B5EF4-FFF2-40B4-BE49-F238E27FC236}">
                <a16:creationId xmlns:a16="http://schemas.microsoft.com/office/drawing/2014/main" id="{C116764C-4F71-41A7-BDE1-E87AA3EC3E80}"/>
              </a:ext>
            </a:extLst>
          </p:cNvPr>
          <p:cNvSpPr/>
          <p:nvPr/>
        </p:nvSpPr>
        <p:spPr>
          <a:xfrm>
            <a:off x="3428055" y="2280526"/>
            <a:ext cx="183469" cy="15947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50" dirty="0">
                <a:solidFill>
                  <a:schemeClr val="tx2"/>
                </a:solidFill>
              </a:rPr>
              <a:t>1</a:t>
            </a:r>
            <a:endParaRPr lang="zh-CN" altLang="en-US" sz="1050" dirty="0">
              <a:solidFill>
                <a:schemeClr val="tx2"/>
              </a:solidFill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A3533EB0-8090-4108-BE19-8AAEF19018C4}"/>
              </a:ext>
            </a:extLst>
          </p:cNvPr>
          <p:cNvSpPr/>
          <p:nvPr/>
        </p:nvSpPr>
        <p:spPr>
          <a:xfrm>
            <a:off x="3444669" y="3752127"/>
            <a:ext cx="149722" cy="155913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50" dirty="0">
                <a:solidFill>
                  <a:schemeClr val="tx2"/>
                </a:solidFill>
              </a:rPr>
              <a:t>2</a:t>
            </a:r>
            <a:endParaRPr lang="zh-CN" altLang="en-US" sz="1050" dirty="0">
              <a:solidFill>
                <a:schemeClr val="tx2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4F2837-38A8-40ED-92BF-0ED4A804C13B}"/>
              </a:ext>
            </a:extLst>
          </p:cNvPr>
          <p:cNvSpPr txBox="1"/>
          <p:nvPr/>
        </p:nvSpPr>
        <p:spPr>
          <a:xfrm>
            <a:off x="3648348" y="2271889"/>
            <a:ext cx="2366637" cy="1845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</a:t>
            </a:r>
            <a:r>
              <a:rPr kumimoji="1"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Bean</a:t>
            </a:r>
            <a:r>
              <a:rPr kumimoji="1"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模型和校验规则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566FA5F-9539-44D1-A1FA-04467F2AF93D}"/>
              </a:ext>
            </a:extLst>
          </p:cNvPr>
          <p:cNvSpPr txBox="1"/>
          <p:nvPr/>
        </p:nvSpPr>
        <p:spPr>
          <a:xfrm>
            <a:off x="367055" y="3272259"/>
            <a:ext cx="2366637" cy="1538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接口请求用到此模型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91E0BB9-A6DC-42EF-BA30-795C9104F426}"/>
              </a:ext>
            </a:extLst>
          </p:cNvPr>
          <p:cNvSpPr txBox="1"/>
          <p:nvPr/>
        </p:nvSpPr>
        <p:spPr>
          <a:xfrm>
            <a:off x="125565" y="5565709"/>
            <a:ext cx="3202881" cy="67021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defTabSz="912938">
              <a:lnSpc>
                <a:spcPts val="1679"/>
              </a:lnSpc>
            </a:pPr>
            <a:r>
              <a:rPr lang="en-US" altLang="zh-CN" sz="1100" b="1" dirty="0">
                <a:solidFill>
                  <a:srgbClr val="FF0000"/>
                </a:solidFill>
              </a:rPr>
              <a:t>WARN</a:t>
            </a:r>
            <a:r>
              <a:rPr lang="zh-CN" altLang="en-US" sz="1100" b="1" dirty="0">
                <a:solidFill>
                  <a:srgbClr val="FF0000"/>
                </a:solidFill>
              </a:rPr>
              <a:t>：</a:t>
            </a:r>
            <a:r>
              <a:rPr lang="zh-CN" altLang="en-US" sz="900" dirty="0"/>
              <a:t>客户端数据直接进行到</a:t>
            </a:r>
            <a:r>
              <a:rPr lang="en-US" altLang="zh-CN" sz="900" dirty="0" err="1"/>
              <a:t>addUser</a:t>
            </a:r>
            <a:r>
              <a:rPr lang="zh-CN" altLang="en-US" sz="900" dirty="0"/>
              <a:t>方法内 ，如果不作校验则会直接存储到</a:t>
            </a:r>
            <a:r>
              <a:rPr lang="en-US" altLang="zh-CN" sz="900" dirty="0"/>
              <a:t>DB</a:t>
            </a:r>
            <a:r>
              <a:rPr lang="zh-CN" altLang="en-US" sz="900" dirty="0"/>
              <a:t>中，可能会引发未知的错误，所以需要添加校验语句。并且每个客户侧数据都需要做此校验处理。</a:t>
            </a:r>
            <a:endParaRPr lang="en-US" altLang="zh-CN" sz="700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92A8A9B-7702-4ADD-99BB-63AF97F83A57}"/>
              </a:ext>
            </a:extLst>
          </p:cNvPr>
          <p:cNvSpPr/>
          <p:nvPr/>
        </p:nvSpPr>
        <p:spPr>
          <a:xfrm>
            <a:off x="1240830" y="4102514"/>
            <a:ext cx="519817" cy="548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5739359-9655-406D-B93D-E89AE72FF3B0}"/>
              </a:ext>
            </a:extLst>
          </p:cNvPr>
          <p:cNvSpPr txBox="1"/>
          <p:nvPr/>
        </p:nvSpPr>
        <p:spPr>
          <a:xfrm>
            <a:off x="146654" y="1981071"/>
            <a:ext cx="459281" cy="1937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defTabSz="912938">
              <a:lnSpc>
                <a:spcPts val="1679"/>
              </a:lnSpc>
            </a:pPr>
            <a:r>
              <a:rPr lang="en-US" altLang="zh-CN" sz="1399" b="1" dirty="0">
                <a:solidFill>
                  <a:schemeClr val="accent5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Before</a:t>
            </a:r>
            <a:endParaRPr kumimoji="1" lang="zh-CN" altLang="en-US" sz="1399" b="1" dirty="0">
              <a:solidFill>
                <a:schemeClr val="accent5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9022BE2-6421-4AFF-9922-8356B3D4EC3A}"/>
              </a:ext>
            </a:extLst>
          </p:cNvPr>
          <p:cNvSpPr txBox="1"/>
          <p:nvPr/>
        </p:nvSpPr>
        <p:spPr>
          <a:xfrm>
            <a:off x="377246" y="2190439"/>
            <a:ext cx="2366637" cy="1538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Bean</a:t>
            </a:r>
            <a:r>
              <a:rPr kumimoji="1" lang="zh-CN" altLang="en-US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</a:t>
            </a:r>
          </a:p>
        </p:txBody>
      </p:sp>
      <p:pic>
        <p:nvPicPr>
          <p:cNvPr id="1034" name="Picture 10" descr="C:\Users\z00504590\AppData\Roaming\eSpace_Desktop\UserData\z00504590\imagefiles\BC05AC13-CC46-4DA4-A118-65C6F8B908A4.png">
            <a:extLst>
              <a:ext uri="{FF2B5EF4-FFF2-40B4-BE49-F238E27FC236}">
                <a16:creationId xmlns:a16="http://schemas.microsoft.com/office/drawing/2014/main" id="{74620E40-D976-4692-B709-991669021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81" y="2392195"/>
            <a:ext cx="1608656" cy="812618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  <a:ln w="9525" cap="flat" cmpd="sng" algn="ctr">
            <a:solidFill>
              <a:srgbClr val="558ED5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椭圆 45">
            <a:extLst>
              <a:ext uri="{FF2B5EF4-FFF2-40B4-BE49-F238E27FC236}">
                <a16:creationId xmlns:a16="http://schemas.microsoft.com/office/drawing/2014/main" id="{B6750F56-20D1-48E8-9282-1388DE9B7035}"/>
              </a:ext>
            </a:extLst>
          </p:cNvPr>
          <p:cNvSpPr/>
          <p:nvPr/>
        </p:nvSpPr>
        <p:spPr>
          <a:xfrm>
            <a:off x="156952" y="2187279"/>
            <a:ext cx="183469" cy="15947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dirty="0">
                <a:solidFill>
                  <a:schemeClr val="tx2"/>
                </a:solidFill>
              </a:rPr>
              <a:t>1</a:t>
            </a:r>
            <a:endParaRPr lang="zh-CN" altLang="en-US" sz="800" dirty="0">
              <a:solidFill>
                <a:schemeClr val="tx2"/>
              </a:solidFill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9AFE72E4-7F9B-4A6D-BFEB-9820F70142C6}"/>
              </a:ext>
            </a:extLst>
          </p:cNvPr>
          <p:cNvSpPr/>
          <p:nvPr/>
        </p:nvSpPr>
        <p:spPr>
          <a:xfrm>
            <a:off x="146654" y="3250250"/>
            <a:ext cx="183469" cy="15947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dirty="0">
                <a:solidFill>
                  <a:schemeClr val="tx2"/>
                </a:solidFill>
              </a:rPr>
              <a:t>2</a:t>
            </a:r>
            <a:endParaRPr lang="zh-CN" altLang="en-US" sz="800" dirty="0">
              <a:solidFill>
                <a:schemeClr val="tx2"/>
              </a:solidFill>
            </a:endParaRPr>
          </a:p>
        </p:txBody>
      </p:sp>
      <p:sp>
        <p:nvSpPr>
          <p:cNvPr id="30" name="爆炸形: 8 pt  29">
            <a:extLst>
              <a:ext uri="{FF2B5EF4-FFF2-40B4-BE49-F238E27FC236}">
                <a16:creationId xmlns:a16="http://schemas.microsoft.com/office/drawing/2014/main" id="{1D4A5C23-0553-42EA-80C7-6FCE82635D1C}"/>
              </a:ext>
            </a:extLst>
          </p:cNvPr>
          <p:cNvSpPr/>
          <p:nvPr/>
        </p:nvSpPr>
        <p:spPr>
          <a:xfrm>
            <a:off x="-56568" y="5714880"/>
            <a:ext cx="493223" cy="96902"/>
          </a:xfrm>
          <a:prstGeom prst="irregularSeal1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799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18302B7-4E11-40B6-97FC-A36755651BE4}"/>
              </a:ext>
            </a:extLst>
          </p:cNvPr>
          <p:cNvSpPr txBox="1"/>
          <p:nvPr/>
        </p:nvSpPr>
        <p:spPr>
          <a:xfrm>
            <a:off x="3428055" y="5471781"/>
            <a:ext cx="2909171" cy="7641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defTabSz="912938">
              <a:lnSpc>
                <a:spcPts val="1679"/>
              </a:lnSpc>
            </a:pPr>
            <a:r>
              <a:rPr lang="en-US" altLang="zh-CN" sz="1100" b="1" dirty="0">
                <a:solidFill>
                  <a:schemeClr val="accent5"/>
                </a:solidFill>
              </a:rPr>
              <a:t>INFO</a:t>
            </a:r>
            <a:r>
              <a:rPr lang="zh-CN" altLang="en-US" sz="1100" b="1" dirty="0">
                <a:solidFill>
                  <a:schemeClr val="accent5"/>
                </a:solidFill>
              </a:rPr>
              <a:t>：</a:t>
            </a:r>
            <a:r>
              <a:rPr lang="zh-CN" altLang="en-US" sz="900" dirty="0"/>
              <a:t>用了校验后，校验由</a:t>
            </a:r>
            <a:r>
              <a:rPr lang="en-US" altLang="zh-CN" sz="900" dirty="0"/>
              <a:t>Bean</a:t>
            </a:r>
            <a:r>
              <a:rPr lang="zh-CN" altLang="en-US" sz="900" dirty="0"/>
              <a:t>校验模块在</a:t>
            </a:r>
            <a:r>
              <a:rPr lang="en-US" altLang="zh-CN" sz="900" dirty="0" err="1"/>
              <a:t>addUser</a:t>
            </a:r>
            <a:r>
              <a:rPr lang="zh-CN" altLang="en-US" sz="900" dirty="0"/>
              <a:t>方法前完成，校验不符合规则的用户数据。不需要在</a:t>
            </a:r>
            <a:r>
              <a:rPr lang="en-US" altLang="zh-CN" sz="900" dirty="0" err="1"/>
              <a:t>addUser</a:t>
            </a:r>
            <a:r>
              <a:rPr lang="zh-CN" altLang="en-US" sz="900" dirty="0"/>
              <a:t>里写复杂的校验代码</a:t>
            </a:r>
            <a:endParaRPr lang="en-US" altLang="zh-CN" sz="900" dirty="0"/>
          </a:p>
        </p:txBody>
      </p:sp>
      <p:pic>
        <p:nvPicPr>
          <p:cNvPr id="1026" name="Picture 2" descr="C:\Users\z00504590\AppData\Roaming\eSpace_Desktop\UserData\z00504590\imagefiles\CE486AF6-E84F-4EC6-B674-59805B1441C6.png">
            <a:extLst>
              <a:ext uri="{FF2B5EF4-FFF2-40B4-BE49-F238E27FC236}">
                <a16:creationId xmlns:a16="http://schemas.microsoft.com/office/drawing/2014/main" id="{C2D2714E-234A-44B9-82AD-C93040699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38" y="3462006"/>
            <a:ext cx="3026694" cy="2079175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  <a:ln w="9525" cap="flat" cmpd="sng" algn="ctr">
            <a:solidFill>
              <a:srgbClr val="558ED5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82BAB07-DE32-44E5-B588-5ED7BBF09239}"/>
              </a:ext>
            </a:extLst>
          </p:cNvPr>
          <p:cNvSpPr/>
          <p:nvPr/>
        </p:nvSpPr>
        <p:spPr>
          <a:xfrm>
            <a:off x="219209" y="1580122"/>
            <a:ext cx="6118018" cy="3106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defTabSz="912938">
              <a:lnSpc>
                <a:spcPts val="1679"/>
              </a:lnSpc>
            </a:pPr>
            <a:r>
              <a:rPr lang="zh-CN" altLang="en-US" sz="1799" b="1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使用示例：</a:t>
            </a:r>
            <a:endParaRPr lang="en-US" altLang="zh-CN" sz="1799" b="1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4DFF8C3-C577-4F90-8E1E-1363D1C66AF9}"/>
              </a:ext>
            </a:extLst>
          </p:cNvPr>
          <p:cNvSpPr txBox="1"/>
          <p:nvPr/>
        </p:nvSpPr>
        <p:spPr>
          <a:xfrm>
            <a:off x="6626046" y="721113"/>
            <a:ext cx="5215141" cy="477930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  <a:ln w="9525" cap="flat" cmpd="sng" algn="ctr">
            <a:solidFill>
              <a:srgbClr val="558ED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71" tIns="45685" rIns="91371" bIns="45685" numCol="1" rtlCol="0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eaLnBrk="1" hangingPunct="1">
              <a:buClr>
                <a:srgbClr val="CC9900"/>
              </a:buClr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3760">
              <a:defRPr/>
            </a:pPr>
            <a:r>
              <a:rPr lang="zh-CN" altLang="en-US" sz="1399" kern="0" dirty="0">
                <a:solidFill>
                  <a:prstClr val="white"/>
                </a:solidFill>
              </a:rPr>
              <a:t>支持自定义拦截器，实现自定义权限校验、熔断等功能的底层支持</a:t>
            </a:r>
            <a:endParaRPr lang="en-US" altLang="zh-CN" sz="1399" kern="0" dirty="0">
              <a:solidFill>
                <a:prstClr val="white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68EC44A-FA00-4F0F-94E4-E631E571CA2F}"/>
              </a:ext>
            </a:extLst>
          </p:cNvPr>
          <p:cNvSpPr/>
          <p:nvPr/>
        </p:nvSpPr>
        <p:spPr>
          <a:xfrm>
            <a:off x="6871943" y="1678952"/>
            <a:ext cx="609362" cy="548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799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489C3B2F-ECF8-4C87-84B6-70DD65122B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7453" y="1393039"/>
            <a:ext cx="5504703" cy="474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890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108A216B-22BA-4E94-96ED-DB803C0259F0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09563"/>
            <a:ext cx="10736263" cy="58420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ORM</a:t>
            </a:r>
            <a:endParaRPr lang="zh-CN" altLang="en-US" sz="2399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7274FF8-91F4-4176-AF59-495C03D33189}"/>
              </a:ext>
            </a:extLst>
          </p:cNvPr>
          <p:cNvSpPr txBox="1"/>
          <p:nvPr/>
        </p:nvSpPr>
        <p:spPr>
          <a:xfrm>
            <a:off x="388383" y="893582"/>
            <a:ext cx="4347533" cy="32504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algn="ctr">
              <a:lnSpc>
                <a:spcPct val="150000"/>
              </a:lnSpc>
              <a:defRPr sz="16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399" dirty="0"/>
              <a:t>基本标签支持情况</a:t>
            </a:r>
          </a:p>
        </p:txBody>
      </p:sp>
      <p:graphicFrame>
        <p:nvGraphicFramePr>
          <p:cNvPr id="63" name="表格 62">
            <a:extLst>
              <a:ext uri="{FF2B5EF4-FFF2-40B4-BE49-F238E27FC236}">
                <a16:creationId xmlns:a16="http://schemas.microsoft.com/office/drawing/2014/main" id="{C47C75AE-E653-41FA-8DF6-545578E750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44977"/>
              </p:ext>
            </p:extLst>
          </p:nvPr>
        </p:nvGraphicFramePr>
        <p:xfrm>
          <a:off x="438611" y="1334906"/>
          <a:ext cx="4297303" cy="4183508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570125">
                  <a:extLst>
                    <a:ext uri="{9D8B030D-6E8A-4147-A177-3AD203B41FA5}">
                      <a16:colId xmlns:a16="http://schemas.microsoft.com/office/drawing/2014/main" val="3065541416"/>
                    </a:ext>
                  </a:extLst>
                </a:gridCol>
                <a:gridCol w="995526">
                  <a:extLst>
                    <a:ext uri="{9D8B030D-6E8A-4147-A177-3AD203B41FA5}">
                      <a16:colId xmlns:a16="http://schemas.microsoft.com/office/drawing/2014/main" val="2621940841"/>
                    </a:ext>
                  </a:extLst>
                </a:gridCol>
                <a:gridCol w="731652">
                  <a:extLst>
                    <a:ext uri="{9D8B030D-6E8A-4147-A177-3AD203B41FA5}">
                      <a16:colId xmlns:a16="http://schemas.microsoft.com/office/drawing/2014/main" val="940052736"/>
                    </a:ext>
                  </a:extLst>
                </a:gridCol>
              </a:tblGrid>
              <a:tr h="288076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支持能力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/>
                        <a:t>Mybatis</a:t>
                      </a:r>
                      <a:endParaRPr lang="zh-CN" altLang="en-US" sz="1200" dirty="0"/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Spirit</a:t>
                      </a:r>
                      <a:endParaRPr lang="zh-CN" altLang="en-US" sz="1200" dirty="0"/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0170375"/>
                  </a:ext>
                </a:extLst>
              </a:tr>
              <a:tr h="288076">
                <a:tc>
                  <a:txBody>
                    <a:bodyPr/>
                    <a:lstStyle/>
                    <a:p>
                      <a:r>
                        <a:rPr lang="en-US" altLang="zh-CN" sz="1200" dirty="0" err="1"/>
                        <a:t>sql</a:t>
                      </a:r>
                      <a:endParaRPr lang="zh-CN" altLang="en-US" sz="1200" dirty="0"/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支持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支持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4406270"/>
                  </a:ext>
                </a:extLst>
              </a:tr>
              <a:tr h="288076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Include</a:t>
                      </a:r>
                      <a:r>
                        <a:rPr lang="zh-CN" altLang="en-US" sz="1200" dirty="0"/>
                        <a:t>标签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支持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/>
                        <a:t>支持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96380280"/>
                  </a:ext>
                </a:extLst>
              </a:tr>
              <a:tr h="288076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Namespace</a:t>
                      </a:r>
                      <a:endParaRPr lang="zh-CN" altLang="en-US" sz="1200" dirty="0"/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支持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支持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3818800"/>
                  </a:ext>
                </a:extLst>
              </a:tr>
              <a:tr h="45702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@Id</a:t>
                      </a:r>
                      <a:r>
                        <a:rPr lang="zh-CN" altLang="en-US" sz="1200" dirty="0"/>
                        <a:t>，</a:t>
                      </a:r>
                      <a:r>
                        <a:rPr lang="en-US" altLang="zh-CN" sz="1200" dirty="0"/>
                        <a:t>@Entity</a:t>
                      </a:r>
                      <a:r>
                        <a:rPr lang="zh-CN" altLang="en-US" sz="1200" dirty="0"/>
                        <a:t>，</a:t>
                      </a:r>
                      <a:r>
                        <a:rPr lang="en-US" altLang="zh-CN" sz="1200" dirty="0"/>
                        <a:t>@Column</a:t>
                      </a:r>
                      <a:r>
                        <a:rPr lang="zh-CN" altLang="en-US" sz="1200" dirty="0"/>
                        <a:t>，</a:t>
                      </a:r>
                      <a:r>
                        <a:rPr lang="en-US" altLang="zh-CN" sz="1200" dirty="0"/>
                        <a:t>@Table</a:t>
                      </a:r>
                      <a:endParaRPr lang="zh-CN" altLang="en-US" sz="1200" dirty="0"/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支持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支持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91440099"/>
                  </a:ext>
                </a:extLst>
              </a:tr>
              <a:tr h="548426">
                <a:tc>
                  <a:txBody>
                    <a:bodyPr/>
                    <a:lstStyle/>
                    <a:p>
                      <a:pPr marL="0" algn="l" defTabSz="1187798" rtl="0" eaLnBrk="1" fontAlgn="ctr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OneToMany、ManyToOne、OneToOne、ManyToMany、JoinColumns、JoinColumn、jointable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支持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支持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5113280"/>
                  </a:ext>
                </a:extLst>
              </a:tr>
              <a:tr h="365617">
                <a:tc>
                  <a:txBody>
                    <a:bodyPr/>
                    <a:lstStyle/>
                    <a:p>
                      <a:pPr marL="0" algn="l" defTabSz="1187798" rtl="0" eaLnBrk="1" fontAlgn="ctr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convert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注解实现实体字段类型自定义转换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支持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支持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2156848"/>
                  </a:ext>
                </a:extLst>
              </a:tr>
              <a:tr h="548426">
                <a:tc>
                  <a:txBody>
                    <a:bodyPr/>
                    <a:lstStyle/>
                    <a:p>
                      <a:pPr marL="0" algn="l" defTabSz="1187798" rtl="0" eaLnBrk="1" fontAlgn="ctr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@</a:t>
                      </a:r>
                      <a:r>
                        <a:rPr 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GenerstedValue，GenerationType、SequenceGererator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等注解实现主键生成免配置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支持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支持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8431696"/>
                  </a:ext>
                </a:extLst>
              </a:tr>
              <a:tr h="457021">
                <a:tc>
                  <a:txBody>
                    <a:bodyPr/>
                    <a:lstStyle/>
                    <a:p>
                      <a:pPr marL="0" algn="l" defTabSz="1187798" rtl="0" eaLnBrk="1" latinLnBrk="0" hangingPunct="1"/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基于</a:t>
                      </a:r>
                      <a:r>
                        <a:rPr lang="en-US" altLang="zh-CN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FetchType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注解实现延迟加载免配置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支持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不支持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893206"/>
                  </a:ext>
                </a:extLst>
              </a:tr>
              <a:tr h="365617">
                <a:tc>
                  <a:txBody>
                    <a:bodyPr/>
                    <a:lstStyle/>
                    <a:p>
                      <a:pPr marL="0" algn="l" defTabSz="1187798" rtl="0" eaLnBrk="1" fontAlgn="ctr" latinLnBrk="0" hangingPunct="1"/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基于</a:t>
                      </a:r>
                      <a:r>
                        <a:rPr 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StoredProcedureQuery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注解实现存储过程免配置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支持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不支持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22599"/>
                  </a:ext>
                </a:extLst>
              </a:tr>
              <a:tr h="288076">
                <a:tc>
                  <a:txBody>
                    <a:bodyPr/>
                    <a:lstStyle/>
                    <a:p>
                      <a:pPr marL="0" algn="l" defTabSz="1187798" rtl="0" eaLnBrk="1" latinLnBrk="0" hangingPunct="1"/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基于方法约定的免配置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支持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不支持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410109"/>
                  </a:ext>
                </a:extLst>
              </a:tr>
            </a:tbl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C63A8443-0BC6-4E45-A596-D69DFBC0C705}"/>
              </a:ext>
            </a:extLst>
          </p:cNvPr>
          <p:cNvSpPr txBox="1"/>
          <p:nvPr/>
        </p:nvSpPr>
        <p:spPr>
          <a:xfrm>
            <a:off x="5956880" y="888057"/>
            <a:ext cx="5311328" cy="32504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algn="ctr">
              <a:lnSpc>
                <a:spcPct val="150000"/>
              </a:lnSpc>
              <a:defRPr sz="16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399" dirty="0"/>
              <a:t>多数据源支持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DF3AC78-CFB6-4254-9C11-AE9DC3E9ED05}"/>
              </a:ext>
            </a:extLst>
          </p:cNvPr>
          <p:cNvSpPr txBox="1"/>
          <p:nvPr/>
        </p:nvSpPr>
        <p:spPr>
          <a:xfrm>
            <a:off x="5956879" y="1394058"/>
            <a:ext cx="5232982" cy="3384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1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背景：</a:t>
            </a:r>
            <a:r>
              <a:rPr kumimoji="1" lang="zh-CN" altLang="en-US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用户转型过程中数据隔离，不同的数据存在不同的数据库中，业务过程中涉及到多个数据源。</a:t>
            </a: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CD2DCF80-7059-40D6-B53C-7B3665CBB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148536"/>
              </p:ext>
            </p:extLst>
          </p:nvPr>
        </p:nvGraphicFramePr>
        <p:xfrm>
          <a:off x="5963408" y="1793956"/>
          <a:ext cx="5232981" cy="1305015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94001">
                  <a:extLst>
                    <a:ext uri="{9D8B030D-6E8A-4147-A177-3AD203B41FA5}">
                      <a16:colId xmlns:a16="http://schemas.microsoft.com/office/drawing/2014/main" val="3065541416"/>
                    </a:ext>
                  </a:extLst>
                </a:gridCol>
                <a:gridCol w="705119">
                  <a:extLst>
                    <a:ext uri="{9D8B030D-6E8A-4147-A177-3AD203B41FA5}">
                      <a16:colId xmlns:a16="http://schemas.microsoft.com/office/drawing/2014/main" val="2621940841"/>
                    </a:ext>
                  </a:extLst>
                </a:gridCol>
                <a:gridCol w="600657">
                  <a:extLst>
                    <a:ext uri="{9D8B030D-6E8A-4147-A177-3AD203B41FA5}">
                      <a16:colId xmlns:a16="http://schemas.microsoft.com/office/drawing/2014/main" val="940052736"/>
                    </a:ext>
                  </a:extLst>
                </a:gridCol>
                <a:gridCol w="2533204">
                  <a:extLst>
                    <a:ext uri="{9D8B030D-6E8A-4147-A177-3AD203B41FA5}">
                      <a16:colId xmlns:a16="http://schemas.microsoft.com/office/drawing/2014/main" val="635228801"/>
                    </a:ext>
                  </a:extLst>
                </a:gridCol>
              </a:tblGrid>
              <a:tr h="457021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支持能力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/>
                        <a:t>mybatis</a:t>
                      </a:r>
                      <a:endParaRPr lang="zh-CN" altLang="en-US" sz="1200" dirty="0"/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Spirit</a:t>
                      </a:r>
                      <a:endParaRPr lang="zh-CN" altLang="en-US" sz="1200" dirty="0"/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特性说明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0170375"/>
                  </a:ext>
                </a:extLst>
              </a:tr>
              <a:tr h="228511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多数据源配置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支持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支持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dirty="0"/>
                        <a:t>在一个业务内配置多个数据源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9111060"/>
                  </a:ext>
                </a:extLst>
              </a:tr>
              <a:tr h="365617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多数据源</a:t>
                      </a:r>
                      <a:r>
                        <a:rPr lang="en-US" altLang="zh-CN" sz="900" dirty="0"/>
                        <a:t>DDL</a:t>
                      </a:r>
                      <a:r>
                        <a:rPr lang="zh-CN" altLang="en-US" sz="900" dirty="0"/>
                        <a:t>、</a:t>
                      </a:r>
                      <a:r>
                        <a:rPr lang="en-US" altLang="zh-CN" sz="900" dirty="0"/>
                        <a:t>DML</a:t>
                      </a:r>
                      <a:r>
                        <a:rPr lang="zh-CN" altLang="en-US" sz="900" dirty="0"/>
                        <a:t>等能力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支持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支持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dirty="0"/>
                        <a:t>多个数据源的数据定义以及数据操作能力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5294012"/>
                  </a:ext>
                </a:extLst>
              </a:tr>
              <a:tr h="253563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多数据源内事务管理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支持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支持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dirty="0"/>
                        <a:t>多个数据源场景下，每个数据源内的事务管理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2834956"/>
                  </a:ext>
                </a:extLst>
              </a:tr>
            </a:tbl>
          </a:graphicData>
        </a:graphic>
      </p:graphicFrame>
      <p:pic>
        <p:nvPicPr>
          <p:cNvPr id="22" name="Picture 2" descr="C:\Users\z00504590\AppData\Roaming\eSpace_Desktop\UserData\z00504590\imagefiles\7F7CC921-37A1-4A7D-B49D-8B80908AC16C.png">
            <a:extLst>
              <a:ext uri="{FF2B5EF4-FFF2-40B4-BE49-F238E27FC236}">
                <a16:creationId xmlns:a16="http://schemas.microsoft.com/office/drawing/2014/main" id="{237DF22A-1A40-4520-BCCA-25A72B4D5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879" y="3474958"/>
            <a:ext cx="2693248" cy="1037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C:\Users\z00504590\AppData\Roaming\eSpace_Desktop\UserData\z00504590\imagefiles\F8C46FAC-A1AD-4EFA-84B4-26AAD4DB9273.png">
            <a:extLst>
              <a:ext uri="{FF2B5EF4-FFF2-40B4-BE49-F238E27FC236}">
                <a16:creationId xmlns:a16="http://schemas.microsoft.com/office/drawing/2014/main" id="{C136248D-E502-4E9B-A46D-677951756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3408" y="4630150"/>
            <a:ext cx="2686720" cy="116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8" descr="C:\Users\z00504590\AppData\Roaming\eSpace_Desktop\UserData\z00504590\imagefiles\9372BC89-9885-42D7-94FE-743DF58661A0.png">
            <a:extLst>
              <a:ext uri="{FF2B5EF4-FFF2-40B4-BE49-F238E27FC236}">
                <a16:creationId xmlns:a16="http://schemas.microsoft.com/office/drawing/2014/main" id="{4676EE3E-FEB5-42B9-8E82-559AB320F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4908" y="4630150"/>
            <a:ext cx="2361482" cy="1178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2FFB23FC-7586-4719-898A-695D2452F4A0}"/>
              </a:ext>
            </a:extLst>
          </p:cNvPr>
          <p:cNvSpPr txBox="1"/>
          <p:nvPr/>
        </p:nvSpPr>
        <p:spPr>
          <a:xfrm>
            <a:off x="5963408" y="3182398"/>
            <a:ext cx="717865" cy="2153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1399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使用样例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B5E8623-0B98-4F3A-8D2E-101D841B590F}"/>
              </a:ext>
            </a:extLst>
          </p:cNvPr>
          <p:cNvSpPr txBox="1"/>
          <p:nvPr/>
        </p:nvSpPr>
        <p:spPr>
          <a:xfrm>
            <a:off x="9074509" y="3724867"/>
            <a:ext cx="1704037" cy="2768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799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配置多个数据源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051C92D6-3E94-40BC-9BB6-98289668A8F0}"/>
              </a:ext>
            </a:extLst>
          </p:cNvPr>
          <p:cNvSpPr/>
          <p:nvPr/>
        </p:nvSpPr>
        <p:spPr>
          <a:xfrm>
            <a:off x="8882995" y="3784483"/>
            <a:ext cx="191513" cy="1576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b="1" dirty="0">
                <a:solidFill>
                  <a:schemeClr val="tx2"/>
                </a:solidFill>
              </a:rPr>
              <a:t>1</a:t>
            </a:r>
            <a:endParaRPr lang="zh-CN" altLang="en-US" sz="1200" b="1" dirty="0">
              <a:solidFill>
                <a:schemeClr val="tx2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5F293C7-9C5E-48AF-B713-F78C9CDBCE03}"/>
              </a:ext>
            </a:extLst>
          </p:cNvPr>
          <p:cNvSpPr txBox="1"/>
          <p:nvPr/>
        </p:nvSpPr>
        <p:spPr>
          <a:xfrm>
            <a:off x="8970043" y="5818180"/>
            <a:ext cx="2226346" cy="4614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配置多个事务管理器，每个绑定指定的数据源。使用事务时绑定需要的事务管理器。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82E7288-0488-4F2C-9EE2-011BB5A545CD}"/>
              </a:ext>
            </a:extLst>
          </p:cNvPr>
          <p:cNvSpPr txBox="1"/>
          <p:nvPr/>
        </p:nvSpPr>
        <p:spPr>
          <a:xfrm>
            <a:off x="6138328" y="5829658"/>
            <a:ext cx="2361482" cy="3230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配置多个</a:t>
            </a:r>
            <a:r>
              <a:rPr kumimoji="1" lang="en-US" altLang="zh-CN" sz="105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SessionProxy</a:t>
            </a:r>
            <a:r>
              <a:rPr kumimoji="1" lang="zh-CN" altLang="en-US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，每个绑定指定的数据源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328DAC0D-8E24-4202-8B9C-1671182362CA}"/>
              </a:ext>
            </a:extLst>
          </p:cNvPr>
          <p:cNvSpPr/>
          <p:nvPr/>
        </p:nvSpPr>
        <p:spPr>
          <a:xfrm>
            <a:off x="5922979" y="5858509"/>
            <a:ext cx="191513" cy="1576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b="1" dirty="0">
                <a:solidFill>
                  <a:schemeClr val="tx2"/>
                </a:solidFill>
              </a:rPr>
              <a:t>2</a:t>
            </a:r>
            <a:endParaRPr lang="zh-CN" altLang="en-US" sz="1200" b="1" dirty="0">
              <a:solidFill>
                <a:schemeClr val="tx2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F95D4CD9-573C-466E-8910-0D6811609A4B}"/>
              </a:ext>
            </a:extLst>
          </p:cNvPr>
          <p:cNvSpPr/>
          <p:nvPr/>
        </p:nvSpPr>
        <p:spPr>
          <a:xfrm>
            <a:off x="8813353" y="5845154"/>
            <a:ext cx="191513" cy="1576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b="1" dirty="0">
                <a:solidFill>
                  <a:schemeClr val="tx2"/>
                </a:solidFill>
              </a:rPr>
              <a:t>3</a:t>
            </a:r>
            <a:endParaRPr lang="zh-CN" altLang="en-US" sz="1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83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FFFBA79B-0FBE-454A-BB4F-005A28B4B887}"/>
              </a:ext>
            </a:extLst>
          </p:cNvPr>
          <p:cNvSpPr txBox="1">
            <a:spLocks noChangeArrowheads="1"/>
          </p:cNvSpPr>
          <p:nvPr/>
        </p:nvSpPr>
        <p:spPr>
          <a:xfrm>
            <a:off x="84242" y="256652"/>
            <a:ext cx="11025081" cy="576014"/>
          </a:xfrm>
          <a:prstGeom prst="rect">
            <a:avLst/>
          </a:prstGeom>
        </p:spPr>
        <p:txBody>
          <a:bodyPr anchor="ctr"/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全链路异步</a:t>
            </a:r>
            <a:endParaRPr lang="zh-CN" altLang="en-US" sz="1999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EEAB6F7-D857-45A6-8967-0E42CDBAA034}"/>
              </a:ext>
            </a:extLst>
          </p:cNvPr>
          <p:cNvSpPr txBox="1"/>
          <p:nvPr/>
        </p:nvSpPr>
        <p:spPr>
          <a:xfrm>
            <a:off x="130098" y="941496"/>
            <a:ext cx="5792231" cy="287821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  <a:ln w="9525" cap="flat" cmpd="sng" algn="ctr">
            <a:solidFill>
              <a:srgbClr val="558ED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71" tIns="45685" rIns="91371" bIns="45685" numCol="1" rtlCol="0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eaLnBrk="1" hangingPunct="1">
              <a:buClr>
                <a:srgbClr val="CC9900"/>
              </a:buClr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3760">
              <a:defRPr/>
            </a:pPr>
            <a:r>
              <a:rPr lang="zh-CN" altLang="en-US" sz="1399" kern="0" dirty="0">
                <a:solidFill>
                  <a:prstClr val="white"/>
                </a:solidFill>
              </a:rPr>
              <a:t>响应式编程简介</a:t>
            </a:r>
            <a:endParaRPr lang="en-US" altLang="zh-CN" sz="1399" kern="0" dirty="0">
              <a:solidFill>
                <a:prstClr val="white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D3473E5-77B1-463D-AEE1-F71675B1ECD8}"/>
              </a:ext>
            </a:extLst>
          </p:cNvPr>
          <p:cNvSpPr txBox="1"/>
          <p:nvPr/>
        </p:nvSpPr>
        <p:spPr>
          <a:xfrm>
            <a:off x="130096" y="1358940"/>
            <a:ext cx="5792231" cy="576014"/>
          </a:xfrm>
          <a:prstGeom prst="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defTabSz="912938">
              <a:lnSpc>
                <a:spcPts val="1679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响应式编程是一种异步的编程范式，它可以帮助开发人员更容易地处理异步操作、并发问题和高性能需求。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日期占位符 3">
            <a:extLst>
              <a:ext uri="{FF2B5EF4-FFF2-40B4-BE49-F238E27FC236}">
                <a16:creationId xmlns:a16="http://schemas.microsoft.com/office/drawing/2014/main" id="{1DE4A234-CDE2-41D2-9767-4CF358F261B0}"/>
              </a:ext>
            </a:extLst>
          </p:cNvPr>
          <p:cNvSpPr txBox="1">
            <a:spLocks/>
          </p:cNvSpPr>
          <p:nvPr/>
        </p:nvSpPr>
        <p:spPr>
          <a:xfrm>
            <a:off x="-906108" y="7379675"/>
            <a:ext cx="2132767" cy="36498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799"/>
              <a:t>www.themegallery.com</a:t>
            </a:r>
          </a:p>
        </p:txBody>
      </p:sp>
      <p:sp>
        <p:nvSpPr>
          <p:cNvPr id="18" name="页脚占位符 4">
            <a:extLst>
              <a:ext uri="{FF2B5EF4-FFF2-40B4-BE49-F238E27FC236}">
                <a16:creationId xmlns:a16="http://schemas.microsoft.com/office/drawing/2014/main" id="{50146976-CF2B-4EAF-9E38-DB06CD3979F9}"/>
              </a:ext>
            </a:extLst>
          </p:cNvPr>
          <p:cNvSpPr txBox="1">
            <a:spLocks/>
          </p:cNvSpPr>
          <p:nvPr/>
        </p:nvSpPr>
        <p:spPr>
          <a:xfrm>
            <a:off x="1759851" y="7379675"/>
            <a:ext cx="2896057" cy="36498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799"/>
              <a:t>LOGO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76F20AD-F9E9-46B6-AF28-A2A525E0F6C7}"/>
              </a:ext>
            </a:extLst>
          </p:cNvPr>
          <p:cNvSpPr txBox="1"/>
          <p:nvPr/>
        </p:nvSpPr>
        <p:spPr>
          <a:xfrm>
            <a:off x="6269672" y="941495"/>
            <a:ext cx="5792231" cy="287821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  <a:ln w="9525" cap="flat" cmpd="sng" algn="ctr">
            <a:solidFill>
              <a:srgbClr val="558ED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71" tIns="45685" rIns="91371" bIns="45685" numCol="1" rtlCol="0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eaLnBrk="1" hangingPunct="1">
              <a:buClr>
                <a:srgbClr val="CC9900"/>
              </a:buClr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3760">
              <a:defRPr/>
            </a:pPr>
            <a:r>
              <a:rPr lang="zh-CN" altLang="en-US" sz="1399" kern="0" dirty="0">
                <a:solidFill>
                  <a:prstClr val="white"/>
                </a:solidFill>
              </a:rPr>
              <a:t>仓颉响应式编程框架和</a:t>
            </a:r>
            <a:r>
              <a:rPr lang="en-US" altLang="zh-CN" sz="1399" kern="0" dirty="0">
                <a:solidFill>
                  <a:prstClr val="white"/>
                </a:solidFill>
              </a:rPr>
              <a:t>Rest</a:t>
            </a:r>
            <a:r>
              <a:rPr lang="zh-CN" altLang="en-US" sz="1399" kern="0" dirty="0">
                <a:solidFill>
                  <a:prstClr val="white"/>
                </a:solidFill>
              </a:rPr>
              <a:t>实现</a:t>
            </a:r>
            <a:endParaRPr lang="en-US" altLang="zh-CN" sz="1399" kern="0" dirty="0">
              <a:solidFill>
                <a:prstClr val="white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63D9946-97E2-410F-94B5-6F36A0AB6BB3}"/>
              </a:ext>
            </a:extLst>
          </p:cNvPr>
          <p:cNvSpPr/>
          <p:nvPr/>
        </p:nvSpPr>
        <p:spPr>
          <a:xfrm>
            <a:off x="84242" y="2000433"/>
            <a:ext cx="4184127" cy="2923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2938">
              <a:lnSpc>
                <a:spcPts val="1679"/>
              </a:lnSpc>
            </a:pP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响应式异步非阻塞式编程相比传统同步阻塞式编程优劣势</a:t>
            </a:r>
            <a:endParaRPr lang="en-US" altLang="zh-CN" sz="1200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1C4A5E9-FEB4-451E-9BE1-A06750B3F660}"/>
              </a:ext>
            </a:extLst>
          </p:cNvPr>
          <p:cNvSpPr/>
          <p:nvPr/>
        </p:nvSpPr>
        <p:spPr>
          <a:xfrm>
            <a:off x="6972842" y="1829425"/>
            <a:ext cx="609362" cy="548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799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89BAE78-D14F-4ECA-BAD5-78DC67229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818002"/>
              </p:ext>
            </p:extLst>
          </p:nvPr>
        </p:nvGraphicFramePr>
        <p:xfrm>
          <a:off x="215905" y="2342817"/>
          <a:ext cx="5109773" cy="73141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443698">
                  <a:extLst>
                    <a:ext uri="{9D8B030D-6E8A-4147-A177-3AD203B41FA5}">
                      <a16:colId xmlns:a16="http://schemas.microsoft.com/office/drawing/2014/main" val="2594575646"/>
                    </a:ext>
                  </a:extLst>
                </a:gridCol>
                <a:gridCol w="680990">
                  <a:extLst>
                    <a:ext uri="{9D8B030D-6E8A-4147-A177-3AD203B41FA5}">
                      <a16:colId xmlns:a16="http://schemas.microsoft.com/office/drawing/2014/main" val="1721671207"/>
                    </a:ext>
                  </a:extLst>
                </a:gridCol>
                <a:gridCol w="935259">
                  <a:extLst>
                    <a:ext uri="{9D8B030D-6E8A-4147-A177-3AD203B41FA5}">
                      <a16:colId xmlns:a16="http://schemas.microsoft.com/office/drawing/2014/main" val="893416395"/>
                    </a:ext>
                  </a:extLst>
                </a:gridCol>
                <a:gridCol w="1024913">
                  <a:extLst>
                    <a:ext uri="{9D8B030D-6E8A-4147-A177-3AD203B41FA5}">
                      <a16:colId xmlns:a16="http://schemas.microsoft.com/office/drawing/2014/main" val="1183117249"/>
                    </a:ext>
                  </a:extLst>
                </a:gridCol>
                <a:gridCol w="1024913">
                  <a:extLst>
                    <a:ext uri="{9D8B030D-6E8A-4147-A177-3AD203B41FA5}">
                      <a16:colId xmlns:a16="http://schemas.microsoft.com/office/drawing/2014/main" val="789830997"/>
                    </a:ext>
                  </a:extLst>
                </a:gridCol>
              </a:tblGrid>
              <a:tr h="198006">
                <a:tc>
                  <a:txBody>
                    <a:bodyPr/>
                    <a:lstStyle/>
                    <a:p>
                      <a:pPr marL="0" algn="ctr" defTabSz="1187798" rtl="0" eaLnBrk="1" fontAlgn="ctr" latinLnBrk="0" hangingPunct="1"/>
                      <a:r>
                        <a:rPr lang="zh-CN" altLang="en-US" sz="10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方式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187798" rtl="0" eaLnBrk="1" fontAlgn="ctr" latinLnBrk="0" hangingPunct="1"/>
                      <a:r>
                        <a:rPr lang="zh-CN" altLang="en-US" sz="10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及时性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187798" rtl="0" eaLnBrk="1" fontAlgn="ctr" latinLnBrk="0" hangingPunct="1"/>
                      <a:r>
                        <a:rPr lang="zh-CN" altLang="en-US" sz="10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弹性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187798" rtl="0" eaLnBrk="1" fontAlgn="ctr" latinLnBrk="0" hangingPunct="1"/>
                      <a:r>
                        <a:rPr lang="zh-CN" altLang="en-US" sz="10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资源利用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187798" rtl="0" eaLnBrk="1" fontAlgn="ctr" latinLnBrk="0" hangingPunct="1"/>
                      <a:r>
                        <a:rPr lang="zh-CN" altLang="en-US" sz="10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错误处理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5537804"/>
                  </a:ext>
                </a:extLst>
              </a:tr>
              <a:tr h="196764">
                <a:tc>
                  <a:txBody>
                    <a:bodyPr/>
                    <a:lstStyle/>
                    <a:p>
                      <a:r>
                        <a:rPr lang="zh-CN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传统同步阻塞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中等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低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低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简单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882656"/>
                  </a:ext>
                </a:extLst>
              </a:tr>
              <a:tr h="205621">
                <a:tc>
                  <a:txBody>
                    <a:bodyPr/>
                    <a:lstStyle/>
                    <a:p>
                      <a:r>
                        <a:rPr lang="zh-CN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响应式异步非阻塞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高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zh-CN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高</a:t>
                      </a:r>
                    </a:p>
                  </a:txBody>
                  <a:tcPr marL="91404" marR="91404" marT="45702" marB="457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高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复杂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3918468"/>
                  </a:ext>
                </a:extLst>
              </a:tr>
            </a:tbl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F3C3E90D-B211-47B3-918F-F0CEE1DB6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986" y="1264067"/>
            <a:ext cx="5565604" cy="1679141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ED043BCA-A6DB-44CA-8E73-223F059924E6}"/>
              </a:ext>
            </a:extLst>
          </p:cNvPr>
          <p:cNvSpPr txBox="1"/>
          <p:nvPr/>
        </p:nvSpPr>
        <p:spPr>
          <a:xfrm>
            <a:off x="6382986" y="3087440"/>
            <a:ext cx="5565604" cy="553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034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200" dirty="0">
                <a:solidFill>
                  <a:srgbClr val="CA4440"/>
                </a:solidFill>
                <a:latin typeface="Arial Unicode MS" panose="020B0604020202020204" pitchFamily="34" charset="-122"/>
                <a:ea typeface="mononoki"/>
              </a:rPr>
              <a:t>Publisher</a:t>
            </a:r>
            <a:r>
              <a:rPr lang="zh-CN" altLang="zh-CN" sz="1200" dirty="0">
                <a:solidFill>
                  <a:srgbClr val="494949"/>
                </a:solidFill>
                <a:ea typeface="Huawei Sans"/>
              </a:rPr>
              <a:t>用以产生数据，并将所产生的数据推给订阅到其的</a:t>
            </a:r>
            <a:r>
              <a:rPr lang="zh-CN" altLang="zh-CN" sz="1200" dirty="0">
                <a:solidFill>
                  <a:srgbClr val="CA4440"/>
                </a:solidFill>
                <a:latin typeface="Arial Unicode MS" panose="020B0604020202020204" pitchFamily="34" charset="-122"/>
                <a:ea typeface="mononoki"/>
              </a:rPr>
              <a:t>Subscriber</a:t>
            </a:r>
            <a:r>
              <a:rPr lang="zh-CN" altLang="zh-CN" sz="1200" dirty="0">
                <a:solidFill>
                  <a:srgbClr val="494949"/>
                </a:solidFill>
                <a:ea typeface="Huawei Sans"/>
              </a:rPr>
              <a:t>处理。</a:t>
            </a:r>
            <a:endParaRPr lang="zh-CN" altLang="zh-CN" sz="1200" dirty="0">
              <a:solidFill>
                <a:srgbClr val="494949"/>
              </a:solidFill>
              <a:latin typeface="Arial" panose="020B0604020202020204" pitchFamily="34" charset="0"/>
              <a:ea typeface="Huawei Sans"/>
            </a:endParaRPr>
          </a:p>
          <a:p>
            <a:pPr defTabSz="914034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200" dirty="0">
                <a:solidFill>
                  <a:srgbClr val="CA4440"/>
                </a:solidFill>
                <a:latin typeface="Arial Unicode MS" panose="020B0604020202020204" pitchFamily="34" charset="-122"/>
                <a:ea typeface="mononoki"/>
              </a:rPr>
              <a:t>Subscriber</a:t>
            </a:r>
            <a:r>
              <a:rPr lang="zh-CN" altLang="zh-CN" sz="1200" dirty="0">
                <a:solidFill>
                  <a:srgbClr val="494949"/>
                </a:solidFill>
                <a:ea typeface="Huawei Sans"/>
              </a:rPr>
              <a:t>用以处理数据。</a:t>
            </a:r>
            <a:endParaRPr lang="zh-CN" altLang="zh-CN" sz="1200" dirty="0">
              <a:solidFill>
                <a:srgbClr val="494949"/>
              </a:solidFill>
              <a:latin typeface="Arial" panose="020B0604020202020204" pitchFamily="34" charset="0"/>
              <a:ea typeface="Huawei Sans"/>
            </a:endParaRPr>
          </a:p>
          <a:p>
            <a:pPr defTabSz="914034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200" dirty="0">
                <a:solidFill>
                  <a:srgbClr val="CA4440"/>
                </a:solidFill>
                <a:latin typeface="Arial Unicode MS" panose="020B0604020202020204" pitchFamily="34" charset="-122"/>
                <a:ea typeface="mononoki"/>
              </a:rPr>
              <a:t>Subscription</a:t>
            </a:r>
            <a:r>
              <a:rPr lang="zh-CN" altLang="zh-CN" sz="1200" dirty="0">
                <a:solidFill>
                  <a:srgbClr val="494949"/>
                </a:solidFill>
                <a:ea typeface="Huawei Sans"/>
              </a:rPr>
              <a:t>表示一份订阅关系，同时向</a:t>
            </a:r>
            <a:r>
              <a:rPr lang="zh-CN" altLang="zh-CN" sz="1200" dirty="0">
                <a:solidFill>
                  <a:srgbClr val="CA4440"/>
                </a:solidFill>
                <a:latin typeface="Arial Unicode MS" panose="020B0604020202020204" pitchFamily="34" charset="-122"/>
                <a:ea typeface="mononoki"/>
              </a:rPr>
              <a:t>Subscriber</a:t>
            </a:r>
            <a:r>
              <a:rPr lang="zh-CN" altLang="zh-CN" sz="1200" dirty="0">
                <a:solidFill>
                  <a:srgbClr val="494949"/>
                </a:solidFill>
                <a:ea typeface="Huawei Sans"/>
              </a:rPr>
              <a:t>提供</a:t>
            </a:r>
            <a:r>
              <a:rPr lang="zh-CN" altLang="zh-CN" sz="1200" dirty="0">
                <a:solidFill>
                  <a:srgbClr val="CA4440"/>
                </a:solidFill>
                <a:latin typeface="Arial Unicode MS" panose="020B0604020202020204" pitchFamily="34" charset="-122"/>
                <a:ea typeface="mononoki"/>
              </a:rPr>
              <a:t>Publisher</a:t>
            </a:r>
            <a:r>
              <a:rPr lang="zh-CN" altLang="zh-CN" sz="1200" dirty="0">
                <a:solidFill>
                  <a:srgbClr val="494949"/>
                </a:solidFill>
                <a:ea typeface="Huawei Sans"/>
              </a:rPr>
              <a:t>的操作界面。</a:t>
            </a:r>
            <a:endParaRPr lang="zh-CN" altLang="zh-CN" sz="1200" dirty="0">
              <a:solidFill>
                <a:srgbClr val="24292E"/>
              </a:solidFill>
              <a:latin typeface="Arial" panose="020B0604020202020204" pitchFamily="34" charset="0"/>
              <a:ea typeface="Helvetica Neue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57778EDF-1AC1-468D-AEA7-C0D4B0FDF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672" y="3785455"/>
            <a:ext cx="2528583" cy="1670041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9C6A6C09-1502-4AF7-950B-A13A8DC604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4244" y="3776355"/>
            <a:ext cx="3124347" cy="1679141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9CDAE8F9-F992-4488-980B-14BA1786B4C5}"/>
              </a:ext>
            </a:extLst>
          </p:cNvPr>
          <p:cNvSpPr txBox="1"/>
          <p:nvPr/>
        </p:nvSpPr>
        <p:spPr>
          <a:xfrm>
            <a:off x="6269672" y="5528186"/>
            <a:ext cx="5678918" cy="369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381" indent="-171381">
              <a:buFont typeface="Wingdings" panose="05000000000000000000" pitchFamily="2" charset="2"/>
              <a:buChar char="l"/>
            </a:pPr>
            <a:r>
              <a:rPr lang="en-US" altLang="zh-CN" sz="1200" dirty="0">
                <a:solidFill>
                  <a:srgbClr val="494949"/>
                </a:solidFill>
              </a:rPr>
              <a:t>Rest</a:t>
            </a:r>
            <a:r>
              <a:rPr lang="zh-CN" altLang="en-US" sz="1200" dirty="0">
                <a:solidFill>
                  <a:srgbClr val="494949"/>
                </a:solidFill>
              </a:rPr>
              <a:t>服务端作为</a:t>
            </a:r>
            <a:r>
              <a:rPr lang="en-US" altLang="zh-CN" sz="1200" dirty="0">
                <a:solidFill>
                  <a:srgbClr val="494949"/>
                </a:solidFill>
              </a:rPr>
              <a:t>Publisher,</a:t>
            </a:r>
            <a:r>
              <a:rPr lang="zh-CN" altLang="en-US" sz="1200" dirty="0">
                <a:solidFill>
                  <a:srgbClr val="494949"/>
                </a:solidFill>
              </a:rPr>
              <a:t>支持发布响应式</a:t>
            </a:r>
            <a:r>
              <a:rPr lang="en-US" altLang="zh-CN" sz="1200" dirty="0">
                <a:solidFill>
                  <a:srgbClr val="494949"/>
                </a:solidFill>
              </a:rPr>
              <a:t>Choir</a:t>
            </a:r>
            <a:r>
              <a:rPr lang="zh-CN" altLang="en-US" sz="1200" dirty="0">
                <a:solidFill>
                  <a:srgbClr val="494949"/>
                </a:solidFill>
              </a:rPr>
              <a:t>和</a:t>
            </a:r>
            <a:r>
              <a:rPr lang="en-US" altLang="zh-CN" sz="1200" dirty="0">
                <a:solidFill>
                  <a:srgbClr val="494949"/>
                </a:solidFill>
              </a:rPr>
              <a:t>Solo</a:t>
            </a:r>
            <a:r>
              <a:rPr lang="zh-CN" altLang="en-US" sz="1200" dirty="0">
                <a:solidFill>
                  <a:srgbClr val="494949"/>
                </a:solidFill>
              </a:rPr>
              <a:t>数据</a:t>
            </a:r>
            <a:endParaRPr lang="en-US" altLang="zh-CN" sz="1200" dirty="0">
              <a:solidFill>
                <a:srgbClr val="494949"/>
              </a:solidFill>
            </a:endParaRPr>
          </a:p>
          <a:p>
            <a:pPr marL="171381" indent="-171381">
              <a:buFont typeface="Wingdings" panose="05000000000000000000" pitchFamily="2" charset="2"/>
              <a:buChar char="l"/>
            </a:pPr>
            <a:r>
              <a:rPr lang="en-US" altLang="zh-CN" sz="1200" dirty="0">
                <a:solidFill>
                  <a:srgbClr val="494949"/>
                </a:solidFill>
              </a:rPr>
              <a:t>Rest</a:t>
            </a:r>
            <a:r>
              <a:rPr lang="zh-CN" altLang="en-US" sz="1200" dirty="0">
                <a:solidFill>
                  <a:srgbClr val="494949"/>
                </a:solidFill>
              </a:rPr>
              <a:t>客户端作为</a:t>
            </a:r>
            <a:r>
              <a:rPr lang="en-US" altLang="zh-CN" sz="1200" dirty="0">
                <a:solidFill>
                  <a:srgbClr val="494949"/>
                </a:solidFill>
              </a:rPr>
              <a:t>Subscriber</a:t>
            </a:r>
            <a:r>
              <a:rPr lang="zh-CN" altLang="en-US" sz="1200" dirty="0">
                <a:solidFill>
                  <a:srgbClr val="494949"/>
                </a:solidFill>
              </a:rPr>
              <a:t>处理响应式数据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25529591-CCD6-4D72-9204-318052DA80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211" y="3641222"/>
            <a:ext cx="5589530" cy="2011680"/>
          </a:xfrm>
          <a:prstGeom prst="rect">
            <a:avLst/>
          </a:prstGeom>
        </p:spPr>
      </p:pic>
      <p:sp>
        <p:nvSpPr>
          <p:cNvPr id="35" name="椭圆 34">
            <a:extLst>
              <a:ext uri="{FF2B5EF4-FFF2-40B4-BE49-F238E27FC236}">
                <a16:creationId xmlns:a16="http://schemas.microsoft.com/office/drawing/2014/main" id="{CDDDC743-61A4-4E09-832B-68A6CC1EB7E7}"/>
              </a:ext>
            </a:extLst>
          </p:cNvPr>
          <p:cNvSpPr/>
          <p:nvPr/>
        </p:nvSpPr>
        <p:spPr>
          <a:xfrm>
            <a:off x="4412698" y="4157042"/>
            <a:ext cx="971221" cy="269968"/>
          </a:xfrm>
          <a:prstGeom prst="ellipse">
            <a:avLst/>
          </a:prstGeom>
          <a:solidFill>
            <a:srgbClr val="E9002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Client</a:t>
            </a: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异步接口</a:t>
            </a: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2FD07AAD-F91A-4593-87A9-3C8BB50E469D}"/>
              </a:ext>
            </a:extLst>
          </p:cNvPr>
          <p:cNvSpPr/>
          <p:nvPr/>
        </p:nvSpPr>
        <p:spPr>
          <a:xfrm>
            <a:off x="1925605" y="4157042"/>
            <a:ext cx="971221" cy="269968"/>
          </a:xfrm>
          <a:prstGeom prst="ellipse">
            <a:avLst/>
          </a:prstGeom>
          <a:solidFill>
            <a:srgbClr val="E9002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Server</a:t>
            </a: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异步接口</a:t>
            </a: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24D65A83-8185-4555-BE50-1B8461A8BF35}"/>
              </a:ext>
            </a:extLst>
          </p:cNvPr>
          <p:cNvSpPr/>
          <p:nvPr/>
        </p:nvSpPr>
        <p:spPr>
          <a:xfrm>
            <a:off x="4409631" y="4593126"/>
            <a:ext cx="971221" cy="269968"/>
          </a:xfrm>
          <a:prstGeom prst="ellipse">
            <a:avLst/>
          </a:prstGeom>
          <a:solidFill>
            <a:srgbClr val="E9002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ORM</a:t>
            </a: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异步接口</a:t>
            </a:r>
          </a:p>
        </p:txBody>
      </p:sp>
    </p:spTree>
    <p:extLst>
      <p:ext uri="{BB962C8B-B14F-4D97-AF65-F5344CB8AC3E}">
        <p14:creationId xmlns:p14="http://schemas.microsoft.com/office/powerpoint/2010/main" val="117995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04" y="4069170"/>
            <a:ext cx="1949953" cy="195363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2486149" y="2361010"/>
            <a:ext cx="357935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b="1" dirty="0"/>
              <a:t>分享正文标题：</a:t>
            </a:r>
            <a:endParaRPr lang="en-US" altLang="zh-CN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字体</a:t>
            </a:r>
            <a:r>
              <a:rPr lang="zh-CN" altLang="en-US" dirty="0"/>
              <a:t>：</a:t>
            </a:r>
            <a:r>
              <a:rPr lang="zh-CN" altLang="zh-CN" dirty="0"/>
              <a:t>等线</a:t>
            </a:r>
            <a:r>
              <a:rPr lang="zh-CN" altLang="en-US" dirty="0"/>
              <a:t>、微软雅黑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字号</a:t>
            </a:r>
            <a:r>
              <a:rPr lang="zh-CN" altLang="en-US" dirty="0"/>
              <a:t>：</a:t>
            </a:r>
            <a:r>
              <a:rPr lang="en-US" altLang="zh-CN" dirty="0"/>
              <a:t>40</a:t>
            </a:r>
            <a:r>
              <a:rPr lang="zh-CN" altLang="en-US" dirty="0"/>
              <a:t> 、加粗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字体颜色</a:t>
            </a:r>
            <a:r>
              <a:rPr lang="zh-CN" altLang="en-US" dirty="0"/>
              <a:t>：</a:t>
            </a:r>
            <a:r>
              <a:rPr lang="zh-CN" altLang="zh-CN" dirty="0"/>
              <a:t>蓝色</a:t>
            </a:r>
          </a:p>
          <a:p>
            <a:r>
              <a:rPr lang="zh-CN" altLang="zh-CN" b="1" dirty="0"/>
              <a:t>分享内容：</a:t>
            </a:r>
            <a:endParaRPr lang="en-US" altLang="zh-CN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字体颜色</a:t>
            </a:r>
            <a:r>
              <a:rPr lang="zh-CN" altLang="en-US" dirty="0"/>
              <a:t>：</a:t>
            </a:r>
            <a:r>
              <a:rPr lang="zh-CN" altLang="zh-CN" dirty="0"/>
              <a:t>以黑色为主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sp>
        <p:nvSpPr>
          <p:cNvPr id="36" name="文本框 35"/>
          <p:cNvSpPr txBox="1"/>
          <p:nvPr/>
        </p:nvSpPr>
        <p:spPr>
          <a:xfrm>
            <a:off x="795373" y="2817338"/>
            <a:ext cx="6097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感谢您的观看</a:t>
            </a:r>
            <a:r>
              <a:rPr kumimoji="1"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endParaRPr kumimoji="1" lang="zh-CN" altLang="en-US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192615" y="4607755"/>
            <a:ext cx="38433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关注“仓颉编程语言”公众号，获取最新官方资讯</a:t>
            </a: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endParaRPr kumimoji="1"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A26F1FD-B4C1-4DC4-B758-CA0ABC9D5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082223" y="4266832"/>
            <a:ext cx="1558314" cy="155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45196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1936</TotalTime>
  <Words>1656</Words>
  <Application>Microsoft Office PowerPoint</Application>
  <PresentationFormat>宽屏</PresentationFormat>
  <Paragraphs>402</Paragraphs>
  <Slides>10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.AppleSystemUIFont</vt:lpstr>
      <vt:lpstr>Arial Unicode MS</vt:lpstr>
      <vt:lpstr>DengXian</vt:lpstr>
      <vt:lpstr>宋体</vt:lpstr>
      <vt:lpstr>微软雅黑</vt:lpstr>
      <vt:lpstr>微软雅黑</vt:lpstr>
      <vt:lpstr>微软雅黑 Light</vt:lpstr>
      <vt:lpstr>Arial</vt:lpstr>
      <vt:lpstr>Calibri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 jingqiao</dc:creator>
  <cp:lastModifiedBy>zanwang</cp:lastModifiedBy>
  <cp:revision>103</cp:revision>
  <dcterms:created xsi:type="dcterms:W3CDTF">2022-07-15T02:23:02Z</dcterms:created>
  <dcterms:modified xsi:type="dcterms:W3CDTF">2024-10-29T07:14:24Z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(3)f2yP13Qp3vic5XTALCocdDa8Px+yleI4f76Gfge9UvbMH273pVNhawcQ/lv953a4ZCXEI+2I
UcgYWoqOm6AdCvcd/fd+0kya/SnjosPZOGpp42imUR/apPlX9FRnMOsULDMkUDtSFqQPxPBp
YEC5rZQjCgPbxx35AH1G98OLgLdk7GPnsKJ9m0Il9g7gam7lHBITNicZe7BgllxOCyi6zK2L
WUfNmT6TNlNs1xgT+5</vt:lpwstr>
  </property>
  <property fmtid="{D5CDD505-2E9C-101B-9397-08002B2CF9AE}" pid="3" name="_2015_ms_pID_7253431">
    <vt:lpwstr>JthLT77aSDy8Cp1Bp9hPlbkN8hzuD6oHLTAT60DJcx7cOGX5mrUyQK
jL5xEeqP01ct2Ack6dvSsYMT1P4YPSkyAM77DcJD68Bq3hdAGfUiyC8T+bPpdwvN1TS4f4+p
mupzp0lJoiQnz5y/HckxVo42iO1+J34VMQv8zLJc35OPsrlA2GaQX1m5tn2PC6Ku1skxNaOs
6X83iKXXnXqmCq8LjP0ZMbZveAcq6Az1Cttq</vt:lpwstr>
  </property>
  <property fmtid="{D5CDD505-2E9C-101B-9397-08002B2CF9AE}" pid="4" name="_2015_ms_pID_7253432">
    <vt:lpwstr>pw==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1677296177</vt:lpwstr>
  </property>
</Properties>
</file>